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601200" cy="12801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image" Target="../media/image3.png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jpeg"/><Relationship Id="rId35" Type="http://schemas.openxmlformats.org/officeDocument/2006/relationships/image" Target="../media/image34.jpe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jpeg"/><Relationship Id="rId30" Type="http://schemas.openxmlformats.org/officeDocument/2006/relationships/image" Target="../media/image29.jpeg"/><Relationship Id="rId3" Type="http://schemas.openxmlformats.org/officeDocument/2006/relationships/image" Target="../media/image2.png"/><Relationship Id="rId29" Type="http://schemas.openxmlformats.org/officeDocument/2006/relationships/image" Target="../media/image28.png"/><Relationship Id="rId28" Type="http://schemas.openxmlformats.org/officeDocument/2006/relationships/image" Target="../media/image27.jpe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jpeg"/><Relationship Id="rId11" Type="http://schemas.openxmlformats.org/officeDocument/2006/relationships/image" Target="../media/image10.jpeg"/><Relationship Id="rId10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601200" cy="1280159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4869" y="1642823"/>
            <a:ext cx="8961027" cy="1060422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8904" y="10509504"/>
            <a:ext cx="9086075" cy="1713166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523748" y="1926082"/>
            <a:ext cx="1767204" cy="1059180"/>
          </a:xfrm>
          <a:prstGeom prst="rect">
            <a:avLst/>
          </a:prstGeom>
          <a:solidFill>
            <a:srgbClr val="F1F1F2">
              <a:alpha val="8705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9395" algn="l" rtl="0" eaLnBrk="0">
              <a:lnSpc>
                <a:spcPct val="91000"/>
              </a:lnSpc>
              <a:tabLst/>
            </a:pPr>
            <a:r>
              <a:rPr sz="9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国内具身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AGl</a:t>
            </a:r>
            <a:r>
              <a:rPr sz="9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领域</a:t>
            </a:r>
            <a:r>
              <a:rPr sz="900" kern="0" spc="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6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85416" y="1748535"/>
            <a:ext cx="7006717" cy="1414652"/>
          </a:xfrm>
          <a:prstGeom prst="rect">
            <a:avLst/>
          </a:prstGeom>
        </p:spPr>
      </p:pic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272554" y="10503154"/>
          <a:ext cx="4139564" cy="1704975"/>
        </p:xfrm>
        <a:graphic>
          <a:graphicData uri="http://schemas.openxmlformats.org/drawingml/2006/table">
            <a:tbl>
              <a:tblPr/>
              <a:tblGrid>
                <a:gridCol w="2556510"/>
                <a:gridCol w="1583055"/>
              </a:tblGrid>
              <a:tr h="1704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009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通用模型实现多机器人平台适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055" algn="l" rtl="0" eaLnBrk="0">
                        <a:lnSpc>
                          <a:spcPct val="8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研究成果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07009" algn="l" rtl="0" eaLnBrk="0">
                        <a:lnSpc>
                          <a:spcPct val="98000"/>
                        </a:lnSpc>
                        <a:spcBef>
                          <a:spcPts val="142"/>
                        </a:spcBef>
                        <a:tabLst/>
                      </a:pPr>
                      <a:r>
                        <a:rPr sz="9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两登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</a:t>
                      </a:r>
                      <a:r>
                        <a:rPr sz="9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封面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8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box 14"/>
          <p:cNvSpPr/>
          <p:nvPr/>
        </p:nvSpPr>
        <p:spPr>
          <a:xfrm>
            <a:off x="785397" y="3402838"/>
            <a:ext cx="7795259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76655" algn="l" rtl="0" eaLnBrk="0">
              <a:lnSpc>
                <a:spcPct val="85000"/>
              </a:lnSpc>
              <a:tabLst>
                <a:tab pos="3464559" algn="l"/>
                <a:tab pos="7042150" algn="l"/>
              </a:tabLst>
            </a:pPr>
            <a:r>
              <a:rPr sz="1900" strike="sngStrike" kern="0" spc="0" dirty="0">
                <a:solidFill>
                  <a:srgbClr val="745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900" kern="0" spc="450" dirty="0">
                <a:solidFill>
                  <a:srgbClr val="745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70" dirty="0">
                <a:solidFill>
                  <a:srgbClr val="745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投资亮点</a:t>
            </a:r>
            <a:r>
              <a:rPr sz="1900" kern="0" spc="10" dirty="0">
                <a:solidFill>
                  <a:srgbClr val="745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900" strike="sngStrike" kern="0" spc="0" dirty="0">
                <a:solidFill>
                  <a:srgbClr val="745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4"/>
              </a:spcBef>
              <a:tabLst/>
            </a:pP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具身落地面临严重瓶颈</a:t>
            </a: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领先physicalAl世界模型</a:t>
            </a: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700" kern="0" spc="-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700" kern="0" spc="-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商业化广泛落地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 16"/>
          <p:cNvSpPr/>
          <p:nvPr/>
        </p:nvSpPr>
        <p:spPr>
          <a:xfrm>
            <a:off x="280356" y="6865154"/>
            <a:ext cx="4121015" cy="1116498"/>
          </a:xfrm>
          <a:prstGeom prst="rect">
            <a:avLst/>
          </a:prstGeom>
          <a:solidFill>
            <a:srgbClr val="4994D6">
              <a:alpha val="3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rect 18"/>
          <p:cNvSpPr/>
          <p:nvPr/>
        </p:nvSpPr>
        <p:spPr>
          <a:xfrm>
            <a:off x="268312" y="6853301"/>
            <a:ext cx="4095915" cy="1090676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268312" y="8537956"/>
            <a:ext cx="4181843" cy="1061856"/>
            <a:chOff x="0" y="0"/>
            <a:chExt cx="4181843" cy="1061856"/>
          </a:xfrm>
        </p:grpSpPr>
        <p:sp>
          <p:nvSpPr>
            <p:cNvPr id="20" name="rect 20"/>
            <p:cNvSpPr/>
            <p:nvPr/>
          </p:nvSpPr>
          <p:spPr>
            <a:xfrm>
              <a:off x="12025" y="11534"/>
              <a:ext cx="4169818" cy="1050321"/>
            </a:xfrm>
            <a:prstGeom prst="rect">
              <a:avLst/>
            </a:prstGeom>
            <a:solidFill>
              <a:srgbClr val="4A94D7">
                <a:alpha val="37647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" name="rect 22"/>
            <p:cNvSpPr/>
            <p:nvPr/>
          </p:nvSpPr>
          <p:spPr>
            <a:xfrm>
              <a:off x="0" y="0"/>
              <a:ext cx="4143666" cy="10233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20180" y="474967"/>
              <a:ext cx="895146" cy="470674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128560" y="531316"/>
              <a:ext cx="789088" cy="35780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098205" y="564451"/>
              <a:ext cx="1030135" cy="271081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036612" y="120574"/>
              <a:ext cx="852614" cy="319735"/>
            </a:xfrm>
            <a:prstGeom prst="rect">
              <a:avLst/>
            </a:prstGeom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3218726" y="149936"/>
              <a:ext cx="866647" cy="290372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2220760" y="114312"/>
              <a:ext cx="822325" cy="2755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08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66000"/>
                </a:lnSpc>
                <a:tabLst/>
              </a:pPr>
              <a:r>
                <a:rPr sz="2500" kern="0" spc="10" dirty="0">
                  <a:solidFill>
                    <a:srgbClr val="0058A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Hai</a:t>
              </a:r>
              <a:r>
                <a:rPr sz="2500" kern="0" spc="-480" dirty="0">
                  <a:solidFill>
                    <a:srgbClr val="0058A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500" kern="0" spc="10" dirty="0">
                  <a:solidFill>
                    <a:srgbClr val="0058A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er</a:t>
              </a:r>
              <a:endParaRPr sz="25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25221" y="137388"/>
              <a:ext cx="681354" cy="286029"/>
            </a:xfrm>
            <a:prstGeom prst="rect">
              <a:avLst/>
            </a:prstGeom>
          </p:spPr>
        </p:pic>
        <p:pic>
          <p:nvPicPr>
            <p:cNvPr id="38" name="picture 3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233585" y="610006"/>
              <a:ext cx="851712" cy="200507"/>
            </a:xfrm>
            <a:prstGeom prst="rect">
              <a:avLst/>
            </a:prstGeom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2027085" y="864785"/>
              <a:ext cx="134111" cy="23537"/>
            </a:xfrm>
            <a:prstGeom prst="rect">
              <a:avLst/>
            </a:prstGeom>
          </p:spPr>
        </p:pic>
      </p:grpSp>
      <p:sp>
        <p:nvSpPr>
          <p:cNvPr id="42" name="textbox 42"/>
          <p:cNvSpPr/>
          <p:nvPr/>
        </p:nvSpPr>
        <p:spPr>
          <a:xfrm>
            <a:off x="2434307" y="791336"/>
            <a:ext cx="5093334" cy="832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994" algn="l" rtl="0" eaLnBrk="0">
              <a:lnSpc>
                <a:spcPct val="85000"/>
              </a:lnSpc>
              <a:tabLst/>
            </a:pPr>
            <a:r>
              <a:rPr sz="3000" kern="0" spc="180" dirty="0">
                <a:solidFill>
                  <a:srgbClr val="4929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广泛应用的预测式世界模型</a:t>
            </a:r>
            <a:endParaRPr sz="3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5"/>
              </a:spcBef>
              <a:tabLst>
                <a:tab pos="798194" algn="l"/>
                <a:tab pos="5080000" algn="l"/>
              </a:tabLst>
            </a:pPr>
            <a:r>
              <a:rPr sz="1700" strike="sngStrike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kern="0" spc="2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700" kern="0" spc="37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赋能千行百业</a:t>
            </a:r>
            <a:r>
              <a:rPr sz="1700" kern="0" spc="5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physical</a:t>
            </a:r>
            <a:r>
              <a:rPr sz="1700" kern="0" spc="31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kern="0" spc="37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strike="sngStrike" kern="0" spc="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3459568" y="4512710"/>
            <a:ext cx="2809239" cy="1395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9070" indent="-166370" algn="l" rtl="0" eaLnBrk="0">
              <a:lnSpc>
                <a:spcPct val="119000"/>
              </a:lnSpc>
              <a:tabLst/>
            </a:pPr>
            <a:r>
              <a:rPr sz="1200" kern="0" spc="2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千诀科技依托清华大学顶尖实验室研发成果</a:t>
            </a:r>
            <a:r>
              <a:rPr sz="900" kern="0" spc="-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0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唯一的世界模型落地成果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9070" indent="-166370" algn="l" rtl="0" eaLnBrk="0">
              <a:lnSpc>
                <a:spcPct val="125000"/>
              </a:lnSpc>
              <a:spcBef>
                <a:spcPts val="253"/>
              </a:spcBef>
              <a:tabLst/>
            </a:pPr>
            <a:r>
              <a:rPr sz="8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JEPA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架构打造预测式世界模型</a:t>
            </a:r>
            <a:r>
              <a:rPr sz="900" kern="0" spc="-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消除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physical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幻觉</a:t>
            </a:r>
            <a:r>
              <a:rPr sz="800" kern="0" spc="-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10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实现长时自主</a:t>
            </a:r>
            <a:r>
              <a:rPr sz="8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决策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9070" indent="-166370" algn="l" rtl="0" eaLnBrk="0">
              <a:lnSpc>
                <a:spcPct val="143000"/>
              </a:lnSpc>
              <a:spcBef>
                <a:spcPts val="112"/>
              </a:spcBef>
              <a:tabLst/>
            </a:pPr>
            <a:r>
              <a:rPr sz="1200" kern="0" spc="14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1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对标</a:t>
            </a:r>
            <a:r>
              <a:rPr sz="8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yann</a:t>
            </a:r>
            <a:r>
              <a:rPr sz="800" kern="0" spc="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LecunAMl</a:t>
            </a:r>
            <a:r>
              <a:rPr sz="800" kern="0" spc="1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Labs</a:t>
            </a:r>
            <a:r>
              <a:rPr sz="800" kern="0" spc="14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研究成果,</a:t>
            </a:r>
            <a:r>
              <a:rPr sz="800" kern="0" spc="8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1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</a:t>
            </a:r>
            <a:r>
              <a:rPr sz="800" kern="0" spc="1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测式世界模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型在泛化性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样本效率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计算效率三项关键指标全面</a:t>
            </a:r>
            <a:r>
              <a:rPr sz="8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领先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200" kern="0" spc="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以家庭场景切入,</a:t>
            </a:r>
            <a:r>
              <a:rPr sz="900" kern="0" spc="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通用性成为跨场景迁移最佳基础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779746" y="5489399"/>
            <a:ext cx="36094" cy="36224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205804" y="5489399"/>
            <a:ext cx="36094" cy="36224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6631647" y="4512710"/>
            <a:ext cx="2429510" cy="139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8435" indent="-165735" algn="l" rtl="0" eaLnBrk="0">
              <a:lnSpc>
                <a:spcPct val="128000"/>
              </a:lnSpc>
              <a:spcBef>
                <a:spcPts val="6"/>
              </a:spcBef>
              <a:tabLst/>
            </a:pPr>
            <a:r>
              <a:rPr sz="1200" kern="0" spc="1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千诀</a:t>
            </a:r>
            <a:r>
              <a:rPr sz="900" kern="0" spc="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</a:t>
            </a:r>
            <a:r>
              <a:rPr sz="900" kern="0" spc="-6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brain</a:t>
            </a:r>
            <a:r>
              <a:rPr sz="900" kern="0" spc="3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预测式世界模型与追觅、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海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尔、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傅利叶等产业</a:t>
            </a:r>
            <a:r>
              <a:rPr sz="8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KA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客户广泛</a:t>
            </a:r>
            <a:r>
              <a:rPr sz="800" kern="0" spc="8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落地</a:t>
            </a:r>
            <a:r>
              <a:rPr sz="800" kern="0" spc="-12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8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8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全球接</a:t>
            </a:r>
            <a:r>
              <a:rPr sz="800" kern="0" spc="6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入将超10万台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8435" indent="-165735" algn="l" rtl="0" eaLnBrk="0">
              <a:lnSpc>
                <a:spcPct val="137000"/>
              </a:lnSpc>
              <a:spcBef>
                <a:spcPts val="179"/>
              </a:spcBef>
              <a:tabLst/>
            </a:pPr>
            <a:r>
              <a:rPr sz="1200" kern="0" spc="9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云端</a:t>
            </a:r>
            <a:r>
              <a:rPr sz="8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API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订阅和端侧部署兼容</a:t>
            </a:r>
            <a:r>
              <a:rPr sz="800" kern="0" spc="-5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100" dirty="0">
                <a:solidFill>
                  <a:srgbClr val="764D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8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商业模式兼具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可扩展性和可落地性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8435" indent="-165735" algn="l" rtl="0" eaLnBrk="0">
              <a:lnSpc>
                <a:spcPct val="129000"/>
              </a:lnSpc>
              <a:spcBef>
                <a:spcPts val="200"/>
              </a:spcBef>
              <a:tabLst/>
            </a:pPr>
            <a:r>
              <a:rPr sz="1200" kern="0" spc="1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基于分区预测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式世界模型</a:t>
            </a:r>
            <a:r>
              <a:rPr sz="900" kern="0" spc="-1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在数据</a:t>
            </a:r>
            <a:r>
              <a:rPr sz="9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算力、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适配实现最优</a:t>
            </a:r>
            <a:r>
              <a:rPr sz="900" kern="0" spc="-1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广泛赋能下游B/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C端各类具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身机器人制造厂商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561919" y="5489399"/>
            <a:ext cx="37057" cy="36224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578269" y="4512710"/>
            <a:ext cx="2519045" cy="1216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8435" indent="-165735" algn="l" rtl="0" eaLnBrk="0">
              <a:lnSpc>
                <a:spcPct val="119000"/>
              </a:lnSpc>
              <a:tabLst/>
            </a:pPr>
            <a:r>
              <a:rPr sz="1200" kern="0" spc="1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具身本体及核心硬件的成熟度不断提高</a:t>
            </a:r>
            <a:r>
              <a:rPr sz="900" kern="0" spc="-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特斯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拉等国际巨头纷纷入局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8435" indent="-165735" algn="l" rtl="0" eaLnBrk="0">
              <a:lnSpc>
                <a:spcPct val="129000"/>
              </a:lnSpc>
              <a:spcBef>
                <a:spcPts val="177"/>
              </a:spcBef>
              <a:tabLst/>
            </a:pPr>
            <a:r>
              <a:rPr sz="1200" kern="0" spc="1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具身智能落地仍然面临静态动态性差</a:t>
            </a:r>
            <a:r>
              <a:rPr sz="9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交互</a:t>
            </a:r>
            <a:r>
              <a:rPr sz="9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时性弱</a:t>
            </a:r>
            <a:r>
              <a:rPr sz="800" kern="0" spc="1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8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难以长时自主无人工作三大挑战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marL="178435" indent="-165735" algn="l" rtl="0" eaLnBrk="0">
              <a:lnSpc>
                <a:spcPct val="129000"/>
              </a:lnSpc>
              <a:spcBef>
                <a:spcPts val="200"/>
              </a:spcBef>
              <a:tabLst/>
            </a:pPr>
            <a:r>
              <a:rPr sz="1200" kern="0" spc="20" baseline="-43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7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LM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是生成式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向物理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的直接迁移</a:t>
            </a:r>
            <a:r>
              <a:rPr sz="900" kern="0" spc="-1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法落地;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世界模型或成破解具身智能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最后一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公里"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唯一路径,</a:t>
            </a:r>
            <a:r>
              <a:rPr sz="800" kern="0" spc="1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8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AGl</a:t>
            </a:r>
            <a:r>
              <a:rPr sz="8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的关键跃迁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688891" y="5416950"/>
            <a:ext cx="36576" cy="36224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105480" y="5132782"/>
            <a:ext cx="36094" cy="36224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618602" y="4954475"/>
            <a:ext cx="36576" cy="36224"/>
          </a:xfrm>
          <a:prstGeom prst="rect">
            <a:avLst/>
          </a:prstGeom>
        </p:spPr>
      </p:pic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4577434" y="7749793"/>
          <a:ext cx="3138170" cy="929004"/>
        </p:xfrm>
        <a:graphic>
          <a:graphicData uri="http://schemas.openxmlformats.org/drawingml/2006/table">
            <a:tbl>
              <a:tblPr/>
              <a:tblGrid>
                <a:gridCol w="1691639"/>
                <a:gridCol w="1446530"/>
              </a:tblGrid>
              <a:tr h="929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indent="-175895" algn="l" rtl="0" eaLnBrk="0">
                        <a:lnSpc>
                          <a:spcPct val="119000"/>
                        </a:lnSpc>
                        <a:tabLst/>
                      </a:pPr>
                      <a:r>
                        <a:rPr sz="1400" kern="0" spc="60" baseline="-37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800" kern="0" spc="4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000" kern="0" spc="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清华大学自动化系双臂</a:t>
                      </a:r>
                      <a:r>
                        <a:rPr sz="1000" kern="0" spc="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900" kern="0" spc="9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机器人课题组负责人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75895" indent="-175895" algn="l" rtl="0" eaLnBrk="0">
                        <a:lnSpc>
                          <a:spcPct val="136000"/>
                        </a:lnSpc>
                        <a:spcBef>
                          <a:spcPts val="115"/>
                        </a:spcBef>
                        <a:tabLst/>
                      </a:pPr>
                      <a:r>
                        <a:rPr sz="1400" kern="0" spc="70" baseline="-37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800" kern="0" spc="5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900" kern="0" spc="7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博士阶段在</a:t>
                      </a:r>
                      <a:r>
                        <a:rPr sz="900" kern="0" spc="2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</a:t>
                      </a:r>
                      <a:r>
                        <a:rPr sz="900" kern="0" spc="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 kern="0" spc="7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和机器人</a:t>
                      </a:r>
                      <a:r>
                        <a:rPr sz="900" kern="0" spc="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900" kern="0" spc="1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领域发表多篇顶会和顶</a:t>
                      </a:r>
                      <a:r>
                        <a:rPr sz="900" kern="0" spc="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900" kern="0" spc="8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刊论文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62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just" rtl="0" eaLnBrk="0">
                        <a:lnSpc>
                          <a:spcPct val="133000"/>
                        </a:lnSpc>
                        <a:tabLst/>
                      </a:pPr>
                      <a:r>
                        <a:rPr sz="900" kern="0" spc="1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清华大学自动化系教授</a:t>
                      </a:r>
                      <a:r>
                        <a:rPr sz="900" kern="0" spc="-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1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900" kern="0" spc="15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首批预测式世界模型研</a:t>
                      </a:r>
                      <a:r>
                        <a:rPr sz="900" kern="0" spc="1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究者</a:t>
                      </a:r>
                      <a:r>
                        <a:rPr sz="900" kern="0" spc="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1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900" kern="0" spc="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900" kern="0" spc="11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主导十三五国家</a:t>
                      </a:r>
                      <a:r>
                        <a:rPr sz="900" kern="0" spc="7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战略级项目</a:t>
                      </a:r>
                      <a:r>
                        <a:rPr sz="900" kern="0" spc="2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900" kern="0" spc="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</a:t>
                      </a:r>
                      <a:r>
                        <a:rPr sz="900" kern="0" spc="7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智能计算</a:t>
                      </a:r>
                      <a:r>
                        <a:rPr sz="900" kern="0" spc="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系统"</a:t>
                      </a:r>
                      <a:r>
                        <a:rPr sz="900" kern="0" spc="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900" kern="0" spc="60" dirty="0">
                          <a:solidFill>
                            <a:srgbClr val="0E284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重要课题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4" name="picture 6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76667" y="10820970"/>
            <a:ext cx="2046436" cy="1307847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327102" y="6440423"/>
            <a:ext cx="8796655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31"/>
              </a:lnSpc>
              <a:tabLst/>
            </a:pPr>
            <a:r>
              <a:rPr sz="18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一年内完成数轮融资,</a:t>
            </a:r>
            <a:r>
              <a:rPr sz="1800" kern="0" spc="4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估值增长10倍</a:t>
            </a:r>
            <a:r>
              <a:rPr sz="18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18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创始团队:科研专家领衔</a:t>
            </a:r>
            <a:r>
              <a:rPr sz="1800" kern="0" spc="-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+产业化专</a:t>
            </a:r>
            <a:r>
              <a:rPr sz="1800" kern="0" spc="-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家搭配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56209" y="9870313"/>
            <a:ext cx="4193869" cy="510666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1196492" y="6924802"/>
            <a:ext cx="2646679" cy="805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市场化基金加注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800" kern="0" spc="-130" dirty="0">
                <a:solidFill>
                  <a:srgbClr val="6E6E6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兆易创新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491582" y="10735309"/>
            <a:ext cx="1448435" cy="142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4775" algn="l" rtl="0" eaLnBrk="0">
              <a:lnSpc>
                <a:spcPct val="85000"/>
              </a:lnSpc>
              <a:tabLst/>
            </a:pPr>
            <a:r>
              <a:rPr sz="1300" kern="0" spc="80" dirty="0">
                <a:solidFill>
                  <a:srgbClr val="05BB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预测式世界模型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63829" indent="-134620" algn="l" rtl="0" eaLnBrk="0">
              <a:lnSpc>
                <a:spcPct val="103000"/>
              </a:lnSpc>
              <a:spcBef>
                <a:spcPts val="669"/>
              </a:spcBef>
              <a:tabLst/>
            </a:pPr>
            <a:r>
              <a:rPr sz="1000" kern="0" spc="3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通用、</a:t>
            </a:r>
            <a:r>
              <a:rPr sz="1000" kern="0" spc="-12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3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多模态、</a:t>
            </a:r>
            <a:r>
              <a:rPr sz="1000" kern="0" spc="13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3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可自主</a:t>
            </a:r>
            <a:r>
              <a:rPr sz="1000" kern="0" spc="9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化调用的世界模型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77800" indent="-165100" algn="l" rtl="0" eaLnBrk="0">
              <a:lnSpc>
                <a:spcPct val="97000"/>
              </a:lnSpc>
              <a:spcBef>
                <a:spcPts val="852"/>
              </a:spcBef>
              <a:tabLst/>
            </a:pPr>
            <a:r>
              <a:rPr sz="1400" kern="0" spc="-10" baseline="-37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广泛应用于开放场景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physicalAl,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响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应延迟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低于500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ms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长程决策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成功率高,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高动态适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80339" algn="l" rtl="0" eaLnBrk="0">
              <a:lnSpc>
                <a:spcPct val="89000"/>
              </a:lnSpc>
              <a:spcBef>
                <a:spcPts val="239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应性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5668771" y="8910471"/>
            <a:ext cx="1430019" cy="1337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21000"/>
              </a:lnSpc>
              <a:tabLst/>
            </a:pP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世界模型全栈技术负责人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清华大学自动化系博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士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39000"/>
              </a:lnSpc>
              <a:spcBef>
                <a:spcPts val="177"/>
              </a:spcBef>
              <a:tabLst/>
            </a:pPr>
            <a:r>
              <a:rPr sz="900" kern="0" spc="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预测式世界模型成为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IC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LR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world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Model</a:t>
            </a:r>
            <a:r>
              <a:rPr sz="900" kern="0" spc="2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亮点论文,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并受邀报告展示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3970" indent="10795" algn="l" rtl="0" eaLnBrk="0">
              <a:lnSpc>
                <a:spcPct val="145000"/>
              </a:lnSpc>
              <a:spcBef>
                <a:spcPts val="162"/>
              </a:spcBef>
              <a:tabLst/>
            </a:pP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曾发表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r>
              <a:rPr sz="800" kern="0" spc="-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url</a:t>
            </a:r>
            <a:r>
              <a:rPr sz="800" kern="0" spc="-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5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TPA</a:t>
            </a:r>
            <a:r>
              <a:rPr sz="800" kern="0" spc="-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Ml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等十余篇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领域顶会顶刊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564452" y="9993427"/>
            <a:ext cx="48767" cy="34137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7726145" y="10734040"/>
            <a:ext cx="1456055" cy="1286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indent="100330" algn="l" rtl="0" eaLnBrk="0">
              <a:lnSpc>
                <a:spcPct val="108000"/>
              </a:lnSpc>
              <a:tabLst/>
            </a:pPr>
            <a:r>
              <a:rPr sz="1300" kern="0" spc="60" dirty="0">
                <a:solidFill>
                  <a:srgbClr val="12BA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自动化数据管线</a:t>
            </a:r>
            <a:r>
              <a:rPr sz="11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依托世界最大真实场景</a:t>
            </a:r>
            <a:r>
              <a:rPr sz="11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数据集,构建数据壁垒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7800" indent="-165100" algn="l" rtl="0" eaLnBrk="0">
              <a:lnSpc>
                <a:spcPct val="106000"/>
              </a:lnSpc>
              <a:spcBef>
                <a:spcPts val="2"/>
              </a:spcBef>
              <a:tabLst/>
            </a:pPr>
            <a:r>
              <a:rPr sz="1400" kern="0" spc="-10" baseline="-37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3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依靠多模态数据感知采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集,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智能数据清洗、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动化模型训练,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构筑数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据壁垒,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实现数据闭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108927" y="10734040"/>
            <a:ext cx="1440180" cy="1290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indent="-2540" algn="l" rtl="0" eaLnBrk="0">
              <a:lnSpc>
                <a:spcPct val="115000"/>
              </a:lnSpc>
              <a:tabLst/>
            </a:pPr>
            <a:r>
              <a:rPr sz="1300" kern="0" spc="80" dirty="0">
                <a:solidFill>
                  <a:srgbClr val="08BB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因果推理决策模型</a:t>
            </a:r>
            <a:r>
              <a:rPr sz="1000" kern="0" spc="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采用因果模型结构、</a:t>
            </a:r>
            <a:r>
              <a:rPr sz="1000" kern="0" spc="3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</a:t>
            </a:r>
            <a:r>
              <a:rPr sz="1000" kern="0" spc="15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定性更强的决策模型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7800" indent="-165100" algn="l" rtl="0" eaLnBrk="0">
              <a:lnSpc>
                <a:spcPct val="106000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免prompt,</a:t>
            </a:r>
            <a:r>
              <a:rPr sz="10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00" kern="0" spc="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长时自主</a:t>
            </a:r>
            <a:r>
              <a:rPr sz="900" kern="0" spc="5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决策。</a:t>
            </a:r>
            <a:r>
              <a:rPr sz="900" kern="0" spc="50" dirty="0">
                <a:solidFill>
                  <a:srgbClr val="764D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5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基于因果推理</a:t>
            </a:r>
            <a:r>
              <a:rPr sz="900" kern="0" spc="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而非统计相关性,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本性解决模型幻觉。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2326259" y="7116089"/>
            <a:ext cx="2040788" cy="733675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7878545" y="7739888"/>
            <a:ext cx="1559560" cy="953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1295" indent="-188595" algn="l" rtl="0" eaLnBrk="0">
              <a:lnSpc>
                <a:spcPct val="124000"/>
              </a:lnSpc>
              <a:tabLst/>
            </a:pPr>
            <a:r>
              <a:rPr sz="1400" kern="0" spc="30" baseline="-37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6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前世界</a:t>
            </a:r>
            <a:r>
              <a:rPr sz="900" kern="0" spc="1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r>
              <a:rPr sz="900" kern="0" spc="2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强高管</a:t>
            </a:r>
            <a:r>
              <a:rPr sz="900" kern="0" spc="-10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1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3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品及经营管理专家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88595" indent="-175895" algn="l" rtl="0" eaLnBrk="0">
              <a:lnSpc>
                <a:spcPct val="141000"/>
              </a:lnSpc>
              <a:spcBef>
                <a:spcPts val="113"/>
              </a:spcBef>
              <a:tabLst/>
            </a:pPr>
            <a:r>
              <a:rPr sz="1400" kern="0" spc="90" baseline="-37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9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毕业于哈工大机电学院</a:t>
            </a:r>
            <a:r>
              <a:rPr sz="900" kern="0" spc="-1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曾任职美的集团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产业经验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8293597" y="8910471"/>
            <a:ext cx="1064260" cy="1337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1000"/>
              </a:lnSpc>
              <a:tabLst/>
            </a:pP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智能计算负责人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45000"/>
              </a:lnSpc>
              <a:spcBef>
                <a:spcPts val="126"/>
              </a:spcBef>
              <a:tabLst/>
            </a:pPr>
            <a:r>
              <a:rPr sz="900" kern="0" spc="1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清华大学自动化系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博</a:t>
            </a:r>
            <a:r>
              <a:rPr sz="900" kern="0" spc="2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士</a:t>
            </a:r>
            <a:r>
              <a:rPr sz="900" kern="0" spc="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900" kern="0" spc="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曾</a:t>
            </a:r>
            <a:r>
              <a:rPr sz="900" kern="0" spc="1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sz="900" kern="0" spc="8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7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</a:t>
            </a:r>
            <a:r>
              <a:rPr sz="800" kern="0" spc="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ICML</a:t>
            </a:r>
            <a:r>
              <a:rPr sz="800" kern="0" spc="2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800" kern="0" spc="4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ICLR</a:t>
            </a:r>
            <a:r>
              <a:rPr sz="8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TNN</a:t>
            </a:r>
            <a:r>
              <a:rPr sz="900" kern="0" spc="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LS</a:t>
            </a:r>
            <a:r>
              <a:rPr sz="900" kern="0" spc="1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等顶会期刊</a:t>
            </a:r>
            <a:r>
              <a:rPr sz="900" kern="0" spc="12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提出首个神经形态</a:t>
            </a: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多模态预测模型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234646" y="9597187"/>
            <a:ext cx="48767" cy="3413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668242" y="9597187"/>
            <a:ext cx="49556" cy="34137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522851" y="8786452"/>
            <a:ext cx="1018793" cy="133658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7105396" y="8801214"/>
            <a:ext cx="1018793" cy="132259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842250" y="6819391"/>
            <a:ext cx="1533271" cy="828802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4614798" y="6863395"/>
            <a:ext cx="1568830" cy="786577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160770" y="6912864"/>
            <a:ext cx="1593596" cy="746252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069082" y="10618901"/>
            <a:ext cx="859713" cy="1141069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8324596" y="237566"/>
            <a:ext cx="992593" cy="510590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320751" y="8181847"/>
            <a:ext cx="2252979" cy="23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600" kern="0" spc="-1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数十家标杆客户广泛认可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355828" y="12407251"/>
            <a:ext cx="3075304" cy="165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c2026</a:t>
            </a: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Maple</a:t>
            </a: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pledgecapital</a:t>
            </a: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100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AllRights</a:t>
            </a: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Reserved</a:t>
            </a:r>
            <a:r>
              <a:rPr sz="1100" kern="0" spc="9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1126083" y="7231481"/>
            <a:ext cx="478408" cy="367436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12089" y="7117308"/>
            <a:ext cx="848753" cy="369722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4653660" y="390237"/>
            <a:ext cx="1535229" cy="191891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902648" y="6206937"/>
            <a:ext cx="8068685" cy="3600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3938778" y="240252"/>
            <a:ext cx="609761" cy="410876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1695957" y="7289825"/>
            <a:ext cx="457111" cy="428726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738412" y="2527191"/>
            <a:ext cx="1414780" cy="151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900" kern="0" spc="90" dirty="0">
                <a:solidFill>
                  <a:srgbClr val="0E284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开放场景预测式世界模型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907186" y="6924802"/>
            <a:ext cx="93853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产业资本加持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68223" y="7524533"/>
            <a:ext cx="531977" cy="27059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5363590" y="7009384"/>
            <a:ext cx="612545" cy="220287"/>
            <a:chOff x="0" y="0"/>
            <a:chExt cx="612545" cy="220287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11050" y="8870"/>
              <a:ext cx="601494" cy="211416"/>
            </a:xfrm>
            <a:prstGeom prst="rect">
              <a:avLst/>
            </a:prstGeom>
          </p:spPr>
        </p:pic>
        <p:sp>
          <p:nvSpPr>
            <p:cNvPr id="130" name="rect 130"/>
            <p:cNvSpPr/>
            <p:nvPr/>
          </p:nvSpPr>
          <p:spPr>
            <a:xfrm>
              <a:off x="0" y="0"/>
              <a:ext cx="573786" cy="1799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" name="textbox 132"/>
            <p:cNvSpPr/>
            <p:nvPr/>
          </p:nvSpPr>
          <p:spPr>
            <a:xfrm>
              <a:off x="135335" y="18975"/>
              <a:ext cx="303529" cy="140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3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900" kern="0" spc="70" dirty="0">
                  <a:solidFill>
                    <a:srgbClr val="4A22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CEO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34" name="picture 13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7635831" y="3880393"/>
            <a:ext cx="475242" cy="257949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4660745" y="3880393"/>
            <a:ext cx="460785" cy="257949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665742" y="3880393"/>
            <a:ext cx="400204" cy="257949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8117178" y="8928215"/>
            <a:ext cx="63500" cy="1134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60"/>
              </a:lnSpc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492596" y="8928215"/>
            <a:ext cx="63500" cy="1134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60"/>
              </a:lnSpc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20"/>
              </a:spcBef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E284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44" name="picture 14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020689" y="10788395"/>
            <a:ext cx="19050" cy="1166071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7659243" y="10788395"/>
            <a:ext cx="19050" cy="1166071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4035552" y="7868666"/>
            <a:ext cx="76834" cy="76834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281074" y="7812382"/>
            <a:ext cx="134111" cy="373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2021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悦玮 陈</dc:creator>
  <dcterms:created xsi:type="dcterms:W3CDTF">2026-04-10T15:19:48Z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2026-05-08T21:06:15</vt:filetime>
  </property>
</Properties>
</file>