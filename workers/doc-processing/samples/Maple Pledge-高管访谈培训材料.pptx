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1" Type="http://schemas.openxmlformats.org/officeDocument/2006/relationships/viewProps" Target="viewProp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7" Type="http://schemas.openxmlformats.org/officeDocument/2006/relationships/image" Target="../media/image29.png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jpeg"/><Relationship Id="rId8" Type="http://schemas.openxmlformats.org/officeDocument/2006/relationships/image" Target="../media/image34.jpeg"/><Relationship Id="rId7" Type="http://schemas.openxmlformats.org/officeDocument/2006/relationships/image" Target="../media/image33.jpeg"/><Relationship Id="rId6" Type="http://schemas.openxmlformats.org/officeDocument/2006/relationships/image" Target="../media/image32.jpeg"/><Relationship Id="rId5" Type="http://schemas.openxmlformats.org/officeDocument/2006/relationships/image" Target="../media/image28.png"/><Relationship Id="rId4" Type="http://schemas.openxmlformats.org/officeDocument/2006/relationships/image" Target="../media/image29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jpe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8" Type="http://schemas.openxmlformats.org/officeDocument/2006/relationships/image" Target="../media/image28.png"/><Relationship Id="rId17" Type="http://schemas.openxmlformats.org/officeDocument/2006/relationships/image" Target="../media/image29.png"/><Relationship Id="rId16" Type="http://schemas.openxmlformats.org/officeDocument/2006/relationships/image" Target="../media/image50.png"/><Relationship Id="rId15" Type="http://schemas.openxmlformats.org/officeDocument/2006/relationships/image" Target="../media/image49.jpeg"/><Relationship Id="rId14" Type="http://schemas.openxmlformats.org/officeDocument/2006/relationships/image" Target="../media/image48.png"/><Relationship Id="rId13" Type="http://schemas.openxmlformats.org/officeDocument/2006/relationships/image" Target="../media/image47.png"/><Relationship Id="rId12" Type="http://schemas.openxmlformats.org/officeDocument/2006/relationships/image" Target="../media/image46.png"/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9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2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63" y="16764"/>
            <a:ext cx="12175235" cy="6841235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957618" y="2705912"/>
            <a:ext cx="5504815" cy="3532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5300" kern="0" spc="10" dirty="0">
                <a:solidFill>
                  <a:srgbClr val="4D4D4D">
                    <a:alpha val="100000"/>
                  </a:srgbClr>
                </a:solidFill>
                <a:latin typeface="KaiTi"/>
                <a:ea typeface="KaiTi"/>
                <a:cs typeface="KaiTi"/>
              </a:rPr>
              <a:t>高管访谈培训材料</a:t>
            </a:r>
            <a:endParaRPr sz="53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7000"/>
              </a:lnSpc>
              <a:spcBef>
                <a:spcPts val="605"/>
              </a:spcBef>
              <a:tabLst/>
            </a:pPr>
            <a:r>
              <a:rPr sz="2000" kern="0" spc="-10" dirty="0">
                <a:solidFill>
                  <a:srgbClr val="4D4D4D">
                    <a:alpha val="100000"/>
                  </a:srgbClr>
                </a:solidFill>
                <a:latin typeface="KaiTi"/>
                <a:ea typeface="KaiTi"/>
                <a:cs typeface="KaiTi"/>
              </a:rPr>
              <a:t>Executive</a:t>
            </a:r>
            <a:r>
              <a:rPr sz="2000" kern="0" spc="390" dirty="0">
                <a:solidFill>
                  <a:srgbClr val="4D4D4D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-10" dirty="0">
                <a:solidFill>
                  <a:srgbClr val="4D4D4D">
                    <a:alpha val="100000"/>
                  </a:srgbClr>
                </a:solidFill>
                <a:latin typeface="KaiTi"/>
                <a:ea typeface="KaiTi"/>
                <a:cs typeface="KaiTi"/>
              </a:rPr>
              <a:t>Interview</a:t>
            </a:r>
            <a:r>
              <a:rPr sz="2000" kern="0" spc="-10" dirty="0">
                <a:solidFill>
                  <a:srgbClr val="4D4D4D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-10" dirty="0">
                <a:solidFill>
                  <a:srgbClr val="4D4D4D">
                    <a:alpha val="100000"/>
                  </a:srgbClr>
                </a:solidFill>
                <a:latin typeface="KaiTi"/>
                <a:ea typeface="KaiTi"/>
                <a:cs typeface="KaiTi"/>
              </a:rPr>
              <a:t>Tra</a:t>
            </a:r>
            <a:r>
              <a:rPr sz="2000" kern="0" spc="-20" dirty="0">
                <a:solidFill>
                  <a:srgbClr val="4D4D4D">
                    <a:alpha val="100000"/>
                  </a:srgbClr>
                </a:solidFill>
                <a:latin typeface="KaiTi"/>
                <a:ea typeface="KaiTi"/>
                <a:cs typeface="KaiTi"/>
              </a:rPr>
              <a:t>ining</a:t>
            </a:r>
            <a:r>
              <a:rPr sz="2000" kern="0" spc="-20" dirty="0">
                <a:solidFill>
                  <a:srgbClr val="4D4D4D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-20" dirty="0">
                <a:solidFill>
                  <a:srgbClr val="4D4D4D">
                    <a:alpha val="100000"/>
                  </a:srgbClr>
                </a:solidFill>
                <a:latin typeface="KaiTi"/>
                <a:ea typeface="KaiTi"/>
                <a:cs typeface="KaiTi"/>
              </a:rPr>
              <a:t>Materials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1700" kern="0" spc="50" dirty="0">
                <a:solidFill>
                  <a:srgbClr val="000000">
                    <a:alpha val="49803"/>
                  </a:srgbClr>
                </a:solidFill>
                <a:latin typeface="KaiTi"/>
                <a:ea typeface="KaiTi"/>
                <a:cs typeface="KaiTi"/>
              </a:rPr>
              <a:t>2024年6月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32688" y="1176528"/>
            <a:ext cx="2017776" cy="4556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4215" y="303530"/>
            <a:ext cx="11783567" cy="3168141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102233" y="4017873"/>
            <a:ext cx="4857115" cy="1074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7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89000"/>
              </a:lnSpc>
              <a:tabLst/>
            </a:pPr>
            <a:r>
              <a:rPr sz="4700" b="1" kern="0" spc="1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高管访谈</a:t>
            </a:r>
            <a:r>
              <a:rPr sz="4700" b="1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培训材料</a:t>
            </a:r>
            <a:endParaRPr sz="47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7"/>
              </a:spcBef>
              <a:tabLst/>
            </a:pPr>
            <a:r>
              <a:rPr sz="1700" b="1" kern="0" spc="4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Execut</a:t>
            </a:r>
            <a:r>
              <a:rPr sz="1700" kern="0" spc="-42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700" b="1" kern="0" spc="4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ive</a:t>
            </a:r>
            <a:r>
              <a:rPr sz="1700" kern="0" spc="6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700" b="1" kern="0" spc="4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Interv</a:t>
            </a:r>
            <a:r>
              <a:rPr sz="1700" kern="0" spc="-4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iew</a:t>
            </a:r>
            <a:r>
              <a:rPr sz="1700" kern="0" spc="34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Tra</a:t>
            </a:r>
            <a:r>
              <a:rPr sz="1700" kern="0" spc="-4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in</a:t>
            </a:r>
            <a:r>
              <a:rPr sz="1700" kern="0" spc="-4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ing</a:t>
            </a:r>
            <a:r>
              <a:rPr sz="1700" kern="0" spc="3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Mater</a:t>
            </a:r>
            <a:r>
              <a:rPr sz="1700" kern="0" spc="-4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ia</a:t>
            </a:r>
            <a:r>
              <a:rPr sz="1700" kern="0" spc="-37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700" b="1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ls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12" name="rect 12"/>
          <p:cNvSpPr/>
          <p:nvPr/>
        </p:nvSpPr>
        <p:spPr>
          <a:xfrm>
            <a:off x="8683752" y="5985509"/>
            <a:ext cx="2990722" cy="238760"/>
          </a:xfrm>
          <a:prstGeom prst="rect">
            <a:avLst/>
          </a:prstGeom>
          <a:solidFill>
            <a:srgbClr val="DBB36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textbox 14"/>
          <p:cNvSpPr/>
          <p:nvPr/>
        </p:nvSpPr>
        <p:spPr>
          <a:xfrm>
            <a:off x="1063243" y="5972809"/>
            <a:ext cx="10624184" cy="301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48589" algn="l" rtl="0" eaLnBrk="0">
              <a:lnSpc>
                <a:spcPct val="99000"/>
              </a:lnSpc>
              <a:tabLst>
                <a:tab pos="365125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1800" b="1" kern="0" spc="0" baseline="-2893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MAPLE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b="1" kern="0" spc="0" baseline="-2893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PLEDGE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b="1" kern="0" spc="20" baseline="-2893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枫承资本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                            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                                       </a:t>
            </a:r>
            <a:r>
              <a:rPr sz="1800" kern="0" spc="0" baseline="2893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MAPLE</a:t>
            </a:r>
            <a:r>
              <a:rPr sz="1100" kern="0" spc="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kern="0" spc="0" baseline="2893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PLEDGE</a:t>
            </a:r>
            <a:r>
              <a:rPr sz="1100" kern="0" spc="5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800" kern="0" spc="10" baseline="2893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枫承资本</a:t>
            </a:r>
            <a:r>
              <a:rPr sz="1100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</a:t>
            </a:r>
            <a:endParaRPr sz="1100" dirty="0">
              <a:latin typeface="KaiTi"/>
              <a:ea typeface="KaiTi"/>
              <a:cs typeface="KaiT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075943" y="5985509"/>
            <a:ext cx="136271" cy="275590"/>
            <a:chOff x="0" y="0"/>
            <a:chExt cx="136271" cy="275590"/>
          </a:xfrm>
        </p:grpSpPr>
        <p:sp>
          <p:nvSpPr>
            <p:cNvPr id="16" name="path 16"/>
            <p:cNvSpPr/>
            <p:nvPr/>
          </p:nvSpPr>
          <p:spPr>
            <a:xfrm>
              <a:off x="0" y="761"/>
              <a:ext cx="76200" cy="274320"/>
            </a:xfrm>
            <a:custGeom>
              <a:avLst/>
              <a:gdLst/>
              <a:ahLst/>
              <a:cxnLst/>
              <a:rect l="0" t="0" r="0" b="0"/>
              <a:pathLst>
                <a:path w="120" h="432">
                  <a:moveTo>
                    <a:pt x="0" y="0"/>
                  </a:moveTo>
                  <a:lnTo>
                    <a:pt x="120" y="0"/>
                  </a:lnTo>
                  <a:lnTo>
                    <a:pt x="120" y="432"/>
                  </a:lnTo>
                  <a:lnTo>
                    <a:pt x="0" y="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B36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path 18"/>
            <p:cNvSpPr/>
            <p:nvPr/>
          </p:nvSpPr>
          <p:spPr>
            <a:xfrm>
              <a:off x="100076" y="0"/>
              <a:ext cx="36194" cy="275590"/>
            </a:xfrm>
            <a:custGeom>
              <a:avLst/>
              <a:gdLst/>
              <a:ahLst/>
              <a:cxnLst/>
              <a:rect l="0" t="0" r="0" b="0"/>
              <a:pathLst>
                <a:path w="56" h="434">
                  <a:moveTo>
                    <a:pt x="0" y="0"/>
                  </a:moveTo>
                  <a:lnTo>
                    <a:pt x="56" y="0"/>
                  </a:lnTo>
                  <a:lnTo>
                    <a:pt x="56" y="434"/>
                  </a:lnTo>
                  <a:lnTo>
                    <a:pt x="0" y="4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D26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rect 20"/>
          <p:cNvSpPr/>
          <p:nvPr/>
        </p:nvSpPr>
        <p:spPr>
          <a:xfrm>
            <a:off x="6336791" y="3304032"/>
            <a:ext cx="5495544" cy="300228"/>
          </a:xfrm>
          <a:prstGeom prst="rect">
            <a:avLst/>
          </a:prstGeom>
          <a:solidFill>
            <a:srgbClr val="DBB36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" name="textbox 22"/>
          <p:cNvSpPr/>
          <p:nvPr/>
        </p:nvSpPr>
        <p:spPr>
          <a:xfrm>
            <a:off x="870203" y="0"/>
            <a:ext cx="1347469" cy="1050289"/>
          </a:xfrm>
          <a:prstGeom prst="rect">
            <a:avLst/>
          </a:prstGeom>
          <a:solidFill>
            <a:srgbClr val="DBB36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ct val="72000"/>
              </a:lnSpc>
              <a:spcBef>
                <a:spcPts val="5"/>
              </a:spcBef>
              <a:tabLst/>
            </a:pPr>
            <a:r>
              <a:rPr sz="900" b="1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MAPLE</a:t>
            </a: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900" b="1" kern="0" spc="4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PLEDG</a:t>
            </a:r>
            <a:r>
              <a:rPr sz="900" b="1" kern="0" spc="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E</a:t>
            </a:r>
            <a:endParaRPr sz="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17194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900" b="1" kern="0" spc="9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枫承资本</a:t>
            </a:r>
            <a:endParaRPr sz="900" dirty="0">
              <a:latin typeface="KaiTi"/>
              <a:ea typeface="KaiTi"/>
              <a:cs typeface="KaiTi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89720" y="5545670"/>
            <a:ext cx="653021" cy="277113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66526" y="5545670"/>
            <a:ext cx="171818" cy="280225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931511" y="5548782"/>
            <a:ext cx="173380" cy="274001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220884" y="5548782"/>
            <a:ext cx="171817" cy="274001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506864" y="5548782"/>
            <a:ext cx="170256" cy="274001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456824" y="5548782"/>
            <a:ext cx="170256" cy="274001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698060" y="5548782"/>
            <a:ext cx="167144" cy="27400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412435" y="5548782"/>
            <a:ext cx="167144" cy="274001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747466" y="5548782"/>
            <a:ext cx="167144" cy="274001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76325" y="5268912"/>
            <a:ext cx="549910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365759" y="1440179"/>
            <a:ext cx="4564380" cy="5141976"/>
            <a:chOff x="0" y="0"/>
            <a:chExt cx="4564380" cy="5141976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564380" cy="5141976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1258087" y="161137"/>
              <a:ext cx="2079625" cy="47256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49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86105" algn="l" rtl="0" eaLnBrk="0">
                <a:lnSpc>
                  <a:spcPct val="92000"/>
                </a:lnSpc>
                <a:tabLst/>
              </a:pPr>
              <a:r>
                <a:rPr sz="1700" b="1" kern="0" spc="7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初步推荐</a:t>
              </a:r>
              <a:endParaRPr sz="17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9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69265" algn="l" rtl="0" eaLnBrk="0">
                <a:lnSpc>
                  <a:spcPct val="92000"/>
                </a:lnSpc>
                <a:spcBef>
                  <a:spcPts val="515"/>
                </a:spcBef>
                <a:tabLst/>
              </a:pPr>
              <a:r>
                <a:rPr sz="1700" b="1" kern="0" spc="7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创始人访谈</a:t>
              </a:r>
              <a:endParaRPr sz="17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9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spcBef>
                  <a:spcPts val="515"/>
                </a:spcBef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行业研究及数据分析</a:t>
              </a:r>
              <a:endParaRPr sz="17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03250" algn="l" rtl="0" eaLnBrk="0">
                <a:lnSpc>
                  <a:spcPct val="92000"/>
                </a:lnSpc>
                <a:spcBef>
                  <a:spcPts val="521"/>
                </a:spcBef>
                <a:tabLst/>
              </a:pPr>
              <a:r>
                <a:rPr sz="1700" b="1" kern="0" spc="3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高管访谈</a:t>
              </a:r>
              <a:endParaRPr sz="17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97865" algn="l" rtl="0" eaLnBrk="0">
                <a:lnSpc>
                  <a:spcPct val="92000"/>
                </a:lnSpc>
                <a:spcBef>
                  <a:spcPts val="521"/>
                </a:spcBef>
                <a:tabLst/>
              </a:pPr>
              <a:r>
                <a:rPr sz="1700" b="1" kern="0" spc="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TS</a:t>
              </a: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谈判</a:t>
              </a:r>
              <a:endParaRPr sz="17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80059" algn="l" rtl="0" eaLnBrk="0">
                <a:lnSpc>
                  <a:spcPct val="92000"/>
                </a:lnSpc>
                <a:spcBef>
                  <a:spcPts val="515"/>
                </a:spcBef>
                <a:tabLst/>
              </a:pPr>
              <a:r>
                <a:rPr sz="1700" b="1" kern="0" spc="5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第三方尽调</a:t>
              </a:r>
              <a:endParaRPr sz="17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89280" algn="l" rtl="0" eaLnBrk="0">
                <a:lnSpc>
                  <a:spcPct val="92000"/>
                </a:lnSpc>
                <a:spcBef>
                  <a:spcPts val="512"/>
                </a:spcBef>
                <a:tabLst/>
              </a:pPr>
              <a:r>
                <a:rPr sz="1700" b="1" kern="0" spc="6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交易文件</a:t>
              </a:r>
              <a:endParaRPr sz="17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583565" algn="l" rtl="0" eaLnBrk="0">
                <a:lnSpc>
                  <a:spcPct val="92000"/>
                </a:lnSpc>
                <a:spcBef>
                  <a:spcPts val="1"/>
                </a:spcBef>
                <a:tabLst/>
              </a:pPr>
              <a:r>
                <a:rPr sz="1700" b="1" kern="0" spc="7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签约打款</a:t>
              </a:r>
              <a:endParaRPr sz="1700" dirty="0">
                <a:latin typeface="KaiTi"/>
                <a:ea typeface="KaiTi"/>
                <a:cs typeface="KaiTi"/>
              </a:endParaRPr>
            </a:p>
          </p:txBody>
        </p:sp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03505" y="555625"/>
              <a:ext cx="4377054" cy="19050"/>
            </a:xfrm>
            <a:prstGeom prst="rect">
              <a:avLst/>
            </a:prstGeom>
          </p:spPr>
        </p:pic>
        <p:pic>
          <p:nvPicPr>
            <p:cNvPr id="50" name="pictur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00050" y="1203325"/>
              <a:ext cx="3759200" cy="19050"/>
            </a:xfrm>
            <a:prstGeom prst="rect">
              <a:avLst/>
            </a:prstGeom>
          </p:spPr>
        </p:pic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695959" y="1851025"/>
              <a:ext cx="3209289" cy="19050"/>
            </a:xfrm>
            <a:prstGeom prst="rect">
              <a:avLst/>
            </a:prstGeom>
          </p:spPr>
        </p:pic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949960" y="2498725"/>
              <a:ext cx="2675889" cy="19050"/>
            </a:xfrm>
            <a:prstGeom prst="rect">
              <a:avLst/>
            </a:prstGeom>
          </p:spPr>
        </p:pic>
        <p:pic>
          <p:nvPicPr>
            <p:cNvPr id="56" name="picture 5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195705" y="3146425"/>
              <a:ext cx="2108200" cy="19050"/>
            </a:xfrm>
            <a:prstGeom prst="rect">
              <a:avLst/>
            </a:prstGeom>
          </p:spPr>
        </p:pic>
        <p:pic>
          <p:nvPicPr>
            <p:cNvPr id="58" name="picture 5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568450" y="3794125"/>
              <a:ext cx="1456055" cy="19050"/>
            </a:xfrm>
            <a:prstGeom prst="rect">
              <a:avLst/>
            </a:prstGeom>
          </p:spPr>
        </p:pic>
        <p:pic>
          <p:nvPicPr>
            <p:cNvPr id="60" name="picture 6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711960" y="4441825"/>
              <a:ext cx="1101089" cy="19050"/>
            </a:xfrm>
            <a:prstGeom prst="rect">
              <a:avLst/>
            </a:prstGeom>
          </p:spPr>
        </p:pic>
      </p:grpSp>
      <p:pic>
        <p:nvPicPr>
          <p:cNvPr id="62" name="picture 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090672" y="2662427"/>
            <a:ext cx="4393832" cy="2574035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645664" y="5250179"/>
            <a:ext cx="3649881" cy="1331976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628388" y="1440179"/>
            <a:ext cx="3410731" cy="559308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346448" y="2014728"/>
            <a:ext cx="3496196" cy="630935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3672020" y="1602091"/>
            <a:ext cx="8308975" cy="4714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51685" algn="l" rtl="0" eaLnBrk="0">
              <a:lnSpc>
                <a:spcPct val="92000"/>
              </a:lnSpc>
              <a:tabLst/>
            </a:pPr>
            <a:r>
              <a:rPr sz="1500" b="1" kern="0" spc="9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团队、市场、行业、公司切入点等初步判断，</a:t>
            </a:r>
            <a:r>
              <a:rPr sz="1500" b="1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确认兴趣度</a:t>
            </a:r>
            <a:endParaRPr sz="1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39264" algn="l" rtl="0" eaLnBrk="0">
              <a:lnSpc>
                <a:spcPct val="92000"/>
              </a:lnSpc>
              <a:spcBef>
                <a:spcPts val="454"/>
              </a:spcBef>
              <a:tabLst/>
            </a:pPr>
            <a:r>
              <a:rPr sz="1500" b="1" kern="0" spc="10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进一步理解公司商业模式</a:t>
            </a:r>
            <a:r>
              <a:rPr sz="1500" b="1" kern="0" spc="9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，核心竞争力等</a:t>
            </a:r>
            <a:endParaRPr sz="1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83335" algn="l" rtl="0" eaLnBrk="0">
              <a:lnSpc>
                <a:spcPct val="92000"/>
              </a:lnSpc>
              <a:spcBef>
                <a:spcPts val="451"/>
              </a:spcBef>
              <a:tabLst>
                <a:tab pos="1457960" algn="l"/>
              </a:tabLst>
            </a:pPr>
            <a:r>
              <a:rPr sz="15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1500" b="1" kern="0" spc="10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通过行业调研、数据分</a:t>
            </a:r>
            <a:r>
              <a:rPr sz="1500" b="1" kern="0" spc="9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析验证前期业务了解结果</a:t>
            </a:r>
            <a:endParaRPr sz="1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66164" algn="l" rtl="0" eaLnBrk="0">
              <a:lnSpc>
                <a:spcPct val="92000"/>
              </a:lnSpc>
              <a:spcBef>
                <a:spcPts val="458"/>
              </a:spcBef>
              <a:tabLst>
                <a:tab pos="1277619" algn="l"/>
              </a:tabLst>
            </a:pPr>
            <a:r>
              <a:rPr sz="1500" kern="0" spc="0" dirty="0">
                <a:solidFill>
                  <a:srgbClr val="9B2025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1500" b="1" kern="0" spc="90" dirty="0">
                <a:solidFill>
                  <a:srgbClr val="9B2025">
                    <a:alpha val="100000"/>
                  </a:srgbClr>
                </a:solidFill>
                <a:latin typeface="KaiTi"/>
                <a:ea typeface="KaiTi"/>
                <a:cs typeface="KaiTi"/>
              </a:rPr>
              <a:t>考察高管团队资质和能力</a:t>
            </a:r>
            <a:r>
              <a:rPr sz="1500" kern="0" spc="90" dirty="0">
                <a:solidFill>
                  <a:srgbClr val="9B2025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1500" b="1" kern="0" spc="90" dirty="0">
                <a:solidFill>
                  <a:srgbClr val="9B2025">
                    <a:alpha val="100000"/>
                  </a:srgbClr>
                </a:solidFill>
                <a:latin typeface="KaiTi"/>
                <a:ea typeface="KaiTi"/>
                <a:cs typeface="KaiTi"/>
              </a:rPr>
              <a:t>验证路演中商业模式+判断各环节优势和能力</a:t>
            </a:r>
            <a:endParaRPr sz="1500" dirty="0">
              <a:latin typeface="KaiTi"/>
              <a:ea typeface="KaiTi"/>
              <a:cs typeface="KaiTi"/>
            </a:endParaRPr>
          </a:p>
          <a:p>
            <a:pPr marL="1066164" algn="l" rtl="0" eaLnBrk="0">
              <a:lnSpc>
                <a:spcPct val="93000"/>
              </a:lnSpc>
              <a:spcBef>
                <a:spcPts val="246"/>
              </a:spcBef>
              <a:tabLst>
                <a:tab pos="1279525" algn="l"/>
              </a:tabLst>
            </a:pPr>
            <a:r>
              <a:rPr sz="1500" kern="0" spc="0" dirty="0">
                <a:solidFill>
                  <a:srgbClr val="9B2025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1500" b="1" kern="0" spc="90" dirty="0">
                <a:solidFill>
                  <a:srgbClr val="9B2025">
                    <a:alpha val="100000"/>
                  </a:srgbClr>
                </a:solidFill>
                <a:latin typeface="KaiTi"/>
                <a:ea typeface="KaiTi"/>
                <a:cs typeface="KaiTi"/>
              </a:rPr>
              <a:t>一般访谈各业务环节管理层，时间~1</a:t>
            </a:r>
            <a:r>
              <a:rPr sz="1500" b="1" kern="0" spc="80" dirty="0">
                <a:solidFill>
                  <a:srgbClr val="9B2025">
                    <a:alpha val="100000"/>
                  </a:srgbClr>
                </a:solidFill>
                <a:latin typeface="KaiTi"/>
                <a:ea typeface="KaiTi"/>
                <a:cs typeface="KaiTi"/>
              </a:rPr>
              <a:t>小时</a:t>
            </a:r>
            <a:endParaRPr sz="1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6915" algn="l" rtl="0" eaLnBrk="0">
              <a:lnSpc>
                <a:spcPct val="92000"/>
              </a:lnSpc>
              <a:spcBef>
                <a:spcPts val="451"/>
              </a:spcBef>
              <a:tabLst>
                <a:tab pos="885825" algn="l"/>
              </a:tabLst>
            </a:pPr>
            <a:r>
              <a:rPr sz="15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1500" b="1" kern="0" spc="9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对估值、意向条款达成一致</a:t>
            </a:r>
            <a:endParaRPr sz="1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94665" algn="l" rtl="0" eaLnBrk="0">
              <a:lnSpc>
                <a:spcPct val="92000"/>
              </a:lnSpc>
              <a:spcBef>
                <a:spcPts val="458"/>
              </a:spcBef>
              <a:tabLst>
                <a:tab pos="629284" algn="l"/>
              </a:tabLst>
            </a:pPr>
            <a:r>
              <a:rPr sz="1500" kern="0" spc="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1500" b="1" kern="0" spc="10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核实财务和法务细节，确认无异常风险点</a:t>
            </a:r>
            <a:r>
              <a:rPr sz="1500" kern="0" spc="10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1500" b="1" kern="0" spc="10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尽调</a:t>
            </a:r>
            <a:r>
              <a:rPr sz="1500" b="1" kern="0" spc="9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机构补充访谈，数据和业务细节讨论</a:t>
            </a:r>
            <a:endParaRPr sz="1500" dirty="0">
              <a:latin typeface="KaiTi"/>
              <a:ea typeface="KaiTi"/>
              <a:cs typeface="KaiTi"/>
            </a:endParaRPr>
          </a:p>
          <a:p>
            <a:pPr marL="494665" algn="l" rtl="0" eaLnBrk="0">
              <a:lnSpc>
                <a:spcPct val="92000"/>
              </a:lnSpc>
              <a:spcBef>
                <a:spcPts val="264"/>
              </a:spcBef>
              <a:tabLst>
                <a:tab pos="634365" algn="l"/>
              </a:tabLst>
            </a:pPr>
            <a:r>
              <a:rPr sz="1500" kern="0" spc="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1500" b="1" kern="0" spc="10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对上述环节发现的问</a:t>
            </a:r>
            <a:r>
              <a:rPr sz="1500" b="1" kern="0" spc="9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题进行针对性访谈</a:t>
            </a:r>
            <a:endParaRPr sz="1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6210" algn="l" rtl="0" eaLnBrk="0">
              <a:lnSpc>
                <a:spcPct val="92000"/>
              </a:lnSpc>
              <a:spcBef>
                <a:spcPts val="456"/>
              </a:spcBef>
              <a:tabLst>
                <a:tab pos="316865" algn="l"/>
              </a:tabLst>
            </a:pPr>
            <a:r>
              <a:rPr sz="15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1500" b="1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法律文件起草及细节条款谈判</a:t>
            </a:r>
            <a:endParaRPr sz="1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1500" b="1" kern="0" spc="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完成</a:t>
            </a:r>
            <a:endParaRPr sz="1500" dirty="0">
              <a:latin typeface="KaiTi"/>
              <a:ea typeface="KaiTi"/>
              <a:cs typeface="KaiTi"/>
            </a:endParaRPr>
          </a:p>
        </p:txBody>
      </p:sp>
      <p:sp>
        <p:nvSpPr>
          <p:cNvPr id="72" name="path 72"/>
          <p:cNvSpPr/>
          <p:nvPr/>
        </p:nvSpPr>
        <p:spPr>
          <a:xfrm>
            <a:off x="3752850" y="5530214"/>
            <a:ext cx="75564" cy="75565"/>
          </a:xfrm>
          <a:custGeom>
            <a:avLst/>
            <a:gdLst/>
            <a:ahLst/>
            <a:cxnLst/>
            <a:rect l="0" t="0" r="0" b="0"/>
            <a:pathLst>
              <a:path w="118" h="119">
                <a:moveTo>
                  <a:pt x="1" y="60"/>
                </a:moveTo>
                <a:cubicBezTo>
                  <a:pt x="0" y="26"/>
                  <a:pt x="26" y="0"/>
                  <a:pt x="59" y="0"/>
                </a:cubicBezTo>
                <a:cubicBezTo>
                  <a:pt x="92" y="0"/>
                  <a:pt x="118" y="26"/>
                  <a:pt x="118" y="59"/>
                </a:cubicBezTo>
                <a:cubicBezTo>
                  <a:pt x="118" y="92"/>
                  <a:pt x="92" y="119"/>
                  <a:pt x="59" y="119"/>
                </a:cubicBezTo>
                <a:cubicBezTo>
                  <a:pt x="26" y="119"/>
                  <a:pt x="0" y="92"/>
                  <a:pt x="1" y="60"/>
                </a:cubicBez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4" name="path 74"/>
          <p:cNvSpPr/>
          <p:nvPr/>
        </p:nvSpPr>
        <p:spPr>
          <a:xfrm>
            <a:off x="4091304" y="4997450"/>
            <a:ext cx="75565" cy="75564"/>
          </a:xfrm>
          <a:custGeom>
            <a:avLst/>
            <a:gdLst/>
            <a:ahLst/>
            <a:cxnLst/>
            <a:rect l="0" t="0" r="0" b="0"/>
            <a:pathLst>
              <a:path w="119" h="118">
                <a:moveTo>
                  <a:pt x="1" y="59"/>
                </a:moveTo>
                <a:cubicBezTo>
                  <a:pt x="0" y="26"/>
                  <a:pt x="26" y="0"/>
                  <a:pt x="59" y="0"/>
                </a:cubicBezTo>
                <a:cubicBezTo>
                  <a:pt x="92" y="0"/>
                  <a:pt x="119" y="26"/>
                  <a:pt x="119" y="59"/>
                </a:cubicBezTo>
                <a:cubicBezTo>
                  <a:pt x="119" y="92"/>
                  <a:pt x="92" y="118"/>
                  <a:pt x="59" y="118"/>
                </a:cubicBezTo>
                <a:cubicBezTo>
                  <a:pt x="26" y="118"/>
                  <a:pt x="0" y="92"/>
                  <a:pt x="1" y="59"/>
                </a:cubicBezTo>
              </a:path>
            </a:pathLst>
          </a:custGeom>
          <a:solidFill>
            <a:srgbClr val="C68C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path 76"/>
          <p:cNvSpPr/>
          <p:nvPr/>
        </p:nvSpPr>
        <p:spPr>
          <a:xfrm>
            <a:off x="8110035" y="4751704"/>
            <a:ext cx="75565" cy="75565"/>
          </a:xfrm>
          <a:custGeom>
            <a:avLst/>
            <a:gdLst/>
            <a:ahLst/>
            <a:cxnLst/>
            <a:rect l="0" t="0" r="0" b="0"/>
            <a:pathLst>
              <a:path w="119" h="119">
                <a:moveTo>
                  <a:pt x="1" y="60"/>
                </a:moveTo>
                <a:cubicBezTo>
                  <a:pt x="0" y="26"/>
                  <a:pt x="26" y="0"/>
                  <a:pt x="59" y="0"/>
                </a:cubicBezTo>
                <a:cubicBezTo>
                  <a:pt x="92" y="0"/>
                  <a:pt x="119" y="26"/>
                  <a:pt x="119" y="59"/>
                </a:cubicBezTo>
                <a:cubicBezTo>
                  <a:pt x="119" y="92"/>
                  <a:pt x="92" y="119"/>
                  <a:pt x="59" y="119"/>
                </a:cubicBezTo>
                <a:cubicBezTo>
                  <a:pt x="26" y="119"/>
                  <a:pt x="0" y="92"/>
                  <a:pt x="1" y="60"/>
                </a:cubicBezTo>
              </a:path>
            </a:pathLst>
          </a:custGeom>
          <a:solidFill>
            <a:srgbClr val="C68C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" name="path 78"/>
          <p:cNvSpPr/>
          <p:nvPr/>
        </p:nvSpPr>
        <p:spPr>
          <a:xfrm>
            <a:off x="4091304" y="4751704"/>
            <a:ext cx="75565" cy="75565"/>
          </a:xfrm>
          <a:custGeom>
            <a:avLst/>
            <a:gdLst/>
            <a:ahLst/>
            <a:cxnLst/>
            <a:rect l="0" t="0" r="0" b="0"/>
            <a:pathLst>
              <a:path w="119" h="119">
                <a:moveTo>
                  <a:pt x="1" y="60"/>
                </a:moveTo>
                <a:cubicBezTo>
                  <a:pt x="0" y="26"/>
                  <a:pt x="26" y="0"/>
                  <a:pt x="59" y="0"/>
                </a:cubicBezTo>
                <a:cubicBezTo>
                  <a:pt x="92" y="0"/>
                  <a:pt x="119" y="26"/>
                  <a:pt x="119" y="59"/>
                </a:cubicBezTo>
                <a:cubicBezTo>
                  <a:pt x="119" y="92"/>
                  <a:pt x="92" y="119"/>
                  <a:pt x="59" y="119"/>
                </a:cubicBezTo>
                <a:cubicBezTo>
                  <a:pt x="26" y="119"/>
                  <a:pt x="0" y="92"/>
                  <a:pt x="1" y="60"/>
                </a:cubicBezTo>
              </a:path>
            </a:pathLst>
          </a:custGeom>
          <a:solidFill>
            <a:srgbClr val="C68C3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path 80"/>
          <p:cNvSpPr/>
          <p:nvPr/>
        </p:nvSpPr>
        <p:spPr>
          <a:xfrm>
            <a:off x="4312920" y="4233544"/>
            <a:ext cx="76200" cy="75565"/>
          </a:xfrm>
          <a:custGeom>
            <a:avLst/>
            <a:gdLst/>
            <a:ahLst/>
            <a:cxnLst/>
            <a:rect l="0" t="0" r="0" b="0"/>
            <a:pathLst>
              <a:path w="120" h="119">
                <a:moveTo>
                  <a:pt x="0" y="60"/>
                </a:moveTo>
                <a:cubicBezTo>
                  <a:pt x="0" y="26"/>
                  <a:pt x="27" y="0"/>
                  <a:pt x="60" y="0"/>
                </a:cubicBezTo>
                <a:cubicBezTo>
                  <a:pt x="93" y="0"/>
                  <a:pt x="120" y="26"/>
                  <a:pt x="120" y="59"/>
                </a:cubicBezTo>
                <a:cubicBezTo>
                  <a:pt x="120" y="92"/>
                  <a:pt x="93" y="119"/>
                  <a:pt x="60" y="119"/>
                </a:cubicBezTo>
                <a:cubicBezTo>
                  <a:pt x="27" y="119"/>
                  <a:pt x="0" y="92"/>
                  <a:pt x="0" y="60"/>
                </a:cubicBez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path 82"/>
          <p:cNvSpPr/>
          <p:nvPr/>
        </p:nvSpPr>
        <p:spPr>
          <a:xfrm>
            <a:off x="4662804" y="3693794"/>
            <a:ext cx="75565" cy="75565"/>
          </a:xfrm>
          <a:custGeom>
            <a:avLst/>
            <a:gdLst/>
            <a:ahLst/>
            <a:cxnLst/>
            <a:rect l="0" t="0" r="0" b="0"/>
            <a:pathLst>
              <a:path w="119" h="119">
                <a:moveTo>
                  <a:pt x="1" y="60"/>
                </a:moveTo>
                <a:cubicBezTo>
                  <a:pt x="0" y="26"/>
                  <a:pt x="26" y="0"/>
                  <a:pt x="59" y="0"/>
                </a:cubicBezTo>
                <a:cubicBezTo>
                  <a:pt x="92" y="0"/>
                  <a:pt x="119" y="26"/>
                  <a:pt x="119" y="59"/>
                </a:cubicBezTo>
                <a:cubicBezTo>
                  <a:pt x="119" y="92"/>
                  <a:pt x="92" y="119"/>
                  <a:pt x="59" y="119"/>
                </a:cubicBezTo>
                <a:cubicBezTo>
                  <a:pt x="26" y="119"/>
                  <a:pt x="0" y="92"/>
                  <a:pt x="1" y="60"/>
                </a:cubicBezTo>
              </a:path>
            </a:pathLst>
          </a:custGeom>
          <a:solidFill>
            <a:srgbClr val="9B202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path 84"/>
          <p:cNvSpPr/>
          <p:nvPr/>
        </p:nvSpPr>
        <p:spPr>
          <a:xfrm>
            <a:off x="7299141" y="3470275"/>
            <a:ext cx="75565" cy="75565"/>
          </a:xfrm>
          <a:custGeom>
            <a:avLst/>
            <a:gdLst/>
            <a:ahLst/>
            <a:cxnLst/>
            <a:rect l="0" t="0" r="0" b="0"/>
            <a:pathLst>
              <a:path w="119" h="119">
                <a:moveTo>
                  <a:pt x="0" y="59"/>
                </a:moveTo>
                <a:cubicBezTo>
                  <a:pt x="0" y="26"/>
                  <a:pt x="26" y="0"/>
                  <a:pt x="59" y="0"/>
                </a:cubicBezTo>
                <a:cubicBezTo>
                  <a:pt x="92" y="0"/>
                  <a:pt x="119" y="26"/>
                  <a:pt x="119" y="59"/>
                </a:cubicBezTo>
                <a:cubicBezTo>
                  <a:pt x="119" y="92"/>
                  <a:pt x="92" y="119"/>
                  <a:pt x="59" y="119"/>
                </a:cubicBezTo>
                <a:cubicBezTo>
                  <a:pt x="26" y="119"/>
                  <a:pt x="0" y="92"/>
                  <a:pt x="0" y="59"/>
                </a:cubicBezTo>
              </a:path>
            </a:pathLst>
          </a:custGeom>
          <a:solidFill>
            <a:srgbClr val="9B202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" name="path 86"/>
          <p:cNvSpPr/>
          <p:nvPr/>
        </p:nvSpPr>
        <p:spPr>
          <a:xfrm>
            <a:off x="4662804" y="3470275"/>
            <a:ext cx="75565" cy="75565"/>
          </a:xfrm>
          <a:custGeom>
            <a:avLst/>
            <a:gdLst/>
            <a:ahLst/>
            <a:cxnLst/>
            <a:rect l="0" t="0" r="0" b="0"/>
            <a:pathLst>
              <a:path w="119" h="119">
                <a:moveTo>
                  <a:pt x="1" y="59"/>
                </a:moveTo>
                <a:cubicBezTo>
                  <a:pt x="0" y="26"/>
                  <a:pt x="26" y="0"/>
                  <a:pt x="59" y="0"/>
                </a:cubicBezTo>
                <a:cubicBezTo>
                  <a:pt x="92" y="0"/>
                  <a:pt x="119" y="26"/>
                  <a:pt x="119" y="59"/>
                </a:cubicBezTo>
                <a:cubicBezTo>
                  <a:pt x="119" y="92"/>
                  <a:pt x="92" y="119"/>
                  <a:pt x="59" y="119"/>
                </a:cubicBezTo>
                <a:cubicBezTo>
                  <a:pt x="26" y="119"/>
                  <a:pt x="0" y="92"/>
                  <a:pt x="1" y="59"/>
                </a:cubicBezTo>
              </a:path>
            </a:pathLst>
          </a:custGeom>
          <a:solidFill>
            <a:srgbClr val="9B202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path 88"/>
          <p:cNvSpPr/>
          <p:nvPr/>
        </p:nvSpPr>
        <p:spPr>
          <a:xfrm>
            <a:off x="4879848" y="2939415"/>
            <a:ext cx="75691" cy="75564"/>
          </a:xfrm>
          <a:custGeom>
            <a:avLst/>
            <a:gdLst/>
            <a:ahLst/>
            <a:cxnLst/>
            <a:rect l="0" t="0" r="0" b="0"/>
            <a:pathLst>
              <a:path w="119" h="118">
                <a:moveTo>
                  <a:pt x="0" y="60"/>
                </a:moveTo>
                <a:cubicBezTo>
                  <a:pt x="0" y="26"/>
                  <a:pt x="26" y="0"/>
                  <a:pt x="59" y="0"/>
                </a:cubicBezTo>
                <a:cubicBezTo>
                  <a:pt x="92" y="0"/>
                  <a:pt x="119" y="26"/>
                  <a:pt x="119" y="59"/>
                </a:cubicBezTo>
                <a:cubicBezTo>
                  <a:pt x="119" y="92"/>
                  <a:pt x="92" y="118"/>
                  <a:pt x="59" y="118"/>
                </a:cubicBezTo>
                <a:cubicBezTo>
                  <a:pt x="26" y="118"/>
                  <a:pt x="0" y="92"/>
                  <a:pt x="0" y="60"/>
                </a:cubicBez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" name="textbox 90"/>
          <p:cNvSpPr/>
          <p:nvPr/>
        </p:nvSpPr>
        <p:spPr>
          <a:xfrm>
            <a:off x="1039850" y="527481"/>
            <a:ext cx="7049769" cy="343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5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投资人推进流程介绍：高管访谈起到承上启下的作用</a:t>
            </a:r>
            <a:endParaRPr sz="2300" dirty="0">
              <a:latin typeface="KaiTi"/>
              <a:ea typeface="KaiTi"/>
              <a:cs typeface="KaiTi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652663" y="3406661"/>
            <a:ext cx="1926259" cy="445744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824672" y="4698238"/>
            <a:ext cx="1684020" cy="445338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0114788" y="414528"/>
            <a:ext cx="1615440" cy="365759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89758" y="437785"/>
            <a:ext cx="557585" cy="520412"/>
          </a:xfrm>
          <a:prstGeom prst="rect">
            <a:avLst/>
          </a:prstGeom>
        </p:spPr>
      </p:pic>
      <p:sp>
        <p:nvSpPr>
          <p:cNvPr id="100" name="path 100"/>
          <p:cNvSpPr/>
          <p:nvPr/>
        </p:nvSpPr>
        <p:spPr>
          <a:xfrm>
            <a:off x="3471544" y="6159500"/>
            <a:ext cx="75565" cy="75564"/>
          </a:xfrm>
          <a:custGeom>
            <a:avLst/>
            <a:gdLst/>
            <a:ahLst/>
            <a:cxnLst/>
            <a:rect l="0" t="0" r="0" b="0"/>
            <a:pathLst>
              <a:path w="119" h="118">
                <a:moveTo>
                  <a:pt x="0" y="58"/>
                </a:moveTo>
                <a:cubicBezTo>
                  <a:pt x="0" y="26"/>
                  <a:pt x="26" y="0"/>
                  <a:pt x="59" y="0"/>
                </a:cubicBezTo>
                <a:cubicBezTo>
                  <a:pt x="92" y="0"/>
                  <a:pt x="119" y="26"/>
                  <a:pt x="119" y="59"/>
                </a:cubicBezTo>
                <a:cubicBezTo>
                  <a:pt x="119" y="92"/>
                  <a:pt x="92" y="118"/>
                  <a:pt x="59" y="118"/>
                </a:cubicBezTo>
                <a:cubicBezTo>
                  <a:pt x="26" y="118"/>
                  <a:pt x="0" y="92"/>
                  <a:pt x="0" y="58"/>
                </a:cubicBezTo>
              </a:path>
            </a:pathLst>
          </a:custGeom>
          <a:solidFill>
            <a:srgbClr val="80808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798576"/>
            <a:ext cx="12192000" cy="6059423"/>
          </a:xfrm>
          <a:prstGeom prst="rect">
            <a:avLst/>
          </a:prstGeom>
        </p:spPr>
      </p:pic>
      <p:sp>
        <p:nvSpPr>
          <p:cNvPr id="104" name="rect 104"/>
          <p:cNvSpPr/>
          <p:nvPr/>
        </p:nvSpPr>
        <p:spPr>
          <a:xfrm>
            <a:off x="8137390" y="2198286"/>
            <a:ext cx="3901186" cy="4338318"/>
          </a:xfrm>
          <a:prstGeom prst="rect">
            <a:avLst/>
          </a:prstGeom>
          <a:solidFill>
            <a:srgbClr val="FFFFFF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rect 106"/>
          <p:cNvSpPr/>
          <p:nvPr/>
        </p:nvSpPr>
        <p:spPr>
          <a:xfrm>
            <a:off x="270375" y="2198286"/>
            <a:ext cx="3901186" cy="4338318"/>
          </a:xfrm>
          <a:prstGeom prst="rect">
            <a:avLst/>
          </a:prstGeom>
          <a:solidFill>
            <a:srgbClr val="FFFFFF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4172875" y="1508269"/>
            <a:ext cx="3874877" cy="3362218"/>
            <a:chOff x="0" y="0"/>
            <a:chExt cx="3874877" cy="3362218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874877" cy="3362218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82741" y="2550219"/>
              <a:ext cx="3695065" cy="2908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1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行业学习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           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人的判</a:t>
              </a:r>
              <a:r>
                <a:rPr sz="2000" b="1" kern="0" spc="-2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断</a:t>
              </a:r>
              <a:endParaRPr sz="2000" dirty="0">
                <a:latin typeface="KaiTi"/>
                <a:ea typeface="KaiTi"/>
                <a:cs typeface="KaiTi"/>
              </a:endParaRPr>
            </a:p>
          </p:txBody>
        </p:sp>
        <p:sp>
          <p:nvSpPr>
            <p:cNvPr id="112" name="textbox 112"/>
            <p:cNvSpPr/>
            <p:nvPr/>
          </p:nvSpPr>
          <p:spPr>
            <a:xfrm>
              <a:off x="1394643" y="447289"/>
              <a:ext cx="1034414" cy="2908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1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000" b="1" kern="0" spc="-3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投资判断</a:t>
              </a:r>
              <a:endParaRPr sz="20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114" name="textbox 114"/>
          <p:cNvSpPr/>
          <p:nvPr/>
        </p:nvSpPr>
        <p:spPr>
          <a:xfrm>
            <a:off x="8401208" y="2912504"/>
            <a:ext cx="3402965" cy="1828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会考察高管的风格；</a:t>
            </a:r>
            <a:endParaRPr sz="1400" dirty="0">
              <a:latin typeface="KaiTi"/>
              <a:ea typeface="KaiTi"/>
              <a:cs typeface="KaiTi"/>
            </a:endParaRPr>
          </a:p>
          <a:p>
            <a:pPr marL="20320" indent="-7620" algn="l" rtl="0" eaLnBrk="0">
              <a:lnSpc>
                <a:spcPct val="113000"/>
              </a:lnSpc>
              <a:spcBef>
                <a:spcPts val="241"/>
              </a:spcBef>
              <a:tabLst/>
            </a:pPr>
            <a:r>
              <a:rPr sz="14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会考察高管的沟通能力、理解能力、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性格、</a:t>
            </a:r>
            <a:r>
              <a:rPr sz="1400" kern="0" spc="-2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影响力等；</a:t>
            </a:r>
            <a:endParaRPr sz="1400" dirty="0">
              <a:latin typeface="KaiTi"/>
              <a:ea typeface="KaiTi"/>
              <a:cs typeface="KaiTi"/>
            </a:endParaRPr>
          </a:p>
          <a:p>
            <a:pPr marL="18415" algn="l" rtl="0" eaLnBrk="0">
              <a:lnSpc>
                <a:spcPct val="87000"/>
              </a:lnSpc>
              <a:spcBef>
                <a:spcPts val="321"/>
              </a:spcBef>
              <a:tabLst/>
            </a:pPr>
            <a:r>
              <a:rPr sz="14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有时候会像面试，有时候甚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至会像压力面试</a:t>
            </a:r>
            <a:endParaRPr sz="1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700" b="1" kern="0" spc="6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建议应对原则：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542874" y="2912504"/>
            <a:ext cx="3216910" cy="1828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3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" indent="-17779" algn="l" rtl="0" eaLnBrk="0">
              <a:lnSpc>
                <a:spcPct val="110000"/>
              </a:lnSpc>
              <a:tabLst/>
            </a:pP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可能会有对行业错误的理解；可能会问小</a:t>
            </a:r>
            <a:r>
              <a:rPr sz="1400" kern="0" spc="-7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白问题；</a:t>
            </a:r>
            <a:endParaRPr sz="1400" dirty="0">
              <a:latin typeface="KaiTi"/>
              <a:ea typeface="KaiTi"/>
              <a:cs typeface="KaiTi"/>
            </a:endParaRPr>
          </a:p>
          <a:p>
            <a:pPr marL="15875" algn="l" rtl="0" eaLnBrk="0">
              <a:lnSpc>
                <a:spcPct val="87000"/>
              </a:lnSpc>
              <a:spcBef>
                <a:spcPts val="279"/>
              </a:spcBef>
              <a:tabLst/>
            </a:pPr>
            <a:r>
              <a:rPr sz="14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可能在问题中问得“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侵犯边界</a:t>
            </a:r>
            <a:r>
              <a:rPr sz="1400" kern="0" spc="-53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”；</a:t>
            </a:r>
            <a:endParaRPr sz="1400" dirty="0">
              <a:latin typeface="KaiTi"/>
              <a:ea typeface="KaiTi"/>
              <a:cs typeface="KaiTi"/>
            </a:endParaRPr>
          </a:p>
          <a:p>
            <a:pPr marL="15875" algn="l" rtl="0" eaLnBrk="0">
              <a:lnSpc>
                <a:spcPct val="87000"/>
              </a:lnSpc>
              <a:spcBef>
                <a:spcPts val="482"/>
              </a:spcBef>
              <a:tabLst/>
            </a:pP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可能会问一堆听起来和项目不沾边的问题</a:t>
            </a:r>
            <a:endParaRPr sz="1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700" b="1" kern="0" spc="6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建议应对原则：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8404676" y="5002924"/>
            <a:ext cx="3360420" cy="1214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indent="1905" algn="l" rtl="0" eaLnBrk="0">
              <a:lnSpc>
                <a:spcPct val="111000"/>
              </a:lnSpc>
              <a:tabLst/>
            </a:pP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投资人对产业的认知不</a:t>
            </a:r>
            <a:r>
              <a:rPr sz="1400" kern="0" spc="-2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会比产业内高管强，</a:t>
            </a:r>
            <a:r>
              <a:rPr sz="14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因此要主动输出，尽量主导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沟通，至少尽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量避免被主导；</a:t>
            </a:r>
            <a:endParaRPr sz="1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112000"/>
              </a:lnSpc>
              <a:spcBef>
                <a:spcPts val="90"/>
              </a:spcBef>
              <a:tabLst/>
            </a:pPr>
            <a:r>
              <a:rPr sz="1400" kern="0" spc="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对方如果说得不对，可以礼貌反驳；</a:t>
            </a:r>
            <a:r>
              <a:rPr sz="14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</a:t>
            </a:r>
            <a:r>
              <a:rPr sz="14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是平等的交流，不是不平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等的被考察</a:t>
            </a:r>
            <a:endParaRPr sz="1400" dirty="0">
              <a:latin typeface="KaiTi"/>
              <a:ea typeface="KaiTi"/>
              <a:cs typeface="KaiTi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536234" y="5002924"/>
            <a:ext cx="3222625" cy="1214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66" rIns="0" bIns="0"/>
          <a:lstStyle/>
          <a:p>
            <a:pPr marL="22225" indent="-9525" algn="l" rtl="0" eaLnBrk="0">
              <a:lnSpc>
                <a:spcPct val="112000"/>
              </a:lnSpc>
              <a:spcBef>
                <a:spcPts val="4"/>
              </a:spcBef>
              <a:tabLst/>
            </a:pPr>
            <a:r>
              <a:rPr sz="14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保持开放心态和商务礼仪，能说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的说，认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为不方便评论或透露的，是可以礼貌拒绝</a:t>
            </a:r>
            <a:r>
              <a:rPr sz="1400" kern="0" spc="-6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的；</a:t>
            </a:r>
            <a:endParaRPr sz="1400" dirty="0">
              <a:latin typeface="KaiTi"/>
              <a:ea typeface="KaiTi"/>
              <a:cs typeface="KaiTi"/>
            </a:endParaRPr>
          </a:p>
          <a:p>
            <a:pPr marL="22859" indent="-5714" algn="l" rtl="0" eaLnBrk="0">
              <a:lnSpc>
                <a:spcPct val="112000"/>
              </a:lnSpc>
              <a:spcBef>
                <a:spcPts val="52"/>
              </a:spcBef>
              <a:tabLst/>
            </a:pPr>
            <a:r>
              <a:rPr sz="14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也不要聊得太high和发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散，变成纯粹的行</a:t>
            </a:r>
            <a:r>
              <a:rPr sz="14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业讨论，还是要考虑为融资服务</a:t>
            </a:r>
            <a:endParaRPr sz="1400" dirty="0">
              <a:latin typeface="KaiTi"/>
              <a:ea typeface="KaiTi"/>
              <a:cs typeface="KaiTi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277058" y="425085"/>
            <a:ext cx="5669915" cy="546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70230" algn="l" rtl="0" eaLnBrk="0">
              <a:lnSpc>
                <a:spcPct val="91000"/>
              </a:lnSpc>
              <a:spcBef>
                <a:spcPts val="5"/>
              </a:spcBef>
              <a:tabLst>
                <a:tab pos="775334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投资人心态和预设：不止是投资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判断</a:t>
            </a:r>
            <a:endParaRPr sz="2300" dirty="0">
              <a:latin typeface="KaiTi"/>
              <a:ea typeface="KaiTi"/>
              <a:cs typeface="KaiTi"/>
            </a:endParaRPr>
          </a:p>
        </p:txBody>
      </p:sp>
      <p:pic>
        <p:nvPicPr>
          <p:cNvPr id="124" name="picture 1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9758" y="437785"/>
            <a:ext cx="557585" cy="520412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114788" y="414528"/>
            <a:ext cx="1615440" cy="365759"/>
          </a:xfrm>
          <a:prstGeom prst="rect">
            <a:avLst/>
          </a:prstGeom>
        </p:spPr>
      </p:pic>
      <p:sp>
        <p:nvSpPr>
          <p:cNvPr id="128" name="textbox 128"/>
          <p:cNvSpPr/>
          <p:nvPr/>
        </p:nvSpPr>
        <p:spPr>
          <a:xfrm>
            <a:off x="548766" y="2386177"/>
            <a:ext cx="65278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75"/>
              </a:lnSpc>
              <a:tabLst/>
            </a:pPr>
            <a:r>
              <a:rPr sz="1400" b="1" kern="0" spc="-6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特点：</a:t>
            </a:r>
            <a:endParaRPr sz="1400" dirty="0">
              <a:latin typeface="KaiTi"/>
              <a:ea typeface="KaiTi"/>
              <a:cs typeface="KaiTi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8415782" y="2386177"/>
            <a:ext cx="65278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75"/>
              </a:lnSpc>
              <a:tabLst/>
            </a:pPr>
            <a:r>
              <a:rPr sz="1400" b="1" kern="0" spc="-60" dirty="0">
                <a:solidFill>
                  <a:srgbClr val="C68C30">
                    <a:alpha val="100000"/>
                  </a:srgbClr>
                </a:solidFill>
                <a:latin typeface="KaiTi"/>
                <a:ea typeface="KaiTi"/>
                <a:cs typeface="KaiTi"/>
              </a:rPr>
              <a:t>特点：</a:t>
            </a:r>
            <a:endParaRPr sz="1400" dirty="0">
              <a:latin typeface="KaiTi"/>
              <a:ea typeface="KaiTi"/>
              <a:cs typeface="KaiTi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4830" y="4829442"/>
            <a:ext cx="3193415" cy="12700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12480" y="2739021"/>
            <a:ext cx="3193415" cy="12700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11844" y="4829442"/>
            <a:ext cx="3193415" cy="12700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5465" y="2739021"/>
            <a:ext cx="3193414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647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5454967" y="1219200"/>
            <a:ext cx="4653596" cy="5294312"/>
            <a:chOff x="0" y="0"/>
            <a:chExt cx="4653596" cy="5294312"/>
          </a:xfrm>
        </p:grpSpPr>
        <p:pic>
          <p:nvPicPr>
            <p:cNvPr id="142" name="picture 1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11112"/>
              <a:ext cx="4646295" cy="5283200"/>
            </a:xfrm>
            <a:prstGeom prst="rect">
              <a:avLst/>
            </a:prstGeom>
          </p:spPr>
        </p:pic>
        <p:sp>
          <p:nvSpPr>
            <p:cNvPr id="144" name="path 144"/>
            <p:cNvSpPr/>
            <p:nvPr/>
          </p:nvSpPr>
          <p:spPr>
            <a:xfrm>
              <a:off x="323532" y="4017327"/>
              <a:ext cx="254000" cy="254000"/>
            </a:xfrm>
            <a:custGeom>
              <a:avLst/>
              <a:gdLst/>
              <a:ahLst/>
              <a:cxnLst/>
              <a:rect l="0" t="0" r="0" b="0"/>
              <a:pathLst>
                <a:path w="400" h="400">
                  <a:moveTo>
                    <a:pt x="0" y="199"/>
                  </a:moveTo>
                  <a:cubicBezTo>
                    <a:pt x="0" y="89"/>
                    <a:pt x="89" y="0"/>
                    <a:pt x="200" y="0"/>
                  </a:cubicBezTo>
                  <a:cubicBezTo>
                    <a:pt x="310" y="0"/>
                    <a:pt x="400" y="89"/>
                    <a:pt x="400" y="200"/>
                  </a:cubicBezTo>
                  <a:cubicBezTo>
                    <a:pt x="400" y="310"/>
                    <a:pt x="310" y="400"/>
                    <a:pt x="200" y="400"/>
                  </a:cubicBezTo>
                  <a:cubicBezTo>
                    <a:pt x="89" y="400"/>
                    <a:pt x="0" y="310"/>
                    <a:pt x="0" y="199"/>
                  </a:cubicBezTo>
                </a:path>
              </a:pathLst>
            </a:custGeom>
            <a:solidFill>
              <a:srgbClr val="9B202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46" name="picture 1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94945" y="3988739"/>
              <a:ext cx="311175" cy="311175"/>
            </a:xfrm>
            <a:prstGeom prst="rect">
              <a:avLst/>
            </a:prstGeom>
          </p:spPr>
        </p:pic>
        <p:sp>
          <p:nvSpPr>
            <p:cNvPr id="148" name="rect 148"/>
            <p:cNvSpPr/>
            <p:nvPr/>
          </p:nvSpPr>
          <p:spPr>
            <a:xfrm>
              <a:off x="640397" y="141732"/>
              <a:ext cx="3469639" cy="335788"/>
            </a:xfrm>
            <a:prstGeom prst="rect">
              <a:avLst/>
            </a:prstGeom>
            <a:solidFill>
              <a:srgbClr val="FFFFFF">
                <a:alpha val="82745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50" name="picture 15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94945" y="2022144"/>
              <a:ext cx="311175" cy="311175"/>
            </a:xfrm>
            <a:prstGeom prst="rect">
              <a:avLst/>
            </a:prstGeom>
          </p:spPr>
        </p:pic>
        <p:pic>
          <p:nvPicPr>
            <p:cNvPr id="152" name="picture 15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94945" y="2961309"/>
              <a:ext cx="311175" cy="311175"/>
            </a:xfrm>
            <a:prstGeom prst="rect">
              <a:avLst/>
            </a:prstGeom>
          </p:spPr>
        </p:pic>
        <p:sp>
          <p:nvSpPr>
            <p:cNvPr id="154" name="textbox 154"/>
            <p:cNvSpPr/>
            <p:nvPr/>
          </p:nvSpPr>
          <p:spPr>
            <a:xfrm>
              <a:off x="398278" y="193521"/>
              <a:ext cx="3763009" cy="46755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68069" algn="l" rtl="0" eaLnBrk="0">
                <a:lnSpc>
                  <a:spcPct val="92000"/>
                </a:lnSpc>
                <a:tabLst/>
              </a:pPr>
              <a:r>
                <a:rPr sz="1500" b="1" kern="0" spc="80" dirty="0">
                  <a:solidFill>
                    <a:srgbClr val="9B2025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结论先行，要事优先</a:t>
              </a:r>
              <a:endParaRPr sz="15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859" algn="l" rtl="0" eaLnBrk="0">
                <a:lnSpc>
                  <a:spcPct val="88000"/>
                </a:lnSpc>
                <a:spcBef>
                  <a:spcPts val="422"/>
                </a:spcBef>
                <a:tabLst/>
              </a:pPr>
              <a:r>
                <a:rPr sz="1400" b="1" kern="0" spc="-3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1</a:t>
              </a:r>
              <a:r>
                <a:rPr sz="1400" kern="0" spc="12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 </a:t>
              </a:r>
              <a:r>
                <a:rPr sz="1400" b="1" kern="0" spc="-30" dirty="0">
                  <a:solidFill>
                    <a:srgbClr val="9B2025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直接回答结论</a:t>
              </a:r>
              <a:r>
                <a:rPr sz="1400" b="1" kern="0" spc="-30" dirty="0">
                  <a:solidFill>
                    <a:srgbClr val="9B2025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:</a:t>
              </a:r>
              <a:endParaRPr sz="1400" dirty="0">
                <a:latin typeface="Times New Roman"/>
                <a:ea typeface="Times New Roman"/>
                <a:cs typeface="Times New Roman"/>
              </a:endParaRPr>
            </a:p>
            <a:p>
              <a:pPr marL="411480" indent="-11429" algn="l" rtl="0" eaLnBrk="0">
                <a:lnSpc>
                  <a:spcPct val="93000"/>
                </a:lnSpc>
                <a:spcBef>
                  <a:spcPts val="739"/>
                </a:spcBef>
                <a:tabLst/>
              </a:pP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针对投资人提问，直接抛出结论，然后陈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述原因，</a:t>
              </a:r>
              <a:r>
                <a:rPr sz="1200" kern="0" spc="-2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总结结论以加深印象</a:t>
              </a:r>
              <a:endParaRPr sz="12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431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2</a:t>
              </a:r>
              <a:r>
                <a:rPr sz="1400" kern="0" spc="12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 </a:t>
              </a:r>
              <a:r>
                <a:rPr sz="1400" b="1" kern="0" spc="-20" dirty="0">
                  <a:solidFill>
                    <a:srgbClr val="9B2025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按逻辑整合理由：</a:t>
              </a:r>
              <a:endParaRPr sz="1400" dirty="0">
                <a:latin typeface="KaiTi"/>
                <a:ea typeface="KaiTi"/>
                <a:cs typeface="KaiTi"/>
              </a:endParaRPr>
            </a:p>
            <a:p>
              <a:pPr marL="399415" algn="l" rtl="0" eaLnBrk="0">
                <a:lnSpc>
                  <a:spcPct val="96000"/>
                </a:lnSpc>
                <a:spcBef>
                  <a:spcPts val="631"/>
                </a:spcBef>
                <a:tabLst/>
              </a:pP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提供支持结论的理由的时候，按照一定的逻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辑顺序</a:t>
              </a: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分组整合，每组中可以给到证据，如数据支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持，案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例支持等</a:t>
              </a:r>
              <a:endParaRPr sz="12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8000"/>
                </a:lnSpc>
                <a:spcBef>
                  <a:spcPts val="423"/>
                </a:spcBef>
                <a:tabLst/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3</a:t>
              </a:r>
              <a:r>
                <a:rPr sz="1400" kern="0" spc="9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 </a:t>
              </a:r>
              <a:r>
                <a:rPr sz="1400" b="1" kern="0" spc="-10" dirty="0">
                  <a:solidFill>
                    <a:srgbClr val="9B2025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尽量使用具体的措辞：</a:t>
              </a:r>
              <a:endParaRPr sz="14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98779" indent="-2540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尽量使用具体的措辞，如避免回复“加强地区的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作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用</a:t>
              </a:r>
              <a:r>
                <a:rPr sz="1200" kern="0" spc="-42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”，可以直接回复“给到地区制定计划和执行的</a:t>
              </a:r>
              <a:r>
                <a:rPr sz="1200" kern="0" spc="4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权限，加强</a:t>
              </a: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KPI</a:t>
              </a:r>
              <a:r>
                <a:rPr sz="1200" kern="0" spc="4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考核奖惩</a:t>
              </a:r>
              <a:r>
                <a:rPr sz="1200" kern="0" spc="-44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</a:t>
              </a:r>
              <a:r>
                <a:rPr sz="1200" kern="0" spc="4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”</a:t>
              </a:r>
              <a:endParaRPr sz="1200" dirty="0">
                <a:latin typeface="KaiTi"/>
                <a:ea typeface="KaiTi"/>
                <a:cs typeface="KaiTi"/>
              </a:endParaRPr>
            </a:p>
          </p:txBody>
        </p:sp>
        <p:pic>
          <p:nvPicPr>
            <p:cNvPr id="156" name="picture 15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332547" y="518795"/>
              <a:ext cx="2145029" cy="1437639"/>
            </a:xfrm>
            <a:prstGeom prst="rect">
              <a:avLst/>
            </a:prstGeom>
          </p:spPr>
        </p:pic>
        <p:pic>
          <p:nvPicPr>
            <p:cNvPr id="158" name="picture 15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7937" y="0"/>
              <a:ext cx="4645659" cy="381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21600000">
            <a:off x="527304" y="1219200"/>
            <a:ext cx="4648580" cy="5289804"/>
            <a:chOff x="0" y="0"/>
            <a:chExt cx="4648580" cy="5289804"/>
          </a:xfrm>
        </p:grpSpPr>
        <p:pic>
          <p:nvPicPr>
            <p:cNvPr id="160" name="picture 16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16764"/>
              <a:ext cx="4637532" cy="5273040"/>
            </a:xfrm>
            <a:prstGeom prst="rect">
              <a:avLst/>
            </a:prstGeom>
          </p:spPr>
        </p:pic>
        <p:sp>
          <p:nvSpPr>
            <p:cNvPr id="162" name="rect 162"/>
            <p:cNvSpPr/>
            <p:nvPr/>
          </p:nvSpPr>
          <p:spPr>
            <a:xfrm>
              <a:off x="635381" y="141732"/>
              <a:ext cx="3470275" cy="335597"/>
            </a:xfrm>
            <a:prstGeom prst="rect">
              <a:avLst/>
            </a:prstGeom>
            <a:solidFill>
              <a:srgbClr val="FFFFFF">
                <a:alpha val="82745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64" name="picture 16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289928" y="3988739"/>
              <a:ext cx="311175" cy="311175"/>
            </a:xfrm>
            <a:prstGeom prst="rect">
              <a:avLst/>
            </a:prstGeom>
          </p:spPr>
        </p:pic>
        <p:pic>
          <p:nvPicPr>
            <p:cNvPr id="166" name="picture 16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3163950" y="815124"/>
              <a:ext cx="1152525" cy="755014"/>
            </a:xfrm>
            <a:prstGeom prst="rect">
              <a:avLst/>
            </a:prstGeom>
          </p:spPr>
        </p:pic>
        <p:pic>
          <p:nvPicPr>
            <p:cNvPr id="168" name="picture 16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289928" y="2022144"/>
              <a:ext cx="311175" cy="311175"/>
            </a:xfrm>
            <a:prstGeom prst="rect">
              <a:avLst/>
            </a:prstGeom>
          </p:spPr>
        </p:pic>
        <p:sp>
          <p:nvSpPr>
            <p:cNvPr id="170" name="textbox 170"/>
            <p:cNvSpPr/>
            <p:nvPr/>
          </p:nvSpPr>
          <p:spPr>
            <a:xfrm>
              <a:off x="394690" y="193521"/>
              <a:ext cx="3879215" cy="44932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58825" algn="l" rtl="0" eaLnBrk="0">
                <a:lnSpc>
                  <a:spcPct val="92000"/>
                </a:lnSpc>
                <a:tabLst/>
              </a:pPr>
              <a:r>
                <a:rPr sz="1500" b="1" kern="0" spc="90" dirty="0">
                  <a:solidFill>
                    <a:srgbClr val="C68C3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逻辑理论和数据细节相结合</a:t>
              </a:r>
              <a:endParaRPr sz="15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000375" algn="l" rtl="0" eaLnBrk="0">
                <a:lnSpc>
                  <a:spcPct val="87000"/>
                </a:lnSpc>
                <a:spcBef>
                  <a:spcPts val="370"/>
                </a:spcBef>
                <a:tabLst/>
              </a:pPr>
              <a:r>
                <a:rPr sz="1200" b="1" kern="0" spc="-10" dirty="0">
                  <a:solidFill>
                    <a:srgbClr val="F9F9F9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数据</a:t>
              </a:r>
              <a:r>
                <a:rPr sz="1200" b="1" kern="0" spc="-10" dirty="0">
                  <a:solidFill>
                    <a:srgbClr val="F9F9F9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/</a:t>
              </a:r>
              <a:r>
                <a:rPr sz="1200" b="1" kern="0" spc="-10" dirty="0">
                  <a:solidFill>
                    <a:srgbClr val="F9F9F9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事实</a:t>
              </a:r>
              <a:r>
                <a:rPr sz="1200" b="1" kern="0" spc="-10" dirty="0">
                  <a:solidFill>
                    <a:srgbClr val="F9F9F9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/</a:t>
              </a:r>
              <a:endParaRPr sz="1200" dirty="0">
                <a:latin typeface="Times New Roman"/>
                <a:ea typeface="Times New Roman"/>
                <a:cs typeface="Times New Roman"/>
              </a:endParaRPr>
            </a:p>
            <a:p>
              <a:pPr marL="3128645" algn="l" rtl="0" eaLnBrk="0">
                <a:lnSpc>
                  <a:spcPct val="87000"/>
                </a:lnSpc>
                <a:spcBef>
                  <a:spcPts val="187"/>
                </a:spcBef>
                <a:tabLst>
                  <a:tab pos="3574415" algn="l"/>
                </a:tabLst>
              </a:pPr>
              <a:r>
                <a:rPr sz="1200" b="1" kern="0" spc="-60" dirty="0">
                  <a:solidFill>
                    <a:srgbClr val="F9F9F9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细节</a:t>
              </a:r>
              <a:r>
                <a:rPr sz="1200" kern="0" spc="-500" dirty="0">
                  <a:solidFill>
                    <a:srgbClr val="F9F9F9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</a:t>
              </a:r>
              <a:r>
                <a:rPr sz="1200" u="dotted" kern="0" spc="0" dirty="0">
                  <a:solidFill>
                    <a:srgbClr val="F9F9F9">
                      <a:alpha val="100000"/>
                    </a:srgbClr>
                  </a:solidFill>
                  <a:uFill>
                    <a:solidFill>
                      <a:srgbClr val="000000"/>
                    </a:solidFill>
                  </a:uFill>
                  <a:latin typeface="KaiTi"/>
                  <a:ea typeface="KaiTi"/>
                  <a:cs typeface="KaiTi"/>
                </a:rPr>
                <a:t>	</a:t>
              </a:r>
              <a:endParaRPr sz="12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1590" algn="l" rtl="0" eaLnBrk="0">
                <a:lnSpc>
                  <a:spcPct val="88000"/>
                </a:lnSpc>
                <a:spcBef>
                  <a:spcPts val="431"/>
                </a:spcBef>
                <a:tabLst/>
              </a:pPr>
              <a:r>
                <a:rPr sz="1400" b="1" kern="0" spc="-9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1</a:t>
              </a:r>
              <a:r>
                <a:rPr sz="1400" kern="0" spc="21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 </a:t>
              </a:r>
              <a:r>
                <a:rPr sz="1400" b="1" kern="0" spc="-90" dirty="0">
                  <a:solidFill>
                    <a:srgbClr val="D29D3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自上而下：</a:t>
              </a:r>
              <a:endParaRPr sz="1400" dirty="0">
                <a:latin typeface="KaiTi"/>
                <a:ea typeface="KaiTi"/>
                <a:cs typeface="KaiTi"/>
              </a:endParaRPr>
            </a:p>
            <a:p>
              <a:pPr marL="407034" indent="-2540" algn="l" rtl="0" eaLnBrk="0">
                <a:lnSpc>
                  <a:spcPct val="93000"/>
                </a:lnSpc>
                <a:spcBef>
                  <a:spcPts val="739"/>
                </a:spcBef>
                <a:tabLst/>
              </a:pP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先从逻辑推演给到投资人证明，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演绎法或归纳法，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或是先描述顶层设计</a:t>
              </a:r>
              <a:endParaRPr sz="12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7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42594" algn="l" rtl="0" eaLnBrk="0">
                <a:lnSpc>
                  <a:spcPct val="87000"/>
                </a:lnSpc>
                <a:spcBef>
                  <a:spcPts val="424"/>
                </a:spcBef>
                <a:tabLst/>
              </a:pPr>
              <a:r>
                <a:rPr sz="1400" b="1" kern="0" spc="-80" dirty="0">
                  <a:solidFill>
                    <a:srgbClr val="D29D3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自下而上：</a:t>
              </a:r>
              <a:endParaRPr sz="1400" dirty="0">
                <a:latin typeface="KaiTi"/>
                <a:ea typeface="KaiTi"/>
                <a:cs typeface="KaiTi"/>
              </a:endParaRPr>
            </a:p>
            <a:p>
              <a:pPr marL="400684" indent="12700" algn="l" rtl="0" eaLnBrk="0">
                <a:lnSpc>
                  <a:spcPct val="96000"/>
                </a:lnSpc>
                <a:spcBef>
                  <a:spcPts val="631"/>
                </a:spcBef>
                <a:tabLst/>
              </a:pP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回复问题时尽量结合数据和案例，避免投资人对现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实场景无感知，案例包括具体实际应用的描述细节，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数据包括结果性的指标等</a:t>
              </a:r>
              <a:endParaRPr sz="12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423"/>
                </a:spcBef>
                <a:tabLst/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3</a:t>
              </a:r>
              <a:r>
                <a:rPr sz="1400" kern="0" spc="9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  </a:t>
              </a:r>
              <a:r>
                <a:rPr sz="1400" b="1" kern="0" spc="-10" dirty="0">
                  <a:solidFill>
                    <a:srgbClr val="D29D3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避免使用跨界比喻</a:t>
              </a:r>
              <a:r>
                <a:rPr sz="1400" b="1" kern="0" spc="-20" dirty="0">
                  <a:solidFill>
                    <a:srgbClr val="D29D3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：</a:t>
              </a:r>
              <a:endParaRPr sz="14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03225" algn="l" rtl="0" eaLnBrk="0">
                <a:lnSpc>
                  <a:spcPct val="94000"/>
                </a:lnSpc>
                <a:spcBef>
                  <a:spcPts val="1"/>
                </a:spcBef>
                <a:tabLst/>
              </a:pPr>
              <a:r>
                <a:rPr sz="1200" kern="0" spc="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直接回复问题，尽量避免跨界比喻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，如</a:t>
              </a:r>
              <a:r>
                <a:rPr sz="1200" kern="0" spc="-3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</a:t>
              </a:r>
              <a:r>
                <a:rPr sz="1200" kern="0" spc="-1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“就像京东</a:t>
              </a:r>
              <a:r>
                <a:rPr sz="1200" kern="0" spc="-3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打败当当</a:t>
              </a:r>
              <a:r>
                <a:rPr sz="1200" kern="0" spc="-43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</a:t>
              </a:r>
              <a:r>
                <a:rPr sz="1200" kern="0" spc="-30" dirty="0">
                  <a:solidFill>
                    <a:srgbClr val="40404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”的道理</a:t>
              </a:r>
              <a:endParaRPr sz="1200" dirty="0">
                <a:latin typeface="KaiTi"/>
                <a:ea typeface="KaiTi"/>
                <a:cs typeface="KaiTi"/>
              </a:endParaRPr>
            </a:p>
          </p:txBody>
        </p:sp>
        <p:pic>
          <p:nvPicPr>
            <p:cNvPr id="172" name="picture 17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331292" y="815124"/>
              <a:ext cx="1152525" cy="755014"/>
            </a:xfrm>
            <a:prstGeom prst="rect">
              <a:avLst/>
            </a:prstGeom>
          </p:spPr>
        </p:pic>
        <p:pic>
          <p:nvPicPr>
            <p:cNvPr id="174" name="picture 17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635251" y="842771"/>
              <a:ext cx="1315211" cy="612648"/>
            </a:xfrm>
            <a:prstGeom prst="rect">
              <a:avLst/>
            </a:prstGeom>
          </p:spPr>
        </p:pic>
        <p:pic>
          <p:nvPicPr>
            <p:cNvPr id="176" name="picture 17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2920" y="0"/>
              <a:ext cx="4645659" cy="38100"/>
            </a:xfrm>
            <a:prstGeom prst="rect">
              <a:avLst/>
            </a:prstGeom>
          </p:spPr>
        </p:pic>
        <p:pic>
          <p:nvPicPr>
            <p:cNvPr id="178" name="picture 17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289928" y="2961309"/>
              <a:ext cx="311175" cy="311175"/>
            </a:xfrm>
            <a:prstGeom prst="rect">
              <a:avLst/>
            </a:prstGeom>
          </p:spPr>
        </p:pic>
      </p:grpSp>
      <p:sp>
        <p:nvSpPr>
          <p:cNvPr id="180" name="textbox 180"/>
          <p:cNvSpPr/>
          <p:nvPr/>
        </p:nvSpPr>
        <p:spPr>
          <a:xfrm>
            <a:off x="277058" y="425085"/>
            <a:ext cx="2915285" cy="546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70230" algn="l" rtl="0" eaLnBrk="0">
              <a:lnSpc>
                <a:spcPct val="91000"/>
              </a:lnSpc>
              <a:spcBef>
                <a:spcPts val="5"/>
              </a:spcBef>
              <a:tabLst>
                <a:tab pos="77406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访谈回复方法论</a:t>
            </a:r>
            <a:endParaRPr sz="2300" dirty="0">
              <a:latin typeface="KaiTi"/>
              <a:ea typeface="KaiTi"/>
              <a:cs typeface="KaiTi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89758" y="437785"/>
            <a:ext cx="557585" cy="520412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0113264" y="406908"/>
            <a:ext cx="1615440" cy="365759"/>
          </a:xfrm>
          <a:prstGeom prst="rect">
            <a:avLst/>
          </a:prstGeom>
        </p:spPr>
      </p:pic>
      <p:sp>
        <p:nvSpPr>
          <p:cNvPr id="186" name="textbox 186"/>
          <p:cNvSpPr/>
          <p:nvPr/>
        </p:nvSpPr>
        <p:spPr>
          <a:xfrm>
            <a:off x="1079931" y="2227262"/>
            <a:ext cx="716915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-20" dirty="0">
                <a:solidFill>
                  <a:srgbClr val="F9F9F9">
                    <a:alpha val="100000"/>
                  </a:srgbClr>
                </a:solidFill>
                <a:latin typeface="KaiTi"/>
                <a:ea typeface="KaiTi"/>
                <a:cs typeface="KaiTi"/>
              </a:rPr>
              <a:t>理论</a:t>
            </a:r>
            <a:r>
              <a:rPr sz="1200" b="1" kern="0" spc="-20" dirty="0">
                <a:solidFill>
                  <a:srgbClr val="F9F9F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200" b="1" kern="0" spc="-20" dirty="0">
                <a:solidFill>
                  <a:srgbClr val="F9F9F9">
                    <a:alpha val="100000"/>
                  </a:srgbClr>
                </a:solidFill>
                <a:latin typeface="KaiTi"/>
                <a:ea typeface="KaiTi"/>
                <a:cs typeface="KaiTi"/>
              </a:rPr>
              <a:t>逻辑</a:t>
            </a:r>
            <a:r>
              <a:rPr sz="1200" b="1" kern="0" spc="-20" dirty="0">
                <a:solidFill>
                  <a:srgbClr val="F9F9F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endParaRPr sz="1200" dirty="0">
              <a:latin typeface="Times New Roman"/>
              <a:ea typeface="Times New Roman"/>
              <a:cs typeface="Times New Roman"/>
            </a:endParaRPr>
          </a:p>
          <a:p>
            <a:pPr marL="133985" algn="l" rtl="0" eaLnBrk="0">
              <a:lnSpc>
                <a:spcPct val="87000"/>
              </a:lnSpc>
              <a:spcBef>
                <a:spcPts val="187"/>
              </a:spcBef>
              <a:tabLst>
                <a:tab pos="583565" algn="l"/>
              </a:tabLst>
            </a:pPr>
            <a:r>
              <a:rPr sz="1200" b="1" kern="0" spc="-50" dirty="0">
                <a:solidFill>
                  <a:srgbClr val="F9F9F9">
                    <a:alpha val="100000"/>
                  </a:srgbClr>
                </a:solidFill>
                <a:latin typeface="KaiTi"/>
                <a:ea typeface="KaiTi"/>
                <a:cs typeface="KaiTi"/>
              </a:rPr>
              <a:t>制度</a:t>
            </a:r>
            <a:r>
              <a:rPr sz="1200" kern="0" spc="-490" dirty="0">
                <a:solidFill>
                  <a:srgbClr val="F9F9F9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u="dotted" kern="0" spc="0" dirty="0">
                <a:solidFill>
                  <a:srgbClr val="F9F9F9">
                    <a:alpha val="100000"/>
                  </a:srgbClr>
                </a:solidFill>
                <a:uFill>
                  <a:solidFill>
                    <a:srgbClr val="000000"/>
                  </a:solidFill>
                </a:uFill>
                <a:latin typeface="KaiTi"/>
                <a:ea typeface="KaiTi"/>
                <a:cs typeface="KaiTi"/>
              </a:rPr>
              <a:t>	</a:t>
            </a:r>
            <a:endParaRPr sz="1200" dirty="0">
              <a:latin typeface="KaiTi"/>
              <a:ea typeface="KaiTi"/>
              <a:cs typeface="KaiT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2612562" y="2160799"/>
            <a:ext cx="535940" cy="478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自下而上</a:t>
            </a:r>
            <a:endParaRPr sz="1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3000"/>
              </a:lnSpc>
              <a:spcBef>
                <a:spcPts val="4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自上而下</a:t>
            </a:r>
            <a:endParaRPr sz="1000" dirty="0">
              <a:latin typeface="KaiTi"/>
              <a:ea typeface="KaiTi"/>
              <a:cs typeface="KaiT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920566" y="4232085"/>
            <a:ext cx="10922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2</a:t>
            </a:r>
            <a:endParaRPr sz="1400" dirty="0">
              <a:latin typeface="KaiTi"/>
              <a:ea typeface="KaiTi"/>
              <a:cs typeface="KaiT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7304" y="0"/>
            <a:ext cx="11664695" cy="6858000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83472" y="1111541"/>
            <a:ext cx="7538485" cy="572188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3996959" y="2810620"/>
            <a:ext cx="7435215" cy="3463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3679" indent="-216534" algn="l" rtl="0" eaLnBrk="0">
              <a:lnSpc>
                <a:spcPct val="104000"/>
              </a:lnSpc>
              <a:tabLst/>
            </a:pP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如果投资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人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问到不属于自己管辖范围内的问题，</a:t>
            </a:r>
            <a:r>
              <a:rPr sz="1000" kern="0" spc="-25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比如公司的宏观战略规划，可以明确告知对方这个问题由其他哪位同事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来解答会更好，也避免对同一个问题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有多个回答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口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径</a:t>
            </a:r>
            <a:endParaRPr sz="1000" dirty="0">
              <a:latin typeface="KaiTi"/>
              <a:ea typeface="KaiTi"/>
              <a:cs typeface="KaiTi"/>
            </a:endParaRPr>
          </a:p>
          <a:p>
            <a:pPr marL="244475" indent="-227329" algn="l" rtl="0" eaLnBrk="0">
              <a:lnSpc>
                <a:spcPct val="113000"/>
              </a:lnSpc>
              <a:spcBef>
                <a:spcPts val="335"/>
              </a:spcBef>
              <a:tabLst/>
            </a:pP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如果公司有多位创始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人</a:t>
            </a:r>
            <a:r>
              <a:rPr sz="1000" kern="0" spc="-5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 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，建议在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一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开始就明确界定各自负责的内容，要有清晰的差异性，在少数情况下，创始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人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权责不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明、意见分析无法解决也可能是投资人顾虑的点</a:t>
            </a:r>
            <a:endParaRPr sz="1000" dirty="0">
              <a:latin typeface="KaiTi"/>
              <a:ea typeface="KaiTi"/>
              <a:cs typeface="KaiTi"/>
            </a:endParaRPr>
          </a:p>
          <a:p>
            <a:pPr marL="19050" indent="-5714" algn="l" rtl="0" eaLnBrk="0">
              <a:lnSpc>
                <a:spcPct val="104000"/>
              </a:lnSpc>
              <a:spcBef>
                <a:spcPts val="488"/>
              </a:spcBef>
              <a:tabLst/>
            </a:pPr>
            <a:r>
              <a:rPr sz="1000" b="1" kern="0" spc="7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rPr sz="1000" b="1" kern="0" spc="11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b="1" kern="0" spc="7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细节翔实</a:t>
            </a:r>
            <a:r>
              <a:rPr sz="1000" kern="0" spc="7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：</a:t>
            </a:r>
            <a:r>
              <a:rPr sz="1000" b="1" kern="0" spc="7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回答要足够具体，最好能给到对方实实在在的抓手，用细节打动人，形成清晰的“</a:t>
            </a:r>
            <a:r>
              <a:rPr sz="1000" b="1" kern="0" spc="6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结论</a:t>
            </a:r>
            <a:r>
              <a:rPr sz="1000" b="1" kern="0" spc="6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000" b="1" kern="0" spc="6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逻辑一二三</a:t>
            </a:r>
            <a:r>
              <a:rPr sz="1000" b="1" kern="0" spc="6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000" b="1" kern="0" spc="6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数据及结</a:t>
            </a:r>
            <a:r>
              <a:rPr sz="1000" b="1" kern="0" spc="5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果支持</a:t>
            </a:r>
            <a:r>
              <a:rPr sz="1000" kern="0" spc="-33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b="1" kern="0" spc="5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”，细节主要有三种表现方法：</a:t>
            </a:r>
            <a:endParaRPr sz="1000" dirty="0">
              <a:latin typeface="KaiTi"/>
              <a:ea typeface="KaiTi"/>
              <a:cs typeface="KaiTi"/>
            </a:endParaRPr>
          </a:p>
          <a:p>
            <a:pPr marL="17145" algn="l" rtl="0" eaLnBrk="0">
              <a:lnSpc>
                <a:spcPct val="93000"/>
              </a:lnSpc>
              <a:spcBef>
                <a:spcPts val="520"/>
              </a:spcBef>
              <a:tabLst/>
            </a:pP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最直观的就是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给数据，比如</a:t>
            </a:r>
            <a:r>
              <a:rPr sz="1000" kern="0" spc="-2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KPI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（研发速度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迭代时间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客户数量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市场规模等）</a:t>
            </a:r>
            <a:r>
              <a:rPr sz="1000" kern="0" spc="-13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都能直接反映产品和运营的成效；</a:t>
            </a:r>
            <a:endParaRPr sz="1000" dirty="0">
              <a:latin typeface="KaiTi"/>
              <a:ea typeface="KaiTi"/>
              <a:cs typeface="KaiTi"/>
            </a:endParaRPr>
          </a:p>
          <a:p>
            <a:pPr marL="17145" algn="l" rtl="0" eaLnBrk="0">
              <a:lnSpc>
                <a:spcPct val="93000"/>
              </a:lnSpc>
              <a:spcBef>
                <a:spcPts val="619"/>
              </a:spcBef>
              <a:tabLst/>
            </a:pP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也可以给案例，比如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标杆客户反馈、产品帮助具体的客户达到了什么效果等；</a:t>
            </a:r>
            <a:endParaRPr sz="1000" dirty="0">
              <a:latin typeface="KaiTi"/>
              <a:ea typeface="KaiTi"/>
              <a:cs typeface="KaiTi"/>
            </a:endParaRPr>
          </a:p>
          <a:p>
            <a:pPr marL="229870" indent="-212725" algn="l" rtl="0" eaLnBrk="0">
              <a:lnSpc>
                <a:spcPct val="104000"/>
              </a:lnSpc>
              <a:spcBef>
                <a:spcPts val="619"/>
              </a:spcBef>
              <a:tabLst/>
            </a:pPr>
            <a:r>
              <a:rPr sz="1000" kern="0" spc="13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000" kern="0" spc="13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第三种办法是流程重现</a:t>
            </a:r>
            <a:r>
              <a:rPr sz="1000" kern="0" spc="-3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13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</a:t>
            </a:r>
            <a:r>
              <a:rPr sz="1000" kern="0" spc="-22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13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比如从市场如何获取</a:t>
            </a:r>
            <a:r>
              <a:rPr sz="1000" kern="0" spc="12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线索</a:t>
            </a:r>
            <a:r>
              <a:rPr sz="1000" kern="0" spc="-30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12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，拿到线索后销售如何跟进</a:t>
            </a:r>
            <a:r>
              <a:rPr sz="1000" kern="0" spc="-29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12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，如何转化等</a:t>
            </a:r>
            <a:r>
              <a:rPr sz="1000" kern="0" spc="-30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12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，合适情况下可以做</a:t>
            </a:r>
            <a:r>
              <a:rPr sz="1000" kern="0" spc="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Benchmark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（</a:t>
            </a:r>
            <a:r>
              <a:rPr sz="1000" kern="0" spc="-1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自己的现在与自己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的过去比，或者自己的现在与同行的现在比）</a:t>
            </a:r>
            <a:endParaRPr sz="1000" dirty="0">
              <a:latin typeface="KaiTi"/>
              <a:ea typeface="KaiTi"/>
              <a:cs typeface="KaiTi"/>
            </a:endParaRPr>
          </a:p>
          <a:p>
            <a:pPr marL="29209" indent="-17145" algn="l" rtl="0" eaLnBrk="0">
              <a:lnSpc>
                <a:spcPct val="104000"/>
              </a:lnSpc>
              <a:spcBef>
                <a:spcPts val="519"/>
              </a:spcBef>
              <a:tabLst/>
            </a:pPr>
            <a:r>
              <a:rPr sz="1000" b="1" kern="0" spc="7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sz="1000" b="1" kern="0" spc="7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把控节奏</a:t>
            </a:r>
            <a:r>
              <a:rPr sz="1000" kern="0" spc="7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：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遵循</a:t>
            </a:r>
            <a:r>
              <a:rPr sz="1000" kern="0" spc="-1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7-2-</a:t>
            </a:r>
            <a:r>
              <a:rPr sz="1000" kern="0" spc="-12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000" kern="0" spc="10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原则，重点阐述已经成熟的业务和技术以及当前工作重点的落地情况，未来蓝图和规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划仅用</a:t>
            </a:r>
            <a:r>
              <a:rPr sz="1000" kern="0" spc="-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10%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时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间表述，不进入细节，避免节外生</a:t>
            </a:r>
            <a:r>
              <a:rPr sz="1000" kern="0" spc="5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枝</a:t>
            </a:r>
            <a:endParaRPr sz="1000" dirty="0">
              <a:latin typeface="KaiTi"/>
              <a:ea typeface="KaiTi"/>
              <a:cs typeface="KaiTi"/>
            </a:endParaRPr>
          </a:p>
          <a:p>
            <a:pPr marL="32384" indent="-19050" algn="l" rtl="0" eaLnBrk="0">
              <a:lnSpc>
                <a:spcPct val="113000"/>
              </a:lnSpc>
              <a:spcBef>
                <a:spcPts val="323"/>
              </a:spcBef>
              <a:tabLst/>
            </a:pPr>
            <a:r>
              <a:rPr sz="1000" b="1" kern="0" spc="8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 </a:t>
            </a:r>
            <a:r>
              <a:rPr sz="1000" b="1" kern="0" spc="8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表述落地</a:t>
            </a:r>
            <a:r>
              <a:rPr sz="1000" kern="0" spc="8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：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对于技术型为主的公司，请以投资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人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听得懂的方式表达，避免过多的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技术术语，比如描述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一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个技术的价值时可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以重点讲在具体应用场景</a:t>
            </a:r>
            <a:r>
              <a:rPr sz="1000" kern="0" spc="5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中的效果</a:t>
            </a:r>
            <a:endParaRPr sz="1000" dirty="0">
              <a:latin typeface="KaiTi"/>
              <a:ea typeface="KaiTi"/>
              <a:cs typeface="KaiTi"/>
            </a:endParaRPr>
          </a:p>
          <a:p>
            <a:pPr marL="16509" indent="-1905" algn="l" rtl="0" eaLnBrk="0">
              <a:lnSpc>
                <a:spcPct val="104000"/>
              </a:lnSpc>
              <a:spcBef>
                <a:spcPts val="500"/>
              </a:spcBef>
              <a:tabLst/>
            </a:pPr>
            <a:r>
              <a:rPr sz="1000" b="1" kern="0" spc="9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5. </a:t>
            </a:r>
            <a:r>
              <a:rPr sz="1000" b="1" kern="0" spc="9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规避风险</a:t>
            </a:r>
            <a:r>
              <a:rPr sz="1000" kern="0" spc="9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：</a:t>
            </a:r>
            <a:r>
              <a:rPr sz="1000" kern="0" spc="9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如果问到公司遇到的困难，尽量不要讲销售</a:t>
            </a:r>
            <a:r>
              <a:rPr sz="1000" kern="0" spc="9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000" kern="0" spc="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BD</a:t>
            </a:r>
            <a:r>
              <a:rPr sz="1000" kern="0" spc="9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研发方面的困难，不要讲可能成为</a:t>
            </a:r>
            <a:r>
              <a:rPr sz="1000" kern="0" spc="-1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000" kern="0" spc="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deal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breaker</a:t>
            </a:r>
            <a:r>
              <a:rPr sz="1000" kern="0" spc="11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或者公司解决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不了的问题，可以往比如人才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的需求方向引导</a:t>
            </a:r>
            <a:endParaRPr sz="1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334" indent="1270" algn="l" rtl="0" eaLnBrk="0">
              <a:lnSpc>
                <a:spcPct val="113000"/>
              </a:lnSpc>
              <a:spcBef>
                <a:spcPts val="1"/>
              </a:spcBef>
              <a:tabLst/>
            </a:pPr>
            <a:r>
              <a:rPr sz="1000" b="1" kern="0" spc="8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</a:t>
            </a:r>
            <a:r>
              <a:rPr sz="1000" b="1" kern="0" spc="10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00" b="1" kern="0" spc="80" dirty="0">
                <a:solidFill>
                  <a:srgbClr val="DBB36C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一</a:t>
            </a:r>
            <a:r>
              <a:rPr sz="1000" b="1" kern="0" spc="-170" dirty="0">
                <a:solidFill>
                  <a:srgbClr val="DBB36C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 </a:t>
            </a:r>
            <a:r>
              <a:rPr sz="1000" b="1" kern="0" spc="8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切从用户需求出发</a:t>
            </a:r>
            <a:r>
              <a:rPr sz="1000" kern="0" spc="8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：</a:t>
            </a:r>
            <a:r>
              <a:rPr sz="1000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公司做了哪些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业务转型、推出了哪些产品、进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行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了哪些定价调整等，请从用户视角出发论述这些变</a:t>
            </a:r>
            <a:r>
              <a:rPr sz="1000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化如何满足了用户需求，切忌从公司视角出发论述（如转型是因为老业务不赚钱，战略</a:t>
            </a:r>
            <a:r>
              <a:rPr sz="1000" kern="0" spc="6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选择是受制于资源不足）</a:t>
            </a:r>
            <a:endParaRPr sz="1000" dirty="0">
              <a:latin typeface="KaiTi"/>
              <a:ea typeface="KaiTi"/>
              <a:cs typeface="KaiTi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277058" y="425085"/>
            <a:ext cx="7717155" cy="1014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70230" algn="l" rtl="0" eaLnBrk="0">
              <a:lnSpc>
                <a:spcPct val="91000"/>
              </a:lnSpc>
              <a:spcBef>
                <a:spcPts val="5"/>
              </a:spcBef>
              <a:tabLst>
                <a:tab pos="798830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常见问题沟通要点（1/2）</a:t>
            </a:r>
            <a:endParaRPr sz="23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700" b="1" kern="0" spc="40" dirty="0">
                <a:solidFill>
                  <a:srgbClr val="D29D3F">
                    <a:alpha val="100000"/>
                  </a:srgbClr>
                </a:solidFill>
                <a:latin typeface="KaiTi"/>
                <a:ea typeface="KaiTi"/>
                <a:cs typeface="KaiTi"/>
              </a:rPr>
              <a:t>过去</a:t>
            </a:r>
            <a:r>
              <a:rPr sz="1700" kern="0" spc="40" dirty="0">
                <a:solidFill>
                  <a:srgbClr val="D29D3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                          </a:t>
            </a:r>
            <a:r>
              <a:rPr sz="1700" kern="0" spc="30" dirty="0">
                <a:solidFill>
                  <a:srgbClr val="D29D3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</a:t>
            </a:r>
            <a:r>
              <a:rPr sz="1700" b="1" kern="0" spc="30" dirty="0">
                <a:solidFill>
                  <a:srgbClr val="D29D3F">
                    <a:alpha val="100000"/>
                  </a:srgbClr>
                </a:solidFill>
                <a:latin typeface="KaiTi"/>
                <a:ea typeface="KaiTi"/>
                <a:cs typeface="KaiTi"/>
              </a:rPr>
              <a:t>现在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89758" y="437785"/>
            <a:ext cx="557585" cy="520412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4003685" y="1670798"/>
            <a:ext cx="5740400" cy="1086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70" rIns="0" bIns="0"/>
          <a:lstStyle/>
          <a:p>
            <a:pPr marL="13334" algn="l" rtl="0" eaLnBrk="0">
              <a:lnSpc>
                <a:spcPct val="118000"/>
              </a:lnSpc>
              <a:spcBef>
                <a:spcPts val="7"/>
              </a:spcBef>
              <a:tabLst/>
            </a:pPr>
            <a:r>
              <a:rPr sz="1500" b="1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现在公司具体负责哪些方面、带哪些团队、</a:t>
            </a:r>
            <a:r>
              <a:rPr sz="1500" kern="0" spc="-2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500" b="1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日常工作内容是</a:t>
            </a:r>
            <a:r>
              <a:rPr sz="1500" b="1" kern="0" spc="7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什么</a:t>
            </a:r>
            <a:r>
              <a:rPr sz="1500" b="1" kern="0" spc="10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运营思路、工作方法、运</a:t>
            </a:r>
            <a:r>
              <a:rPr sz="1500" b="1" kern="0" spc="9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营数据等实际业务细节</a:t>
            </a:r>
            <a:endParaRPr sz="15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2000"/>
              </a:lnSpc>
              <a:spcBef>
                <a:spcPts val="492"/>
              </a:spcBef>
              <a:tabLst/>
            </a:pPr>
            <a:r>
              <a:rPr sz="1500" b="1" kern="0" spc="9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工作中最大的挑战和难点是什么</a:t>
            </a:r>
            <a:endParaRPr sz="1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5"/>
              </a:spcBef>
              <a:tabLst/>
            </a:pPr>
            <a:r>
              <a:rPr sz="1000" b="1" kern="0" spc="6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sz="1000" b="1" kern="0" spc="6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权责明晰</a:t>
            </a:r>
            <a:r>
              <a:rPr sz="1000" kern="0" spc="6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：</a:t>
            </a:r>
            <a:r>
              <a:rPr sz="1000" b="1" kern="0" spc="6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界定清楚各位高管之间的</a:t>
            </a:r>
            <a:r>
              <a:rPr sz="1000" b="1" kern="0" spc="5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权责</a:t>
            </a:r>
            <a:endParaRPr sz="1000" dirty="0">
              <a:latin typeface="KaiTi"/>
              <a:ea typeface="KaiTi"/>
              <a:cs typeface="KaiTi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849655" y="2864383"/>
            <a:ext cx="2085339" cy="271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26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3050" indent="-245745" algn="l" rtl="0" eaLnBrk="0">
              <a:lnSpc>
                <a:spcPct val="116000"/>
              </a:lnSpc>
              <a:tabLst/>
            </a:pP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过去经历中请挑选与现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有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行业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职责相关联度强的阐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述，重点突出过去的经历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如何另</a:t>
            </a:r>
            <a:r>
              <a:rPr sz="1200" kern="0" spc="-19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己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可以胜任现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有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的职务</a:t>
            </a:r>
            <a:endParaRPr sz="1200" dirty="0">
              <a:latin typeface="KaiTi"/>
              <a:ea typeface="KaiTi"/>
              <a:cs typeface="KaiTi"/>
            </a:endParaRPr>
          </a:p>
          <a:p>
            <a:pPr marL="279400" indent="-267334" algn="l" rtl="0" eaLnBrk="0">
              <a:lnSpc>
                <a:spcPct val="119000"/>
              </a:lnSpc>
              <a:spcBef>
                <a:spcPts val="524"/>
              </a:spcBef>
              <a:tabLst/>
            </a:pP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建议用数字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案例等具象化</a:t>
            </a:r>
            <a:r>
              <a:rPr sz="1200" kern="0" spc="8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的方式阐述过去的经验积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累，如“</a:t>
            </a:r>
            <a:r>
              <a:rPr sz="1200" kern="0" spc="-3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曾经带过多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大的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团</a:t>
            </a:r>
            <a:r>
              <a:rPr sz="1200" kern="0" spc="-29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队、</a:t>
            </a:r>
            <a:r>
              <a:rPr sz="1200" kern="0" spc="-3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曾经研发过什么产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品、</a:t>
            </a:r>
            <a:r>
              <a:rPr sz="1200" kern="0" spc="-36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6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曾经将获客成本从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多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少降到多少</a:t>
            </a:r>
            <a:r>
              <a:rPr sz="1200" kern="0" spc="-40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”</a:t>
            </a:r>
            <a:endParaRPr sz="1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</a:t>
            </a:r>
            <a:r>
              <a:rPr sz="1200" kern="0" spc="10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避免刻意渲染或夸大</a:t>
            </a:r>
            <a:endParaRPr sz="1200" dirty="0">
              <a:latin typeface="KaiTi"/>
              <a:ea typeface="KaiTi"/>
              <a:cs typeface="KaiTi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801293" y="1925547"/>
            <a:ext cx="1450975" cy="653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2000"/>
              </a:lnSpc>
              <a:tabLst/>
            </a:pPr>
            <a:r>
              <a:rPr sz="1500" b="1" kern="0" spc="8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过去工作经历</a:t>
            </a:r>
            <a:endParaRPr sz="15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500" b="1" kern="0" spc="3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如何加入项</a:t>
            </a:r>
            <a:r>
              <a:rPr sz="1500" kern="0" spc="-30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500" b="1" kern="0" spc="3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目方</a:t>
            </a:r>
            <a:endParaRPr sz="1500" dirty="0">
              <a:latin typeface="KaiTi"/>
              <a:ea typeface="KaiTi"/>
              <a:cs typeface="KaiTi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10956721" y="1640510"/>
            <a:ext cx="477519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6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4000"/>
              </a:lnSpc>
              <a:tabLst/>
            </a:pPr>
            <a:r>
              <a:rPr sz="4700" b="1" kern="0" spc="-130" dirty="0">
                <a:solidFill>
                  <a:srgbClr val="808080">
                    <a:alpha val="20000"/>
                  </a:srgbClr>
                </a:solidFill>
                <a:latin typeface="Times New Roman"/>
                <a:ea typeface="Times New Roman"/>
                <a:cs typeface="Times New Roman"/>
              </a:rPr>
              <a:t>Q</a:t>
            </a:r>
            <a:endParaRPr sz="47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4000"/>
              </a:lnSpc>
              <a:spcBef>
                <a:spcPts val="13"/>
              </a:spcBef>
              <a:tabLst/>
            </a:pPr>
            <a:r>
              <a:rPr sz="4700" b="1" kern="0" spc="10" dirty="0">
                <a:solidFill>
                  <a:srgbClr val="5F5F5F">
                    <a:alpha val="2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4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2499791" y="1620825"/>
            <a:ext cx="477519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6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4000"/>
              </a:lnSpc>
              <a:tabLst/>
            </a:pPr>
            <a:r>
              <a:rPr sz="4700" b="1" kern="0" spc="-130" dirty="0">
                <a:solidFill>
                  <a:srgbClr val="808080">
                    <a:alpha val="20000"/>
                  </a:srgbClr>
                </a:solidFill>
                <a:latin typeface="Times New Roman"/>
                <a:ea typeface="Times New Roman"/>
                <a:cs typeface="Times New Roman"/>
              </a:rPr>
              <a:t>Q</a:t>
            </a:r>
            <a:endParaRPr sz="47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4000"/>
              </a:lnSpc>
              <a:spcBef>
                <a:spcPts val="13"/>
              </a:spcBef>
              <a:tabLst/>
            </a:pPr>
            <a:r>
              <a:rPr sz="4700" b="1" kern="0" spc="10" dirty="0">
                <a:solidFill>
                  <a:srgbClr val="5F5F5F">
                    <a:alpha val="2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47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icture 2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2356" y="414528"/>
            <a:ext cx="11167871" cy="6222491"/>
          </a:xfrm>
          <a:prstGeom prst="rect">
            <a:avLst/>
          </a:prstGeom>
        </p:spPr>
      </p:pic>
      <p:sp>
        <p:nvSpPr>
          <p:cNvPr id="214" name="textbox 214"/>
          <p:cNvSpPr/>
          <p:nvPr/>
        </p:nvSpPr>
        <p:spPr>
          <a:xfrm>
            <a:off x="1455801" y="3820693"/>
            <a:ext cx="9817734" cy="2604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7000"/>
              </a:lnSpc>
              <a:tabLst/>
            </a:pPr>
            <a:r>
              <a:rPr sz="1200" b="1" kern="0" spc="-1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 </a:t>
            </a:r>
            <a:r>
              <a:rPr sz="1200" b="1" kern="0" spc="-1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坦率面对质疑</a:t>
            </a:r>
            <a:endParaRPr sz="1200" dirty="0">
              <a:latin typeface="KaiTi"/>
              <a:ea typeface="KaiTi"/>
              <a:cs typeface="KaiTi"/>
            </a:endParaRPr>
          </a:p>
          <a:p>
            <a:pPr marL="18415" algn="l" rtl="0" eaLnBrk="0">
              <a:lnSpc>
                <a:spcPct val="87000"/>
              </a:lnSpc>
              <a:spcBef>
                <a:spcPts val="647"/>
              </a:spcBef>
              <a:tabLst/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首先不要直接承认对方的所有质疑，投资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人理解不正确的地方切勿客气；</a:t>
            </a:r>
            <a:endParaRPr sz="1200" dirty="0">
              <a:latin typeface="KaiTi"/>
              <a:ea typeface="KaiTi"/>
              <a:cs typeface="KaiTi"/>
            </a:endParaRPr>
          </a:p>
          <a:p>
            <a:pPr marL="233679" indent="-215265" algn="l" rtl="0" eaLnBrk="0">
              <a:lnSpc>
                <a:spcPct val="94000"/>
              </a:lnSpc>
              <a:spcBef>
                <a:spcPts val="628"/>
              </a:spcBef>
              <a:tabLst/>
            </a:pP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其次要如实回答问题，并保持积极的态度，如果哪些地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方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做的不够好，只要不是</a:t>
            </a:r>
            <a:r>
              <a:rPr sz="1200" kern="0" spc="-23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deal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breaker</a:t>
            </a:r>
            <a:r>
              <a:rPr sz="1200" kern="0" spc="-160" dirty="0">
                <a:solidFill>
                  <a:srgbClr val="5F5F5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，可以如实回答，但重点应该落在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现在正在做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哪些改进动作</a:t>
            </a:r>
            <a:endParaRPr sz="1200" dirty="0">
              <a:latin typeface="KaiTi"/>
              <a:ea typeface="KaiTi"/>
              <a:cs typeface="KaiTi"/>
            </a:endParaRPr>
          </a:p>
          <a:p>
            <a:pPr marL="29844" indent="-10795" algn="l" rtl="0" eaLnBrk="0">
              <a:lnSpc>
                <a:spcPct val="94000"/>
              </a:lnSpc>
              <a:spcBef>
                <a:spcPts val="1068"/>
              </a:spcBef>
              <a:tabLst/>
            </a:pPr>
            <a:r>
              <a:rPr sz="1200" b="1" kern="0" spc="1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1200" b="1" kern="0" spc="1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数据有底：</a:t>
            </a:r>
            <a:r>
              <a:rPr sz="1200" kern="0" spc="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投资人一般都比较数据敏感，很有可能会在会上询</a:t>
            </a:r>
            <a:r>
              <a:rPr sz="12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问具体的业务数据，建议提前把自己职能范围内的数据记清楚，如果有不明确</a:t>
            </a:r>
            <a:r>
              <a:rPr sz="12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1200" kern="0" spc="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的数据，切勿当场随意回答，</a:t>
            </a:r>
            <a:r>
              <a:rPr sz="1200" kern="0" spc="-10" dirty="0">
                <a:solidFill>
                  <a:srgbClr val="7F7F7F">
                    <a:alpha val="100000"/>
                  </a:srgbClr>
                </a:solidFill>
                <a:latin typeface="KaiTi"/>
                <a:ea typeface="KaiTi"/>
                <a:cs typeface="KaiTi"/>
              </a:rPr>
              <a:t>可以告诉投资人查明后再回复</a:t>
            </a:r>
            <a:endParaRPr sz="1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371"/>
              </a:spcBef>
              <a:tabLst/>
            </a:pPr>
            <a:r>
              <a:rPr sz="1200" b="1" kern="0" spc="-10" dirty="0">
                <a:solidFill>
                  <a:srgbClr val="DBB36C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 </a:t>
            </a:r>
            <a:r>
              <a:rPr sz="1200" b="1" kern="0" spc="-1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积极开放</a:t>
            </a:r>
            <a:endParaRPr sz="1200" dirty="0">
              <a:latin typeface="KaiTi"/>
              <a:ea typeface="KaiTi"/>
              <a:cs typeface="KaiTi"/>
            </a:endParaRPr>
          </a:p>
          <a:p>
            <a:pPr marL="17779" algn="l" rtl="0" eaLnBrk="0">
              <a:lnSpc>
                <a:spcPct val="89000"/>
              </a:lnSpc>
              <a:spcBef>
                <a:spcPts val="645"/>
              </a:spcBef>
              <a:tabLst/>
            </a:pP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不要回避问题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                 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不要刻意夸大事实</a:t>
            </a:r>
            <a:endParaRPr sz="1200" dirty="0">
              <a:latin typeface="KaiTi"/>
              <a:ea typeface="KaiTi"/>
              <a:cs typeface="KaiTi"/>
            </a:endParaRPr>
          </a:p>
          <a:p>
            <a:pPr marL="17779" algn="l" rtl="0" eaLnBrk="0">
              <a:lnSpc>
                <a:spcPct val="89000"/>
              </a:lnSpc>
              <a:spcBef>
                <a:spcPts val="614"/>
              </a:spcBef>
              <a:tabLst/>
            </a:pP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不要用负面情绪抱怨创业中的困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难和艰辛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不要过度阐述自己不了解的领域（尤其是资本市场动态或某投资人投过的企业）</a:t>
            </a:r>
            <a:endParaRPr sz="1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627754" indent="-3609975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200" kern="0" spc="2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不要打断对方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                      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不要只理解投资人字面的问题，要快速反应投资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Microsoft YaHei UI"/>
                <a:ea typeface="Microsoft YaHei UI"/>
                <a:cs typeface="Microsoft YaHei UI"/>
              </a:rPr>
              <a:t>人</a:t>
            </a:r>
            <a:r>
              <a:rPr sz="1200" kern="0" spc="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问问题的原因是什么，背后隐藏了什么顾</a:t>
            </a:r>
            <a:r>
              <a:rPr sz="1200" kern="0" spc="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虑点（财务顾问通常不会主导交流，但在必要情况下会跳</a:t>
            </a:r>
            <a:r>
              <a:rPr sz="1200" kern="0" spc="-10" dirty="0">
                <a:solidFill>
                  <a:srgbClr val="5F5F5F">
                    <a:alpha val="100000"/>
                  </a:srgbClr>
                </a:solidFill>
                <a:latin typeface="KaiTi"/>
                <a:ea typeface="KaiTi"/>
                <a:cs typeface="KaiTi"/>
              </a:rPr>
              <a:t>出来做翻译和调频）</a:t>
            </a:r>
            <a:endParaRPr sz="1200" dirty="0">
              <a:latin typeface="KaiTi"/>
              <a:ea typeface="KaiTi"/>
              <a:cs typeface="KaiTi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7281824" y="2268118"/>
            <a:ext cx="3939540" cy="1073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6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3050" indent="-251459" algn="l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1.</a:t>
            </a:r>
            <a:r>
              <a:rPr sz="1200" kern="0" spc="4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以我出发，不要陷进去真的帮投资人分析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竞争对手，访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谈时间有限，应该最大化展示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自己的亮点</a:t>
            </a:r>
            <a:endParaRPr sz="12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87000"/>
              </a:lnSpc>
              <a:spcBef>
                <a:spcPts val="386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2.</a:t>
            </a:r>
            <a:r>
              <a:rPr sz="1200" kern="0" spc="3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不要过度打击竞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品</a:t>
            </a:r>
            <a:endParaRPr sz="1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73684" indent="-260350" algn="l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3.</a:t>
            </a:r>
            <a:r>
              <a:rPr sz="1200" kern="0" spc="3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不要主动</a:t>
            </a:r>
            <a:r>
              <a:rPr sz="1200" kern="0" spc="2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list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竞品，竞争对手列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举的越少越好，每多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列举一家，都是给投资人更多的理由去做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竞品访谈，无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形拉长了决策周期</a:t>
            </a:r>
            <a:endParaRPr sz="1200" dirty="0">
              <a:latin typeface="KaiTi"/>
              <a:ea typeface="KaiTi"/>
              <a:cs typeface="KaiT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277058" y="425085"/>
            <a:ext cx="4260215" cy="546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70230" algn="l" rtl="0" eaLnBrk="0">
              <a:lnSpc>
                <a:spcPct val="91000"/>
              </a:lnSpc>
              <a:spcBef>
                <a:spcPts val="5"/>
              </a:spcBef>
              <a:tabLst>
                <a:tab pos="798830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	</a:t>
            </a:r>
            <a:r>
              <a:rPr sz="2300" b="1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常见问题沟通要点（2/2）</a:t>
            </a:r>
            <a:endParaRPr sz="2300" dirty="0">
              <a:latin typeface="KaiTi"/>
              <a:ea typeface="KaiTi"/>
              <a:cs typeface="KaiTi"/>
            </a:endParaRPr>
          </a:p>
        </p:txBody>
      </p:sp>
      <p:pic>
        <p:nvPicPr>
          <p:cNvPr id="220" name="picture 2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9758" y="437785"/>
            <a:ext cx="557585" cy="520412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6156959" y="1560576"/>
            <a:ext cx="1010411" cy="1845564"/>
            <a:chOff x="0" y="0"/>
            <a:chExt cx="1010411" cy="1845564"/>
          </a:xfrm>
        </p:grpSpPr>
        <p:pic>
          <p:nvPicPr>
            <p:cNvPr id="222" name="picture 2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10411" cy="1845564"/>
            </a:xfrm>
            <a:prstGeom prst="rect">
              <a:avLst/>
            </a:prstGeom>
          </p:spPr>
        </p:pic>
        <p:sp>
          <p:nvSpPr>
            <p:cNvPr id="224" name="textbox 224"/>
            <p:cNvSpPr/>
            <p:nvPr/>
          </p:nvSpPr>
          <p:spPr>
            <a:xfrm>
              <a:off x="250121" y="951030"/>
              <a:ext cx="523875" cy="5981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088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0000"/>
                </a:lnSpc>
                <a:tabLst/>
              </a:pPr>
              <a:r>
                <a:rPr sz="5400" b="1" kern="0" spc="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  <a:endParaRPr sz="54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226" name="textbox 226"/>
          <p:cNvSpPr/>
          <p:nvPr/>
        </p:nvSpPr>
        <p:spPr>
          <a:xfrm>
            <a:off x="7281824" y="1675028"/>
            <a:ext cx="3329940" cy="42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1.</a:t>
            </a:r>
            <a:r>
              <a:rPr sz="1200" kern="0" spc="35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相比竞争对手，公司技术水平、市场地位如何</a:t>
            </a:r>
            <a:endParaRPr sz="1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2.</a:t>
            </a:r>
            <a:r>
              <a:rPr sz="1200" kern="0" spc="34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如何看待竞争对手及其策略</a:t>
            </a:r>
            <a:endParaRPr sz="1200" dirty="0">
              <a:latin typeface="KaiTi"/>
              <a:ea typeface="KaiTi"/>
              <a:cs typeface="KaiT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1705571" y="1719795"/>
            <a:ext cx="2872739" cy="42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1.</a:t>
            </a:r>
            <a:r>
              <a:rPr sz="1200" kern="0" spc="34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今年工作重点、KPI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要求以及完成程度</a:t>
            </a:r>
            <a:endParaRPr sz="12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2.</a:t>
            </a:r>
            <a:r>
              <a:rPr sz="1200" kern="0" spc="38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业务层面如何配合公司达成宏观战略</a:t>
            </a:r>
            <a:endParaRPr sz="1200" dirty="0">
              <a:latin typeface="KaiTi"/>
              <a:ea typeface="KaiTi"/>
              <a:cs typeface="KaiTi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803777" y="2511606"/>
            <a:ext cx="523875" cy="1955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8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5400" b="1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5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5400" b="1" kern="0" spc="10" dirty="0">
                <a:solidFill>
                  <a:srgbClr val="5F5F5F">
                    <a:alpha val="20000"/>
                  </a:srgbClr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5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1714563" y="2640570"/>
            <a:ext cx="3016250" cy="184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1.</a:t>
            </a:r>
            <a:r>
              <a:rPr sz="1200" kern="0" spc="36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统一口径，不可完全脱离现有的主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KaiTi"/>
                <a:ea typeface="KaiTi"/>
                <a:cs typeface="KaiTi"/>
              </a:rPr>
              <a:t>营业务</a:t>
            </a:r>
            <a:endParaRPr sz="1200" dirty="0">
              <a:latin typeface="KaiTi"/>
              <a:ea typeface="KaiTi"/>
              <a:cs typeface="KaiTi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26020" y="1735759"/>
            <a:ext cx="482434" cy="588644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11177396" y="3709034"/>
            <a:ext cx="247015" cy="943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08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700" b="1" kern="0" spc="9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通用问题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5166397" y="1415415"/>
            <a:ext cx="249554" cy="4838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89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700" b="1" kern="0" spc="8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将来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11169858" y="1414779"/>
            <a:ext cx="243204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9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700" b="1" kern="0" spc="80" dirty="0">
                <a:solidFill>
                  <a:srgbClr val="DBB36C">
                    <a:alpha val="100000"/>
                  </a:srgbClr>
                </a:solidFill>
                <a:latin typeface="KaiTi"/>
                <a:ea typeface="KaiTi"/>
                <a:cs typeface="KaiTi"/>
              </a:rPr>
              <a:t>竞争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pic>
        <p:nvPicPr>
          <p:cNvPr id="242" name="picture 2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621789" y="2372677"/>
            <a:ext cx="3863975" cy="13969"/>
          </a:xfrm>
          <a:prstGeom prst="rect">
            <a:avLst/>
          </a:prstGeom>
        </p:spPr>
      </p:pic>
      <p:pic>
        <p:nvPicPr>
          <p:cNvPr id="244" name="picture 2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264400" y="2190432"/>
            <a:ext cx="4186555" cy="9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2025-04-01T11:12:36Z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2026-05-11T15:37:15</vt:filetime>
  </property>
</Properties>
</file>