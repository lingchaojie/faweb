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858000" cy="990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viewProps" Target="viewProps.xml"/><Relationship Id="rId4" Type="http://schemas.openxmlformats.org/officeDocument/2006/relationships/tableStyles" Target="tableStyles.xml"/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7" Type="http://schemas.openxmlformats.org/officeDocument/2006/relationships/image" Target="../media/image26.jpeg"/><Relationship Id="rId26" Type="http://schemas.openxmlformats.org/officeDocument/2006/relationships/image" Target="../media/image25.png"/><Relationship Id="rId25" Type="http://schemas.openxmlformats.org/officeDocument/2006/relationships/image" Target="../media/image24.jpeg"/><Relationship Id="rId24" Type="http://schemas.openxmlformats.org/officeDocument/2006/relationships/image" Target="../media/image23.jpeg"/><Relationship Id="rId23" Type="http://schemas.openxmlformats.org/officeDocument/2006/relationships/image" Target="../media/image22.png"/><Relationship Id="rId22" Type="http://schemas.openxmlformats.org/officeDocument/2006/relationships/image" Target="../media/image21.png"/><Relationship Id="rId21" Type="http://schemas.openxmlformats.org/officeDocument/2006/relationships/image" Target="../media/image20.png"/><Relationship Id="rId20" Type="http://schemas.openxmlformats.org/officeDocument/2006/relationships/image" Target="../media/image19.png"/><Relationship Id="rId2" Type="http://schemas.openxmlformats.org/officeDocument/2006/relationships/image" Target="../media/image1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png"/><Relationship Id="rId16" Type="http://schemas.openxmlformats.org/officeDocument/2006/relationships/image" Target="../media/image15.jpe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2113" y="935990"/>
            <a:ext cx="2489326" cy="8605291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66583" y="2525038"/>
            <a:ext cx="2453004" cy="5420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480" indent="-1270" algn="l" rtl="0" eaLnBrk="0">
              <a:lnSpc>
                <a:spcPct val="122000"/>
              </a:lnSpc>
              <a:tabLst/>
            </a:pPr>
            <a:r>
              <a:rPr sz="900" b="1" kern="0" spc="7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</a:t>
            </a:r>
            <a:r>
              <a:rPr sz="900" b="1" kern="0" spc="10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b="1" kern="0" spc="7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空间感知与重建行业</a:t>
            </a:r>
            <a:r>
              <a:rPr sz="900" b="1" kern="0" spc="6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的算法奠基者</a:t>
            </a:r>
            <a:r>
              <a:rPr sz="900" kern="0" spc="-2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b="1" kern="0" spc="6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，赋</a:t>
            </a:r>
            <a:r>
              <a:rPr sz="900" b="1" kern="0" spc="9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机器人以比肩人类的空间智能</a:t>
            </a:r>
            <a:endParaRPr sz="900" dirty="0">
              <a:latin typeface="KaiTi"/>
              <a:ea typeface="KaiTi"/>
              <a:cs typeface="KaiTi"/>
            </a:endParaRPr>
          </a:p>
          <a:p>
            <a:pPr marL="180975" indent="-168275" algn="l" rtl="0" eaLnBrk="0">
              <a:lnSpc>
                <a:spcPct val="118000"/>
              </a:lnSpc>
              <a:spcBef>
                <a:spcPts val="731"/>
              </a:spcBef>
              <a:tabLst/>
            </a:pPr>
            <a:r>
              <a:rPr sz="700" kern="0" spc="40" dirty="0">
                <a:solidFill>
                  <a:srgbClr val="749BF7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开创行业奠基性多传感器</a:t>
            </a: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融合算法并开源，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具有行业唯一的机器</a:t>
            </a: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人空间智能全链条算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法储备，无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GPS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自主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导航能力行业遥遥领先</a:t>
            </a:r>
            <a:endParaRPr sz="900" dirty="0">
              <a:latin typeface="KaiTi"/>
              <a:ea typeface="KaiTi"/>
              <a:cs typeface="KaiTi"/>
            </a:endParaRPr>
          </a:p>
          <a:p>
            <a:pPr marL="175895" indent="-163829" algn="l" rtl="0" eaLnBrk="0">
              <a:lnSpc>
                <a:spcPct val="119000"/>
              </a:lnSpc>
              <a:spcBef>
                <a:spcPts val="147"/>
              </a:spcBef>
              <a:tabLst/>
            </a:pPr>
            <a:r>
              <a:rPr sz="700" kern="0" spc="40" dirty="0">
                <a:solidFill>
                  <a:srgbClr val="749BF7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整机系统积累深厚，工程落地经验充足，</a:t>
            </a:r>
            <a:r>
              <a:rPr sz="900" kern="0" spc="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核心团队均为各顶尖机器人赛事冠亚军，</a:t>
            </a:r>
            <a:r>
              <a:rPr sz="900" kern="0" spc="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产品设计及软硬件结合能力一流，</a:t>
            </a: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产品体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验行业最佳</a:t>
            </a:r>
            <a:endParaRPr sz="900" dirty="0">
              <a:latin typeface="KaiTi"/>
              <a:ea typeface="KaiTi"/>
              <a:cs typeface="KaiTi"/>
            </a:endParaRPr>
          </a:p>
          <a:p>
            <a:pPr marL="36830" indent="-12064" algn="l" rtl="0" eaLnBrk="0">
              <a:lnSpc>
                <a:spcPct val="130000"/>
              </a:lnSpc>
              <a:spcBef>
                <a:spcPts val="908"/>
              </a:spcBef>
              <a:tabLst/>
            </a:pPr>
            <a:r>
              <a:rPr sz="900" b="1" kern="0" spc="1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  </a:t>
            </a:r>
            <a:r>
              <a:rPr sz="900" b="1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MataCam</a:t>
            </a:r>
            <a:r>
              <a:rPr sz="900" b="1" kern="0" spc="1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硬件可实现通用空间智</a:t>
            </a:r>
            <a:r>
              <a:rPr sz="900" b="1" kern="0" spc="1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能</a:t>
            </a:r>
            <a:r>
              <a:rPr sz="900" kern="0" spc="-2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b="1" kern="0" spc="1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</a:t>
            </a:r>
            <a:r>
              <a:rPr sz="900" b="1" kern="0" spc="9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飞行机器人整机交付再打破市场</a:t>
            </a:r>
            <a:r>
              <a:rPr sz="900" b="1" kern="0" spc="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天花板</a:t>
            </a:r>
            <a:endParaRPr sz="900" dirty="0">
              <a:latin typeface="KaiTi"/>
              <a:ea typeface="KaiTi"/>
              <a:cs typeface="KaiTi"/>
            </a:endParaRPr>
          </a:p>
          <a:p>
            <a:pPr marL="196850" indent="-168910" algn="l" rtl="0" eaLnBrk="0">
              <a:lnSpc>
                <a:spcPct val="120000"/>
              </a:lnSpc>
              <a:spcBef>
                <a:spcPts val="652"/>
              </a:spcBef>
              <a:tabLst/>
            </a:pPr>
            <a:r>
              <a:rPr sz="700" kern="0" spc="0" dirty="0">
                <a:solidFill>
                  <a:srgbClr val="749BF7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700" kern="0" spc="60" dirty="0">
                <a:solidFill>
                  <a:srgbClr val="749BF7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MataCam</a:t>
            </a:r>
            <a:r>
              <a:rPr sz="900" kern="0" spc="6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硬件可适配多类陆空本体形态，</a:t>
            </a: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飞行机器人作为未来具身智能最具普适性</a:t>
            </a:r>
            <a:r>
              <a:rPr sz="900" kern="0" spc="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的本体之一，高度依赖空</a:t>
            </a: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间认知与决策能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力</a:t>
            </a:r>
            <a:endParaRPr sz="900" dirty="0">
              <a:latin typeface="KaiTi"/>
              <a:ea typeface="KaiTi"/>
              <a:cs typeface="KaiTi"/>
            </a:endParaRPr>
          </a:p>
          <a:p>
            <a:pPr marL="195579" indent="-167639" algn="l" rtl="0" eaLnBrk="0">
              <a:lnSpc>
                <a:spcPct val="119000"/>
              </a:lnSpc>
              <a:spcBef>
                <a:spcPts val="92"/>
              </a:spcBef>
              <a:tabLst/>
            </a:pPr>
            <a:r>
              <a:rPr sz="700" kern="0" spc="40" dirty="0">
                <a:solidFill>
                  <a:srgbClr val="749BF7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无穹作为该行业唯一具</a:t>
            </a: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备机器人整机开发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能力的团队，全栈自研无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PS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自主导航飞行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机器人，无光悬停等技术行</a:t>
            </a: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业领先，成本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优势明显，积极向高价值量整机跃迁</a:t>
            </a:r>
            <a:endParaRPr sz="900" dirty="0">
              <a:latin typeface="KaiTi"/>
              <a:ea typeface="KaiTi"/>
              <a:cs typeface="KaiTi"/>
            </a:endParaRPr>
          </a:p>
          <a:p>
            <a:pPr marL="38100" indent="-8254" algn="l" rtl="0" eaLnBrk="0">
              <a:lnSpc>
                <a:spcPct val="127000"/>
              </a:lnSpc>
              <a:spcBef>
                <a:spcPts val="1353"/>
              </a:spcBef>
              <a:tabLst/>
            </a:pPr>
            <a:r>
              <a:rPr sz="900" b="1" kern="0" spc="8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  </a:t>
            </a:r>
            <a:r>
              <a:rPr sz="900" b="1" kern="0" spc="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头部客户高度认可，供应链优势</a:t>
            </a:r>
            <a:r>
              <a:rPr sz="900" b="1" kern="0" spc="7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明显，</a:t>
            </a:r>
            <a:r>
              <a:rPr sz="900" b="1" kern="0" spc="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业绩爆发式增长</a:t>
            </a:r>
            <a:endParaRPr sz="900" dirty="0">
              <a:latin typeface="KaiTi"/>
              <a:ea typeface="KaiTi"/>
              <a:cs typeface="KaiTi"/>
            </a:endParaRPr>
          </a:p>
          <a:p>
            <a:pPr marL="203834" indent="-166370" algn="l" rtl="0" eaLnBrk="0">
              <a:lnSpc>
                <a:spcPct val="119000"/>
              </a:lnSpc>
              <a:spcBef>
                <a:spcPts val="673"/>
              </a:spcBef>
              <a:tabLst/>
            </a:pPr>
            <a:r>
              <a:rPr sz="700" kern="0" spc="40" dirty="0">
                <a:solidFill>
                  <a:srgbClr val="749BF7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公司产品在银河通用、它石、智</a:t>
            </a: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元、本末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等十余家行业头部机器人</a:t>
            </a: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公司或顶尖高校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应用</a:t>
            </a:r>
            <a:endParaRPr sz="900" dirty="0">
              <a:latin typeface="KaiTi"/>
              <a:ea typeface="KaiTi"/>
              <a:cs typeface="KaiTi"/>
            </a:endParaRPr>
          </a:p>
          <a:p>
            <a:pPr marL="201929" indent="-164464" algn="l" rtl="0" eaLnBrk="0">
              <a:lnSpc>
                <a:spcPct val="118000"/>
              </a:lnSpc>
              <a:spcBef>
                <a:spcPts val="122"/>
              </a:spcBef>
              <a:tabLst/>
            </a:pPr>
            <a:r>
              <a:rPr sz="700" kern="0" spc="30" dirty="0">
                <a:solidFill>
                  <a:srgbClr val="749BF7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手持产品市占率及大客户渗透率远超竞对，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供应链优势明显，核心零部件</a:t>
            </a: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采购成本远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低于行业平均水平，基本盘稳固</a:t>
            </a:r>
            <a:endParaRPr sz="900" dirty="0">
              <a:latin typeface="KaiTi"/>
              <a:ea typeface="KaiTi"/>
              <a:cs typeface="KaiTi"/>
            </a:endParaRPr>
          </a:p>
          <a:p>
            <a:pPr marL="203834" indent="-166370" algn="l" rtl="0" eaLnBrk="0">
              <a:lnSpc>
                <a:spcPct val="116000"/>
              </a:lnSpc>
              <a:spcBef>
                <a:spcPts val="242"/>
              </a:spcBef>
              <a:tabLst/>
            </a:pPr>
            <a:r>
              <a:rPr sz="700" kern="0" spc="40" dirty="0">
                <a:solidFill>
                  <a:srgbClr val="749BF7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预计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2025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年收入超过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4,000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万</a:t>
            </a:r>
            <a:r>
              <a:rPr sz="900" kern="0" spc="-2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Q1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已签单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2,000+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万，去年已盈利</a:t>
            </a:r>
            <a:endParaRPr sz="900" dirty="0">
              <a:latin typeface="KaiTi"/>
              <a:ea typeface="KaiTi"/>
              <a:cs typeface="KaiTi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2736341" y="2307335"/>
            <a:ext cx="3351148" cy="2914269"/>
            <a:chOff x="0" y="0"/>
            <a:chExt cx="3351148" cy="2914269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272535" cy="2914269"/>
            </a:xfrm>
            <a:prstGeom prst="rect">
              <a:avLst/>
            </a:prstGeom>
          </p:spPr>
        </p:pic>
        <p:sp>
          <p:nvSpPr>
            <p:cNvPr id="8" name="textbox 8"/>
            <p:cNvSpPr/>
            <p:nvPr/>
          </p:nvSpPr>
          <p:spPr>
            <a:xfrm>
              <a:off x="2553936" y="670712"/>
              <a:ext cx="365759" cy="14325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42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2000"/>
                </a:lnSpc>
                <a:tabLst/>
              </a:pPr>
              <a:r>
                <a:rPr sz="900" b="1" kern="0" spc="5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轮式</a:t>
              </a:r>
              <a:endParaRPr sz="9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3819" algn="l" rtl="0" eaLnBrk="0">
                <a:lnSpc>
                  <a:spcPct val="92000"/>
                </a:lnSpc>
                <a:spcBef>
                  <a:spcPts val="276"/>
                </a:spcBef>
                <a:tabLst/>
              </a:pPr>
              <a:r>
                <a:rPr sz="900" b="1" kern="0" spc="3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四足</a:t>
              </a:r>
              <a:endParaRPr sz="9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92000"/>
                </a:lnSpc>
                <a:tabLst/>
              </a:pPr>
              <a:r>
                <a:rPr sz="900" b="1" kern="0" spc="5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人形</a:t>
              </a:r>
              <a:endParaRPr sz="900" dirty="0">
                <a:latin typeface="KaiTi"/>
                <a:ea typeface="KaiTi"/>
                <a:cs typeface="KaiTi"/>
              </a:endParaRPr>
            </a:p>
          </p:txBody>
        </p:sp>
        <p:sp>
          <p:nvSpPr>
            <p:cNvPr id="10" name="textbox 10"/>
            <p:cNvSpPr/>
            <p:nvPr/>
          </p:nvSpPr>
          <p:spPr>
            <a:xfrm>
              <a:off x="2643195" y="202158"/>
              <a:ext cx="720725" cy="1276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23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4000"/>
                </a:lnSpc>
                <a:tabLst/>
              </a:pPr>
              <a:r>
                <a:rPr sz="800" kern="0" spc="-2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累计交付近千台</a:t>
              </a:r>
              <a:endParaRPr sz="800" dirty="0">
                <a:latin typeface="KaiTi"/>
                <a:ea typeface="KaiTi"/>
                <a:cs typeface="KaiTi"/>
              </a:endParaRPr>
            </a:p>
          </p:txBody>
        </p:sp>
        <p:sp>
          <p:nvSpPr>
            <p:cNvPr id="12" name="textbox 12"/>
            <p:cNvSpPr/>
            <p:nvPr/>
          </p:nvSpPr>
          <p:spPr>
            <a:xfrm>
              <a:off x="322453" y="1810639"/>
              <a:ext cx="565784" cy="1136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690"/>
                </a:lnSpc>
                <a:tabLst/>
              </a:pPr>
              <a:r>
                <a:rPr sz="900" kern="0" spc="40" dirty="0">
                  <a:solidFill>
                    <a:srgbClr val="7E9FF6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Meta</a:t>
              </a:r>
              <a:r>
                <a:rPr sz="900" kern="0" spc="0" dirty="0">
                  <a:solidFill>
                    <a:srgbClr val="7E9FF6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40" dirty="0">
                  <a:solidFill>
                    <a:srgbClr val="7E9FF6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cam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4" name="textbox 14"/>
            <p:cNvSpPr/>
            <p:nvPr/>
          </p:nvSpPr>
          <p:spPr>
            <a:xfrm>
              <a:off x="2284549" y="158648"/>
              <a:ext cx="266700" cy="152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42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2000"/>
                </a:lnSpc>
                <a:tabLst/>
              </a:pPr>
              <a:r>
                <a:rPr sz="900" b="1" kern="0" spc="3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手持</a:t>
              </a:r>
              <a:endParaRPr sz="900" dirty="0">
                <a:latin typeface="KaiTi"/>
                <a:ea typeface="KaiTi"/>
                <a:cs typeface="KaiTi"/>
              </a:endParaRPr>
            </a:p>
          </p:txBody>
        </p:sp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143249" y="2357996"/>
            <a:ext cx="2076826" cy="2736096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2708421" y="1202363"/>
            <a:ext cx="4086225" cy="1052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38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165" indent="3810" algn="l" rtl="0" eaLnBrk="0">
              <a:lnSpc>
                <a:spcPct val="127000"/>
              </a:lnSpc>
              <a:tabLst/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无穹创新全自研跨本体空间智能通用</a:t>
            </a:r>
            <a:r>
              <a:rPr sz="900" kern="0" spc="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硬件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MetaCam</a:t>
            </a:r>
            <a:r>
              <a:rPr sz="900" kern="0" spc="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，可适配轮式、四足、</a:t>
            </a:r>
            <a:r>
              <a:rPr sz="900" kern="0" spc="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人形、无人机等多类陆</a:t>
            </a:r>
            <a:r>
              <a:rPr sz="900" kern="0" spc="7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空本体形态，全方面赋能本体</a:t>
            </a:r>
            <a:r>
              <a:rPr sz="900" b="1" kern="0" spc="7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感知、理解、推理、</a:t>
            </a:r>
            <a:r>
              <a:rPr sz="900" b="1" kern="0" spc="9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决策、执行能力，还可应用于空间环境数据采集以及传统机器人作</a:t>
            </a:r>
            <a:r>
              <a:rPr sz="900" b="1" kern="0" spc="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业场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b="1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景部署。</a:t>
            </a:r>
            <a:endParaRPr sz="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spcBef>
                <a:spcPts val="2"/>
              </a:spcBef>
              <a:tabLst/>
            </a:pPr>
            <a:r>
              <a:rPr sz="1000" b="1" i="1" kern="0" spc="-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MetaCam</a:t>
            </a:r>
            <a:r>
              <a:rPr sz="1000" b="1" i="1" kern="0" spc="1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i="1" kern="0" spc="-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跨本体空间智能通用硬件及产品</a:t>
            </a:r>
            <a:endParaRPr sz="1100" dirty="0">
              <a:latin typeface="KaiTi"/>
              <a:ea typeface="KaiTi"/>
              <a:cs typeface="KaiTi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145199" y="8204834"/>
            <a:ext cx="2477135" cy="1414780"/>
          </a:xfrm>
          <a:prstGeom prst="roundRect">
            <a:avLst>
              <a:gd name="adj" fmla="val 17039"/>
            </a:avLst>
          </a:prstGeom>
          <a:solidFill>
            <a:srgbClr val="FFFFFF">
              <a:alpha val="100000"/>
            </a:srgbClr>
          </a:solidFill>
          <a:ln w="6350" cap="flat">
            <a:solidFill>
              <a:srgbClr val="778EF8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45199" y="8204834"/>
            <a:ext cx="2476588" cy="1414551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2658364" y="9016695"/>
            <a:ext cx="4109720" cy="605790"/>
          </a:xfrm>
          <a:prstGeom prst="roundRect">
            <a:avLst>
              <a:gd name="adj" fmla="val 14380"/>
            </a:avLst>
          </a:prstGeom>
          <a:noFill/>
          <a:ln w="6350" cap="flat">
            <a:solidFill>
              <a:srgbClr val="778EF8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endParaRPr/>
          </a:p>
        </p:txBody>
      </p:sp>
      <p:sp>
        <p:nvSpPr>
          <p:cNvPr id="26" name="textbox 26"/>
          <p:cNvSpPr/>
          <p:nvPr/>
        </p:nvSpPr>
        <p:spPr>
          <a:xfrm>
            <a:off x="2692714" y="6814210"/>
            <a:ext cx="1904364" cy="871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5775" algn="l" rtl="0" eaLnBrk="0">
              <a:lnSpc>
                <a:spcPct val="92000"/>
              </a:lnSpc>
              <a:tabLst/>
            </a:pPr>
            <a:r>
              <a:rPr sz="900" b="1" kern="0" spc="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潘杰</a:t>
            </a:r>
            <a:r>
              <a:rPr sz="900" kern="0" spc="1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b="1" kern="0" spc="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创始人、</a:t>
            </a:r>
            <a:r>
              <a:rPr sz="900" kern="0" spc="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b="1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CEO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85420" indent="-173354" algn="l" rtl="0" eaLnBrk="0">
              <a:lnSpc>
                <a:spcPct val="120000"/>
              </a:lnSpc>
              <a:spcBef>
                <a:spcPts val="4"/>
              </a:spcBef>
              <a:tabLst/>
            </a:pPr>
            <a:r>
              <a:rPr sz="700" kern="0" spc="-10" dirty="0">
                <a:solidFill>
                  <a:srgbClr val="749BF7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700" kern="0" spc="240" dirty="0">
                <a:solidFill>
                  <a:srgbClr val="749BF7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港科大硕士（与大</a:t>
            </a: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疆联合培养</a:t>
            </a:r>
            <a:r>
              <a:rPr sz="900" kern="0" spc="-5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）</a:t>
            </a:r>
            <a:r>
              <a:rPr sz="900" kern="0" spc="-25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-5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多篇机器人顶刊顶会，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RoboMaster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机器人比赛全国冠军，习近平总书</a:t>
            </a: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记接见交流</a:t>
            </a:r>
            <a:endParaRPr sz="900" dirty="0">
              <a:latin typeface="KaiTi"/>
              <a:ea typeface="KaiTi"/>
              <a:cs typeface="KaiT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4810275" y="5948273"/>
            <a:ext cx="1856739" cy="139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800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定位导航</a:t>
            </a:r>
            <a:r>
              <a:rPr sz="800" kern="0" spc="2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800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环境理解</a:t>
            </a:r>
            <a:r>
              <a:rPr sz="800" kern="0" spc="3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800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空间感知</a:t>
            </a:r>
            <a:r>
              <a:rPr sz="800" kern="0" spc="19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-20" baseline="43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决策规划</a:t>
            </a:r>
            <a:endParaRPr sz="1200" baseline="4340" dirty="0">
              <a:latin typeface="KaiTi"/>
              <a:ea typeface="KaiTi"/>
              <a:cs typeface="KaiT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715255" y="5486184"/>
            <a:ext cx="1992629" cy="662775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312792" y="8286140"/>
            <a:ext cx="2172970" cy="622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99465" algn="l" rtl="0" eaLnBrk="0">
              <a:lnSpc>
                <a:spcPct val="85000"/>
              </a:lnSpc>
              <a:tabLst/>
            </a:pPr>
            <a:r>
              <a:rPr sz="1000" b="1" i="1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标杆客户</a:t>
            </a:r>
            <a:endParaRPr sz="10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37"/>
              </a:lnSpc>
              <a:spcBef>
                <a:spcPts val="4"/>
              </a:spcBef>
              <a:tabLst/>
            </a:pPr>
            <a:r>
              <a:rPr sz="1500" kern="0" spc="-10" dirty="0">
                <a:solidFill>
                  <a:srgbClr val="1FADE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3智元机器人</a:t>
            </a:r>
            <a:r>
              <a:rPr sz="1500" kern="0" spc="-10" dirty="0">
                <a:solidFill>
                  <a:srgbClr val="1FADE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548949" y="8465836"/>
            <a:ext cx="920556" cy="429770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2351024" y="219303"/>
            <a:ext cx="3587115" cy="378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2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9060" algn="l" rtl="0" eaLnBrk="0">
              <a:lnSpc>
                <a:spcPct val="86000"/>
              </a:lnSpc>
              <a:tabLst/>
            </a:pPr>
            <a:r>
              <a:rPr sz="1400" b="1" i="1" kern="0" spc="-6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空间智能基础设施研发</a:t>
            </a:r>
            <a:r>
              <a:rPr sz="1400" b="1" i="1" kern="0" spc="-7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商</a:t>
            </a:r>
            <a:endParaRPr sz="1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84000"/>
              </a:lnSpc>
              <a:spcBef>
                <a:spcPts val="231"/>
              </a:spcBef>
              <a:tabLst>
                <a:tab pos="320040" algn="l"/>
              </a:tabLst>
            </a:pPr>
            <a:r>
              <a:rPr sz="1100" strike="sngStrike" kern="0" spc="0" dirty="0">
                <a:solidFill>
                  <a:srgbClr val="D7E8F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kern="0" spc="80" dirty="0">
                <a:solidFill>
                  <a:srgbClr val="D7E8F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100" dirty="0">
                <a:solidFill>
                  <a:srgbClr val="D7E8F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致力于帮助人类与机器人更好地感知与理解世界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4745542" y="6809638"/>
            <a:ext cx="1900554" cy="701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0679" algn="l" rtl="0" eaLnBrk="0">
              <a:lnSpc>
                <a:spcPct val="92000"/>
              </a:lnSpc>
              <a:tabLst/>
            </a:pPr>
            <a:r>
              <a:rPr sz="900" b="1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Jack</a:t>
            </a:r>
            <a:r>
              <a:rPr sz="900" b="1" kern="0" spc="10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b="1" kern="0" spc="10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产品技术栈负责人</a:t>
            </a:r>
            <a:endParaRPr sz="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88595" indent="-175895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kern="0" spc="-10" dirty="0">
                <a:solidFill>
                  <a:srgbClr val="749BF7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700" kern="0" spc="190" dirty="0">
                <a:solidFill>
                  <a:srgbClr val="749BF7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年大厂硬件开发经验，前大疆资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深硬件产品经理，多款亿元级产品</a:t>
            </a:r>
            <a:r>
              <a:rPr sz="900" kern="0" spc="-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负责人</a:t>
            </a:r>
            <a:endParaRPr sz="900" dirty="0">
              <a:latin typeface="KaiTi"/>
              <a:ea typeface="KaiTi"/>
              <a:cs typeface="KaiTi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2705922" y="7811541"/>
            <a:ext cx="1900554" cy="693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7669" algn="l" rtl="0" eaLnBrk="0">
              <a:lnSpc>
                <a:spcPct val="92000"/>
              </a:lnSpc>
              <a:tabLst/>
            </a:pPr>
            <a:r>
              <a:rPr sz="900" b="1" kern="0" spc="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冯智超</a:t>
            </a:r>
            <a:r>
              <a:rPr sz="900" kern="0" spc="-19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b="1" kern="0" spc="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供应链负责人</a:t>
            </a:r>
            <a:endParaRPr sz="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87325" indent="-174625" algn="l" rtl="0" eaLnBrk="0">
              <a:lnSpc>
                <a:spcPct val="119000"/>
              </a:lnSpc>
              <a:spcBef>
                <a:spcPts val="2"/>
              </a:spcBef>
              <a:tabLst/>
            </a:pPr>
            <a:r>
              <a:rPr sz="700" kern="0" spc="-10" dirty="0">
                <a:solidFill>
                  <a:srgbClr val="749BF7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700" kern="0" spc="230" dirty="0">
                <a:solidFill>
                  <a:srgbClr val="749BF7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港科大融合交叉硕士，</a:t>
            </a: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前哈工大机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器人队队长，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RoboMaster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机器人比</a:t>
            </a: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赛全国亚军</a:t>
            </a:r>
            <a:endParaRPr sz="900" dirty="0">
              <a:latin typeface="KaiTi"/>
              <a:ea typeface="KaiTi"/>
              <a:cs typeface="KaiT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655540" y="3047466"/>
            <a:ext cx="797559" cy="15538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前装交付近百台</a:t>
            </a:r>
            <a:endParaRPr sz="8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6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ts val="669"/>
              </a:lnSpc>
              <a:spcBef>
                <a:spcPts val="365"/>
              </a:spcBef>
              <a:tabLst/>
            </a:pPr>
            <a:r>
              <a:rPr sz="1200" kern="0" spc="420" dirty="0">
                <a:solidFill>
                  <a:srgbClr val="778EF8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200" kern="0" spc="-50" dirty="0">
                <a:solidFill>
                  <a:srgbClr val="778EF8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420" dirty="0">
                <a:solidFill>
                  <a:srgbClr val="778EF8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200" kern="0" spc="-70" dirty="0">
                <a:solidFill>
                  <a:srgbClr val="778EF8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420" dirty="0">
                <a:solidFill>
                  <a:srgbClr val="778EF8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200" dirty="0">
              <a:latin typeface="Arial"/>
              <a:ea typeface="Arial"/>
              <a:cs typeface="Arial"/>
            </a:endParaRPr>
          </a:p>
          <a:p>
            <a:pPr marL="53339" indent="-8889" algn="l" rtl="0" eaLnBrk="0">
              <a:lnSpc>
                <a:spcPct val="84000"/>
              </a:lnSpc>
              <a:spcBef>
                <a:spcPts val="80"/>
              </a:spcBef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后装交付数十台</a:t>
            </a:r>
            <a:r>
              <a:rPr sz="800" kern="0" spc="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1200" kern="0" spc="330" dirty="0">
                <a:solidFill>
                  <a:srgbClr val="778EF8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200" kern="0" spc="-20" dirty="0">
                <a:solidFill>
                  <a:srgbClr val="778EF8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500" dirty="0">
                <a:solidFill>
                  <a:srgbClr val="8A9FF8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200" dirty="0">
              <a:latin typeface="Arial"/>
              <a:ea typeface="Arial"/>
              <a:cs typeface="Arial"/>
            </a:endParaRPr>
          </a:p>
          <a:p>
            <a:pPr marL="48894" algn="l" rtl="0" eaLnBrk="0">
              <a:lnSpc>
                <a:spcPct val="85000"/>
              </a:lnSpc>
              <a:spcBef>
                <a:spcPts val="213"/>
              </a:spcBef>
              <a:tabLst/>
            </a:pPr>
            <a:r>
              <a:rPr sz="800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前装导入中</a:t>
            </a:r>
            <a:endParaRPr sz="800" dirty="0">
              <a:latin typeface="KaiTi"/>
              <a:ea typeface="KaiTi"/>
              <a:cs typeface="KaiTi"/>
            </a:endParaRPr>
          </a:p>
          <a:p>
            <a:pPr marL="104139" algn="l" rtl="0" eaLnBrk="0">
              <a:lnSpc>
                <a:spcPts val="670"/>
              </a:lnSpc>
              <a:spcBef>
                <a:spcPts val="1305"/>
              </a:spcBef>
              <a:tabLst/>
            </a:pPr>
            <a:r>
              <a:rPr sz="1200" kern="0" spc="340" dirty="0">
                <a:solidFill>
                  <a:srgbClr val="778EF8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200" kern="0" spc="-20" dirty="0">
                <a:solidFill>
                  <a:srgbClr val="778EF8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490" dirty="0">
                <a:solidFill>
                  <a:srgbClr val="889DF8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200" dirty="0">
              <a:latin typeface="Arial"/>
              <a:ea typeface="Arial"/>
              <a:cs typeface="Arial"/>
            </a:endParaRPr>
          </a:p>
          <a:p>
            <a:pPr marL="104139" indent="14604" algn="l" rtl="0" eaLnBrk="0">
              <a:lnSpc>
                <a:spcPct val="76000"/>
              </a:lnSpc>
              <a:spcBef>
                <a:spcPts val="205"/>
              </a:spcBef>
              <a:tabLst/>
            </a:pPr>
            <a:r>
              <a:rPr sz="800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头部客户</a:t>
            </a:r>
            <a:r>
              <a:rPr sz="800" kern="0" spc="-1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800" kern="0" spc="-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Demo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200" kern="0" spc="340" dirty="0">
                <a:solidFill>
                  <a:srgbClr val="778EF8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200" kern="0" spc="-20" dirty="0">
                <a:solidFill>
                  <a:srgbClr val="778EF8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490" dirty="0">
                <a:solidFill>
                  <a:srgbClr val="889DF8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19379" algn="l" rtl="0" eaLnBrk="0">
              <a:lnSpc>
                <a:spcPct val="85000"/>
              </a:lnSpc>
              <a:spcBef>
                <a:spcPts val="2"/>
              </a:spcBef>
              <a:tabLst/>
            </a:pPr>
            <a:r>
              <a:rPr sz="800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前装导入中</a:t>
            </a:r>
            <a:endParaRPr sz="800" dirty="0">
              <a:latin typeface="KaiTi"/>
              <a:ea typeface="KaiTi"/>
              <a:cs typeface="KaiTi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2235" y="153835"/>
            <a:ext cx="2068067" cy="511517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292223" y="1694205"/>
            <a:ext cx="1642745" cy="663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55" rIns="0" bIns="0"/>
          <a:lstStyle/>
          <a:p>
            <a:pPr marL="252729" indent="-6350" algn="l" rtl="0" eaLnBrk="0">
              <a:lnSpc>
                <a:spcPct val="129000"/>
              </a:lnSpc>
              <a:tabLst/>
            </a:pP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刘婧雯</a:t>
            </a:r>
            <a:r>
              <a:rPr sz="900" kern="0" spc="-20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+86</a:t>
            </a:r>
            <a:r>
              <a:rPr sz="900" kern="0" spc="1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131 2210 8312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陈悦玮</a:t>
            </a:r>
            <a:r>
              <a:rPr sz="900" kern="0" spc="-19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+86</a:t>
            </a:r>
            <a:r>
              <a:rPr sz="900" kern="0" spc="1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186 001</a:t>
            </a: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2 9875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8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b="1" i="1" kern="0" spc="-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投资亮点</a:t>
            </a:r>
            <a:endParaRPr sz="1200" dirty="0">
              <a:latin typeface="KaiTi"/>
              <a:ea typeface="KaiTi"/>
              <a:cs typeface="KaiTi"/>
            </a:endParaRPr>
          </a:p>
        </p:txBody>
      </p:sp>
      <p:graphicFrame>
        <p:nvGraphicFramePr>
          <p:cNvPr id="48" name="table 48"/>
          <p:cNvGraphicFramePr>
            <a:graphicFrameLocks noGrp="1"/>
          </p:cNvGraphicFramePr>
          <p:nvPr/>
        </p:nvGraphicFramePr>
        <p:xfrm>
          <a:off x="2694432" y="5632322"/>
          <a:ext cx="1938020" cy="516254"/>
        </p:xfrm>
        <a:graphic>
          <a:graphicData uri="http://schemas.openxmlformats.org/drawingml/2006/table">
            <a:tbl>
              <a:tblPr/>
              <a:tblGrid>
                <a:gridCol w="536575"/>
                <a:gridCol w="447675"/>
                <a:gridCol w="501650"/>
                <a:gridCol w="452119"/>
              </a:tblGrid>
              <a:tr h="3295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86689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5717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994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8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激光雷达</a:t>
                      </a:r>
                      <a:r>
                        <a:rPr sz="8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  </a:t>
                      </a:r>
                      <a:r>
                        <a:rPr sz="8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鱼眼相机</a:t>
                      </a:r>
                      <a:r>
                        <a:rPr sz="800" kern="0" spc="1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RTK</a:t>
                      </a:r>
                      <a:r>
                        <a:rPr sz="6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模</a:t>
                      </a:r>
                      <a:r>
                        <a:rPr sz="6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组</a:t>
                      </a:r>
                      <a:r>
                        <a:rPr sz="6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    </a:t>
                      </a:r>
                      <a:r>
                        <a:rPr sz="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IMU</a:t>
                      </a:r>
                      <a:endParaRPr sz="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" name="textbox 50"/>
          <p:cNvSpPr/>
          <p:nvPr/>
        </p:nvSpPr>
        <p:spPr>
          <a:xfrm>
            <a:off x="5299799" y="7787382"/>
            <a:ext cx="923925" cy="911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1100" b="1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35%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6034" algn="l" rtl="0" eaLnBrk="0">
              <a:lnSpc>
                <a:spcPct val="92000"/>
              </a:lnSpc>
              <a:spcBef>
                <a:spcPts val="158"/>
              </a:spcBef>
              <a:tabLst/>
            </a:pPr>
            <a:r>
              <a:rPr sz="900" kern="0" spc="7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港科大团队</a:t>
            </a:r>
            <a:endParaRPr sz="900" dirty="0">
              <a:latin typeface="KaiTi"/>
              <a:ea typeface="KaiTi"/>
              <a:cs typeface="KaiTi"/>
            </a:endParaRPr>
          </a:p>
          <a:p>
            <a:pPr marL="35559" algn="l" rtl="0" eaLnBrk="0">
              <a:lnSpc>
                <a:spcPct val="75000"/>
              </a:lnSpc>
              <a:spcBef>
                <a:spcPts val="1331"/>
              </a:spcBef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1.7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万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endParaRPr sz="1200" dirty="0">
              <a:latin typeface="Times New Roman"/>
              <a:ea typeface="Times New Roman"/>
              <a:cs typeface="Times New Roman"/>
            </a:endParaRPr>
          </a:p>
          <a:p>
            <a:pPr marL="29844" indent="5080" algn="l" rtl="0" eaLnBrk="0">
              <a:lnSpc>
                <a:spcPct val="112000"/>
              </a:lnSpc>
              <a:spcBef>
                <a:spcPts val="8"/>
              </a:spcBef>
              <a:tabLst/>
            </a:pPr>
            <a:r>
              <a:rPr sz="900" kern="0" spc="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机器人开源项目</a:t>
            </a: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GitHub</a:t>
            </a:r>
            <a:r>
              <a:rPr sz="900" kern="0" spc="1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Star</a:t>
            </a:r>
            <a:endParaRPr sz="9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5071810" y="4749672"/>
            <a:ext cx="1519555" cy="421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15009" algn="l" rtl="0" eaLnBrk="0">
              <a:lnSpc>
                <a:spcPts val="670"/>
              </a:lnSpc>
              <a:tabLst/>
            </a:pPr>
            <a:r>
              <a:rPr sz="1200" kern="0" spc="340" dirty="0">
                <a:solidFill>
                  <a:srgbClr val="778EF8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200" kern="0" spc="-20" dirty="0">
                <a:solidFill>
                  <a:srgbClr val="778EF8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490" dirty="0">
                <a:solidFill>
                  <a:srgbClr val="8A9FF8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200" dirty="0">
              <a:latin typeface="Arial"/>
              <a:ea typeface="Arial"/>
              <a:cs typeface="Arial"/>
            </a:endParaRPr>
          </a:p>
          <a:p>
            <a:pPr marL="720725" indent="-708025" algn="l" rtl="0" eaLnBrk="0">
              <a:lnSpc>
                <a:spcPct val="99000"/>
              </a:lnSpc>
              <a:spcBef>
                <a:spcPts val="222"/>
              </a:spcBef>
              <a:tabLst/>
            </a:pPr>
            <a:r>
              <a:rPr sz="1500" b="1" kern="0" spc="20" baseline="3472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飞行机器人</a:t>
            </a:r>
            <a:r>
              <a:rPr sz="900" kern="0" spc="17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300" kern="0" spc="20" baseline="-4006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工程样机验证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下半年整机量产</a:t>
            </a:r>
            <a:endParaRPr sz="900" dirty="0">
              <a:latin typeface="KaiTi"/>
              <a:ea typeface="KaiTi"/>
              <a:cs typeface="KaiT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2766247" y="6493242"/>
            <a:ext cx="392175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>
                <a:tab pos="3908425" algn="l"/>
              </a:tabLst>
            </a:pPr>
            <a:r>
              <a:rPr sz="1100" b="1" i="1" u="sng" kern="0" spc="-7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创始团队：来自机器人世界</a:t>
            </a:r>
            <a:r>
              <a:rPr sz="1100" b="1" i="1" u="sng" kern="0" spc="-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级实验室</a:t>
            </a:r>
            <a:r>
              <a:rPr sz="1100" u="sng" kern="0" spc="-8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KaiTi"/>
                <a:ea typeface="KaiTi"/>
                <a:cs typeface="KaiTi"/>
              </a:rPr>
              <a:t> </a:t>
            </a:r>
            <a:r>
              <a:rPr sz="1100" b="1" i="1" u="sng" kern="0" spc="-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兼具学术成就和产业落地能力</a:t>
            </a:r>
            <a:r>
              <a:rPr sz="1100" u="sng" kern="0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KaiTi"/>
                <a:ea typeface="KaiTi"/>
                <a:cs typeface="KaiTi"/>
              </a:rPr>
              <a:t>	</a:t>
            </a:r>
            <a:endParaRPr sz="1100" dirty="0">
              <a:latin typeface="KaiTi"/>
              <a:ea typeface="KaiTi"/>
              <a:cs typeface="KaiT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2840672" y="8800592"/>
            <a:ext cx="369506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900" b="1" kern="0" spc="9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港科大李泽湘教授、大疆创新首席科学家沈劭劼教授担任战略顾问</a:t>
            </a:r>
            <a:endParaRPr sz="900" dirty="0">
              <a:latin typeface="KaiTi"/>
              <a:ea typeface="KaiTi"/>
              <a:cs typeface="KaiTi"/>
            </a:endParaRP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92986" y="1281196"/>
            <a:ext cx="1242647" cy="289466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35346" y="8950617"/>
            <a:ext cx="2117302" cy="137934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2782189" y="5459133"/>
            <a:ext cx="967739" cy="246379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2554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900" b="1" kern="0" spc="7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多模态传感器</a:t>
            </a:r>
            <a:endParaRPr sz="900" dirty="0">
              <a:latin typeface="KaiTi"/>
              <a:ea typeface="KaiTi"/>
              <a:cs typeface="KaiT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4137659" y="9026220"/>
            <a:ext cx="1045844" cy="226695"/>
          </a:xfrm>
          <a:prstGeom prst="rect">
            <a:avLst/>
          </a:prstGeom>
          <a:solidFill>
            <a:srgbClr val="000000">
              <a:alpha val="93333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90195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900" b="1" kern="0" spc="5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团队背景</a:t>
            </a:r>
            <a:endParaRPr sz="900" dirty="0">
              <a:latin typeface="KaiTi"/>
              <a:ea typeface="KaiTi"/>
              <a:cs typeface="KaiT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280670" y="1014730"/>
            <a:ext cx="1490344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i="1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</a:t>
            </a:r>
            <a:r>
              <a:rPr sz="1200" b="1" i="1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-A</a:t>
            </a:r>
            <a:r>
              <a:rPr sz="1200" b="1" i="1" kern="0" spc="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轮私募股权融资</a:t>
            </a:r>
            <a:endParaRPr sz="1200" dirty="0">
              <a:latin typeface="KaiTi"/>
              <a:ea typeface="KaiTi"/>
              <a:cs typeface="KaiTi"/>
            </a:endParaRPr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477158" y="9315542"/>
            <a:ext cx="1052645" cy="203951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137685" y="9705395"/>
            <a:ext cx="2134235" cy="121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© 2025 Maple Pledge Capital. All Rights </a:t>
            </a: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Reserved.</a:t>
            </a:r>
            <a:endParaRPr sz="8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72" name="picture 7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21178" y="9191309"/>
            <a:ext cx="771228" cy="251842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789675" y="9280118"/>
            <a:ext cx="763282" cy="245186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403743" y="9201019"/>
            <a:ext cx="793562" cy="232605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2840898" y="9268569"/>
            <a:ext cx="513553" cy="295333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3755263" y="9199677"/>
            <a:ext cx="345820" cy="351612"/>
            <a:chOff x="0" y="0"/>
            <a:chExt cx="345820" cy="351612"/>
          </a:xfrm>
        </p:grpSpPr>
        <p:sp>
          <p:nvSpPr>
            <p:cNvPr id="80" name="path 80"/>
            <p:cNvSpPr/>
            <p:nvPr/>
          </p:nvSpPr>
          <p:spPr>
            <a:xfrm>
              <a:off x="7620" y="293344"/>
              <a:ext cx="336169" cy="58267"/>
            </a:xfrm>
            <a:custGeom>
              <a:avLst/>
              <a:gdLst/>
              <a:ahLst/>
              <a:cxnLst/>
              <a:rect l="0" t="0" r="0" b="0"/>
              <a:pathLst>
                <a:path w="529" h="91">
                  <a:moveTo>
                    <a:pt x="160" y="0"/>
                  </a:moveTo>
                  <a:lnTo>
                    <a:pt x="160" y="51"/>
                  </a:lnTo>
                  <a:cubicBezTo>
                    <a:pt x="160" y="66"/>
                    <a:pt x="153" y="74"/>
                    <a:pt x="140" y="74"/>
                  </a:cubicBezTo>
                  <a:cubicBezTo>
                    <a:pt x="127" y="74"/>
                    <a:pt x="120" y="66"/>
                    <a:pt x="120" y="51"/>
                  </a:cubicBezTo>
                  <a:lnTo>
                    <a:pt x="120" y="0"/>
                  </a:lnTo>
                  <a:lnTo>
                    <a:pt x="101" y="0"/>
                  </a:lnTo>
                  <a:lnTo>
                    <a:pt x="101" y="51"/>
                  </a:lnTo>
                  <a:cubicBezTo>
                    <a:pt x="101" y="77"/>
                    <a:pt x="115" y="91"/>
                    <a:pt x="140" y="91"/>
                  </a:cubicBezTo>
                  <a:cubicBezTo>
                    <a:pt x="164" y="91"/>
                    <a:pt x="178" y="76"/>
                    <a:pt x="178" y="50"/>
                  </a:cubicBezTo>
                  <a:lnTo>
                    <a:pt x="178" y="0"/>
                  </a:lnTo>
                  <a:lnTo>
                    <a:pt x="160" y="0"/>
                  </a:lnTo>
                  <a:close/>
                  <a:moveTo>
                    <a:pt x="227" y="0"/>
                  </a:moveTo>
                  <a:lnTo>
                    <a:pt x="187" y="90"/>
                  </a:lnTo>
                  <a:lnTo>
                    <a:pt x="206" y="90"/>
                  </a:lnTo>
                  <a:lnTo>
                    <a:pt x="213" y="72"/>
                  </a:lnTo>
                  <a:lnTo>
                    <a:pt x="214" y="71"/>
                  </a:lnTo>
                  <a:lnTo>
                    <a:pt x="255" y="71"/>
                  </a:lnTo>
                  <a:lnTo>
                    <a:pt x="263" y="90"/>
                  </a:lnTo>
                  <a:lnTo>
                    <a:pt x="282" y="90"/>
                  </a:lnTo>
                  <a:lnTo>
                    <a:pt x="243" y="0"/>
                  </a:lnTo>
                  <a:lnTo>
                    <a:pt x="242" y="0"/>
                  </a:lnTo>
                  <a:lnTo>
                    <a:pt x="227" y="0"/>
                  </a:lnTo>
                  <a:close/>
                  <a:moveTo>
                    <a:pt x="334" y="0"/>
                  </a:moveTo>
                  <a:lnTo>
                    <a:pt x="314" y="62"/>
                  </a:lnTo>
                  <a:lnTo>
                    <a:pt x="294" y="0"/>
                  </a:lnTo>
                  <a:lnTo>
                    <a:pt x="275" y="0"/>
                  </a:lnTo>
                  <a:lnTo>
                    <a:pt x="306" y="90"/>
                  </a:lnTo>
                  <a:lnTo>
                    <a:pt x="321" y="90"/>
                  </a:lnTo>
                  <a:lnTo>
                    <a:pt x="341" y="31"/>
                  </a:lnTo>
                  <a:lnTo>
                    <a:pt x="361" y="90"/>
                  </a:lnTo>
                  <a:lnTo>
                    <a:pt x="377" y="90"/>
                  </a:lnTo>
                  <a:lnTo>
                    <a:pt x="407" y="0"/>
                  </a:lnTo>
                  <a:lnTo>
                    <a:pt x="389" y="0"/>
                  </a:lnTo>
                  <a:lnTo>
                    <a:pt x="369" y="62"/>
                  </a:lnTo>
                  <a:lnTo>
                    <a:pt x="349" y="0"/>
                  </a:lnTo>
                  <a:lnTo>
                    <a:pt x="334" y="0"/>
                  </a:lnTo>
                  <a:close/>
                  <a:moveTo>
                    <a:pt x="511" y="0"/>
                  </a:moveTo>
                  <a:lnTo>
                    <a:pt x="511" y="90"/>
                  </a:lnTo>
                  <a:lnTo>
                    <a:pt x="529" y="90"/>
                  </a:lnTo>
                  <a:lnTo>
                    <a:pt x="529" y="0"/>
                  </a:lnTo>
                  <a:lnTo>
                    <a:pt x="511" y="0"/>
                  </a:lnTo>
                  <a:close/>
                  <a:moveTo>
                    <a:pt x="0" y="0"/>
                  </a:moveTo>
                  <a:lnTo>
                    <a:pt x="0" y="90"/>
                  </a:lnTo>
                  <a:lnTo>
                    <a:pt x="18" y="90"/>
                  </a:lnTo>
                  <a:lnTo>
                    <a:pt x="18" y="53"/>
                  </a:lnTo>
                  <a:lnTo>
                    <a:pt x="59" y="53"/>
                  </a:lnTo>
                  <a:lnTo>
                    <a:pt x="59" y="90"/>
                  </a:lnTo>
                  <a:lnTo>
                    <a:pt x="77" y="90"/>
                  </a:lnTo>
                  <a:lnTo>
                    <a:pt x="77" y="0"/>
                  </a:lnTo>
                  <a:lnTo>
                    <a:pt x="59" y="0"/>
                  </a:lnTo>
                  <a:lnTo>
                    <a:pt x="59" y="36"/>
                  </a:lnTo>
                  <a:lnTo>
                    <a:pt x="18" y="36"/>
                  </a:ln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422" y="0"/>
                  </a:moveTo>
                  <a:lnTo>
                    <a:pt x="422" y="90"/>
                  </a:lnTo>
                  <a:lnTo>
                    <a:pt x="490" y="90"/>
                  </a:lnTo>
                  <a:lnTo>
                    <a:pt x="490" y="73"/>
                  </a:lnTo>
                  <a:lnTo>
                    <a:pt x="440" y="73"/>
                  </a:lnTo>
                  <a:lnTo>
                    <a:pt x="440" y="51"/>
                  </a:lnTo>
                  <a:lnTo>
                    <a:pt x="473" y="51"/>
                  </a:lnTo>
                  <a:lnTo>
                    <a:pt x="473" y="35"/>
                  </a:lnTo>
                  <a:lnTo>
                    <a:pt x="440" y="35"/>
                  </a:lnTo>
                  <a:lnTo>
                    <a:pt x="440" y="16"/>
                  </a:lnTo>
                  <a:lnTo>
                    <a:pt x="488" y="16"/>
                  </a:lnTo>
                  <a:lnTo>
                    <a:pt x="488" y="0"/>
                  </a:lnTo>
                  <a:lnTo>
                    <a:pt x="422" y="0"/>
                  </a:lnTo>
                  <a:close/>
                  <a:moveTo>
                    <a:pt x="234" y="22"/>
                  </a:moveTo>
                  <a:lnTo>
                    <a:pt x="247" y="53"/>
                  </a:lnTo>
                  <a:lnTo>
                    <a:pt x="247" y="53"/>
                  </a:lnTo>
                  <a:lnTo>
                    <a:pt x="248" y="55"/>
                  </a:lnTo>
                  <a:lnTo>
                    <a:pt x="221" y="55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34" y="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2" name="path 82"/>
            <p:cNvSpPr/>
            <p:nvPr/>
          </p:nvSpPr>
          <p:spPr>
            <a:xfrm>
              <a:off x="0" y="0"/>
              <a:ext cx="345820" cy="264452"/>
            </a:xfrm>
            <a:custGeom>
              <a:avLst/>
              <a:gdLst/>
              <a:ahLst/>
              <a:cxnLst/>
              <a:rect l="0" t="0" r="0" b="0"/>
              <a:pathLst>
                <a:path w="544" h="416">
                  <a:moveTo>
                    <a:pt x="237" y="0"/>
                  </a:moveTo>
                  <a:cubicBezTo>
                    <a:pt x="230" y="0"/>
                    <a:pt x="210" y="5"/>
                    <a:pt x="210" y="5"/>
                  </a:cubicBezTo>
                  <a:lnTo>
                    <a:pt x="210" y="5"/>
                  </a:lnTo>
                  <a:cubicBezTo>
                    <a:pt x="167" y="16"/>
                    <a:pt x="156" y="56"/>
                    <a:pt x="156" y="56"/>
                  </a:cubicBezTo>
                  <a:cubicBezTo>
                    <a:pt x="154" y="63"/>
                    <a:pt x="153" y="70"/>
                    <a:pt x="153" y="76"/>
                  </a:cubicBezTo>
                  <a:lnTo>
                    <a:pt x="153" y="85"/>
                  </a:lnTo>
                  <a:cubicBezTo>
                    <a:pt x="153" y="99"/>
                    <a:pt x="156" y="109"/>
                    <a:pt x="156" y="109"/>
                  </a:cubicBezTo>
                  <a:cubicBezTo>
                    <a:pt x="171" y="175"/>
                    <a:pt x="242" y="283"/>
                    <a:pt x="258" y="305"/>
                  </a:cubicBezTo>
                  <a:cubicBezTo>
                    <a:pt x="259" y="307"/>
                    <a:pt x="260" y="306"/>
                    <a:pt x="260" y="306"/>
                  </a:cubicBezTo>
                  <a:cubicBezTo>
                    <a:pt x="262" y="306"/>
                    <a:pt x="262" y="304"/>
                    <a:pt x="262" y="304"/>
                  </a:cubicBezTo>
                  <a:lnTo>
                    <a:pt x="262" y="304"/>
                  </a:lnTo>
                  <a:cubicBezTo>
                    <a:pt x="285" y="63"/>
                    <a:pt x="237" y="0"/>
                    <a:pt x="237" y="0"/>
                  </a:cubicBezTo>
                  <a:moveTo>
                    <a:pt x="315" y="0"/>
                  </a:moveTo>
                  <a:cubicBezTo>
                    <a:pt x="315" y="0"/>
                    <a:pt x="266" y="63"/>
                    <a:pt x="290" y="304"/>
                  </a:cubicBezTo>
                  <a:lnTo>
                    <a:pt x="290" y="304"/>
                  </a:lnTo>
                  <a:cubicBezTo>
                    <a:pt x="290" y="306"/>
                    <a:pt x="291" y="306"/>
                    <a:pt x="291" y="306"/>
                  </a:cubicBezTo>
                  <a:cubicBezTo>
                    <a:pt x="293" y="307"/>
                    <a:pt x="294" y="305"/>
                    <a:pt x="294" y="305"/>
                  </a:cubicBezTo>
                  <a:lnTo>
                    <a:pt x="294" y="305"/>
                  </a:lnTo>
                  <a:cubicBezTo>
                    <a:pt x="310" y="282"/>
                    <a:pt x="381" y="175"/>
                    <a:pt x="395" y="109"/>
                  </a:cubicBezTo>
                  <a:cubicBezTo>
                    <a:pt x="395" y="109"/>
                    <a:pt x="403" y="78"/>
                    <a:pt x="395" y="56"/>
                  </a:cubicBezTo>
                  <a:cubicBezTo>
                    <a:pt x="395" y="56"/>
                    <a:pt x="385" y="15"/>
                    <a:pt x="341" y="5"/>
                  </a:cubicBezTo>
                  <a:cubicBezTo>
                    <a:pt x="341" y="5"/>
                    <a:pt x="329" y="1"/>
                    <a:pt x="315" y="0"/>
                  </a:cubicBezTo>
                  <a:moveTo>
                    <a:pt x="90" y="72"/>
                  </a:moveTo>
                  <a:cubicBezTo>
                    <a:pt x="90" y="72"/>
                    <a:pt x="48" y="112"/>
                    <a:pt x="46" y="154"/>
                  </a:cubicBezTo>
                  <a:lnTo>
                    <a:pt x="46" y="154"/>
                  </a:lnTo>
                  <a:lnTo>
                    <a:pt x="46" y="161"/>
                  </a:lnTo>
                  <a:cubicBezTo>
                    <a:pt x="46" y="161"/>
                    <a:pt x="46" y="162"/>
                    <a:pt x="46" y="162"/>
                  </a:cubicBezTo>
                  <a:cubicBezTo>
                    <a:pt x="48" y="197"/>
                    <a:pt x="73" y="217"/>
                    <a:pt x="73" y="217"/>
                  </a:cubicBezTo>
                  <a:cubicBezTo>
                    <a:pt x="114" y="257"/>
                    <a:pt x="213" y="308"/>
                    <a:pt x="236" y="320"/>
                  </a:cubicBezTo>
                  <a:cubicBezTo>
                    <a:pt x="237" y="320"/>
                    <a:pt x="238" y="320"/>
                    <a:pt x="239" y="320"/>
                  </a:cubicBezTo>
                  <a:cubicBezTo>
                    <a:pt x="239" y="320"/>
                    <a:pt x="239" y="319"/>
                    <a:pt x="239" y="319"/>
                  </a:cubicBezTo>
                  <a:lnTo>
                    <a:pt x="239" y="318"/>
                  </a:lnTo>
                  <a:cubicBezTo>
                    <a:pt x="239" y="318"/>
                    <a:pt x="239" y="318"/>
                    <a:pt x="239" y="318"/>
                  </a:cubicBezTo>
                  <a:lnTo>
                    <a:pt x="239" y="318"/>
                  </a:lnTo>
                  <a:cubicBezTo>
                    <a:pt x="176" y="178"/>
                    <a:pt x="90" y="72"/>
                    <a:pt x="90" y="72"/>
                  </a:cubicBezTo>
                  <a:moveTo>
                    <a:pt x="462" y="72"/>
                  </a:moveTo>
                  <a:cubicBezTo>
                    <a:pt x="462" y="72"/>
                    <a:pt x="376" y="177"/>
                    <a:pt x="313" y="317"/>
                  </a:cubicBezTo>
                  <a:lnTo>
                    <a:pt x="313" y="317"/>
                  </a:lnTo>
                  <a:cubicBezTo>
                    <a:pt x="313" y="317"/>
                    <a:pt x="312" y="319"/>
                    <a:pt x="313" y="320"/>
                  </a:cubicBezTo>
                  <a:cubicBezTo>
                    <a:pt x="313" y="320"/>
                    <a:pt x="314" y="320"/>
                    <a:pt x="314" y="320"/>
                  </a:cubicBezTo>
                  <a:lnTo>
                    <a:pt x="315" y="320"/>
                  </a:lnTo>
                  <a:cubicBezTo>
                    <a:pt x="315" y="320"/>
                    <a:pt x="315" y="320"/>
                    <a:pt x="316" y="320"/>
                  </a:cubicBezTo>
                  <a:lnTo>
                    <a:pt x="316" y="320"/>
                  </a:lnTo>
                  <a:cubicBezTo>
                    <a:pt x="339" y="308"/>
                    <a:pt x="437" y="257"/>
                    <a:pt x="478" y="217"/>
                  </a:cubicBezTo>
                  <a:cubicBezTo>
                    <a:pt x="478" y="217"/>
                    <a:pt x="504" y="196"/>
                    <a:pt x="505" y="162"/>
                  </a:cubicBezTo>
                  <a:cubicBezTo>
                    <a:pt x="508" y="115"/>
                    <a:pt x="462" y="72"/>
                    <a:pt x="462" y="72"/>
                  </a:cubicBezTo>
                  <a:moveTo>
                    <a:pt x="539" y="211"/>
                  </a:moveTo>
                  <a:cubicBezTo>
                    <a:pt x="539" y="211"/>
                    <a:pt x="399" y="287"/>
                    <a:pt x="327" y="337"/>
                  </a:cubicBezTo>
                  <a:lnTo>
                    <a:pt x="327" y="337"/>
                  </a:lnTo>
                  <a:lnTo>
                    <a:pt x="327" y="337"/>
                  </a:lnTo>
                  <a:cubicBezTo>
                    <a:pt x="327" y="337"/>
                    <a:pt x="325" y="337"/>
                    <a:pt x="326" y="339"/>
                  </a:cubicBezTo>
                  <a:cubicBezTo>
                    <a:pt x="326" y="339"/>
                    <a:pt x="327" y="340"/>
                    <a:pt x="327" y="340"/>
                  </a:cubicBezTo>
                  <a:lnTo>
                    <a:pt x="327" y="340"/>
                  </a:lnTo>
                  <a:cubicBezTo>
                    <a:pt x="353" y="340"/>
                    <a:pt x="452" y="340"/>
                    <a:pt x="454" y="340"/>
                  </a:cubicBezTo>
                  <a:cubicBezTo>
                    <a:pt x="454" y="340"/>
                    <a:pt x="467" y="339"/>
                    <a:pt x="482" y="333"/>
                  </a:cubicBezTo>
                  <a:cubicBezTo>
                    <a:pt x="482" y="333"/>
                    <a:pt x="517" y="322"/>
                    <a:pt x="536" y="282"/>
                  </a:cubicBezTo>
                  <a:cubicBezTo>
                    <a:pt x="536" y="282"/>
                    <a:pt x="544" y="265"/>
                    <a:pt x="544" y="241"/>
                  </a:cubicBezTo>
                  <a:lnTo>
                    <a:pt x="544" y="240"/>
                  </a:lnTo>
                  <a:cubicBezTo>
                    <a:pt x="544" y="231"/>
                    <a:pt x="543" y="221"/>
                    <a:pt x="539" y="211"/>
                  </a:cubicBezTo>
                  <a:moveTo>
                    <a:pt x="12" y="211"/>
                  </a:moveTo>
                  <a:cubicBezTo>
                    <a:pt x="0" y="251"/>
                    <a:pt x="17" y="283"/>
                    <a:pt x="17" y="283"/>
                  </a:cubicBezTo>
                  <a:cubicBezTo>
                    <a:pt x="35" y="322"/>
                    <a:pt x="69" y="333"/>
                    <a:pt x="69" y="333"/>
                  </a:cubicBezTo>
                  <a:cubicBezTo>
                    <a:pt x="85" y="340"/>
                    <a:pt x="100" y="340"/>
                    <a:pt x="100" y="340"/>
                  </a:cubicBezTo>
                  <a:cubicBezTo>
                    <a:pt x="103" y="341"/>
                    <a:pt x="198" y="340"/>
                    <a:pt x="224" y="340"/>
                  </a:cubicBezTo>
                  <a:cubicBezTo>
                    <a:pt x="225" y="340"/>
                    <a:pt x="226" y="339"/>
                    <a:pt x="226" y="339"/>
                  </a:cubicBezTo>
                  <a:cubicBezTo>
                    <a:pt x="226" y="339"/>
                    <a:pt x="226" y="339"/>
                    <a:pt x="226" y="339"/>
                  </a:cubicBezTo>
                  <a:lnTo>
                    <a:pt x="226" y="338"/>
                  </a:lnTo>
                  <a:cubicBezTo>
                    <a:pt x="226" y="337"/>
                    <a:pt x="225" y="337"/>
                    <a:pt x="225" y="337"/>
                  </a:cubicBezTo>
                  <a:lnTo>
                    <a:pt x="225" y="337"/>
                  </a:lnTo>
                  <a:cubicBezTo>
                    <a:pt x="153" y="287"/>
                    <a:pt x="12" y="211"/>
                    <a:pt x="12" y="211"/>
                  </a:cubicBezTo>
                  <a:moveTo>
                    <a:pt x="221" y="353"/>
                  </a:moveTo>
                  <a:lnTo>
                    <a:pt x="56" y="358"/>
                  </a:lnTo>
                  <a:cubicBezTo>
                    <a:pt x="74" y="391"/>
                    <a:pt x="104" y="416"/>
                    <a:pt x="135" y="408"/>
                  </a:cubicBezTo>
                  <a:cubicBezTo>
                    <a:pt x="157" y="403"/>
                    <a:pt x="206" y="368"/>
                    <a:pt x="222" y="356"/>
                  </a:cubicBezTo>
                  <a:lnTo>
                    <a:pt x="222" y="356"/>
                  </a:lnTo>
                  <a:cubicBezTo>
                    <a:pt x="224" y="355"/>
                    <a:pt x="223" y="354"/>
                    <a:pt x="223" y="354"/>
                  </a:cubicBezTo>
                  <a:cubicBezTo>
                    <a:pt x="223" y="353"/>
                    <a:pt x="221" y="353"/>
                    <a:pt x="221" y="353"/>
                  </a:cubicBezTo>
                  <a:lnTo>
                    <a:pt x="221" y="353"/>
                  </a:lnTo>
                  <a:close/>
                  <a:moveTo>
                    <a:pt x="330" y="353"/>
                  </a:moveTo>
                  <a:lnTo>
                    <a:pt x="330" y="353"/>
                  </a:lnTo>
                  <a:cubicBezTo>
                    <a:pt x="330" y="353"/>
                    <a:pt x="329" y="353"/>
                    <a:pt x="329" y="354"/>
                  </a:cubicBezTo>
                  <a:cubicBezTo>
                    <a:pt x="329" y="354"/>
                    <a:pt x="328" y="356"/>
                    <a:pt x="329" y="356"/>
                  </a:cubicBezTo>
                  <a:lnTo>
                    <a:pt x="329" y="356"/>
                  </a:lnTo>
                  <a:cubicBezTo>
                    <a:pt x="345" y="368"/>
                    <a:pt x="393" y="402"/>
                    <a:pt x="416" y="408"/>
                  </a:cubicBezTo>
                  <a:cubicBezTo>
                    <a:pt x="416" y="408"/>
                    <a:pt x="419" y="410"/>
                    <a:pt x="425" y="410"/>
                  </a:cubicBezTo>
                  <a:lnTo>
                    <a:pt x="429" y="410"/>
                  </a:lnTo>
                  <a:cubicBezTo>
                    <a:pt x="444" y="409"/>
                    <a:pt x="471" y="401"/>
                    <a:pt x="495" y="359"/>
                  </a:cubicBezTo>
                  <a:lnTo>
                    <a:pt x="330" y="353"/>
                  </a:lnTo>
                  <a:close/>
                </a:path>
              </a:pathLst>
            </a:custGeom>
            <a:solidFill>
              <a:srgbClr val="CF0A2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84" name="picture 8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03134" y="761618"/>
            <a:ext cx="6651742" cy="12700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3769192" y="5699567"/>
            <a:ext cx="298465" cy="254479"/>
          </a:xfrm>
          <a:prstGeom prst="rect">
            <a:avLst/>
          </a:prstGeom>
        </p:spPr>
      </p:pic>
      <p:sp>
        <p:nvSpPr>
          <p:cNvPr id="88" name="path 88"/>
          <p:cNvSpPr/>
          <p:nvPr/>
        </p:nvSpPr>
        <p:spPr>
          <a:xfrm>
            <a:off x="6288023" y="5672963"/>
            <a:ext cx="263906" cy="263778"/>
          </a:xfrm>
          <a:custGeom>
            <a:avLst/>
            <a:gdLst/>
            <a:ahLst/>
            <a:cxnLst/>
            <a:rect l="0" t="0" r="0" b="0"/>
            <a:pathLst>
              <a:path w="415" h="415">
                <a:moveTo>
                  <a:pt x="329" y="53"/>
                </a:moveTo>
                <a:lnTo>
                  <a:pt x="145" y="53"/>
                </a:lnTo>
                <a:lnTo>
                  <a:pt x="168" y="30"/>
                </a:lnTo>
                <a:cubicBezTo>
                  <a:pt x="174" y="24"/>
                  <a:pt x="174" y="13"/>
                  <a:pt x="168" y="6"/>
                </a:cubicBezTo>
                <a:cubicBezTo>
                  <a:pt x="161" y="0"/>
                  <a:pt x="150" y="0"/>
                  <a:pt x="143" y="6"/>
                </a:cubicBezTo>
                <a:lnTo>
                  <a:pt x="91" y="58"/>
                </a:lnTo>
                <a:cubicBezTo>
                  <a:pt x="91" y="58"/>
                  <a:pt x="91" y="58"/>
                  <a:pt x="91" y="58"/>
                </a:cubicBezTo>
                <a:cubicBezTo>
                  <a:pt x="91" y="58"/>
                  <a:pt x="91" y="59"/>
                  <a:pt x="90" y="59"/>
                </a:cubicBezTo>
                <a:cubicBezTo>
                  <a:pt x="90" y="59"/>
                  <a:pt x="90" y="59"/>
                  <a:pt x="90" y="60"/>
                </a:cubicBezTo>
                <a:cubicBezTo>
                  <a:pt x="90" y="60"/>
                  <a:pt x="89" y="60"/>
                  <a:pt x="89" y="60"/>
                </a:cubicBezTo>
                <a:cubicBezTo>
                  <a:pt x="89" y="60"/>
                  <a:pt x="89" y="61"/>
                  <a:pt x="89" y="61"/>
                </a:cubicBezTo>
                <a:cubicBezTo>
                  <a:pt x="89" y="61"/>
                  <a:pt x="88" y="61"/>
                  <a:pt x="88" y="62"/>
                </a:cubicBezTo>
                <a:cubicBezTo>
                  <a:pt x="88" y="62"/>
                  <a:pt x="88" y="62"/>
                  <a:pt x="88" y="62"/>
                </a:cubicBezTo>
                <a:cubicBezTo>
                  <a:pt x="88" y="63"/>
                  <a:pt x="88" y="63"/>
                  <a:pt x="87" y="63"/>
                </a:cubicBezTo>
                <a:cubicBezTo>
                  <a:pt x="87" y="63"/>
                  <a:pt x="87" y="64"/>
                  <a:pt x="87" y="64"/>
                </a:cubicBezTo>
                <a:cubicBezTo>
                  <a:pt x="87" y="64"/>
                  <a:pt x="87" y="65"/>
                  <a:pt x="87" y="65"/>
                </a:cubicBezTo>
                <a:cubicBezTo>
                  <a:pt x="87" y="65"/>
                  <a:pt x="87" y="65"/>
                  <a:pt x="87" y="66"/>
                </a:cubicBezTo>
                <a:cubicBezTo>
                  <a:pt x="87" y="66"/>
                  <a:pt x="87" y="66"/>
                  <a:pt x="87" y="67"/>
                </a:cubicBezTo>
                <a:cubicBezTo>
                  <a:pt x="87" y="67"/>
                  <a:pt x="86" y="67"/>
                  <a:pt x="86" y="67"/>
                </a:cubicBezTo>
                <a:cubicBezTo>
                  <a:pt x="86" y="68"/>
                  <a:pt x="86" y="68"/>
                  <a:pt x="86" y="68"/>
                </a:cubicBezTo>
                <a:cubicBezTo>
                  <a:pt x="86" y="69"/>
                  <a:pt x="86" y="70"/>
                  <a:pt x="86" y="71"/>
                </a:cubicBezTo>
                <a:cubicBezTo>
                  <a:pt x="86" y="72"/>
                  <a:pt x="86" y="72"/>
                  <a:pt x="86" y="72"/>
                </a:cubicBezTo>
                <a:cubicBezTo>
                  <a:pt x="86" y="72"/>
                  <a:pt x="87" y="73"/>
                  <a:pt x="87" y="73"/>
                </a:cubicBezTo>
                <a:cubicBezTo>
                  <a:pt x="87" y="73"/>
                  <a:pt x="87" y="74"/>
                  <a:pt x="87" y="74"/>
                </a:cubicBezTo>
                <a:cubicBezTo>
                  <a:pt x="87" y="74"/>
                  <a:pt x="87" y="75"/>
                  <a:pt x="87" y="75"/>
                </a:cubicBezTo>
                <a:cubicBezTo>
                  <a:pt x="87" y="75"/>
                  <a:pt x="87" y="75"/>
                  <a:pt x="87" y="76"/>
                </a:cubicBezTo>
                <a:cubicBezTo>
                  <a:pt x="87" y="76"/>
                  <a:pt x="87" y="76"/>
                  <a:pt x="87" y="77"/>
                </a:cubicBezTo>
                <a:cubicBezTo>
                  <a:pt x="88" y="77"/>
                  <a:pt x="88" y="77"/>
                  <a:pt x="88" y="77"/>
                </a:cubicBezTo>
                <a:cubicBezTo>
                  <a:pt x="88" y="77"/>
                  <a:pt x="88" y="78"/>
                  <a:pt x="88" y="78"/>
                </a:cubicBezTo>
                <a:cubicBezTo>
                  <a:pt x="88" y="78"/>
                  <a:pt x="89" y="78"/>
                  <a:pt x="89" y="79"/>
                </a:cubicBezTo>
                <a:cubicBezTo>
                  <a:pt x="89" y="79"/>
                  <a:pt x="89" y="79"/>
                  <a:pt x="89" y="79"/>
                </a:cubicBezTo>
                <a:cubicBezTo>
                  <a:pt x="89" y="80"/>
                  <a:pt x="90" y="80"/>
                  <a:pt x="90" y="80"/>
                </a:cubicBezTo>
                <a:cubicBezTo>
                  <a:pt x="90" y="80"/>
                  <a:pt x="90" y="80"/>
                  <a:pt x="90" y="81"/>
                </a:cubicBezTo>
                <a:cubicBezTo>
                  <a:pt x="91" y="81"/>
                  <a:pt x="91" y="81"/>
                  <a:pt x="91" y="82"/>
                </a:cubicBezTo>
                <a:cubicBezTo>
                  <a:pt x="91" y="82"/>
                  <a:pt x="91" y="82"/>
                  <a:pt x="91" y="82"/>
                </a:cubicBezTo>
                <a:lnTo>
                  <a:pt x="143" y="133"/>
                </a:lnTo>
                <a:cubicBezTo>
                  <a:pt x="150" y="140"/>
                  <a:pt x="161" y="140"/>
                  <a:pt x="168" y="133"/>
                </a:cubicBezTo>
                <a:cubicBezTo>
                  <a:pt x="174" y="127"/>
                  <a:pt x="174" y="116"/>
                  <a:pt x="168" y="109"/>
                </a:cubicBezTo>
                <a:lnTo>
                  <a:pt x="145" y="87"/>
                </a:lnTo>
                <a:lnTo>
                  <a:pt x="329" y="87"/>
                </a:lnTo>
                <a:cubicBezTo>
                  <a:pt x="357" y="87"/>
                  <a:pt x="380" y="110"/>
                  <a:pt x="380" y="139"/>
                </a:cubicBezTo>
                <a:cubicBezTo>
                  <a:pt x="380" y="167"/>
                  <a:pt x="357" y="190"/>
                  <a:pt x="329" y="190"/>
                </a:cubicBezTo>
                <a:lnTo>
                  <a:pt x="86" y="190"/>
                </a:lnTo>
                <a:cubicBezTo>
                  <a:pt x="38" y="190"/>
                  <a:pt x="0" y="229"/>
                  <a:pt x="0" y="276"/>
                </a:cubicBezTo>
                <a:cubicBezTo>
                  <a:pt x="0" y="323"/>
                  <a:pt x="38" y="362"/>
                  <a:pt x="86" y="362"/>
                </a:cubicBezTo>
                <a:lnTo>
                  <a:pt x="270" y="362"/>
                </a:lnTo>
                <a:lnTo>
                  <a:pt x="247" y="384"/>
                </a:lnTo>
                <a:cubicBezTo>
                  <a:pt x="240" y="391"/>
                  <a:pt x="240" y="401"/>
                  <a:pt x="247" y="408"/>
                </a:cubicBezTo>
                <a:cubicBezTo>
                  <a:pt x="254" y="415"/>
                  <a:pt x="265" y="415"/>
                  <a:pt x="272" y="408"/>
                </a:cubicBezTo>
                <a:lnTo>
                  <a:pt x="323" y="357"/>
                </a:lnTo>
                <a:cubicBezTo>
                  <a:pt x="323" y="357"/>
                  <a:pt x="323" y="357"/>
                  <a:pt x="323" y="357"/>
                </a:cubicBezTo>
                <a:cubicBezTo>
                  <a:pt x="324" y="356"/>
                  <a:pt x="324" y="356"/>
                  <a:pt x="325" y="355"/>
                </a:cubicBezTo>
                <a:cubicBezTo>
                  <a:pt x="325" y="355"/>
                  <a:pt x="325" y="355"/>
                  <a:pt x="325" y="355"/>
                </a:cubicBezTo>
                <a:cubicBezTo>
                  <a:pt x="325" y="355"/>
                  <a:pt x="325" y="355"/>
                  <a:pt x="326" y="354"/>
                </a:cubicBezTo>
                <a:cubicBezTo>
                  <a:pt x="326" y="354"/>
                  <a:pt x="326" y="354"/>
                  <a:pt x="326" y="353"/>
                </a:cubicBezTo>
                <a:cubicBezTo>
                  <a:pt x="326" y="353"/>
                  <a:pt x="326" y="353"/>
                  <a:pt x="327" y="353"/>
                </a:cubicBezTo>
                <a:cubicBezTo>
                  <a:pt x="327" y="352"/>
                  <a:pt x="327" y="352"/>
                  <a:pt x="327" y="352"/>
                </a:cubicBezTo>
                <a:cubicBezTo>
                  <a:pt x="327" y="352"/>
                  <a:pt x="327" y="351"/>
                  <a:pt x="327" y="351"/>
                </a:cubicBezTo>
                <a:cubicBezTo>
                  <a:pt x="327" y="351"/>
                  <a:pt x="327" y="351"/>
                  <a:pt x="327" y="350"/>
                </a:cubicBezTo>
                <a:cubicBezTo>
                  <a:pt x="327" y="350"/>
                  <a:pt x="328" y="350"/>
                  <a:pt x="328" y="350"/>
                </a:cubicBezTo>
                <a:cubicBezTo>
                  <a:pt x="328" y="349"/>
                  <a:pt x="328" y="349"/>
                  <a:pt x="328" y="349"/>
                </a:cubicBezTo>
                <a:cubicBezTo>
                  <a:pt x="328" y="349"/>
                  <a:pt x="328" y="348"/>
                  <a:pt x="328" y="348"/>
                </a:cubicBezTo>
                <a:cubicBezTo>
                  <a:pt x="328" y="348"/>
                  <a:pt x="328" y="347"/>
                  <a:pt x="328" y="347"/>
                </a:cubicBezTo>
                <a:cubicBezTo>
                  <a:pt x="328" y="347"/>
                  <a:pt x="329" y="347"/>
                  <a:pt x="329" y="346"/>
                </a:cubicBezTo>
                <a:cubicBezTo>
                  <a:pt x="329" y="345"/>
                  <a:pt x="329" y="344"/>
                  <a:pt x="329" y="343"/>
                </a:cubicBezTo>
                <a:cubicBezTo>
                  <a:pt x="329" y="343"/>
                  <a:pt x="328" y="342"/>
                  <a:pt x="328" y="342"/>
                </a:cubicBezTo>
                <a:cubicBezTo>
                  <a:pt x="328" y="342"/>
                  <a:pt x="328" y="341"/>
                  <a:pt x="328" y="341"/>
                </a:cubicBezTo>
                <a:cubicBezTo>
                  <a:pt x="328" y="341"/>
                  <a:pt x="328" y="341"/>
                  <a:pt x="328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8" y="339"/>
                  <a:pt x="327" y="339"/>
                  <a:pt x="327" y="339"/>
                </a:cubicBezTo>
                <a:cubicBezTo>
                  <a:pt x="327" y="339"/>
                  <a:pt x="327" y="338"/>
                  <a:pt x="327" y="338"/>
                </a:cubicBezTo>
                <a:cubicBezTo>
                  <a:pt x="327" y="338"/>
                  <a:pt x="327" y="337"/>
                  <a:pt x="327" y="337"/>
                </a:cubicBezTo>
                <a:cubicBezTo>
                  <a:pt x="327" y="337"/>
                  <a:pt x="327" y="337"/>
                  <a:pt x="327" y="337"/>
                </a:cubicBezTo>
                <a:cubicBezTo>
                  <a:pt x="326" y="336"/>
                  <a:pt x="326" y="336"/>
                  <a:pt x="326" y="336"/>
                </a:cubicBezTo>
                <a:cubicBezTo>
                  <a:pt x="326" y="335"/>
                  <a:pt x="326" y="335"/>
                  <a:pt x="326" y="335"/>
                </a:cubicBezTo>
                <a:cubicBezTo>
                  <a:pt x="325" y="335"/>
                  <a:pt x="325" y="335"/>
                  <a:pt x="325" y="334"/>
                </a:cubicBezTo>
                <a:cubicBezTo>
                  <a:pt x="325" y="334"/>
                  <a:pt x="325" y="334"/>
                  <a:pt x="325" y="334"/>
                </a:cubicBezTo>
                <a:cubicBezTo>
                  <a:pt x="324" y="333"/>
                  <a:pt x="324" y="333"/>
                  <a:pt x="323" y="332"/>
                </a:cubicBezTo>
                <a:cubicBezTo>
                  <a:pt x="323" y="332"/>
                  <a:pt x="323" y="332"/>
                  <a:pt x="323" y="332"/>
                </a:cubicBezTo>
                <a:lnTo>
                  <a:pt x="272" y="281"/>
                </a:lnTo>
                <a:cubicBezTo>
                  <a:pt x="265" y="274"/>
                  <a:pt x="254" y="274"/>
                  <a:pt x="247" y="281"/>
                </a:cubicBezTo>
                <a:cubicBezTo>
                  <a:pt x="240" y="288"/>
                  <a:pt x="240" y="299"/>
                  <a:pt x="247" y="305"/>
                </a:cubicBezTo>
                <a:lnTo>
                  <a:pt x="270" y="327"/>
                </a:lnTo>
                <a:lnTo>
                  <a:pt x="86" y="327"/>
                </a:lnTo>
                <a:cubicBezTo>
                  <a:pt x="57" y="327"/>
                  <a:pt x="34" y="304"/>
                  <a:pt x="34" y="276"/>
                </a:cubicBezTo>
                <a:cubicBezTo>
                  <a:pt x="34" y="247"/>
                  <a:pt x="57" y="225"/>
                  <a:pt x="86" y="225"/>
                </a:cubicBezTo>
                <a:lnTo>
                  <a:pt x="329" y="225"/>
                </a:lnTo>
                <a:cubicBezTo>
                  <a:pt x="376" y="225"/>
                  <a:pt x="415" y="186"/>
                  <a:pt x="415" y="139"/>
                </a:cubicBezTo>
                <a:cubicBezTo>
                  <a:pt x="415" y="91"/>
                  <a:pt x="376" y="53"/>
                  <a:pt x="329" y="53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0" name="textbox 90"/>
          <p:cNvSpPr/>
          <p:nvPr/>
        </p:nvSpPr>
        <p:spPr>
          <a:xfrm>
            <a:off x="2740443" y="873404"/>
            <a:ext cx="543559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6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1100" b="1" i="1" kern="0" spc="-9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公司</a:t>
            </a:r>
            <a:r>
              <a:rPr sz="1100" b="1" i="1" kern="0" spc="-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简</a:t>
            </a:r>
            <a:r>
              <a:rPr sz="1100" b="1" i="1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介</a:t>
            </a:r>
            <a:endParaRPr sz="1100" dirty="0">
              <a:latin typeface="KaiTi"/>
              <a:ea typeface="KaiTi"/>
              <a:cs typeface="KaiTi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4983326" y="5537987"/>
            <a:ext cx="52959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900" b="1" kern="0" spc="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底层算法</a:t>
            </a:r>
            <a:endParaRPr sz="900" dirty="0">
              <a:latin typeface="KaiTi"/>
              <a:ea typeface="KaiTi"/>
              <a:cs typeface="KaiTi"/>
            </a:endParaRPr>
          </a:p>
        </p:txBody>
      </p:sp>
      <p:sp>
        <p:nvSpPr>
          <p:cNvPr id="94" name="path 94"/>
          <p:cNvSpPr/>
          <p:nvPr/>
        </p:nvSpPr>
        <p:spPr>
          <a:xfrm>
            <a:off x="5836158" y="5684647"/>
            <a:ext cx="252602" cy="252094"/>
          </a:xfrm>
          <a:custGeom>
            <a:avLst/>
            <a:gdLst/>
            <a:ahLst/>
            <a:cxnLst/>
            <a:rect l="0" t="0" r="0" b="0"/>
            <a:pathLst>
              <a:path w="397" h="396">
                <a:moveTo>
                  <a:pt x="397" y="12"/>
                </a:moveTo>
                <a:cubicBezTo>
                  <a:pt x="397" y="12"/>
                  <a:pt x="397" y="12"/>
                  <a:pt x="397" y="12"/>
                </a:cubicBezTo>
                <a:cubicBezTo>
                  <a:pt x="397" y="12"/>
                  <a:pt x="397" y="12"/>
                  <a:pt x="397" y="11"/>
                </a:cubicBezTo>
                <a:cubicBezTo>
                  <a:pt x="397" y="11"/>
                  <a:pt x="397" y="11"/>
                  <a:pt x="397" y="11"/>
                </a:cubicBezTo>
                <a:cubicBezTo>
                  <a:pt x="397" y="11"/>
                  <a:pt x="397" y="11"/>
                  <a:pt x="397" y="11"/>
                </a:cubicBezTo>
                <a:cubicBezTo>
                  <a:pt x="397" y="11"/>
                  <a:pt x="397" y="11"/>
                  <a:pt x="397" y="11"/>
                </a:cubicBezTo>
                <a:cubicBezTo>
                  <a:pt x="397" y="11"/>
                  <a:pt x="397" y="11"/>
                  <a:pt x="397" y="10"/>
                </a:cubicBezTo>
                <a:cubicBezTo>
                  <a:pt x="397" y="10"/>
                  <a:pt x="397" y="10"/>
                  <a:pt x="397" y="10"/>
                </a:cubicBezTo>
                <a:cubicBezTo>
                  <a:pt x="397" y="10"/>
                  <a:pt x="397" y="10"/>
                  <a:pt x="397" y="10"/>
                </a:cubicBezTo>
                <a:cubicBezTo>
                  <a:pt x="397" y="10"/>
                  <a:pt x="397" y="10"/>
                  <a:pt x="397" y="10"/>
                </a:cubicBezTo>
                <a:cubicBezTo>
                  <a:pt x="397" y="10"/>
                  <a:pt x="397" y="9"/>
                  <a:pt x="397" y="9"/>
                </a:cubicBezTo>
                <a:cubicBezTo>
                  <a:pt x="397" y="9"/>
                  <a:pt x="397" y="9"/>
                  <a:pt x="397" y="9"/>
                </a:cubicBezTo>
                <a:cubicBezTo>
                  <a:pt x="396" y="9"/>
                  <a:pt x="396" y="9"/>
                  <a:pt x="396" y="9"/>
                </a:cubicBezTo>
                <a:cubicBezTo>
                  <a:pt x="396" y="8"/>
                  <a:pt x="396" y="8"/>
                  <a:pt x="396" y="8"/>
                </a:cubicBezTo>
                <a:cubicBezTo>
                  <a:pt x="396" y="8"/>
                  <a:pt x="396" y="8"/>
                  <a:pt x="396" y="8"/>
                </a:cubicBezTo>
                <a:cubicBezTo>
                  <a:pt x="396" y="8"/>
                  <a:pt x="396" y="8"/>
                  <a:pt x="396" y="7"/>
                </a:cubicBezTo>
                <a:cubicBezTo>
                  <a:pt x="396" y="7"/>
                  <a:pt x="396" y="7"/>
                  <a:pt x="396" y="7"/>
                </a:cubicBezTo>
                <a:cubicBezTo>
                  <a:pt x="396" y="7"/>
                  <a:pt x="396" y="7"/>
                  <a:pt x="396" y="7"/>
                </a:cubicBezTo>
                <a:cubicBezTo>
                  <a:pt x="396" y="7"/>
                  <a:pt x="396" y="7"/>
                  <a:pt x="396" y="7"/>
                </a:cubicBezTo>
                <a:cubicBezTo>
                  <a:pt x="396" y="7"/>
                  <a:pt x="396" y="7"/>
                  <a:pt x="396" y="6"/>
                </a:cubicBezTo>
                <a:cubicBezTo>
                  <a:pt x="396" y="6"/>
                  <a:pt x="395" y="6"/>
                  <a:pt x="395" y="6"/>
                </a:cubicBezTo>
                <a:cubicBezTo>
                  <a:pt x="395" y="6"/>
                  <a:pt x="395" y="6"/>
                  <a:pt x="395" y="6"/>
                </a:cubicBezTo>
                <a:cubicBezTo>
                  <a:pt x="395" y="6"/>
                  <a:pt x="395" y="6"/>
                  <a:pt x="395" y="5"/>
                </a:cubicBezTo>
                <a:cubicBezTo>
                  <a:pt x="395" y="5"/>
                  <a:pt x="395" y="5"/>
                  <a:pt x="395" y="5"/>
                </a:cubicBezTo>
                <a:cubicBezTo>
                  <a:pt x="395" y="5"/>
                  <a:pt x="395" y="5"/>
                  <a:pt x="395" y="5"/>
                </a:cubicBezTo>
                <a:cubicBezTo>
                  <a:pt x="395" y="5"/>
                  <a:pt x="395" y="5"/>
                  <a:pt x="395" y="5"/>
                </a:cubicBezTo>
                <a:cubicBezTo>
                  <a:pt x="395" y="5"/>
                  <a:pt x="394" y="4"/>
                  <a:pt x="394" y="4"/>
                </a:cubicBezTo>
                <a:cubicBezTo>
                  <a:pt x="394" y="4"/>
                  <a:pt x="394" y="4"/>
                  <a:pt x="394" y="4"/>
                </a:cubicBezTo>
                <a:cubicBezTo>
                  <a:pt x="394" y="4"/>
                  <a:pt x="394" y="4"/>
                  <a:pt x="394" y="4"/>
                </a:cubicBezTo>
                <a:cubicBezTo>
                  <a:pt x="394" y="4"/>
                  <a:pt x="394" y="4"/>
                  <a:pt x="394" y="4"/>
                </a:cubicBezTo>
                <a:cubicBezTo>
                  <a:pt x="394" y="4"/>
                  <a:pt x="394" y="4"/>
                  <a:pt x="394" y="4"/>
                </a:cubicBezTo>
                <a:cubicBezTo>
                  <a:pt x="394" y="3"/>
                  <a:pt x="394" y="3"/>
                  <a:pt x="393" y="3"/>
                </a:cubicBezTo>
                <a:cubicBezTo>
                  <a:pt x="393" y="3"/>
                  <a:pt x="393" y="3"/>
                  <a:pt x="393" y="3"/>
                </a:cubicBezTo>
                <a:cubicBezTo>
                  <a:pt x="393" y="3"/>
                  <a:pt x="393" y="3"/>
                  <a:pt x="393" y="3"/>
                </a:cubicBezTo>
                <a:cubicBezTo>
                  <a:pt x="393" y="3"/>
                  <a:pt x="393" y="3"/>
                  <a:pt x="393" y="3"/>
                </a:cubicBezTo>
                <a:cubicBezTo>
                  <a:pt x="392" y="2"/>
                  <a:pt x="392" y="2"/>
                  <a:pt x="392" y="2"/>
                </a:cubicBezTo>
                <a:cubicBezTo>
                  <a:pt x="392" y="2"/>
                  <a:pt x="392" y="2"/>
                  <a:pt x="392" y="2"/>
                </a:cubicBezTo>
                <a:cubicBezTo>
                  <a:pt x="392" y="2"/>
                  <a:pt x="392" y="2"/>
                  <a:pt x="392" y="2"/>
                </a:cubicBezTo>
                <a:cubicBezTo>
                  <a:pt x="392" y="2"/>
                  <a:pt x="392" y="2"/>
                  <a:pt x="392" y="2"/>
                </a:cubicBezTo>
                <a:cubicBezTo>
                  <a:pt x="392" y="2"/>
                  <a:pt x="392" y="2"/>
                  <a:pt x="392" y="2"/>
                </a:cubicBezTo>
                <a:cubicBezTo>
                  <a:pt x="391" y="2"/>
                  <a:pt x="391" y="2"/>
                  <a:pt x="391" y="2"/>
                </a:cubicBezTo>
                <a:cubicBezTo>
                  <a:pt x="391" y="1"/>
                  <a:pt x="391" y="1"/>
                  <a:pt x="391" y="1"/>
                </a:cubicBezTo>
                <a:cubicBezTo>
                  <a:pt x="391" y="1"/>
                  <a:pt x="391" y="1"/>
                  <a:pt x="391" y="1"/>
                </a:cubicBezTo>
                <a:cubicBezTo>
                  <a:pt x="390" y="1"/>
                  <a:pt x="390" y="1"/>
                  <a:pt x="390" y="1"/>
                </a:cubicBezTo>
                <a:cubicBezTo>
                  <a:pt x="390" y="1"/>
                  <a:pt x="390" y="1"/>
                  <a:pt x="390" y="1"/>
                </a:cubicBezTo>
                <a:cubicBezTo>
                  <a:pt x="390" y="1"/>
                  <a:pt x="390" y="1"/>
                  <a:pt x="390" y="1"/>
                </a:cubicBezTo>
                <a:cubicBezTo>
                  <a:pt x="390" y="1"/>
                  <a:pt x="390" y="1"/>
                  <a:pt x="389" y="0"/>
                </a:cubicBezTo>
                <a:cubicBezTo>
                  <a:pt x="389" y="0"/>
                  <a:pt x="389" y="0"/>
                  <a:pt x="389" y="0"/>
                </a:cubicBezTo>
                <a:cubicBezTo>
                  <a:pt x="389" y="0"/>
                  <a:pt x="389" y="0"/>
                  <a:pt x="389" y="0"/>
                </a:cubicBezTo>
                <a:cubicBezTo>
                  <a:pt x="389" y="0"/>
                  <a:pt x="389" y="0"/>
                  <a:pt x="389" y="0"/>
                </a:cubicBezTo>
                <a:cubicBezTo>
                  <a:pt x="389" y="0"/>
                  <a:pt x="388" y="0"/>
                  <a:pt x="388" y="0"/>
                </a:cubicBezTo>
                <a:cubicBezTo>
                  <a:pt x="388" y="0"/>
                  <a:pt x="388" y="0"/>
                  <a:pt x="388" y="0"/>
                </a:cubicBezTo>
                <a:cubicBezTo>
                  <a:pt x="388" y="0"/>
                  <a:pt x="388" y="0"/>
                  <a:pt x="388" y="0"/>
                </a:cubicBezTo>
                <a:cubicBezTo>
                  <a:pt x="388" y="0"/>
                  <a:pt x="387" y="0"/>
                  <a:pt x="387" y="0"/>
                </a:cubicBezTo>
                <a:cubicBezTo>
                  <a:pt x="387" y="0"/>
                  <a:pt x="387" y="0"/>
                  <a:pt x="387" y="0"/>
                </a:cubicBezTo>
                <a:cubicBezTo>
                  <a:pt x="387" y="0"/>
                  <a:pt x="387" y="0"/>
                  <a:pt x="387" y="0"/>
                </a:cubicBezTo>
                <a:cubicBezTo>
                  <a:pt x="387" y="0"/>
                  <a:pt x="386" y="0"/>
                  <a:pt x="386" y="0"/>
                </a:cubicBezTo>
                <a:cubicBezTo>
                  <a:pt x="386" y="0"/>
                  <a:pt x="386" y="0"/>
                  <a:pt x="386" y="0"/>
                </a:cubicBezTo>
                <a:cubicBezTo>
                  <a:pt x="386" y="0"/>
                  <a:pt x="386" y="0"/>
                  <a:pt x="385" y="0"/>
                </a:cubicBezTo>
                <a:cubicBezTo>
                  <a:pt x="385" y="0"/>
                  <a:pt x="385" y="0"/>
                  <a:pt x="385" y="0"/>
                </a:cubicBezTo>
                <a:cubicBezTo>
                  <a:pt x="385" y="0"/>
                  <a:pt x="385" y="0"/>
                  <a:pt x="385" y="0"/>
                </a:cubicBezTo>
                <a:cubicBezTo>
                  <a:pt x="385" y="0"/>
                  <a:pt x="385" y="0"/>
                  <a:pt x="385" y="0"/>
                </a:cubicBezTo>
                <a:cubicBezTo>
                  <a:pt x="385" y="0"/>
                  <a:pt x="385" y="0"/>
                  <a:pt x="385" y="0"/>
                </a:cubicBezTo>
                <a:cubicBezTo>
                  <a:pt x="385" y="0"/>
                  <a:pt x="384" y="0"/>
                  <a:pt x="384" y="0"/>
                </a:cubicBezTo>
                <a:cubicBezTo>
                  <a:pt x="384" y="0"/>
                  <a:pt x="384" y="0"/>
                  <a:pt x="384" y="0"/>
                </a:cubicBezTo>
                <a:lnTo>
                  <a:pt x="145" y="0"/>
                </a:lnTo>
                <a:cubicBezTo>
                  <a:pt x="145" y="0"/>
                  <a:pt x="145" y="0"/>
                  <a:pt x="144" y="0"/>
                </a:cubicBezTo>
                <a:cubicBezTo>
                  <a:pt x="144" y="0"/>
                  <a:pt x="143" y="0"/>
                  <a:pt x="143" y="0"/>
                </a:cubicBezTo>
                <a:cubicBezTo>
                  <a:pt x="143" y="0"/>
                  <a:pt x="143" y="0"/>
                  <a:pt x="143" y="0"/>
                </a:cubicBezTo>
                <a:cubicBezTo>
                  <a:pt x="142" y="0"/>
                  <a:pt x="142" y="0"/>
                  <a:pt x="142" y="0"/>
                </a:cubicBezTo>
                <a:cubicBezTo>
                  <a:pt x="142" y="0"/>
                  <a:pt x="142" y="0"/>
                  <a:pt x="142" y="0"/>
                </a:cubicBezTo>
                <a:cubicBezTo>
                  <a:pt x="141" y="0"/>
                  <a:pt x="141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1"/>
                  <a:pt x="139" y="1"/>
                </a:cubicBezTo>
                <a:cubicBezTo>
                  <a:pt x="139" y="1"/>
                  <a:pt x="139" y="1"/>
                  <a:pt x="139" y="1"/>
                </a:cubicBezTo>
                <a:cubicBezTo>
                  <a:pt x="139" y="1"/>
                  <a:pt x="138" y="1"/>
                  <a:pt x="138" y="1"/>
                </a:cubicBezTo>
                <a:cubicBezTo>
                  <a:pt x="138" y="1"/>
                  <a:pt x="138" y="2"/>
                  <a:pt x="138" y="2"/>
                </a:cubicBezTo>
                <a:cubicBezTo>
                  <a:pt x="138" y="2"/>
                  <a:pt x="137" y="2"/>
                  <a:pt x="137" y="2"/>
                </a:cubicBezTo>
                <a:cubicBezTo>
                  <a:pt x="137" y="2"/>
                  <a:pt x="137" y="2"/>
                  <a:pt x="137" y="2"/>
                </a:cubicBezTo>
                <a:cubicBezTo>
                  <a:pt x="136" y="3"/>
                  <a:pt x="136" y="3"/>
                  <a:pt x="136" y="3"/>
                </a:cubicBezTo>
                <a:lnTo>
                  <a:pt x="3" y="136"/>
                </a:lnTo>
                <a:cubicBezTo>
                  <a:pt x="3" y="136"/>
                  <a:pt x="3" y="136"/>
                  <a:pt x="3" y="136"/>
                </a:cubicBezTo>
                <a:cubicBezTo>
                  <a:pt x="3" y="136"/>
                  <a:pt x="3" y="136"/>
                  <a:pt x="2" y="136"/>
                </a:cubicBezTo>
                <a:cubicBezTo>
                  <a:pt x="2" y="136"/>
                  <a:pt x="2" y="137"/>
                  <a:pt x="2" y="137"/>
                </a:cubicBezTo>
                <a:cubicBezTo>
                  <a:pt x="2" y="137"/>
                  <a:pt x="2" y="137"/>
                  <a:pt x="2" y="137"/>
                </a:cubicBezTo>
                <a:cubicBezTo>
                  <a:pt x="2" y="137"/>
                  <a:pt x="2" y="138"/>
                  <a:pt x="2" y="138"/>
                </a:cubicBezTo>
                <a:cubicBezTo>
                  <a:pt x="2" y="138"/>
                  <a:pt x="1" y="138"/>
                  <a:pt x="1" y="138"/>
                </a:cubicBezTo>
                <a:cubicBezTo>
                  <a:pt x="1" y="138"/>
                  <a:pt x="1" y="139"/>
                  <a:pt x="1" y="139"/>
                </a:cubicBezTo>
                <a:cubicBezTo>
                  <a:pt x="1" y="139"/>
                  <a:pt x="1" y="140"/>
                  <a:pt x="0" y="140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40"/>
                  <a:pt x="0" y="141"/>
                  <a:pt x="0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141"/>
                  <a:pt x="0" y="142"/>
                  <a:pt x="0" y="142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144"/>
                  <a:pt x="0" y="144"/>
                  <a:pt x="0" y="144"/>
                </a:cubicBezTo>
                <a:cubicBezTo>
                  <a:pt x="0" y="144"/>
                  <a:pt x="0" y="144"/>
                  <a:pt x="0" y="145"/>
                </a:cubicBezTo>
                <a:cubicBezTo>
                  <a:pt x="0" y="145"/>
                  <a:pt x="0" y="145"/>
                  <a:pt x="0" y="145"/>
                </a:cubicBezTo>
                <a:lnTo>
                  <a:pt x="0" y="383"/>
                </a:lnTo>
                <a:cubicBezTo>
                  <a:pt x="0" y="384"/>
                  <a:pt x="0" y="384"/>
                  <a:pt x="0" y="385"/>
                </a:cubicBezTo>
                <a:cubicBezTo>
                  <a:pt x="0" y="385"/>
                  <a:pt x="0" y="385"/>
                  <a:pt x="0" y="385"/>
                </a:cubicBezTo>
                <a:cubicBezTo>
                  <a:pt x="0" y="385"/>
                  <a:pt x="0" y="386"/>
                  <a:pt x="0" y="386"/>
                </a:cubicBezTo>
                <a:cubicBezTo>
                  <a:pt x="0" y="386"/>
                  <a:pt x="0" y="386"/>
                  <a:pt x="0" y="386"/>
                </a:cubicBezTo>
                <a:cubicBezTo>
                  <a:pt x="0" y="387"/>
                  <a:pt x="0" y="387"/>
                  <a:pt x="0" y="387"/>
                </a:cubicBezTo>
                <a:cubicBezTo>
                  <a:pt x="0" y="387"/>
                  <a:pt x="0" y="387"/>
                  <a:pt x="0" y="388"/>
                </a:cubicBezTo>
                <a:cubicBezTo>
                  <a:pt x="0" y="388"/>
                  <a:pt x="0" y="388"/>
                  <a:pt x="0" y="388"/>
                </a:cubicBezTo>
                <a:cubicBezTo>
                  <a:pt x="0" y="388"/>
                  <a:pt x="1" y="389"/>
                  <a:pt x="1" y="389"/>
                </a:cubicBezTo>
                <a:cubicBezTo>
                  <a:pt x="1" y="389"/>
                  <a:pt x="1" y="389"/>
                  <a:pt x="1" y="390"/>
                </a:cubicBezTo>
                <a:cubicBezTo>
                  <a:pt x="1" y="390"/>
                  <a:pt x="1" y="390"/>
                  <a:pt x="1" y="390"/>
                </a:cubicBezTo>
                <a:cubicBezTo>
                  <a:pt x="2" y="390"/>
                  <a:pt x="2" y="390"/>
                  <a:pt x="2" y="391"/>
                </a:cubicBezTo>
                <a:cubicBezTo>
                  <a:pt x="2" y="391"/>
                  <a:pt x="2" y="391"/>
                  <a:pt x="2" y="391"/>
                </a:cubicBezTo>
                <a:cubicBezTo>
                  <a:pt x="2" y="391"/>
                  <a:pt x="2" y="391"/>
                  <a:pt x="2" y="392"/>
                </a:cubicBezTo>
                <a:cubicBezTo>
                  <a:pt x="3" y="392"/>
                  <a:pt x="4" y="393"/>
                  <a:pt x="4" y="393"/>
                </a:cubicBezTo>
                <a:cubicBezTo>
                  <a:pt x="5" y="394"/>
                  <a:pt x="5" y="394"/>
                  <a:pt x="5" y="394"/>
                </a:cubicBezTo>
                <a:cubicBezTo>
                  <a:pt x="5" y="394"/>
                  <a:pt x="5" y="394"/>
                  <a:pt x="5" y="394"/>
                </a:cubicBezTo>
                <a:cubicBezTo>
                  <a:pt x="5" y="394"/>
                  <a:pt x="6" y="394"/>
                  <a:pt x="6" y="395"/>
                </a:cubicBezTo>
                <a:cubicBezTo>
                  <a:pt x="6" y="395"/>
                  <a:pt x="6" y="395"/>
                  <a:pt x="6" y="395"/>
                </a:cubicBezTo>
                <a:cubicBezTo>
                  <a:pt x="7" y="395"/>
                  <a:pt x="7" y="395"/>
                  <a:pt x="7" y="395"/>
                </a:cubicBezTo>
                <a:cubicBezTo>
                  <a:pt x="7" y="395"/>
                  <a:pt x="7" y="395"/>
                  <a:pt x="8" y="395"/>
                </a:cubicBezTo>
                <a:cubicBezTo>
                  <a:pt x="8" y="396"/>
                  <a:pt x="8" y="396"/>
                  <a:pt x="8" y="396"/>
                </a:cubicBezTo>
                <a:cubicBezTo>
                  <a:pt x="8" y="396"/>
                  <a:pt x="9" y="396"/>
                  <a:pt x="9" y="396"/>
                </a:cubicBezTo>
                <a:cubicBezTo>
                  <a:pt x="9" y="396"/>
                  <a:pt x="9" y="396"/>
                  <a:pt x="10" y="396"/>
                </a:cubicBezTo>
                <a:cubicBezTo>
                  <a:pt x="10" y="396"/>
                  <a:pt x="10" y="396"/>
                  <a:pt x="10" y="396"/>
                </a:cubicBezTo>
                <a:cubicBezTo>
                  <a:pt x="10" y="396"/>
                  <a:pt x="11" y="396"/>
                  <a:pt x="11" y="396"/>
                </a:cubicBezTo>
                <a:cubicBezTo>
                  <a:pt x="11" y="396"/>
                  <a:pt x="11" y="396"/>
                  <a:pt x="12" y="396"/>
                </a:cubicBezTo>
                <a:cubicBezTo>
                  <a:pt x="12" y="396"/>
                  <a:pt x="12" y="396"/>
                  <a:pt x="13" y="396"/>
                </a:cubicBezTo>
                <a:lnTo>
                  <a:pt x="251" y="396"/>
                </a:lnTo>
                <a:cubicBezTo>
                  <a:pt x="251" y="396"/>
                  <a:pt x="251" y="396"/>
                  <a:pt x="252" y="396"/>
                </a:cubicBezTo>
                <a:cubicBezTo>
                  <a:pt x="252" y="396"/>
                  <a:pt x="252" y="396"/>
                  <a:pt x="253" y="396"/>
                </a:cubicBezTo>
                <a:cubicBezTo>
                  <a:pt x="253" y="396"/>
                  <a:pt x="253" y="396"/>
                  <a:pt x="254" y="396"/>
                </a:cubicBezTo>
                <a:cubicBezTo>
                  <a:pt x="254" y="396"/>
                  <a:pt x="254" y="396"/>
                  <a:pt x="254" y="396"/>
                </a:cubicBezTo>
                <a:cubicBezTo>
                  <a:pt x="254" y="396"/>
                  <a:pt x="255" y="396"/>
                  <a:pt x="255" y="396"/>
                </a:cubicBezTo>
                <a:cubicBezTo>
                  <a:pt x="255" y="396"/>
                  <a:pt x="255" y="396"/>
                  <a:pt x="255" y="396"/>
                </a:cubicBezTo>
                <a:cubicBezTo>
                  <a:pt x="255" y="396"/>
                  <a:pt x="256" y="396"/>
                  <a:pt x="256" y="396"/>
                </a:cubicBezTo>
                <a:cubicBezTo>
                  <a:pt x="256" y="396"/>
                  <a:pt x="256" y="395"/>
                  <a:pt x="256" y="395"/>
                </a:cubicBezTo>
                <a:cubicBezTo>
                  <a:pt x="257" y="395"/>
                  <a:pt x="257" y="395"/>
                  <a:pt x="257" y="395"/>
                </a:cubicBezTo>
                <a:cubicBezTo>
                  <a:pt x="257" y="395"/>
                  <a:pt x="257" y="395"/>
                  <a:pt x="258" y="395"/>
                </a:cubicBezTo>
                <a:cubicBezTo>
                  <a:pt x="258" y="395"/>
                  <a:pt x="258" y="395"/>
                  <a:pt x="258" y="394"/>
                </a:cubicBezTo>
                <a:cubicBezTo>
                  <a:pt x="258" y="394"/>
                  <a:pt x="259" y="394"/>
                  <a:pt x="259" y="394"/>
                </a:cubicBezTo>
                <a:cubicBezTo>
                  <a:pt x="259" y="394"/>
                  <a:pt x="259" y="394"/>
                  <a:pt x="260" y="394"/>
                </a:cubicBezTo>
                <a:cubicBezTo>
                  <a:pt x="260" y="394"/>
                  <a:pt x="260" y="394"/>
                  <a:pt x="260" y="393"/>
                </a:cubicBezTo>
                <a:cubicBezTo>
                  <a:pt x="260" y="393"/>
                  <a:pt x="260" y="393"/>
                  <a:pt x="261" y="393"/>
                </a:cubicBezTo>
                <a:lnTo>
                  <a:pt x="393" y="260"/>
                </a:lnTo>
                <a:cubicBezTo>
                  <a:pt x="394" y="260"/>
                  <a:pt x="394" y="260"/>
                  <a:pt x="394" y="259"/>
                </a:cubicBezTo>
                <a:cubicBezTo>
                  <a:pt x="394" y="259"/>
                  <a:pt x="394" y="259"/>
                  <a:pt x="394" y="259"/>
                </a:cubicBezTo>
                <a:cubicBezTo>
                  <a:pt x="395" y="259"/>
                  <a:pt x="395" y="258"/>
                  <a:pt x="395" y="258"/>
                </a:cubicBezTo>
                <a:cubicBezTo>
                  <a:pt x="395" y="258"/>
                  <a:pt x="395" y="258"/>
                  <a:pt x="395" y="258"/>
                </a:cubicBezTo>
                <a:cubicBezTo>
                  <a:pt x="395" y="258"/>
                  <a:pt x="395" y="257"/>
                  <a:pt x="396" y="257"/>
                </a:cubicBezTo>
                <a:cubicBezTo>
                  <a:pt x="396" y="257"/>
                  <a:pt x="396" y="257"/>
                  <a:pt x="396" y="257"/>
                </a:cubicBezTo>
                <a:cubicBezTo>
                  <a:pt x="396" y="257"/>
                  <a:pt x="396" y="256"/>
                  <a:pt x="396" y="256"/>
                </a:cubicBezTo>
                <a:cubicBezTo>
                  <a:pt x="396" y="256"/>
                  <a:pt x="396" y="256"/>
                  <a:pt x="396" y="256"/>
                </a:cubicBezTo>
                <a:cubicBezTo>
                  <a:pt x="396" y="255"/>
                  <a:pt x="396" y="255"/>
                  <a:pt x="397" y="255"/>
                </a:cubicBezTo>
                <a:cubicBezTo>
                  <a:pt x="397" y="255"/>
                  <a:pt x="397" y="255"/>
                  <a:pt x="397" y="255"/>
                </a:cubicBezTo>
                <a:cubicBezTo>
                  <a:pt x="397" y="254"/>
                  <a:pt x="397" y="254"/>
                  <a:pt x="397" y="253"/>
                </a:cubicBezTo>
                <a:cubicBezTo>
                  <a:pt x="397" y="253"/>
                  <a:pt x="397" y="253"/>
                  <a:pt x="397" y="253"/>
                </a:cubicBezTo>
                <a:cubicBezTo>
                  <a:pt x="397" y="253"/>
                  <a:pt x="397" y="252"/>
                  <a:pt x="397" y="252"/>
                </a:cubicBezTo>
                <a:cubicBezTo>
                  <a:pt x="397" y="252"/>
                  <a:pt x="397" y="251"/>
                  <a:pt x="397" y="251"/>
                </a:cubicBezTo>
                <a:lnTo>
                  <a:pt x="397" y="13"/>
                </a:lnTo>
                <a:cubicBezTo>
                  <a:pt x="397" y="13"/>
                  <a:pt x="397" y="12"/>
                  <a:pt x="397" y="12"/>
                </a:cubicBezTo>
                <a:moveTo>
                  <a:pt x="132" y="45"/>
                </a:moveTo>
                <a:lnTo>
                  <a:pt x="132" y="132"/>
                </a:lnTo>
                <a:lnTo>
                  <a:pt x="45" y="132"/>
                </a:lnTo>
                <a:lnTo>
                  <a:pt x="132" y="45"/>
                </a:lnTo>
                <a:close/>
                <a:moveTo>
                  <a:pt x="26" y="158"/>
                </a:moveTo>
                <a:lnTo>
                  <a:pt x="132" y="158"/>
                </a:lnTo>
                <a:lnTo>
                  <a:pt x="132" y="245"/>
                </a:lnTo>
                <a:lnTo>
                  <a:pt x="26" y="351"/>
                </a:lnTo>
                <a:lnTo>
                  <a:pt x="26" y="158"/>
                </a:lnTo>
                <a:close/>
                <a:moveTo>
                  <a:pt x="238" y="370"/>
                </a:moveTo>
                <a:lnTo>
                  <a:pt x="45" y="370"/>
                </a:lnTo>
                <a:lnTo>
                  <a:pt x="151" y="264"/>
                </a:lnTo>
                <a:lnTo>
                  <a:pt x="238" y="264"/>
                </a:lnTo>
                <a:lnTo>
                  <a:pt x="238" y="370"/>
                </a:lnTo>
                <a:close/>
                <a:moveTo>
                  <a:pt x="238" y="238"/>
                </a:moveTo>
                <a:lnTo>
                  <a:pt x="158" y="238"/>
                </a:lnTo>
                <a:lnTo>
                  <a:pt x="158" y="158"/>
                </a:lnTo>
                <a:lnTo>
                  <a:pt x="238" y="158"/>
                </a:lnTo>
                <a:lnTo>
                  <a:pt x="238" y="238"/>
                </a:lnTo>
                <a:close/>
                <a:moveTo>
                  <a:pt x="246" y="132"/>
                </a:moveTo>
                <a:lnTo>
                  <a:pt x="158" y="132"/>
                </a:lnTo>
                <a:lnTo>
                  <a:pt x="158" y="26"/>
                </a:lnTo>
                <a:lnTo>
                  <a:pt x="352" y="26"/>
                </a:lnTo>
                <a:lnTo>
                  <a:pt x="246" y="132"/>
                </a:lnTo>
                <a:close/>
                <a:moveTo>
                  <a:pt x="265" y="351"/>
                </a:moveTo>
                <a:lnTo>
                  <a:pt x="265" y="264"/>
                </a:lnTo>
                <a:lnTo>
                  <a:pt x="352" y="264"/>
                </a:lnTo>
                <a:lnTo>
                  <a:pt x="265" y="351"/>
                </a:lnTo>
                <a:close/>
                <a:moveTo>
                  <a:pt x="371" y="238"/>
                </a:moveTo>
                <a:lnTo>
                  <a:pt x="265" y="238"/>
                </a:lnTo>
                <a:lnTo>
                  <a:pt x="265" y="150"/>
                </a:lnTo>
                <a:lnTo>
                  <a:pt x="371" y="45"/>
                </a:lnTo>
                <a:lnTo>
                  <a:pt x="371" y="23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6" name="picture 9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5350567" y="5702315"/>
            <a:ext cx="266481" cy="213154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4988813" y="8276526"/>
            <a:ext cx="236499" cy="230949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351907" y="5690356"/>
            <a:ext cx="236272" cy="225380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4293886" y="5690722"/>
            <a:ext cx="229583" cy="229947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5000714" y="7808721"/>
            <a:ext cx="184041" cy="278040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2850545" y="5732940"/>
            <a:ext cx="259607" cy="190215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2711830" y="2264409"/>
            <a:ext cx="3962780" cy="9525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2723387" y="1075055"/>
            <a:ext cx="3962780" cy="9525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4933167" y="5721871"/>
            <a:ext cx="128848" cy="199136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249554" y="2382011"/>
            <a:ext cx="2232025" cy="95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Microsoft® PowerPoint® 2021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May Yuan</dc:creator>
  <dcterms:created xsi:type="dcterms:W3CDTF">2025-08-11T12:47:09Z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2026-05-10T00:28:57</vt:filetime>
  </property>
</Properties>
</file>