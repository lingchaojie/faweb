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8" Type="http://schemas.openxmlformats.org/officeDocument/2006/relationships/slide" Target="slides/slide7.xml"/><Relationship Id="rId7" Type="http://schemas.openxmlformats.org/officeDocument/2006/relationships/slide" Target="slides/slide6.xml"/><Relationship Id="rId6" Type="http://schemas.openxmlformats.org/officeDocument/2006/relationships/slide" Target="slides/slide5.xml"/><Relationship Id="rId5" Type="http://schemas.openxmlformats.org/officeDocument/2006/relationships/slide" Target="slides/slide4.xml"/><Relationship Id="rId4" Type="http://schemas.openxmlformats.org/officeDocument/2006/relationships/slide" Target="slides/slide3.xml"/><Relationship Id="rId3" Type="http://schemas.openxmlformats.org/officeDocument/2006/relationships/slide" Target="slides/slide2.xml"/><Relationship Id="rId22" Type="http://schemas.openxmlformats.org/officeDocument/2006/relationships/viewProps" Target="viewProps.xml"/><Relationship Id="rId21" Type="http://schemas.openxmlformats.org/officeDocument/2006/relationships/tableStyles" Target="tableStyles.xml"/><Relationship Id="rId20" Type="http://schemas.openxmlformats.org/officeDocument/2006/relationships/presProps" Target="presProps.xml"/><Relationship Id="rId2" Type="http://schemas.openxmlformats.org/officeDocument/2006/relationships/slide" Target="slides/slide1.xml"/><Relationship Id="rId19" Type="http://schemas.openxmlformats.org/officeDocument/2006/relationships/slide" Target="slides/slide18.xml"/><Relationship Id="rId18" Type="http://schemas.openxmlformats.org/officeDocument/2006/relationships/slide" Target="slides/slide17.xml"/><Relationship Id="rId17" Type="http://schemas.openxmlformats.org/officeDocument/2006/relationships/slide" Target="slides/slide16.xml"/><Relationship Id="rId16" Type="http://schemas.openxmlformats.org/officeDocument/2006/relationships/slide" Target="slides/slide15.xml"/><Relationship Id="rId15" Type="http://schemas.openxmlformats.org/officeDocument/2006/relationships/slide" Target="slides/slide14.xml"/><Relationship Id="rId14" Type="http://schemas.openxmlformats.org/officeDocument/2006/relationships/slide" Target="slides/slide13.xml"/><Relationship Id="rId13" Type="http://schemas.openxmlformats.org/officeDocument/2006/relationships/slide" Target="slides/slide12.xml"/><Relationship Id="rId12" Type="http://schemas.openxmlformats.org/officeDocument/2006/relationships/slide" Target="slides/slide11.xml"/><Relationship Id="rId11" Type="http://schemas.openxmlformats.org/officeDocument/2006/relationships/slide" Target="slides/slide10.xml"/><Relationship Id="rId10" Type="http://schemas.openxmlformats.org/officeDocument/2006/relationships/slide" Target="slides/slide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0"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3" Type="http://schemas.openxmlformats.org/officeDocument/2006/relationships/image" Target="../media/image43.png"/><Relationship Id="rId32" Type="http://schemas.openxmlformats.org/officeDocument/2006/relationships/image" Target="../media/image42.png"/><Relationship Id="rId31" Type="http://schemas.openxmlformats.org/officeDocument/2006/relationships/image" Target="../media/image41.png"/><Relationship Id="rId30" Type="http://schemas.openxmlformats.org/officeDocument/2006/relationships/image" Target="../media/image40.png"/><Relationship Id="rId3" Type="http://schemas.openxmlformats.org/officeDocument/2006/relationships/image" Target="../media/image13.png"/><Relationship Id="rId29" Type="http://schemas.openxmlformats.org/officeDocument/2006/relationships/image" Target="../media/image39.png"/><Relationship Id="rId28" Type="http://schemas.openxmlformats.org/officeDocument/2006/relationships/image" Target="../media/image38.png"/><Relationship Id="rId27" Type="http://schemas.openxmlformats.org/officeDocument/2006/relationships/image" Target="../media/image37.png"/><Relationship Id="rId26" Type="http://schemas.openxmlformats.org/officeDocument/2006/relationships/image" Target="../media/image36.png"/><Relationship Id="rId25" Type="http://schemas.openxmlformats.org/officeDocument/2006/relationships/image" Target="../media/image35.png"/><Relationship Id="rId24" Type="http://schemas.openxmlformats.org/officeDocument/2006/relationships/image" Target="../media/image34.png"/><Relationship Id="rId23" Type="http://schemas.openxmlformats.org/officeDocument/2006/relationships/image" Target="../media/image33.png"/><Relationship Id="rId22" Type="http://schemas.openxmlformats.org/officeDocument/2006/relationships/image" Target="../media/image32.png"/><Relationship Id="rId21" Type="http://schemas.openxmlformats.org/officeDocument/2006/relationships/image" Target="../media/image31.png"/><Relationship Id="rId20" Type="http://schemas.openxmlformats.org/officeDocument/2006/relationships/image" Target="../media/image30.png"/><Relationship Id="rId2" Type="http://schemas.openxmlformats.org/officeDocument/2006/relationships/image" Target="../media/image12.png"/><Relationship Id="rId19" Type="http://schemas.openxmlformats.org/officeDocument/2006/relationships/image" Target="../media/image29.png"/><Relationship Id="rId18" Type="http://schemas.openxmlformats.org/officeDocument/2006/relationships/image" Target="../media/image28.png"/><Relationship Id="rId17" Type="http://schemas.openxmlformats.org/officeDocument/2006/relationships/image" Target="../media/image27.png"/><Relationship Id="rId16" Type="http://schemas.openxmlformats.org/officeDocument/2006/relationships/image" Target="../media/image26.png"/><Relationship Id="rId15" Type="http://schemas.openxmlformats.org/officeDocument/2006/relationships/image" Target="../media/image25.png"/><Relationship Id="rId14" Type="http://schemas.openxmlformats.org/officeDocument/2006/relationships/image" Target="../media/image24.png"/><Relationship Id="rId13" Type="http://schemas.openxmlformats.org/officeDocument/2006/relationships/image" Target="../media/image23.png"/><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image" Target="../media/image24.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7" Type="http://schemas.openxmlformats.org/officeDocument/2006/relationships/image" Target="../media/image24.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png"/><Relationship Id="rId7" Type="http://schemas.openxmlformats.org/officeDocument/2006/relationships/image" Target="../media/image55.png"/><Relationship Id="rId6" Type="http://schemas.openxmlformats.org/officeDocument/2006/relationships/image" Target="../media/image24.png"/><Relationship Id="rId5" Type="http://schemas.openxmlformats.org/officeDocument/2006/relationships/image" Target="../media/image54.png"/><Relationship Id="rId4" Type="http://schemas.openxmlformats.org/officeDocument/2006/relationships/image" Target="../media/image53.jpeg"/><Relationship Id="rId30" Type="http://schemas.openxmlformats.org/officeDocument/2006/relationships/image" Target="../media/image78.jpeg"/><Relationship Id="rId3" Type="http://schemas.openxmlformats.org/officeDocument/2006/relationships/image" Target="../media/image52.png"/><Relationship Id="rId29" Type="http://schemas.openxmlformats.org/officeDocument/2006/relationships/image" Target="../media/image77.jpeg"/><Relationship Id="rId28" Type="http://schemas.openxmlformats.org/officeDocument/2006/relationships/image" Target="../media/image76.png"/><Relationship Id="rId27" Type="http://schemas.openxmlformats.org/officeDocument/2006/relationships/image" Target="../media/image75.jpeg"/><Relationship Id="rId26" Type="http://schemas.openxmlformats.org/officeDocument/2006/relationships/image" Target="../media/image74.jpeg"/><Relationship Id="rId25" Type="http://schemas.openxmlformats.org/officeDocument/2006/relationships/image" Target="../media/image73.png"/><Relationship Id="rId24" Type="http://schemas.openxmlformats.org/officeDocument/2006/relationships/image" Target="../media/image72.jpeg"/><Relationship Id="rId23" Type="http://schemas.openxmlformats.org/officeDocument/2006/relationships/image" Target="../media/image71.png"/><Relationship Id="rId22" Type="http://schemas.openxmlformats.org/officeDocument/2006/relationships/image" Target="../media/image70.jpeg"/><Relationship Id="rId21" Type="http://schemas.openxmlformats.org/officeDocument/2006/relationships/image" Target="../media/image69.jpeg"/><Relationship Id="rId20" Type="http://schemas.openxmlformats.org/officeDocument/2006/relationships/image" Target="../media/image68.jpeg"/><Relationship Id="rId2" Type="http://schemas.openxmlformats.org/officeDocument/2006/relationships/image" Target="../media/image51.png"/><Relationship Id="rId19" Type="http://schemas.openxmlformats.org/officeDocument/2006/relationships/image" Target="../media/image67.jpeg"/><Relationship Id="rId18" Type="http://schemas.openxmlformats.org/officeDocument/2006/relationships/image" Target="../media/image66.jpeg"/><Relationship Id="rId17" Type="http://schemas.openxmlformats.org/officeDocument/2006/relationships/image" Target="../media/image65.jpeg"/><Relationship Id="rId16" Type="http://schemas.openxmlformats.org/officeDocument/2006/relationships/image" Target="../media/image64.jpeg"/><Relationship Id="rId15" Type="http://schemas.openxmlformats.org/officeDocument/2006/relationships/image" Target="../media/image63.jpeg"/><Relationship Id="rId14" Type="http://schemas.openxmlformats.org/officeDocument/2006/relationships/image" Target="../media/image62.png"/><Relationship Id="rId13" Type="http://schemas.openxmlformats.org/officeDocument/2006/relationships/image" Target="../media/image61.jpeg"/><Relationship Id="rId12" Type="http://schemas.openxmlformats.org/officeDocument/2006/relationships/image" Target="../media/image60.png"/><Relationship Id="rId11" Type="http://schemas.openxmlformats.org/officeDocument/2006/relationships/image" Target="../media/image59.jpeg"/><Relationship Id="rId10" Type="http://schemas.openxmlformats.org/officeDocument/2006/relationships/image" Target="../media/image5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9" Type="http://schemas.openxmlformats.org/officeDocument/2006/relationships/image" Target="../media/image86.jpeg"/><Relationship Id="rId8" Type="http://schemas.openxmlformats.org/officeDocument/2006/relationships/image" Target="../media/image85.jpeg"/><Relationship Id="rId7" Type="http://schemas.openxmlformats.org/officeDocument/2006/relationships/image" Target="../media/image84.jpeg"/><Relationship Id="rId6" Type="http://schemas.openxmlformats.org/officeDocument/2006/relationships/image" Target="../media/image83.png"/><Relationship Id="rId5" Type="http://schemas.openxmlformats.org/officeDocument/2006/relationships/image" Target="../media/image82.jpeg"/><Relationship Id="rId4" Type="http://schemas.openxmlformats.org/officeDocument/2006/relationships/image" Target="../media/image81.jpeg"/><Relationship Id="rId3" Type="http://schemas.openxmlformats.org/officeDocument/2006/relationships/image" Target="../media/image80.jpeg"/><Relationship Id="rId2" Type="http://schemas.openxmlformats.org/officeDocument/2006/relationships/image" Target="../media/image79.jpeg"/><Relationship Id="rId13" Type="http://schemas.openxmlformats.org/officeDocument/2006/relationships/image" Target="../media/image89.jpeg"/><Relationship Id="rId12" Type="http://schemas.openxmlformats.org/officeDocument/2006/relationships/image" Target="../media/image88.jpeg"/><Relationship Id="rId11" Type="http://schemas.openxmlformats.org/officeDocument/2006/relationships/image" Target="../media/image24.png"/><Relationship Id="rId10" Type="http://schemas.openxmlformats.org/officeDocument/2006/relationships/image" Target="../media/image8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9" Type="http://schemas.openxmlformats.org/officeDocument/2006/relationships/image" Target="../media/image97.jpeg"/><Relationship Id="rId8" Type="http://schemas.openxmlformats.org/officeDocument/2006/relationships/image" Target="../media/image96.jpeg"/><Relationship Id="rId7" Type="http://schemas.openxmlformats.org/officeDocument/2006/relationships/image" Target="../media/image24.png"/><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 Id="rId3" Type="http://schemas.openxmlformats.org/officeDocument/2006/relationships/image" Target="../media/image92.jpeg"/><Relationship Id="rId2" Type="http://schemas.openxmlformats.org/officeDocument/2006/relationships/image" Target="../media/image91.png"/><Relationship Id="rId11" Type="http://schemas.openxmlformats.org/officeDocument/2006/relationships/image" Target="../media/image99.png"/><Relationship Id="rId10" Type="http://schemas.openxmlformats.org/officeDocument/2006/relationships/image" Target="../media/image9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0"/>
            <a:ext cx="12192000" cy="6857996"/>
          </a:xfrm>
          <a:prstGeom prst="rect">
            <a:avLst/>
          </a:prstGeom>
        </p:spPr>
      </p:pic>
      <p:pic>
        <p:nvPicPr>
          <p:cNvPr id="4" name="picture 4"/>
          <p:cNvPicPr>
            <a:picLocks noChangeAspect="1"/>
          </p:cNvPicPr>
          <p:nvPr/>
        </p:nvPicPr>
        <p:blipFill>
          <a:blip r:embed="rId3"/>
          <a:stretch>
            <a:fillRect/>
          </a:stretch>
        </p:blipFill>
        <p:spPr>
          <a:xfrm rot="21600000">
            <a:off x="0" y="1235963"/>
            <a:ext cx="12192000" cy="5622033"/>
          </a:xfrm>
          <a:prstGeom prst="rect">
            <a:avLst/>
          </a:prstGeom>
        </p:spPr>
      </p:pic>
      <p:pic>
        <p:nvPicPr>
          <p:cNvPr id="6" name="picture 6"/>
          <p:cNvPicPr>
            <a:picLocks noChangeAspect="1"/>
          </p:cNvPicPr>
          <p:nvPr/>
        </p:nvPicPr>
        <p:blipFill>
          <a:blip r:embed="rId4"/>
          <a:stretch>
            <a:fillRect/>
          </a:stretch>
        </p:blipFill>
        <p:spPr>
          <a:xfrm rot="21600000">
            <a:off x="0" y="5200142"/>
            <a:ext cx="12192000" cy="63499"/>
          </a:xfrm>
          <a:prstGeom prst="rect">
            <a:avLst/>
          </a:prstGeom>
        </p:spPr>
      </p:pic>
      <p:sp>
        <p:nvSpPr>
          <p:cNvPr id="8" name="textbox 8"/>
          <p:cNvSpPr/>
          <p:nvPr/>
        </p:nvSpPr>
        <p:spPr>
          <a:xfrm>
            <a:off x="7498080" y="2019300"/>
            <a:ext cx="4693920" cy="3213100"/>
          </a:xfrm>
          <a:prstGeom prst="rect">
            <a:avLst/>
          </a:prstGeom>
          <a:solidFill>
            <a:srgbClr val="FFFFFF">
              <a:alpha val="45490"/>
            </a:srgbClr>
          </a:solidFill>
          <a:ln w="0" cap="flat">
            <a:noFill/>
            <a:prstDash val="solid"/>
            <a:miter lim="0"/>
          </a:ln>
        </p:spPr>
        <p:txBody>
          <a:bodyPr vert="horz" wrap="square" lIns="0" tIns="0" rIns="0" bIns="0"/>
          <a:lstStyle/>
          <a:p>
            <a:pPr algn="l" rtl="0" eaLnBrk="0">
              <a:lnSpc>
                <a:spcPct val="122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marL="309245" algn="l" rtl="0" eaLnBrk="0">
              <a:lnSpc>
                <a:spcPct val="84000"/>
              </a:lnSpc>
              <a:spcBef>
                <a:spcPts val="6"/>
              </a:spcBef>
              <a:tabLst>
                <a:tab pos="459105" algn="l"/>
              </a:tabLst>
            </a:pPr>
            <a:r>
              <a:rPr sz="1400" kern="0" spc="0" dirty="0">
                <a:solidFill>
                  <a:srgbClr val="000000">
                    <a:alpha val="100000"/>
                  </a:srgbClr>
                </a:solidFill>
                <a:latin typeface="KaiTi"/>
                <a:ea typeface="KaiTi"/>
                <a:cs typeface="KaiTi"/>
              </a:rPr>
              <a:t>	</a:t>
            </a:r>
            <a:r>
              <a:rPr sz="1400" kern="0" spc="60" dirty="0">
                <a:solidFill>
                  <a:srgbClr val="000000">
                    <a:alpha val="100000"/>
                  </a:srgbClr>
                </a:solidFill>
                <a:latin typeface="KaiTi"/>
                <a:ea typeface="KaiTi"/>
                <a:cs typeface="KaiTi"/>
              </a:rPr>
              <a:t>枫承资本聚焦于科技领域，重点关注</a:t>
            </a:r>
            <a:r>
              <a:rPr sz="1400" b="1" kern="0" spc="60" dirty="0">
                <a:solidFill>
                  <a:srgbClr val="BF756D">
                    <a:alpha val="100000"/>
                  </a:srgbClr>
                </a:solidFill>
                <a:latin typeface="KaiTi"/>
                <a:ea typeface="KaiTi"/>
                <a:cs typeface="KaiTi"/>
              </a:rPr>
              <a:t>人工智能、具</a:t>
            </a:r>
            <a:endParaRPr sz="1400" dirty="0">
              <a:latin typeface="KaiTi"/>
              <a:ea typeface="KaiTi"/>
              <a:cs typeface="KaiTi"/>
            </a:endParaRPr>
          </a:p>
          <a:p>
            <a:pPr marL="474980" algn="l" rtl="0" eaLnBrk="0">
              <a:lnSpc>
                <a:spcPts val="2519"/>
              </a:lnSpc>
              <a:tabLst/>
            </a:pPr>
            <a:r>
              <a:rPr sz="1400" b="1" kern="0" spc="-20" dirty="0">
                <a:solidFill>
                  <a:srgbClr val="BF756D">
                    <a:alpha val="100000"/>
                  </a:srgbClr>
                </a:solidFill>
                <a:latin typeface="KaiTi"/>
                <a:ea typeface="KaiTi"/>
                <a:cs typeface="KaiTi"/>
              </a:rPr>
              <a:t>身、消费出海以及前沿科技等</a:t>
            </a:r>
            <a:r>
              <a:rPr sz="1400" kern="0" spc="-20" dirty="0">
                <a:solidFill>
                  <a:srgbClr val="000000">
                    <a:alpha val="100000"/>
                  </a:srgbClr>
                </a:solidFill>
                <a:latin typeface="KaiTi"/>
                <a:ea typeface="KaiTi"/>
                <a:cs typeface="KaiTi"/>
              </a:rPr>
              <a:t>赛道</a:t>
            </a:r>
            <a:endParaRPr sz="1400" dirty="0">
              <a:latin typeface="KaiTi"/>
              <a:ea typeface="KaiTi"/>
              <a:cs typeface="KaiTi"/>
            </a:endParaRPr>
          </a:p>
          <a:p>
            <a:pPr algn="l" rtl="0" eaLnBrk="0">
              <a:lnSpc>
                <a:spcPct val="134000"/>
              </a:lnSpc>
              <a:tabLst/>
            </a:pPr>
            <a:endParaRPr sz="1000" dirty="0">
              <a:latin typeface="Arial"/>
              <a:ea typeface="Arial"/>
              <a:cs typeface="Arial"/>
            </a:endParaRPr>
          </a:p>
          <a:p>
            <a:pPr algn="l" rtl="0" eaLnBrk="0">
              <a:lnSpc>
                <a:spcPct val="134000"/>
              </a:lnSpc>
              <a:tabLst/>
            </a:pPr>
            <a:endParaRPr sz="1000" dirty="0">
              <a:latin typeface="Arial"/>
              <a:ea typeface="Arial"/>
              <a:cs typeface="Arial"/>
            </a:endParaRPr>
          </a:p>
          <a:p>
            <a:pPr marL="309245" algn="l" rtl="0" eaLnBrk="0">
              <a:lnSpc>
                <a:spcPct val="84000"/>
              </a:lnSpc>
              <a:spcBef>
                <a:spcPts val="424"/>
              </a:spcBef>
              <a:tabLst>
                <a:tab pos="459105" algn="l"/>
              </a:tabLst>
            </a:pPr>
            <a:r>
              <a:rPr sz="1400" kern="0" spc="0" dirty="0">
                <a:solidFill>
                  <a:srgbClr val="000000">
                    <a:alpha val="100000"/>
                  </a:srgbClr>
                </a:solidFill>
                <a:latin typeface="KaiTi"/>
                <a:ea typeface="KaiTi"/>
                <a:cs typeface="KaiTi"/>
              </a:rPr>
              <a:t>	</a:t>
            </a:r>
            <a:r>
              <a:rPr sz="1400" kern="0" spc="60" dirty="0">
                <a:solidFill>
                  <a:srgbClr val="000000">
                    <a:alpha val="100000"/>
                  </a:srgbClr>
                </a:solidFill>
                <a:latin typeface="KaiTi"/>
                <a:ea typeface="KaiTi"/>
                <a:cs typeface="KaiTi"/>
              </a:rPr>
              <a:t>枫承资本已经成为科技私募股权融资领域中，</a:t>
            </a:r>
            <a:r>
              <a:rPr sz="1400" b="1" kern="0" spc="60" dirty="0">
                <a:solidFill>
                  <a:srgbClr val="BF756D">
                    <a:alpha val="100000"/>
                  </a:srgbClr>
                </a:solidFill>
                <a:latin typeface="KaiTi"/>
                <a:ea typeface="KaiTi"/>
                <a:cs typeface="KaiTi"/>
              </a:rPr>
              <a:t>交易</a:t>
            </a:r>
            <a:endParaRPr sz="1400" dirty="0">
              <a:latin typeface="KaiTi"/>
              <a:ea typeface="KaiTi"/>
              <a:cs typeface="KaiTi"/>
            </a:endParaRPr>
          </a:p>
          <a:p>
            <a:pPr marL="472440" indent="-6350" algn="l" rtl="0" eaLnBrk="0">
              <a:lnSpc>
                <a:spcPct val="155000"/>
              </a:lnSpc>
              <a:spcBef>
                <a:spcPts val="2"/>
              </a:spcBef>
              <a:tabLst/>
            </a:pPr>
            <a:r>
              <a:rPr sz="1400" b="1" kern="0" spc="50" dirty="0">
                <a:solidFill>
                  <a:srgbClr val="BF756D">
                    <a:alpha val="100000"/>
                  </a:srgbClr>
                </a:solidFill>
                <a:latin typeface="KaiTi"/>
                <a:ea typeface="KaiTi"/>
                <a:cs typeface="KaiTi"/>
              </a:rPr>
              <a:t>成功率最高、独家合作率最高、海外资源最丰富</a:t>
            </a:r>
            <a:r>
              <a:rPr sz="1400" kern="0" spc="50" dirty="0">
                <a:solidFill>
                  <a:srgbClr val="000000">
                    <a:alpha val="100000"/>
                  </a:srgbClr>
                </a:solidFill>
                <a:latin typeface="KaiTi"/>
                <a:ea typeface="KaiTi"/>
                <a:cs typeface="KaiTi"/>
              </a:rPr>
              <a:t>的</a:t>
            </a:r>
            <a:r>
              <a:rPr sz="1400" kern="0" spc="-20" dirty="0">
                <a:solidFill>
                  <a:srgbClr val="000000">
                    <a:alpha val="100000"/>
                  </a:srgbClr>
                </a:solidFill>
                <a:latin typeface="KaiTi"/>
                <a:ea typeface="KaiTi"/>
                <a:cs typeface="KaiTi"/>
              </a:rPr>
              <a:t>专业财务顾问机构</a:t>
            </a:r>
            <a:endParaRPr sz="1400" dirty="0">
              <a:latin typeface="KaiTi"/>
              <a:ea typeface="KaiTi"/>
              <a:cs typeface="KaiTi"/>
            </a:endParaRPr>
          </a:p>
        </p:txBody>
      </p:sp>
      <p:pic>
        <p:nvPicPr>
          <p:cNvPr id="10" name="picture 10"/>
          <p:cNvPicPr>
            <a:picLocks noChangeAspect="1"/>
          </p:cNvPicPr>
          <p:nvPr/>
        </p:nvPicPr>
        <p:blipFill>
          <a:blip r:embed="rId5"/>
          <a:stretch>
            <a:fillRect/>
          </a:stretch>
        </p:blipFill>
        <p:spPr>
          <a:xfrm rot="21600000">
            <a:off x="7630667" y="3732276"/>
            <a:ext cx="176783" cy="176783"/>
          </a:xfrm>
          <a:prstGeom prst="rect">
            <a:avLst/>
          </a:prstGeom>
        </p:spPr>
      </p:pic>
      <p:pic>
        <p:nvPicPr>
          <p:cNvPr id="12" name="picture 12"/>
          <p:cNvPicPr>
            <a:picLocks noChangeAspect="1"/>
          </p:cNvPicPr>
          <p:nvPr/>
        </p:nvPicPr>
        <p:blipFill>
          <a:blip r:embed="rId5"/>
          <a:stretch>
            <a:fillRect/>
          </a:stretch>
        </p:blipFill>
        <p:spPr>
          <a:xfrm rot="21600000">
            <a:off x="7630667" y="2761487"/>
            <a:ext cx="176783" cy="176784"/>
          </a:xfrm>
          <a:prstGeom prst="rect">
            <a:avLst/>
          </a:prstGeom>
        </p:spPr>
      </p:pic>
      <p:grpSp>
        <p:nvGrpSpPr>
          <p:cNvPr id="2" name="group 2"/>
          <p:cNvGrpSpPr/>
          <p:nvPr/>
        </p:nvGrpSpPr>
        <p:grpSpPr>
          <a:xfrm rot="21600000">
            <a:off x="0" y="6036564"/>
            <a:ext cx="11912600" cy="541019"/>
            <a:chOff x="0" y="0"/>
            <a:chExt cx="11912600" cy="541019"/>
          </a:xfrm>
        </p:grpSpPr>
        <p:pic>
          <p:nvPicPr>
            <p:cNvPr id="14" name="picture 14"/>
            <p:cNvPicPr>
              <a:picLocks noChangeAspect="1"/>
            </p:cNvPicPr>
            <p:nvPr/>
          </p:nvPicPr>
          <p:blipFill>
            <a:blip r:embed="rId6"/>
            <a:stretch>
              <a:fillRect/>
            </a:stretch>
          </p:blipFill>
          <p:spPr>
            <a:xfrm rot="21600000">
              <a:off x="0" y="0"/>
              <a:ext cx="11912600" cy="541019"/>
            </a:xfrm>
            <a:prstGeom prst="rect">
              <a:avLst/>
            </a:prstGeom>
          </p:spPr>
        </p:pic>
        <p:sp>
          <p:nvSpPr>
            <p:cNvPr id="16" name="textbox 16"/>
            <p:cNvSpPr/>
            <p:nvPr/>
          </p:nvSpPr>
          <p:spPr>
            <a:xfrm>
              <a:off x="-12700" y="-12700"/>
              <a:ext cx="11938000" cy="568959"/>
            </a:xfrm>
            <a:prstGeom prst="rect">
              <a:avLst/>
            </a:prstGeom>
            <a:noFill/>
            <a:ln w="0" cap="flat">
              <a:noFill/>
              <a:prstDash val="solid"/>
              <a:miter lim="0"/>
            </a:ln>
          </p:spPr>
          <p:txBody>
            <a:bodyPr vert="horz" wrap="square" lIns="0" tIns="0" rIns="0" bIns="0"/>
            <a:lstStyle/>
            <a:p>
              <a:pPr algn="l" rtl="0" eaLnBrk="0">
                <a:lnSpc>
                  <a:spcPct val="108000"/>
                </a:lnSpc>
                <a:tabLst/>
              </a:pPr>
              <a:endParaRPr sz="1000" dirty="0">
                <a:latin typeface="Arial"/>
                <a:ea typeface="Arial"/>
                <a:cs typeface="Arial"/>
              </a:endParaRPr>
            </a:p>
            <a:p>
              <a:pPr algn="l" rtl="0" eaLnBrk="0">
                <a:lnSpc>
                  <a:spcPct val="6168"/>
                </a:lnSpc>
                <a:tabLst/>
              </a:pPr>
              <a:endParaRPr sz="100" dirty="0">
                <a:latin typeface="Arial"/>
                <a:ea typeface="Arial"/>
                <a:cs typeface="Arial"/>
              </a:endParaRPr>
            </a:p>
            <a:p>
              <a:pPr marL="885825" algn="l" rtl="0" eaLnBrk="0">
                <a:lnSpc>
                  <a:spcPct val="84000"/>
                </a:lnSpc>
                <a:tabLst/>
              </a:pPr>
              <a:r>
                <a:rPr sz="1400" b="1" kern="0" spc="-10" dirty="0">
                  <a:solidFill>
                    <a:srgbClr val="FFFFFF">
                      <a:alpha val="100000"/>
                    </a:srgbClr>
                  </a:solidFill>
                  <a:latin typeface="KaiTi"/>
                  <a:ea typeface="KaiTi"/>
                  <a:cs typeface="KaiTi"/>
                </a:rPr>
                <a:t>总部位于</a:t>
              </a:r>
              <a:r>
                <a:rPr sz="2000" b="1" kern="0" spc="-10" dirty="0">
                  <a:solidFill>
                    <a:srgbClr val="FFFFFF">
                      <a:alpha val="100000"/>
                    </a:srgbClr>
                  </a:solidFill>
                  <a:latin typeface="KaiTi"/>
                  <a:ea typeface="KaiTi"/>
                  <a:cs typeface="KaiTi"/>
                </a:rPr>
                <a:t>北京</a:t>
              </a:r>
              <a:r>
                <a:rPr sz="1400" b="1" kern="0" spc="-10" dirty="0">
                  <a:solidFill>
                    <a:srgbClr val="FFFFFF">
                      <a:alpha val="100000"/>
                    </a:srgbClr>
                  </a:solidFill>
                  <a:latin typeface="KaiTi"/>
                  <a:ea typeface="KaiTi"/>
                  <a:cs typeface="KaiTi"/>
                </a:rPr>
                <a:t>，专注于</a:t>
              </a:r>
              <a:r>
                <a:rPr sz="1800" b="1" kern="0" spc="-10" dirty="0">
                  <a:solidFill>
                    <a:srgbClr val="FFFFFF">
                      <a:alpha val="100000"/>
                    </a:srgbClr>
                  </a:solidFill>
                  <a:latin typeface="Times New Roman"/>
                  <a:ea typeface="Times New Roman"/>
                  <a:cs typeface="Times New Roman"/>
                </a:rPr>
                <a:t>AI</a:t>
              </a:r>
              <a:r>
                <a:rPr sz="1800" b="1" kern="0" spc="-10" dirty="0">
                  <a:solidFill>
                    <a:srgbClr val="FFFFFF">
                      <a:alpha val="100000"/>
                    </a:srgbClr>
                  </a:solidFill>
                  <a:latin typeface="KaiTi"/>
                  <a:ea typeface="KaiTi"/>
                  <a:cs typeface="KaiTi"/>
                </a:rPr>
                <a:t>、具身、消费出海</a:t>
              </a:r>
              <a:r>
                <a:rPr sz="1400" b="1" kern="0" spc="-10" dirty="0">
                  <a:solidFill>
                    <a:srgbClr val="FFFFFF">
                      <a:alpha val="100000"/>
                    </a:srgbClr>
                  </a:solidFill>
                  <a:latin typeface="KaiTi"/>
                  <a:ea typeface="KaiTi"/>
                  <a:cs typeface="KaiTi"/>
                </a:rPr>
                <a:t>等领域</a:t>
              </a:r>
              <a:endParaRPr sz="1400" dirty="0">
                <a:latin typeface="KaiTi"/>
                <a:ea typeface="KaiTi"/>
                <a:cs typeface="KaiTi"/>
              </a:endParaRPr>
            </a:p>
          </p:txBody>
        </p:sp>
      </p:grpSp>
      <p:sp>
        <p:nvSpPr>
          <p:cNvPr id="18" name="textbox 18"/>
          <p:cNvSpPr/>
          <p:nvPr/>
        </p:nvSpPr>
        <p:spPr>
          <a:xfrm>
            <a:off x="3664965" y="2894579"/>
            <a:ext cx="1272539" cy="1628139"/>
          </a:xfrm>
          <a:prstGeom prst="rect">
            <a:avLst/>
          </a:prstGeom>
          <a:noFill/>
          <a:ln w="0" cap="flat">
            <a:noFill/>
            <a:prstDash val="solid"/>
            <a:miter lim="0"/>
          </a:ln>
        </p:spPr>
        <p:txBody>
          <a:bodyPr vert="horz" wrap="square" lIns="0" tIns="0" rIns="0" bIns="0"/>
          <a:lstStyle/>
          <a:p>
            <a:pPr algn="l" rtl="0" eaLnBrk="0">
              <a:lnSpc>
                <a:spcPct val="88026"/>
              </a:lnSpc>
              <a:tabLst/>
            </a:pPr>
            <a:endParaRPr sz="100" dirty="0">
              <a:latin typeface="Arial"/>
              <a:ea typeface="Arial"/>
              <a:cs typeface="Arial"/>
            </a:endParaRPr>
          </a:p>
          <a:p>
            <a:pPr marL="12700" algn="l" rtl="0" eaLnBrk="0">
              <a:lnSpc>
                <a:spcPct val="84000"/>
              </a:lnSpc>
              <a:tabLst/>
            </a:pPr>
            <a:r>
              <a:rPr sz="1400" b="1" kern="0" spc="-10" dirty="0">
                <a:solidFill>
                  <a:srgbClr val="595959">
                    <a:alpha val="100000"/>
                  </a:srgbClr>
                </a:solidFill>
                <a:latin typeface="KaiTi"/>
                <a:ea typeface="KaiTi"/>
                <a:cs typeface="KaiTi"/>
              </a:rPr>
              <a:t>服务企业总市值</a:t>
            </a:r>
            <a:endParaRPr sz="1400" dirty="0">
              <a:latin typeface="KaiTi"/>
              <a:ea typeface="KaiTi"/>
              <a:cs typeface="KaiTi"/>
            </a:endParaRPr>
          </a:p>
          <a:p>
            <a:pPr marL="27305" algn="l" rtl="0" eaLnBrk="0">
              <a:lnSpc>
                <a:spcPct val="74000"/>
              </a:lnSpc>
              <a:spcBef>
                <a:spcPts val="892"/>
              </a:spcBef>
              <a:tabLst/>
            </a:pPr>
            <a:r>
              <a:rPr sz="1800" b="1" kern="0" spc="-20" dirty="0">
                <a:solidFill>
                  <a:srgbClr val="595959">
                    <a:alpha val="100000"/>
                  </a:srgbClr>
                </a:solidFill>
                <a:latin typeface="Times New Roman"/>
                <a:ea typeface="Times New Roman"/>
                <a:cs typeface="Times New Roman"/>
              </a:rPr>
              <a:t>1000  </a:t>
            </a:r>
            <a:r>
              <a:rPr sz="1100" b="1" kern="0" spc="-20" dirty="0">
                <a:solidFill>
                  <a:srgbClr val="595959">
                    <a:alpha val="100000"/>
                  </a:srgbClr>
                </a:solidFill>
                <a:latin typeface="KaiTi"/>
                <a:ea typeface="KaiTi"/>
                <a:cs typeface="KaiTi"/>
              </a:rPr>
              <a:t>亿+</a:t>
            </a:r>
            <a:endParaRPr sz="1100" dirty="0">
              <a:latin typeface="KaiTi"/>
              <a:ea typeface="KaiTi"/>
              <a:cs typeface="KaiTi"/>
            </a:endParaRPr>
          </a:p>
          <a:p>
            <a:pPr algn="l" rtl="0" eaLnBrk="0">
              <a:lnSpc>
                <a:spcPct val="121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marL="17145" algn="l" rtl="0" eaLnBrk="0">
              <a:lnSpc>
                <a:spcPct val="85000"/>
              </a:lnSpc>
              <a:spcBef>
                <a:spcPts val="423"/>
              </a:spcBef>
              <a:tabLst/>
            </a:pPr>
            <a:r>
              <a:rPr sz="1400" b="1" kern="0" spc="-20" dirty="0">
                <a:solidFill>
                  <a:srgbClr val="595959">
                    <a:alpha val="100000"/>
                  </a:srgbClr>
                </a:solidFill>
                <a:latin typeface="KaiTi"/>
                <a:ea typeface="KaiTi"/>
                <a:cs typeface="KaiTi"/>
              </a:rPr>
              <a:t>覆盖投资机构</a:t>
            </a:r>
            <a:endParaRPr sz="1400" dirty="0">
              <a:latin typeface="KaiTi"/>
              <a:ea typeface="KaiTi"/>
              <a:cs typeface="KaiTi"/>
            </a:endParaRPr>
          </a:p>
          <a:p>
            <a:pPr algn="l" rtl="0" eaLnBrk="0">
              <a:lnSpc>
                <a:spcPct val="104000"/>
              </a:lnSpc>
              <a:tabLst/>
            </a:pPr>
            <a:endParaRPr sz="700" dirty="0">
              <a:latin typeface="Arial"/>
              <a:ea typeface="Arial"/>
              <a:cs typeface="Arial"/>
            </a:endParaRPr>
          </a:p>
          <a:p>
            <a:pPr marL="20320" algn="l" rtl="0" eaLnBrk="0">
              <a:lnSpc>
                <a:spcPct val="74000"/>
              </a:lnSpc>
              <a:spcBef>
                <a:spcPts val="6"/>
              </a:spcBef>
              <a:tabLst/>
            </a:pPr>
            <a:r>
              <a:rPr sz="1800" b="1" kern="0" spc="-40" dirty="0">
                <a:solidFill>
                  <a:srgbClr val="595959">
                    <a:alpha val="100000"/>
                  </a:srgbClr>
                </a:solidFill>
                <a:latin typeface="Times New Roman"/>
                <a:ea typeface="Times New Roman"/>
                <a:cs typeface="Times New Roman"/>
              </a:rPr>
              <a:t>8000</a:t>
            </a:r>
            <a:r>
              <a:rPr sz="1800" b="1" kern="0" spc="90" dirty="0">
                <a:solidFill>
                  <a:srgbClr val="595959">
                    <a:alpha val="100000"/>
                  </a:srgbClr>
                </a:solidFill>
                <a:latin typeface="Times New Roman"/>
                <a:ea typeface="Times New Roman"/>
                <a:cs typeface="Times New Roman"/>
              </a:rPr>
              <a:t>  </a:t>
            </a:r>
            <a:r>
              <a:rPr sz="1100" b="1" kern="0" spc="-40" dirty="0">
                <a:solidFill>
                  <a:srgbClr val="595959">
                    <a:alpha val="100000"/>
                  </a:srgbClr>
                </a:solidFill>
                <a:latin typeface="KaiTi"/>
                <a:ea typeface="KaiTi"/>
                <a:cs typeface="KaiTi"/>
              </a:rPr>
              <a:t>家+</a:t>
            </a:r>
            <a:endParaRPr sz="1100" dirty="0">
              <a:latin typeface="KaiTi"/>
              <a:ea typeface="KaiTi"/>
              <a:cs typeface="KaiTi"/>
            </a:endParaRPr>
          </a:p>
        </p:txBody>
      </p:sp>
      <p:sp>
        <p:nvSpPr>
          <p:cNvPr id="20" name="textbox 20"/>
          <p:cNvSpPr/>
          <p:nvPr/>
        </p:nvSpPr>
        <p:spPr>
          <a:xfrm>
            <a:off x="819403" y="1654555"/>
            <a:ext cx="3555365" cy="581025"/>
          </a:xfrm>
          <a:prstGeom prst="rect">
            <a:avLst/>
          </a:prstGeom>
          <a:noFill/>
          <a:ln w="0" cap="flat">
            <a:noFill/>
            <a:prstDash val="solid"/>
            <a:miter lim="0"/>
          </a:ln>
        </p:spPr>
        <p:txBody>
          <a:bodyPr vert="horz" wrap="square" lIns="0" tIns="0" rIns="0" bIns="0"/>
          <a:lstStyle/>
          <a:p>
            <a:pPr algn="l" rtl="0" eaLnBrk="0">
              <a:lnSpc>
                <a:spcPct val="113000"/>
              </a:lnSpc>
              <a:tabLst/>
            </a:pPr>
            <a:endParaRPr sz="600" dirty="0">
              <a:latin typeface="Arial"/>
              <a:ea typeface="Arial"/>
              <a:cs typeface="Arial"/>
            </a:endParaRPr>
          </a:p>
          <a:p>
            <a:pPr marL="731519" algn="l" rtl="0" eaLnBrk="0">
              <a:lnSpc>
                <a:spcPct val="86000"/>
              </a:lnSpc>
              <a:spcBef>
                <a:spcPts val="6"/>
              </a:spcBef>
              <a:tabLst>
                <a:tab pos="873125" algn="l"/>
              </a:tabLst>
            </a:pPr>
            <a:r>
              <a:rPr sz="2400" kern="0" spc="0" dirty="0">
                <a:solidFill>
                  <a:srgbClr val="595959">
                    <a:alpha val="100000"/>
                  </a:srgbClr>
                </a:solidFill>
                <a:latin typeface="KaiTi"/>
                <a:ea typeface="KaiTi"/>
                <a:cs typeface="KaiTi"/>
              </a:rPr>
              <a:t>	</a:t>
            </a:r>
            <a:r>
              <a:rPr sz="2400" b="1" kern="0" spc="90" dirty="0">
                <a:solidFill>
                  <a:srgbClr val="595959">
                    <a:alpha val="100000"/>
                  </a:srgbClr>
                </a:solidFill>
                <a:latin typeface="KaiTi"/>
                <a:ea typeface="KaiTi"/>
                <a:cs typeface="KaiTi"/>
              </a:rPr>
              <a:t>枫承资本</a:t>
            </a:r>
            <a:r>
              <a:rPr sz="2400" kern="0" spc="90" dirty="0">
                <a:solidFill>
                  <a:srgbClr val="595959">
                    <a:alpha val="100000"/>
                  </a:srgbClr>
                </a:solidFill>
                <a:latin typeface="KaiTi"/>
                <a:ea typeface="KaiTi"/>
                <a:cs typeface="KaiTi"/>
              </a:rPr>
              <a:t>  </a:t>
            </a:r>
            <a:r>
              <a:rPr sz="1500" kern="0" spc="0" dirty="0">
                <a:solidFill>
                  <a:srgbClr val="595959">
                    <a:alpha val="100000"/>
                  </a:srgbClr>
                </a:solidFill>
                <a:latin typeface="Times New Roman"/>
                <a:ea typeface="Times New Roman"/>
                <a:cs typeface="Times New Roman"/>
              </a:rPr>
              <a:t>Maple</a:t>
            </a:r>
            <a:r>
              <a:rPr sz="1500" kern="0" spc="90" dirty="0">
                <a:solidFill>
                  <a:srgbClr val="595959">
                    <a:alpha val="100000"/>
                  </a:srgbClr>
                </a:solidFill>
                <a:latin typeface="Times New Roman"/>
                <a:ea typeface="Times New Roman"/>
                <a:cs typeface="Times New Roman"/>
              </a:rPr>
              <a:t> </a:t>
            </a:r>
            <a:r>
              <a:rPr sz="1500" kern="0" spc="0" dirty="0">
                <a:solidFill>
                  <a:srgbClr val="595959">
                    <a:alpha val="100000"/>
                  </a:srgbClr>
                </a:solidFill>
                <a:latin typeface="Times New Roman"/>
                <a:ea typeface="Times New Roman"/>
                <a:cs typeface="Times New Roman"/>
              </a:rPr>
              <a:t>Pledge</a:t>
            </a:r>
            <a:endParaRPr sz="1500" dirty="0">
              <a:latin typeface="Times New Roman"/>
              <a:ea typeface="Times New Roman"/>
              <a:cs typeface="Times New Roman"/>
            </a:endParaRPr>
          </a:p>
        </p:txBody>
      </p:sp>
      <p:pic>
        <p:nvPicPr>
          <p:cNvPr id="22" name="picture 22"/>
          <p:cNvPicPr>
            <a:picLocks noChangeAspect="1"/>
          </p:cNvPicPr>
          <p:nvPr/>
        </p:nvPicPr>
        <p:blipFill>
          <a:blip r:embed="rId7"/>
          <a:stretch>
            <a:fillRect/>
          </a:stretch>
        </p:blipFill>
        <p:spPr>
          <a:xfrm rot="21600000">
            <a:off x="832103" y="1667255"/>
            <a:ext cx="719327" cy="553211"/>
          </a:xfrm>
          <a:prstGeom prst="rect">
            <a:avLst/>
          </a:prstGeom>
        </p:spPr>
      </p:pic>
      <p:sp>
        <p:nvSpPr>
          <p:cNvPr id="24" name="textbox 24"/>
          <p:cNvSpPr/>
          <p:nvPr/>
        </p:nvSpPr>
        <p:spPr>
          <a:xfrm>
            <a:off x="1447266" y="2894579"/>
            <a:ext cx="1090294" cy="1628139"/>
          </a:xfrm>
          <a:prstGeom prst="rect">
            <a:avLst/>
          </a:prstGeom>
          <a:noFill/>
          <a:ln w="0" cap="flat">
            <a:noFill/>
            <a:prstDash val="solid"/>
            <a:miter lim="0"/>
          </a:ln>
        </p:spPr>
        <p:txBody>
          <a:bodyPr vert="horz" wrap="square" lIns="0" tIns="0" rIns="0" bIns="0"/>
          <a:lstStyle/>
          <a:p>
            <a:pPr algn="l" rtl="0" eaLnBrk="0">
              <a:lnSpc>
                <a:spcPct val="83468"/>
              </a:lnSpc>
              <a:tabLst/>
            </a:pPr>
            <a:endParaRPr sz="100" dirty="0">
              <a:latin typeface="Arial"/>
              <a:ea typeface="Arial"/>
              <a:cs typeface="Arial"/>
            </a:endParaRPr>
          </a:p>
          <a:p>
            <a:pPr marL="16509" algn="l" rtl="0" eaLnBrk="0">
              <a:lnSpc>
                <a:spcPct val="84000"/>
              </a:lnSpc>
              <a:tabLst/>
            </a:pPr>
            <a:r>
              <a:rPr sz="1400" b="1" kern="0" spc="-30" dirty="0">
                <a:solidFill>
                  <a:srgbClr val="595959">
                    <a:alpha val="100000"/>
                  </a:srgbClr>
                </a:solidFill>
                <a:latin typeface="KaiTi"/>
                <a:ea typeface="KaiTi"/>
                <a:cs typeface="KaiTi"/>
              </a:rPr>
              <a:t>成立时间</a:t>
            </a:r>
            <a:endParaRPr sz="1400" dirty="0">
              <a:latin typeface="KaiTi"/>
              <a:ea typeface="KaiTi"/>
              <a:cs typeface="KaiTi"/>
            </a:endParaRPr>
          </a:p>
          <a:p>
            <a:pPr marL="13970" algn="l" rtl="0" eaLnBrk="0">
              <a:lnSpc>
                <a:spcPct val="74000"/>
              </a:lnSpc>
              <a:spcBef>
                <a:spcPts val="897"/>
              </a:spcBef>
              <a:tabLst/>
            </a:pPr>
            <a:r>
              <a:rPr sz="1800" b="1" kern="0" spc="-20" dirty="0">
                <a:solidFill>
                  <a:srgbClr val="595959">
                    <a:alpha val="100000"/>
                  </a:srgbClr>
                </a:solidFill>
                <a:latin typeface="Times New Roman"/>
                <a:ea typeface="Times New Roman"/>
                <a:cs typeface="Times New Roman"/>
              </a:rPr>
              <a:t>2024</a:t>
            </a:r>
            <a:r>
              <a:rPr sz="1800" b="1" kern="0" spc="50" dirty="0">
                <a:solidFill>
                  <a:srgbClr val="595959">
                    <a:alpha val="100000"/>
                  </a:srgbClr>
                </a:solidFill>
                <a:latin typeface="Times New Roman"/>
                <a:ea typeface="Times New Roman"/>
                <a:cs typeface="Times New Roman"/>
              </a:rPr>
              <a:t>  </a:t>
            </a:r>
            <a:r>
              <a:rPr sz="1100" kern="0" spc="-20" dirty="0">
                <a:solidFill>
                  <a:srgbClr val="595959">
                    <a:alpha val="100000"/>
                  </a:srgbClr>
                </a:solidFill>
                <a:latin typeface="KaiTi"/>
                <a:ea typeface="KaiTi"/>
                <a:cs typeface="KaiTi"/>
              </a:rPr>
              <a:t>年</a:t>
            </a:r>
            <a:endParaRPr sz="1100" dirty="0">
              <a:latin typeface="KaiTi"/>
              <a:ea typeface="KaiTi"/>
              <a:cs typeface="KaiTi"/>
            </a:endParaRPr>
          </a:p>
          <a:p>
            <a:pPr algn="l" rtl="0" eaLnBrk="0">
              <a:lnSpc>
                <a:spcPct val="121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marL="40005" algn="l" rtl="0" eaLnBrk="0">
              <a:lnSpc>
                <a:spcPct val="84000"/>
              </a:lnSpc>
              <a:spcBef>
                <a:spcPts val="430"/>
              </a:spcBef>
              <a:tabLst/>
            </a:pPr>
            <a:r>
              <a:rPr sz="1400" b="1" kern="0" spc="-60" dirty="0">
                <a:solidFill>
                  <a:srgbClr val="595959">
                    <a:alpha val="100000"/>
                  </a:srgbClr>
                </a:solidFill>
                <a:latin typeface="KaiTi"/>
                <a:ea typeface="KaiTi"/>
                <a:cs typeface="KaiTi"/>
              </a:rPr>
              <a:t>累积交易规模</a:t>
            </a:r>
            <a:endParaRPr sz="1400" dirty="0">
              <a:latin typeface="KaiTi"/>
              <a:ea typeface="KaiTi"/>
              <a:cs typeface="KaiTi"/>
            </a:endParaRPr>
          </a:p>
          <a:p>
            <a:pPr algn="l" rtl="0" eaLnBrk="0">
              <a:lnSpc>
                <a:spcPct val="107000"/>
              </a:lnSpc>
              <a:tabLst/>
            </a:pPr>
            <a:endParaRPr sz="700" dirty="0">
              <a:latin typeface="Arial"/>
              <a:ea typeface="Arial"/>
              <a:cs typeface="Arial"/>
            </a:endParaRPr>
          </a:p>
          <a:p>
            <a:pPr marL="12700" algn="l" rtl="0" eaLnBrk="0">
              <a:lnSpc>
                <a:spcPct val="74000"/>
              </a:lnSpc>
              <a:spcBef>
                <a:spcPts val="3"/>
              </a:spcBef>
              <a:tabLst/>
            </a:pPr>
            <a:r>
              <a:rPr sz="1800" b="1" kern="0" spc="-10" dirty="0">
                <a:solidFill>
                  <a:srgbClr val="595959">
                    <a:alpha val="100000"/>
                  </a:srgbClr>
                </a:solidFill>
                <a:latin typeface="Times New Roman"/>
                <a:ea typeface="Times New Roman"/>
                <a:cs typeface="Times New Roman"/>
              </a:rPr>
              <a:t>300  </a:t>
            </a:r>
            <a:r>
              <a:rPr sz="1100" b="1" kern="0" spc="-10" dirty="0">
                <a:solidFill>
                  <a:srgbClr val="595959">
                    <a:alpha val="100000"/>
                  </a:srgbClr>
                </a:solidFill>
                <a:latin typeface="KaiTi"/>
                <a:ea typeface="KaiTi"/>
                <a:cs typeface="KaiTi"/>
              </a:rPr>
              <a:t>亿+</a:t>
            </a:r>
            <a:endParaRPr sz="1100" dirty="0">
              <a:latin typeface="KaiTi"/>
              <a:ea typeface="KaiTi"/>
              <a:cs typeface="KaiTi"/>
            </a:endParaRPr>
          </a:p>
        </p:txBody>
      </p:sp>
      <p:sp>
        <p:nvSpPr>
          <p:cNvPr id="26" name="textbox 26"/>
          <p:cNvSpPr/>
          <p:nvPr/>
        </p:nvSpPr>
        <p:spPr>
          <a:xfrm>
            <a:off x="6182583" y="2894579"/>
            <a:ext cx="1087119" cy="1624964"/>
          </a:xfrm>
          <a:prstGeom prst="rect">
            <a:avLst/>
          </a:prstGeom>
          <a:noFill/>
          <a:ln w="0" cap="flat">
            <a:noFill/>
            <a:prstDash val="solid"/>
            <a:miter lim="0"/>
          </a:ln>
        </p:spPr>
        <p:txBody>
          <a:bodyPr vert="horz" wrap="square" lIns="0" tIns="0" rIns="0" bIns="0"/>
          <a:lstStyle/>
          <a:p>
            <a:pPr algn="l" rtl="0" eaLnBrk="0">
              <a:lnSpc>
                <a:spcPct val="77453"/>
              </a:lnSpc>
              <a:tabLst/>
            </a:pPr>
            <a:endParaRPr sz="100" dirty="0">
              <a:latin typeface="Arial"/>
              <a:ea typeface="Arial"/>
              <a:cs typeface="Arial"/>
            </a:endParaRPr>
          </a:p>
          <a:p>
            <a:pPr marL="12700" algn="l" rtl="0" eaLnBrk="0">
              <a:lnSpc>
                <a:spcPct val="84000"/>
              </a:lnSpc>
              <a:tabLst/>
            </a:pPr>
            <a:r>
              <a:rPr sz="1400" b="1" kern="0" spc="-20" dirty="0">
                <a:solidFill>
                  <a:srgbClr val="595959">
                    <a:alpha val="100000"/>
                  </a:srgbClr>
                </a:solidFill>
                <a:latin typeface="KaiTi"/>
                <a:ea typeface="KaiTi"/>
                <a:cs typeface="KaiTi"/>
              </a:rPr>
              <a:t>独家交割率</a:t>
            </a:r>
            <a:endParaRPr sz="1400" dirty="0">
              <a:latin typeface="KaiTi"/>
              <a:ea typeface="KaiTi"/>
              <a:cs typeface="KaiTi"/>
            </a:endParaRPr>
          </a:p>
          <a:p>
            <a:pPr marL="20320" algn="l" rtl="0" eaLnBrk="0">
              <a:lnSpc>
                <a:spcPct val="74000"/>
              </a:lnSpc>
              <a:spcBef>
                <a:spcPts val="881"/>
              </a:spcBef>
              <a:tabLst/>
            </a:pPr>
            <a:r>
              <a:rPr sz="1800" b="1" kern="0" spc="-20" dirty="0">
                <a:solidFill>
                  <a:srgbClr val="595959">
                    <a:alpha val="100000"/>
                  </a:srgbClr>
                </a:solidFill>
                <a:latin typeface="Times New Roman"/>
                <a:ea typeface="Times New Roman"/>
                <a:cs typeface="Times New Roman"/>
              </a:rPr>
              <a:t>100</a:t>
            </a:r>
            <a:r>
              <a:rPr sz="1000" b="1" kern="0" spc="-20" dirty="0">
                <a:solidFill>
                  <a:srgbClr val="595959">
                    <a:alpha val="100000"/>
                  </a:srgbClr>
                </a:solidFill>
                <a:latin typeface="Times New Roman"/>
                <a:ea typeface="Times New Roman"/>
                <a:cs typeface="Times New Roman"/>
              </a:rPr>
              <a:t>%</a:t>
            </a:r>
            <a:endParaRPr sz="1000" dirty="0">
              <a:latin typeface="Times New Roman"/>
              <a:ea typeface="Times New Roman"/>
              <a:cs typeface="Times New Roman"/>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marL="17145" algn="l" rtl="0" eaLnBrk="0">
              <a:lnSpc>
                <a:spcPct val="84000"/>
              </a:lnSpc>
              <a:spcBef>
                <a:spcPts val="429"/>
              </a:spcBef>
              <a:tabLst/>
            </a:pPr>
            <a:r>
              <a:rPr sz="1400" b="1" kern="0" spc="-30" dirty="0">
                <a:solidFill>
                  <a:srgbClr val="595959">
                    <a:alpha val="100000"/>
                  </a:srgbClr>
                </a:solidFill>
                <a:latin typeface="KaiTi"/>
                <a:ea typeface="KaiTi"/>
                <a:cs typeface="KaiTi"/>
              </a:rPr>
              <a:t>新锐财务顾问</a:t>
            </a:r>
            <a:endParaRPr sz="1400" dirty="0">
              <a:latin typeface="KaiTi"/>
              <a:ea typeface="KaiTi"/>
              <a:cs typeface="KaiTi"/>
            </a:endParaRPr>
          </a:p>
          <a:p>
            <a:pPr algn="l" rtl="0" eaLnBrk="0">
              <a:lnSpc>
                <a:spcPct val="103000"/>
              </a:lnSpc>
              <a:tabLst/>
            </a:pPr>
            <a:endParaRPr sz="700" dirty="0">
              <a:latin typeface="Arial"/>
              <a:ea typeface="Arial"/>
              <a:cs typeface="Arial"/>
            </a:endParaRPr>
          </a:p>
          <a:p>
            <a:pPr marL="13970" algn="l" rtl="0" eaLnBrk="0">
              <a:lnSpc>
                <a:spcPct val="74000"/>
              </a:lnSpc>
              <a:spcBef>
                <a:spcPts val="2"/>
              </a:spcBef>
              <a:tabLst/>
            </a:pPr>
            <a:r>
              <a:rPr sz="1800" b="1" kern="0" spc="-30" dirty="0">
                <a:solidFill>
                  <a:srgbClr val="595959">
                    <a:alpha val="100000"/>
                  </a:srgbClr>
                </a:solidFill>
                <a:latin typeface="Times New Roman"/>
                <a:ea typeface="Times New Roman"/>
                <a:cs typeface="Times New Roman"/>
              </a:rPr>
              <a:t>TOP 5</a:t>
            </a:r>
            <a:endParaRPr sz="1800" dirty="0">
              <a:latin typeface="Times New Roman"/>
              <a:ea typeface="Times New Roman"/>
              <a:cs typeface="Times New Roman"/>
            </a:endParaRPr>
          </a:p>
        </p:txBody>
      </p:sp>
      <p:sp>
        <p:nvSpPr>
          <p:cNvPr id="28" name="path 28"/>
          <p:cNvSpPr/>
          <p:nvPr/>
        </p:nvSpPr>
        <p:spPr>
          <a:xfrm>
            <a:off x="2396108" y="5468492"/>
            <a:ext cx="3315461" cy="355853"/>
          </a:xfrm>
          <a:custGeom>
            <a:avLst/>
            <a:gdLst/>
            <a:ahLst/>
            <a:cxnLst/>
            <a:rect l="0" t="0" r="0" b="0"/>
            <a:pathLst>
              <a:path w="5221" h="560">
                <a:moveTo>
                  <a:pt x="15" y="103"/>
                </a:moveTo>
                <a:cubicBezTo>
                  <a:pt x="15" y="54"/>
                  <a:pt x="54" y="15"/>
                  <a:pt x="103" y="15"/>
                </a:cubicBezTo>
                <a:lnTo>
                  <a:pt x="5117" y="15"/>
                </a:lnTo>
                <a:cubicBezTo>
                  <a:pt x="5166" y="15"/>
                  <a:pt x="5206" y="54"/>
                  <a:pt x="5206" y="103"/>
                </a:cubicBezTo>
                <a:lnTo>
                  <a:pt x="5206" y="456"/>
                </a:lnTo>
                <a:cubicBezTo>
                  <a:pt x="5206" y="505"/>
                  <a:pt x="5166" y="545"/>
                  <a:pt x="5117" y="545"/>
                </a:cubicBezTo>
                <a:lnTo>
                  <a:pt x="103" y="545"/>
                </a:lnTo>
                <a:cubicBezTo>
                  <a:pt x="54" y="545"/>
                  <a:pt x="15" y="505"/>
                  <a:pt x="15" y="456"/>
                </a:cubicBezTo>
                <a:lnTo>
                  <a:pt x="15" y="103"/>
                </a:lnTo>
                <a:close/>
              </a:path>
            </a:pathLst>
          </a:custGeom>
          <a:noFill/>
          <a:ln w="19050" cap="flat">
            <a:solidFill>
              <a:srgbClr val="BF756D"/>
            </a:solidFill>
            <a:prstDash val="dash"/>
            <a:miter lim="1000000"/>
          </a:ln>
        </p:spPr>
        <p:txBody>
          <a:bodyPr rtlCol="0"/>
          <a:lstStyle/>
          <a:p>
            <a:pPr algn="ctr"/>
            <a:endParaRPr lang="zh-CN" altLang="en-US"/>
          </a:p>
        </p:txBody>
      </p:sp>
      <p:sp>
        <p:nvSpPr>
          <p:cNvPr id="30" name="textbox 30"/>
          <p:cNvSpPr/>
          <p:nvPr/>
        </p:nvSpPr>
        <p:spPr>
          <a:xfrm>
            <a:off x="847853" y="5524525"/>
            <a:ext cx="4269104" cy="254000"/>
          </a:xfrm>
          <a:prstGeom prst="rect">
            <a:avLst/>
          </a:prstGeom>
          <a:noFill/>
          <a:ln w="0" cap="flat">
            <a:noFill/>
            <a:prstDash val="solid"/>
            <a:miter lim="0"/>
          </a:ln>
        </p:spPr>
        <p:txBody>
          <a:bodyPr vert="horz" wrap="square" lIns="0" tIns="0" rIns="0" bIns="0"/>
          <a:lstStyle/>
          <a:p>
            <a:pPr algn="l" rtl="0" eaLnBrk="0">
              <a:lnSpc>
                <a:spcPct val="89483"/>
              </a:lnSpc>
              <a:tabLst/>
            </a:pPr>
            <a:endParaRPr sz="100" dirty="0">
              <a:latin typeface="Arial"/>
              <a:ea typeface="Arial"/>
              <a:cs typeface="Arial"/>
            </a:endParaRPr>
          </a:p>
          <a:p>
            <a:pPr marL="12700" algn="l" rtl="0" eaLnBrk="0">
              <a:lnSpc>
                <a:spcPct val="83000"/>
              </a:lnSpc>
              <a:tabLst/>
            </a:pPr>
            <a:r>
              <a:rPr sz="2100" b="1" kern="0" spc="0" baseline="4960" dirty="0">
                <a:solidFill>
                  <a:srgbClr val="595959">
                    <a:alpha val="100000"/>
                  </a:srgbClr>
                </a:solidFill>
                <a:latin typeface="KaiTi"/>
                <a:ea typeface="KaiTi"/>
                <a:cs typeface="KaiTi"/>
              </a:rPr>
              <a:t>枫承资本致力于</a:t>
            </a:r>
            <a:r>
              <a:rPr sz="1300" kern="0" spc="0" dirty="0">
                <a:solidFill>
                  <a:srgbClr val="595959">
                    <a:alpha val="100000"/>
                  </a:srgbClr>
                </a:solidFill>
                <a:latin typeface="KaiTi"/>
                <a:ea typeface="KaiTi"/>
                <a:cs typeface="KaiTi"/>
              </a:rPr>
              <a:t>           </a:t>
            </a:r>
            <a:r>
              <a:rPr sz="1800" kern="0" spc="0" dirty="0">
                <a:solidFill>
                  <a:srgbClr val="595959">
                    <a:alpha val="100000"/>
                  </a:srgbClr>
                </a:solidFill>
                <a:latin typeface="KaiTi"/>
                <a:ea typeface="KaiTi"/>
                <a:cs typeface="KaiTi"/>
              </a:rPr>
              <a:t>定义</a:t>
            </a:r>
            <a:r>
              <a:rPr sz="1800" kern="0" spc="-10" dirty="0">
                <a:solidFill>
                  <a:srgbClr val="595959">
                    <a:alpha val="100000"/>
                  </a:srgbClr>
                </a:solidFill>
                <a:latin typeface="KaiTi"/>
                <a:ea typeface="KaiTi"/>
                <a:cs typeface="KaiTi"/>
              </a:rPr>
              <a:t>未来</a:t>
            </a:r>
            <a:r>
              <a:rPr sz="1800" kern="0" spc="-10" dirty="0">
                <a:solidFill>
                  <a:srgbClr val="595959">
                    <a:alpha val="100000"/>
                  </a:srgbClr>
                </a:solidFill>
                <a:latin typeface="Times New Roman"/>
                <a:ea typeface="Times New Roman"/>
                <a:cs typeface="Times New Roman"/>
              </a:rPr>
              <a:t>FA</a:t>
            </a:r>
            <a:r>
              <a:rPr sz="1800" kern="0" spc="-10" dirty="0">
                <a:solidFill>
                  <a:srgbClr val="595959">
                    <a:alpha val="100000"/>
                  </a:srgbClr>
                </a:solidFill>
                <a:latin typeface="KaiTi"/>
                <a:ea typeface="KaiTi"/>
                <a:cs typeface="KaiTi"/>
              </a:rPr>
              <a:t>行业范式</a:t>
            </a:r>
            <a:endParaRPr sz="1800" dirty="0">
              <a:latin typeface="KaiTi"/>
              <a:ea typeface="KaiTi"/>
              <a:cs typeface="KaiTi"/>
            </a:endParaRPr>
          </a:p>
        </p:txBody>
      </p:sp>
      <p:grpSp>
        <p:nvGrpSpPr>
          <p:cNvPr id="4" name="group 4"/>
          <p:cNvGrpSpPr/>
          <p:nvPr/>
        </p:nvGrpSpPr>
        <p:grpSpPr>
          <a:xfrm rot="21600000">
            <a:off x="5410580" y="2873121"/>
            <a:ext cx="608838" cy="608838"/>
            <a:chOff x="0" y="0"/>
            <a:chExt cx="608838" cy="608838"/>
          </a:xfrm>
        </p:grpSpPr>
        <p:sp>
          <p:nvSpPr>
            <p:cNvPr id="32" name="path 32"/>
            <p:cNvSpPr/>
            <p:nvPr/>
          </p:nvSpPr>
          <p:spPr>
            <a:xfrm>
              <a:off x="9525" y="9525"/>
              <a:ext cx="589788" cy="589788"/>
            </a:xfrm>
            <a:custGeom>
              <a:avLst/>
              <a:gdLst/>
              <a:ahLst/>
              <a:cxnLst/>
              <a:rect l="0" t="0" r="0" b="0"/>
              <a:pathLst>
                <a:path w="928" h="928">
                  <a:moveTo>
                    <a:pt x="295" y="818"/>
                  </a:moveTo>
                  <a:lnTo>
                    <a:pt x="271" y="882"/>
                  </a:lnTo>
                  <a:lnTo>
                    <a:pt x="656" y="882"/>
                  </a:lnTo>
                  <a:lnTo>
                    <a:pt x="632" y="818"/>
                  </a:lnTo>
                  <a:lnTo>
                    <a:pt x="295" y="818"/>
                  </a:lnTo>
                  <a:close/>
                  <a:moveTo>
                    <a:pt x="428" y="634"/>
                  </a:moveTo>
                  <a:lnTo>
                    <a:pt x="428" y="771"/>
                  </a:lnTo>
                  <a:lnTo>
                    <a:pt x="500" y="771"/>
                  </a:lnTo>
                  <a:lnTo>
                    <a:pt x="500" y="634"/>
                  </a:lnTo>
                  <a:cubicBezTo>
                    <a:pt x="488" y="635"/>
                    <a:pt x="476" y="636"/>
                    <a:pt x="464" y="636"/>
                  </a:cubicBezTo>
                  <a:cubicBezTo>
                    <a:pt x="452" y="636"/>
                    <a:pt x="440" y="635"/>
                    <a:pt x="428" y="634"/>
                  </a:cubicBezTo>
                  <a:moveTo>
                    <a:pt x="464" y="199"/>
                  </a:moveTo>
                  <a:lnTo>
                    <a:pt x="435" y="236"/>
                  </a:lnTo>
                  <a:cubicBezTo>
                    <a:pt x="432" y="240"/>
                    <a:pt x="427" y="244"/>
                    <a:pt x="421" y="245"/>
                  </a:cubicBezTo>
                  <a:lnTo>
                    <a:pt x="372" y="258"/>
                  </a:lnTo>
                  <a:lnTo>
                    <a:pt x="403" y="293"/>
                  </a:lnTo>
                  <a:cubicBezTo>
                    <a:pt x="407" y="297"/>
                    <a:pt x="409" y="303"/>
                    <a:pt x="409" y="308"/>
                  </a:cubicBezTo>
                  <a:lnTo>
                    <a:pt x="407" y="352"/>
                  </a:lnTo>
                  <a:lnTo>
                    <a:pt x="455" y="337"/>
                  </a:lnTo>
                  <a:cubicBezTo>
                    <a:pt x="458" y="336"/>
                    <a:pt x="461" y="336"/>
                    <a:pt x="464" y="336"/>
                  </a:cubicBezTo>
                  <a:cubicBezTo>
                    <a:pt x="467" y="336"/>
                    <a:pt x="470" y="336"/>
                    <a:pt x="473" y="337"/>
                  </a:cubicBezTo>
                  <a:lnTo>
                    <a:pt x="520" y="352"/>
                  </a:lnTo>
                  <a:lnTo>
                    <a:pt x="519" y="308"/>
                  </a:lnTo>
                  <a:cubicBezTo>
                    <a:pt x="519" y="303"/>
                    <a:pt x="521" y="297"/>
                    <a:pt x="525" y="293"/>
                  </a:cubicBezTo>
                  <a:lnTo>
                    <a:pt x="555" y="258"/>
                  </a:lnTo>
                  <a:lnTo>
                    <a:pt x="507" y="245"/>
                  </a:lnTo>
                  <a:cubicBezTo>
                    <a:pt x="501" y="244"/>
                    <a:pt x="496" y="240"/>
                    <a:pt x="492" y="236"/>
                  </a:cubicBezTo>
                  <a:lnTo>
                    <a:pt x="464" y="199"/>
                  </a:lnTo>
                  <a:close/>
                  <a:moveTo>
                    <a:pt x="464" y="134"/>
                  </a:moveTo>
                  <a:cubicBezTo>
                    <a:pt x="472" y="134"/>
                    <a:pt x="481" y="138"/>
                    <a:pt x="486" y="144"/>
                  </a:cubicBezTo>
                  <a:lnTo>
                    <a:pt x="531" y="202"/>
                  </a:lnTo>
                  <a:lnTo>
                    <a:pt x="608" y="222"/>
                  </a:lnTo>
                  <a:cubicBezTo>
                    <a:pt x="616" y="225"/>
                    <a:pt x="623" y="230"/>
                    <a:pt x="625" y="238"/>
                  </a:cubicBezTo>
                  <a:cubicBezTo>
                    <a:pt x="628" y="245"/>
                    <a:pt x="627" y="253"/>
                    <a:pt x="621" y="259"/>
                  </a:cubicBezTo>
                  <a:lnTo>
                    <a:pt x="572" y="315"/>
                  </a:lnTo>
                  <a:lnTo>
                    <a:pt x="575" y="385"/>
                  </a:lnTo>
                  <a:cubicBezTo>
                    <a:pt x="575" y="393"/>
                    <a:pt x="571" y="400"/>
                    <a:pt x="564" y="405"/>
                  </a:cubicBezTo>
                  <a:cubicBezTo>
                    <a:pt x="559" y="408"/>
                    <a:pt x="554" y="410"/>
                    <a:pt x="548" y="410"/>
                  </a:cubicBezTo>
                  <a:cubicBezTo>
                    <a:pt x="545" y="410"/>
                    <a:pt x="542" y="409"/>
                    <a:pt x="539" y="408"/>
                  </a:cubicBezTo>
                  <a:lnTo>
                    <a:pt x="464" y="384"/>
                  </a:lnTo>
                  <a:lnTo>
                    <a:pt x="389" y="408"/>
                  </a:lnTo>
                  <a:cubicBezTo>
                    <a:pt x="380" y="411"/>
                    <a:pt x="371" y="410"/>
                    <a:pt x="364" y="405"/>
                  </a:cubicBezTo>
                  <a:cubicBezTo>
                    <a:pt x="357" y="400"/>
                    <a:pt x="353" y="393"/>
                    <a:pt x="353" y="385"/>
                  </a:cubicBezTo>
                  <a:lnTo>
                    <a:pt x="355" y="315"/>
                  </a:lnTo>
                  <a:lnTo>
                    <a:pt x="307" y="259"/>
                  </a:lnTo>
                  <a:cubicBezTo>
                    <a:pt x="301" y="253"/>
                    <a:pt x="300" y="245"/>
                    <a:pt x="302" y="238"/>
                  </a:cubicBezTo>
                  <a:cubicBezTo>
                    <a:pt x="305" y="230"/>
                    <a:pt x="312" y="225"/>
                    <a:pt x="320" y="222"/>
                  </a:cubicBezTo>
                  <a:lnTo>
                    <a:pt x="397" y="202"/>
                  </a:lnTo>
                  <a:lnTo>
                    <a:pt x="442" y="144"/>
                  </a:lnTo>
                  <a:cubicBezTo>
                    <a:pt x="447" y="138"/>
                    <a:pt x="455" y="134"/>
                    <a:pt x="464" y="134"/>
                  </a:cubicBezTo>
                  <a:moveTo>
                    <a:pt x="740" y="101"/>
                  </a:moveTo>
                  <a:lnTo>
                    <a:pt x="740" y="384"/>
                  </a:lnTo>
                  <a:cubicBezTo>
                    <a:pt x="793" y="378"/>
                    <a:pt x="831" y="356"/>
                    <a:pt x="854" y="317"/>
                  </a:cubicBezTo>
                  <a:cubicBezTo>
                    <a:pt x="875" y="281"/>
                    <a:pt x="875" y="244"/>
                    <a:pt x="875" y="243"/>
                  </a:cubicBezTo>
                  <a:lnTo>
                    <a:pt x="875" y="101"/>
                  </a:lnTo>
                  <a:lnTo>
                    <a:pt x="740" y="101"/>
                  </a:lnTo>
                  <a:close/>
                  <a:moveTo>
                    <a:pt x="53" y="101"/>
                  </a:moveTo>
                  <a:lnTo>
                    <a:pt x="53" y="243"/>
                  </a:lnTo>
                  <a:cubicBezTo>
                    <a:pt x="53" y="244"/>
                    <a:pt x="53" y="281"/>
                    <a:pt x="74" y="317"/>
                  </a:cubicBezTo>
                  <a:cubicBezTo>
                    <a:pt x="97" y="356"/>
                    <a:pt x="135" y="378"/>
                    <a:pt x="187" y="384"/>
                  </a:cubicBezTo>
                  <a:lnTo>
                    <a:pt x="187" y="101"/>
                  </a:lnTo>
                  <a:lnTo>
                    <a:pt x="53" y="101"/>
                  </a:lnTo>
                  <a:close/>
                  <a:moveTo>
                    <a:pt x="240" y="46"/>
                  </a:moveTo>
                  <a:lnTo>
                    <a:pt x="240" y="392"/>
                  </a:lnTo>
                  <a:cubicBezTo>
                    <a:pt x="240" y="500"/>
                    <a:pt x="341" y="589"/>
                    <a:pt x="464" y="589"/>
                  </a:cubicBezTo>
                  <a:cubicBezTo>
                    <a:pt x="587" y="589"/>
                    <a:pt x="687" y="500"/>
                    <a:pt x="687" y="392"/>
                  </a:cubicBezTo>
                  <a:lnTo>
                    <a:pt x="687" y="46"/>
                  </a:lnTo>
                  <a:lnTo>
                    <a:pt x="240" y="46"/>
                  </a:lnTo>
                  <a:close/>
                  <a:moveTo>
                    <a:pt x="213" y="0"/>
                  </a:moveTo>
                  <a:lnTo>
                    <a:pt x="714" y="0"/>
                  </a:lnTo>
                  <a:cubicBezTo>
                    <a:pt x="729" y="0"/>
                    <a:pt x="740" y="10"/>
                    <a:pt x="740" y="23"/>
                  </a:cubicBezTo>
                  <a:lnTo>
                    <a:pt x="740" y="54"/>
                  </a:lnTo>
                  <a:lnTo>
                    <a:pt x="902" y="54"/>
                  </a:lnTo>
                  <a:cubicBezTo>
                    <a:pt x="916" y="54"/>
                    <a:pt x="928" y="65"/>
                    <a:pt x="928" y="78"/>
                  </a:cubicBezTo>
                  <a:lnTo>
                    <a:pt x="928" y="243"/>
                  </a:lnTo>
                  <a:cubicBezTo>
                    <a:pt x="928" y="245"/>
                    <a:pt x="928" y="291"/>
                    <a:pt x="902" y="336"/>
                  </a:cubicBezTo>
                  <a:cubicBezTo>
                    <a:pt x="879" y="377"/>
                    <a:pt x="832" y="425"/>
                    <a:pt x="737" y="432"/>
                  </a:cubicBezTo>
                  <a:cubicBezTo>
                    <a:pt x="720" y="521"/>
                    <a:pt x="648" y="594"/>
                    <a:pt x="553" y="623"/>
                  </a:cubicBezTo>
                  <a:lnTo>
                    <a:pt x="553" y="771"/>
                  </a:lnTo>
                  <a:lnTo>
                    <a:pt x="651" y="771"/>
                  </a:lnTo>
                  <a:cubicBezTo>
                    <a:pt x="663" y="771"/>
                    <a:pt x="673" y="778"/>
                    <a:pt x="677" y="787"/>
                  </a:cubicBezTo>
                  <a:lnTo>
                    <a:pt x="719" y="897"/>
                  </a:lnTo>
                  <a:cubicBezTo>
                    <a:pt x="721" y="905"/>
                    <a:pt x="720" y="912"/>
                    <a:pt x="715" y="918"/>
                  </a:cubicBezTo>
                  <a:cubicBezTo>
                    <a:pt x="710" y="924"/>
                    <a:pt x="702" y="928"/>
                    <a:pt x="693" y="928"/>
                  </a:cubicBezTo>
                  <a:lnTo>
                    <a:pt x="235" y="928"/>
                  </a:lnTo>
                  <a:cubicBezTo>
                    <a:pt x="226" y="928"/>
                    <a:pt x="218" y="924"/>
                    <a:pt x="213" y="918"/>
                  </a:cubicBezTo>
                  <a:cubicBezTo>
                    <a:pt x="208" y="912"/>
                    <a:pt x="207" y="905"/>
                    <a:pt x="209" y="897"/>
                  </a:cubicBezTo>
                  <a:lnTo>
                    <a:pt x="251" y="787"/>
                  </a:lnTo>
                  <a:cubicBezTo>
                    <a:pt x="255" y="778"/>
                    <a:pt x="265" y="771"/>
                    <a:pt x="276" y="771"/>
                  </a:cubicBezTo>
                  <a:lnTo>
                    <a:pt x="375" y="771"/>
                  </a:lnTo>
                  <a:lnTo>
                    <a:pt x="375" y="623"/>
                  </a:lnTo>
                  <a:cubicBezTo>
                    <a:pt x="280" y="594"/>
                    <a:pt x="207" y="521"/>
                    <a:pt x="191" y="432"/>
                  </a:cubicBezTo>
                  <a:cubicBezTo>
                    <a:pt x="96" y="425"/>
                    <a:pt x="49" y="377"/>
                    <a:pt x="26" y="336"/>
                  </a:cubicBezTo>
                  <a:cubicBezTo>
                    <a:pt x="0" y="291"/>
                    <a:pt x="0" y="245"/>
                    <a:pt x="0" y="243"/>
                  </a:cubicBezTo>
                  <a:lnTo>
                    <a:pt x="0" y="78"/>
                  </a:lnTo>
                  <a:cubicBezTo>
                    <a:pt x="0" y="65"/>
                    <a:pt x="11" y="54"/>
                    <a:pt x="26" y="54"/>
                  </a:cubicBezTo>
                  <a:lnTo>
                    <a:pt x="187" y="54"/>
                  </a:lnTo>
                  <a:lnTo>
                    <a:pt x="187" y="23"/>
                  </a:lnTo>
                  <a:cubicBezTo>
                    <a:pt x="187" y="10"/>
                    <a:pt x="199" y="0"/>
                    <a:pt x="213" y="0"/>
                  </a:cubicBezTo>
                </a:path>
              </a:pathLst>
            </a:custGeom>
            <a:solidFill>
              <a:srgbClr val="DFA87F">
                <a:alpha val="100000"/>
              </a:srgbClr>
            </a:solidFill>
            <a:ln w="0" cap="flat">
              <a:noFill/>
              <a:prstDash val="solid"/>
              <a:miter lim="0"/>
            </a:ln>
          </p:spPr>
          <p:txBody>
            <a:bodyPr rtlCol="0"/>
            <a:lstStyle/>
            <a:p>
              <a:pPr algn="ctr"/>
              <a:endParaRPr lang="zh-CN" altLang="en-US"/>
            </a:p>
          </p:txBody>
        </p:sp>
        <p:sp>
          <p:nvSpPr>
            <p:cNvPr id="34" name="path 34"/>
            <p:cNvSpPr/>
            <p:nvPr/>
          </p:nvSpPr>
          <p:spPr>
            <a:xfrm>
              <a:off x="0" y="0"/>
              <a:ext cx="608838" cy="608838"/>
            </a:xfrm>
            <a:custGeom>
              <a:avLst/>
              <a:gdLst/>
              <a:ahLst/>
              <a:cxnLst/>
              <a:rect l="0" t="0" r="0" b="0"/>
              <a:pathLst>
                <a:path w="958" h="958">
                  <a:moveTo>
                    <a:pt x="310" y="833"/>
                  </a:moveTo>
                  <a:lnTo>
                    <a:pt x="286" y="897"/>
                  </a:lnTo>
                  <a:lnTo>
                    <a:pt x="671" y="897"/>
                  </a:lnTo>
                  <a:lnTo>
                    <a:pt x="647" y="833"/>
                  </a:lnTo>
                  <a:lnTo>
                    <a:pt x="310" y="833"/>
                  </a:lnTo>
                  <a:close/>
                  <a:moveTo>
                    <a:pt x="443" y="649"/>
                  </a:moveTo>
                  <a:lnTo>
                    <a:pt x="443" y="786"/>
                  </a:lnTo>
                  <a:lnTo>
                    <a:pt x="515" y="786"/>
                  </a:lnTo>
                  <a:lnTo>
                    <a:pt x="515" y="649"/>
                  </a:lnTo>
                  <a:cubicBezTo>
                    <a:pt x="503" y="650"/>
                    <a:pt x="491" y="651"/>
                    <a:pt x="479" y="651"/>
                  </a:cubicBezTo>
                  <a:cubicBezTo>
                    <a:pt x="467" y="651"/>
                    <a:pt x="455" y="650"/>
                    <a:pt x="443" y="649"/>
                  </a:cubicBezTo>
                  <a:moveTo>
                    <a:pt x="479" y="214"/>
                  </a:moveTo>
                  <a:lnTo>
                    <a:pt x="450" y="251"/>
                  </a:lnTo>
                  <a:cubicBezTo>
                    <a:pt x="447" y="255"/>
                    <a:pt x="442" y="259"/>
                    <a:pt x="436" y="260"/>
                  </a:cubicBezTo>
                  <a:lnTo>
                    <a:pt x="387" y="273"/>
                  </a:lnTo>
                  <a:lnTo>
                    <a:pt x="418" y="308"/>
                  </a:lnTo>
                  <a:cubicBezTo>
                    <a:pt x="422" y="312"/>
                    <a:pt x="424" y="318"/>
                    <a:pt x="424" y="323"/>
                  </a:cubicBezTo>
                  <a:lnTo>
                    <a:pt x="422" y="367"/>
                  </a:lnTo>
                  <a:lnTo>
                    <a:pt x="470" y="352"/>
                  </a:lnTo>
                  <a:cubicBezTo>
                    <a:pt x="473" y="351"/>
                    <a:pt x="476" y="351"/>
                    <a:pt x="479" y="351"/>
                  </a:cubicBezTo>
                  <a:cubicBezTo>
                    <a:pt x="482" y="351"/>
                    <a:pt x="485" y="351"/>
                    <a:pt x="488" y="352"/>
                  </a:cubicBezTo>
                  <a:lnTo>
                    <a:pt x="535" y="367"/>
                  </a:lnTo>
                  <a:lnTo>
                    <a:pt x="534" y="323"/>
                  </a:lnTo>
                  <a:cubicBezTo>
                    <a:pt x="534" y="318"/>
                    <a:pt x="536" y="312"/>
                    <a:pt x="540" y="308"/>
                  </a:cubicBezTo>
                  <a:lnTo>
                    <a:pt x="570" y="273"/>
                  </a:lnTo>
                  <a:lnTo>
                    <a:pt x="522" y="260"/>
                  </a:lnTo>
                  <a:cubicBezTo>
                    <a:pt x="516" y="259"/>
                    <a:pt x="511" y="255"/>
                    <a:pt x="507" y="251"/>
                  </a:cubicBezTo>
                  <a:lnTo>
                    <a:pt x="479" y="214"/>
                  </a:lnTo>
                  <a:close/>
                  <a:moveTo>
                    <a:pt x="479" y="149"/>
                  </a:moveTo>
                  <a:cubicBezTo>
                    <a:pt x="487" y="149"/>
                    <a:pt x="496" y="153"/>
                    <a:pt x="501" y="159"/>
                  </a:cubicBezTo>
                  <a:lnTo>
                    <a:pt x="546" y="217"/>
                  </a:lnTo>
                  <a:lnTo>
                    <a:pt x="623" y="237"/>
                  </a:lnTo>
                  <a:cubicBezTo>
                    <a:pt x="631" y="240"/>
                    <a:pt x="638" y="245"/>
                    <a:pt x="640" y="253"/>
                  </a:cubicBezTo>
                  <a:cubicBezTo>
                    <a:pt x="643" y="260"/>
                    <a:pt x="642" y="268"/>
                    <a:pt x="636" y="274"/>
                  </a:cubicBezTo>
                  <a:lnTo>
                    <a:pt x="587" y="330"/>
                  </a:lnTo>
                  <a:lnTo>
                    <a:pt x="590" y="400"/>
                  </a:lnTo>
                  <a:cubicBezTo>
                    <a:pt x="590" y="408"/>
                    <a:pt x="586" y="415"/>
                    <a:pt x="579" y="420"/>
                  </a:cubicBezTo>
                  <a:cubicBezTo>
                    <a:pt x="574" y="423"/>
                    <a:pt x="569" y="425"/>
                    <a:pt x="563" y="425"/>
                  </a:cubicBezTo>
                  <a:cubicBezTo>
                    <a:pt x="560" y="425"/>
                    <a:pt x="557" y="424"/>
                    <a:pt x="554" y="423"/>
                  </a:cubicBezTo>
                  <a:lnTo>
                    <a:pt x="479" y="399"/>
                  </a:lnTo>
                  <a:lnTo>
                    <a:pt x="404" y="423"/>
                  </a:lnTo>
                  <a:cubicBezTo>
                    <a:pt x="395" y="426"/>
                    <a:pt x="386" y="425"/>
                    <a:pt x="379" y="420"/>
                  </a:cubicBezTo>
                  <a:cubicBezTo>
                    <a:pt x="372" y="415"/>
                    <a:pt x="368" y="408"/>
                    <a:pt x="368" y="400"/>
                  </a:cubicBezTo>
                  <a:lnTo>
                    <a:pt x="370" y="330"/>
                  </a:lnTo>
                  <a:lnTo>
                    <a:pt x="322" y="274"/>
                  </a:lnTo>
                  <a:cubicBezTo>
                    <a:pt x="316" y="268"/>
                    <a:pt x="315" y="260"/>
                    <a:pt x="317" y="253"/>
                  </a:cubicBezTo>
                  <a:cubicBezTo>
                    <a:pt x="320" y="245"/>
                    <a:pt x="327" y="240"/>
                    <a:pt x="335" y="237"/>
                  </a:cubicBezTo>
                  <a:lnTo>
                    <a:pt x="412" y="217"/>
                  </a:lnTo>
                  <a:lnTo>
                    <a:pt x="457" y="159"/>
                  </a:lnTo>
                  <a:cubicBezTo>
                    <a:pt x="462" y="153"/>
                    <a:pt x="470" y="149"/>
                    <a:pt x="479" y="149"/>
                  </a:cubicBezTo>
                  <a:moveTo>
                    <a:pt x="755" y="116"/>
                  </a:moveTo>
                  <a:lnTo>
                    <a:pt x="755" y="399"/>
                  </a:lnTo>
                  <a:cubicBezTo>
                    <a:pt x="808" y="393"/>
                    <a:pt x="846" y="371"/>
                    <a:pt x="869" y="332"/>
                  </a:cubicBezTo>
                  <a:cubicBezTo>
                    <a:pt x="890" y="296"/>
                    <a:pt x="890" y="259"/>
                    <a:pt x="890" y="258"/>
                  </a:cubicBezTo>
                  <a:lnTo>
                    <a:pt x="890" y="116"/>
                  </a:lnTo>
                  <a:lnTo>
                    <a:pt x="755" y="116"/>
                  </a:lnTo>
                  <a:close/>
                  <a:moveTo>
                    <a:pt x="68" y="116"/>
                  </a:moveTo>
                  <a:lnTo>
                    <a:pt x="68" y="258"/>
                  </a:lnTo>
                  <a:cubicBezTo>
                    <a:pt x="68" y="259"/>
                    <a:pt x="68" y="296"/>
                    <a:pt x="89" y="332"/>
                  </a:cubicBezTo>
                  <a:cubicBezTo>
                    <a:pt x="112" y="371"/>
                    <a:pt x="150" y="393"/>
                    <a:pt x="202" y="399"/>
                  </a:cubicBezTo>
                  <a:lnTo>
                    <a:pt x="202" y="116"/>
                  </a:lnTo>
                  <a:lnTo>
                    <a:pt x="68" y="116"/>
                  </a:lnTo>
                  <a:close/>
                  <a:moveTo>
                    <a:pt x="255" y="61"/>
                  </a:moveTo>
                  <a:lnTo>
                    <a:pt x="255" y="407"/>
                  </a:lnTo>
                  <a:cubicBezTo>
                    <a:pt x="255" y="515"/>
                    <a:pt x="356" y="604"/>
                    <a:pt x="479" y="604"/>
                  </a:cubicBezTo>
                  <a:cubicBezTo>
                    <a:pt x="602" y="604"/>
                    <a:pt x="702" y="515"/>
                    <a:pt x="702" y="407"/>
                  </a:cubicBezTo>
                  <a:lnTo>
                    <a:pt x="702" y="61"/>
                  </a:lnTo>
                  <a:lnTo>
                    <a:pt x="255" y="61"/>
                  </a:lnTo>
                  <a:close/>
                  <a:moveTo>
                    <a:pt x="228" y="15"/>
                  </a:moveTo>
                  <a:lnTo>
                    <a:pt x="729" y="15"/>
                  </a:lnTo>
                  <a:cubicBezTo>
                    <a:pt x="744" y="15"/>
                    <a:pt x="755" y="25"/>
                    <a:pt x="755" y="38"/>
                  </a:cubicBezTo>
                  <a:lnTo>
                    <a:pt x="755" y="69"/>
                  </a:lnTo>
                  <a:lnTo>
                    <a:pt x="917" y="69"/>
                  </a:lnTo>
                  <a:cubicBezTo>
                    <a:pt x="931" y="69"/>
                    <a:pt x="943" y="80"/>
                    <a:pt x="943" y="93"/>
                  </a:cubicBezTo>
                  <a:lnTo>
                    <a:pt x="943" y="258"/>
                  </a:lnTo>
                  <a:cubicBezTo>
                    <a:pt x="943" y="260"/>
                    <a:pt x="943" y="306"/>
                    <a:pt x="917" y="351"/>
                  </a:cubicBezTo>
                  <a:cubicBezTo>
                    <a:pt x="894" y="392"/>
                    <a:pt x="847" y="440"/>
                    <a:pt x="752" y="447"/>
                  </a:cubicBezTo>
                  <a:cubicBezTo>
                    <a:pt x="735" y="536"/>
                    <a:pt x="663" y="609"/>
                    <a:pt x="568" y="638"/>
                  </a:cubicBezTo>
                  <a:lnTo>
                    <a:pt x="568" y="786"/>
                  </a:lnTo>
                  <a:lnTo>
                    <a:pt x="666" y="786"/>
                  </a:lnTo>
                  <a:cubicBezTo>
                    <a:pt x="678" y="786"/>
                    <a:pt x="688" y="793"/>
                    <a:pt x="692" y="802"/>
                  </a:cubicBezTo>
                  <a:lnTo>
                    <a:pt x="734" y="912"/>
                  </a:lnTo>
                  <a:cubicBezTo>
                    <a:pt x="736" y="920"/>
                    <a:pt x="735" y="927"/>
                    <a:pt x="730" y="933"/>
                  </a:cubicBezTo>
                  <a:cubicBezTo>
                    <a:pt x="725" y="939"/>
                    <a:pt x="717" y="943"/>
                    <a:pt x="708" y="943"/>
                  </a:cubicBezTo>
                  <a:lnTo>
                    <a:pt x="250" y="943"/>
                  </a:lnTo>
                  <a:cubicBezTo>
                    <a:pt x="241" y="943"/>
                    <a:pt x="233" y="939"/>
                    <a:pt x="228" y="933"/>
                  </a:cubicBezTo>
                  <a:cubicBezTo>
                    <a:pt x="223" y="927"/>
                    <a:pt x="222" y="920"/>
                    <a:pt x="224" y="912"/>
                  </a:cubicBezTo>
                  <a:lnTo>
                    <a:pt x="266" y="802"/>
                  </a:lnTo>
                  <a:cubicBezTo>
                    <a:pt x="270" y="793"/>
                    <a:pt x="280" y="786"/>
                    <a:pt x="291" y="786"/>
                  </a:cubicBezTo>
                  <a:lnTo>
                    <a:pt x="390" y="786"/>
                  </a:lnTo>
                  <a:lnTo>
                    <a:pt x="390" y="638"/>
                  </a:lnTo>
                  <a:cubicBezTo>
                    <a:pt x="295" y="609"/>
                    <a:pt x="222" y="536"/>
                    <a:pt x="206" y="447"/>
                  </a:cubicBezTo>
                  <a:cubicBezTo>
                    <a:pt x="111" y="440"/>
                    <a:pt x="64" y="392"/>
                    <a:pt x="41" y="351"/>
                  </a:cubicBezTo>
                  <a:cubicBezTo>
                    <a:pt x="15" y="306"/>
                    <a:pt x="15" y="260"/>
                    <a:pt x="15" y="258"/>
                  </a:cubicBezTo>
                  <a:lnTo>
                    <a:pt x="15" y="93"/>
                  </a:lnTo>
                  <a:cubicBezTo>
                    <a:pt x="15" y="80"/>
                    <a:pt x="26" y="69"/>
                    <a:pt x="41" y="69"/>
                  </a:cubicBezTo>
                  <a:lnTo>
                    <a:pt x="202" y="69"/>
                  </a:lnTo>
                  <a:lnTo>
                    <a:pt x="202" y="38"/>
                  </a:lnTo>
                  <a:cubicBezTo>
                    <a:pt x="202" y="25"/>
                    <a:pt x="214" y="15"/>
                    <a:pt x="228" y="15"/>
                  </a:cubicBezTo>
                </a:path>
              </a:pathLst>
            </a:custGeom>
            <a:noFill/>
            <a:ln w="19050" cap="flat">
              <a:solidFill>
                <a:srgbClr val="DFA87F"/>
              </a:solidFill>
              <a:prstDash val="solid"/>
              <a:miter lim="1000000"/>
            </a:ln>
          </p:spPr>
          <p:txBody>
            <a:bodyPr rtlCol="0"/>
            <a:lstStyle/>
            <a:p>
              <a:pPr algn="ctr"/>
              <a:endParaRPr lang="zh-CN" altLang="en-US"/>
            </a:p>
          </p:txBody>
        </p:sp>
      </p:grpSp>
      <p:sp>
        <p:nvSpPr>
          <p:cNvPr id="36" name="path 36"/>
          <p:cNvSpPr/>
          <p:nvPr/>
        </p:nvSpPr>
        <p:spPr>
          <a:xfrm>
            <a:off x="5408675" y="3988308"/>
            <a:ext cx="609600" cy="496823"/>
          </a:xfrm>
          <a:custGeom>
            <a:avLst/>
            <a:gdLst/>
            <a:ahLst/>
            <a:cxnLst/>
            <a:rect l="0" t="0" r="0" b="0"/>
            <a:pathLst>
              <a:path w="960" h="782">
                <a:moveTo>
                  <a:pt x="788" y="513"/>
                </a:moveTo>
                <a:cubicBezTo>
                  <a:pt x="785" y="513"/>
                  <a:pt x="783" y="515"/>
                  <a:pt x="781" y="517"/>
                </a:cubicBezTo>
                <a:lnTo>
                  <a:pt x="758" y="581"/>
                </a:lnTo>
                <a:lnTo>
                  <a:pt x="688" y="585"/>
                </a:lnTo>
                <a:cubicBezTo>
                  <a:pt x="686" y="585"/>
                  <a:pt x="684" y="585"/>
                  <a:pt x="681" y="590"/>
                </a:cubicBezTo>
                <a:cubicBezTo>
                  <a:pt x="681" y="592"/>
                  <a:pt x="681" y="594"/>
                  <a:pt x="684" y="596"/>
                </a:cubicBezTo>
                <a:lnTo>
                  <a:pt x="738" y="640"/>
                </a:lnTo>
                <a:lnTo>
                  <a:pt x="720" y="705"/>
                </a:lnTo>
                <a:cubicBezTo>
                  <a:pt x="720" y="707"/>
                  <a:pt x="720" y="712"/>
                  <a:pt x="722" y="712"/>
                </a:cubicBezTo>
                <a:cubicBezTo>
                  <a:pt x="724" y="714"/>
                  <a:pt x="729" y="714"/>
                  <a:pt x="731" y="714"/>
                </a:cubicBezTo>
                <a:lnTo>
                  <a:pt x="788" y="676"/>
                </a:lnTo>
                <a:lnTo>
                  <a:pt x="844" y="714"/>
                </a:lnTo>
                <a:cubicBezTo>
                  <a:pt x="847" y="714"/>
                  <a:pt x="851" y="714"/>
                  <a:pt x="853" y="712"/>
                </a:cubicBezTo>
                <a:cubicBezTo>
                  <a:pt x="856" y="712"/>
                  <a:pt x="856" y="707"/>
                  <a:pt x="856" y="705"/>
                </a:cubicBezTo>
                <a:lnTo>
                  <a:pt x="837" y="640"/>
                </a:lnTo>
                <a:lnTo>
                  <a:pt x="892" y="596"/>
                </a:lnTo>
                <a:cubicBezTo>
                  <a:pt x="894" y="594"/>
                  <a:pt x="894" y="592"/>
                  <a:pt x="894" y="590"/>
                </a:cubicBezTo>
                <a:cubicBezTo>
                  <a:pt x="892" y="585"/>
                  <a:pt x="890" y="585"/>
                  <a:pt x="887" y="585"/>
                </a:cubicBezTo>
                <a:lnTo>
                  <a:pt x="817" y="581"/>
                </a:lnTo>
                <a:lnTo>
                  <a:pt x="794" y="517"/>
                </a:lnTo>
                <a:cubicBezTo>
                  <a:pt x="792" y="515"/>
                  <a:pt x="790" y="513"/>
                  <a:pt x="788" y="513"/>
                </a:cubicBezTo>
                <a:moveTo>
                  <a:pt x="788" y="441"/>
                </a:moveTo>
                <a:cubicBezTo>
                  <a:pt x="880" y="441"/>
                  <a:pt x="957" y="517"/>
                  <a:pt x="957" y="612"/>
                </a:cubicBezTo>
                <a:cubicBezTo>
                  <a:pt x="957" y="705"/>
                  <a:pt x="880" y="782"/>
                  <a:pt x="788" y="782"/>
                </a:cubicBezTo>
                <a:cubicBezTo>
                  <a:pt x="693" y="782"/>
                  <a:pt x="618" y="705"/>
                  <a:pt x="618" y="612"/>
                </a:cubicBezTo>
                <a:cubicBezTo>
                  <a:pt x="618" y="517"/>
                  <a:pt x="693" y="441"/>
                  <a:pt x="788" y="441"/>
                </a:cubicBezTo>
                <a:moveTo>
                  <a:pt x="233" y="411"/>
                </a:moveTo>
                <a:lnTo>
                  <a:pt x="726" y="411"/>
                </a:lnTo>
                <a:lnTo>
                  <a:pt x="726" y="420"/>
                </a:lnTo>
                <a:cubicBezTo>
                  <a:pt x="695" y="431"/>
                  <a:pt x="668" y="450"/>
                  <a:pt x="645" y="472"/>
                </a:cubicBezTo>
                <a:lnTo>
                  <a:pt x="233" y="472"/>
                </a:lnTo>
                <a:lnTo>
                  <a:pt x="233" y="411"/>
                </a:lnTo>
                <a:close/>
                <a:moveTo>
                  <a:pt x="233" y="291"/>
                </a:moveTo>
                <a:lnTo>
                  <a:pt x="726" y="291"/>
                </a:lnTo>
                <a:lnTo>
                  <a:pt x="726" y="352"/>
                </a:lnTo>
                <a:lnTo>
                  <a:pt x="233" y="352"/>
                </a:lnTo>
                <a:lnTo>
                  <a:pt x="233" y="291"/>
                </a:lnTo>
                <a:close/>
                <a:moveTo>
                  <a:pt x="233" y="174"/>
                </a:moveTo>
                <a:lnTo>
                  <a:pt x="726" y="174"/>
                </a:lnTo>
                <a:lnTo>
                  <a:pt x="726" y="232"/>
                </a:lnTo>
                <a:lnTo>
                  <a:pt x="233" y="232"/>
                </a:lnTo>
                <a:lnTo>
                  <a:pt x="233" y="174"/>
                </a:lnTo>
                <a:close/>
                <a:moveTo>
                  <a:pt x="31" y="0"/>
                </a:moveTo>
                <a:lnTo>
                  <a:pt x="928" y="0"/>
                </a:lnTo>
                <a:cubicBezTo>
                  <a:pt x="946" y="0"/>
                  <a:pt x="960" y="13"/>
                  <a:pt x="960" y="31"/>
                </a:cubicBezTo>
                <a:lnTo>
                  <a:pt x="960" y="508"/>
                </a:lnTo>
                <a:cubicBezTo>
                  <a:pt x="944" y="483"/>
                  <a:pt x="923" y="463"/>
                  <a:pt x="898" y="445"/>
                </a:cubicBezTo>
                <a:lnTo>
                  <a:pt x="898" y="171"/>
                </a:lnTo>
                <a:cubicBezTo>
                  <a:pt x="837" y="171"/>
                  <a:pt x="788" y="122"/>
                  <a:pt x="788" y="63"/>
                </a:cubicBezTo>
                <a:cubicBezTo>
                  <a:pt x="788" y="61"/>
                  <a:pt x="788" y="61"/>
                  <a:pt x="788" y="61"/>
                </a:cubicBezTo>
                <a:lnTo>
                  <a:pt x="169" y="61"/>
                </a:lnTo>
                <a:cubicBezTo>
                  <a:pt x="169" y="61"/>
                  <a:pt x="169" y="61"/>
                  <a:pt x="169" y="63"/>
                </a:cubicBezTo>
                <a:cubicBezTo>
                  <a:pt x="169" y="122"/>
                  <a:pt x="120" y="171"/>
                  <a:pt x="58" y="171"/>
                </a:cubicBezTo>
                <a:lnTo>
                  <a:pt x="58" y="475"/>
                </a:lnTo>
                <a:cubicBezTo>
                  <a:pt x="120" y="475"/>
                  <a:pt x="169" y="524"/>
                  <a:pt x="169" y="585"/>
                </a:cubicBezTo>
                <a:lnTo>
                  <a:pt x="588" y="585"/>
                </a:lnTo>
                <a:cubicBezTo>
                  <a:pt x="588" y="594"/>
                  <a:pt x="586" y="603"/>
                  <a:pt x="586" y="612"/>
                </a:cubicBezTo>
                <a:cubicBezTo>
                  <a:pt x="586" y="624"/>
                  <a:pt x="588" y="635"/>
                  <a:pt x="591" y="644"/>
                </a:cubicBezTo>
                <a:lnTo>
                  <a:pt x="31" y="644"/>
                </a:lnTo>
                <a:cubicBezTo>
                  <a:pt x="13" y="644"/>
                  <a:pt x="0" y="631"/>
                  <a:pt x="0" y="612"/>
                </a:cubicBezTo>
                <a:lnTo>
                  <a:pt x="0" y="31"/>
                </a:lnTo>
                <a:cubicBezTo>
                  <a:pt x="0" y="13"/>
                  <a:pt x="13" y="0"/>
                  <a:pt x="31" y="0"/>
                </a:cubicBezTo>
              </a:path>
            </a:pathLst>
          </a:custGeom>
          <a:solidFill>
            <a:srgbClr val="DFA87F">
              <a:alpha val="100000"/>
            </a:srgbClr>
          </a:solidFill>
          <a:ln w="0" cap="flat">
            <a:noFill/>
            <a:prstDash val="solid"/>
            <a:miter lim="0"/>
          </a:ln>
        </p:spPr>
        <p:txBody>
          <a:bodyPr rtlCol="0"/>
          <a:lstStyle/>
          <a:p>
            <a:pPr algn="ctr"/>
            <a:endParaRPr lang="zh-CN" altLang="en-US"/>
          </a:p>
        </p:txBody>
      </p:sp>
      <p:grpSp>
        <p:nvGrpSpPr>
          <p:cNvPr id="6" name="group 6"/>
          <p:cNvGrpSpPr/>
          <p:nvPr/>
        </p:nvGrpSpPr>
        <p:grpSpPr>
          <a:xfrm rot="21600000">
            <a:off x="746444" y="2880044"/>
            <a:ext cx="520315" cy="520315"/>
            <a:chOff x="0" y="0"/>
            <a:chExt cx="520315" cy="520315"/>
          </a:xfrm>
        </p:grpSpPr>
        <p:sp>
          <p:nvSpPr>
            <p:cNvPr id="38" name="path 38"/>
            <p:cNvSpPr/>
            <p:nvPr/>
          </p:nvSpPr>
          <p:spPr>
            <a:xfrm>
              <a:off x="1839" y="1839"/>
              <a:ext cx="516635" cy="516635"/>
            </a:xfrm>
            <a:custGeom>
              <a:avLst/>
              <a:gdLst/>
              <a:ahLst/>
              <a:cxnLst/>
              <a:rect l="0" t="0" r="0" b="0"/>
              <a:pathLst>
                <a:path w="813" h="813">
                  <a:moveTo>
                    <a:pt x="604" y="716"/>
                  </a:moveTo>
                  <a:cubicBezTo>
                    <a:pt x="608" y="716"/>
                    <a:pt x="610" y="719"/>
                    <a:pt x="610" y="722"/>
                  </a:cubicBezTo>
                  <a:lnTo>
                    <a:pt x="610" y="743"/>
                  </a:lnTo>
                  <a:cubicBezTo>
                    <a:pt x="610" y="747"/>
                    <a:pt x="607" y="750"/>
                    <a:pt x="604" y="750"/>
                  </a:cubicBezTo>
                  <a:cubicBezTo>
                    <a:pt x="600" y="750"/>
                    <a:pt x="598" y="747"/>
                    <a:pt x="598" y="743"/>
                  </a:cubicBezTo>
                  <a:lnTo>
                    <a:pt x="598" y="722"/>
                  </a:lnTo>
                  <a:cubicBezTo>
                    <a:pt x="598" y="719"/>
                    <a:pt x="600" y="716"/>
                    <a:pt x="604" y="716"/>
                  </a:cubicBezTo>
                  <a:moveTo>
                    <a:pt x="667" y="712"/>
                  </a:moveTo>
                  <a:cubicBezTo>
                    <a:pt x="668" y="711"/>
                    <a:pt x="670" y="711"/>
                    <a:pt x="671" y="713"/>
                  </a:cubicBezTo>
                  <a:lnTo>
                    <a:pt x="677" y="722"/>
                  </a:lnTo>
                  <a:cubicBezTo>
                    <a:pt x="678" y="724"/>
                    <a:pt x="678" y="725"/>
                    <a:pt x="676" y="727"/>
                  </a:cubicBezTo>
                  <a:cubicBezTo>
                    <a:pt x="675" y="727"/>
                    <a:pt x="675" y="727"/>
                    <a:pt x="674" y="727"/>
                  </a:cubicBezTo>
                  <a:cubicBezTo>
                    <a:pt x="673" y="727"/>
                    <a:pt x="672" y="727"/>
                    <a:pt x="671" y="725"/>
                  </a:cubicBezTo>
                  <a:lnTo>
                    <a:pt x="666" y="716"/>
                  </a:lnTo>
                  <a:cubicBezTo>
                    <a:pt x="665" y="715"/>
                    <a:pt x="665" y="713"/>
                    <a:pt x="667" y="712"/>
                  </a:cubicBezTo>
                  <a:moveTo>
                    <a:pt x="541" y="712"/>
                  </a:moveTo>
                  <a:cubicBezTo>
                    <a:pt x="543" y="712"/>
                    <a:pt x="543" y="714"/>
                    <a:pt x="543" y="716"/>
                  </a:cubicBezTo>
                  <a:lnTo>
                    <a:pt x="537" y="725"/>
                  </a:lnTo>
                  <a:cubicBezTo>
                    <a:pt x="536" y="727"/>
                    <a:pt x="535" y="727"/>
                    <a:pt x="534" y="727"/>
                  </a:cubicBezTo>
                  <a:cubicBezTo>
                    <a:pt x="533" y="727"/>
                    <a:pt x="532" y="727"/>
                    <a:pt x="532" y="727"/>
                  </a:cubicBezTo>
                  <a:cubicBezTo>
                    <a:pt x="531" y="726"/>
                    <a:pt x="531" y="724"/>
                    <a:pt x="531" y="722"/>
                  </a:cubicBezTo>
                  <a:lnTo>
                    <a:pt x="537" y="713"/>
                  </a:lnTo>
                  <a:cubicBezTo>
                    <a:pt x="537" y="712"/>
                    <a:pt x="539" y="711"/>
                    <a:pt x="541" y="712"/>
                  </a:cubicBezTo>
                  <a:moveTo>
                    <a:pt x="491" y="664"/>
                  </a:moveTo>
                  <a:cubicBezTo>
                    <a:pt x="492" y="664"/>
                    <a:pt x="494" y="664"/>
                    <a:pt x="495" y="665"/>
                  </a:cubicBezTo>
                  <a:cubicBezTo>
                    <a:pt x="496" y="667"/>
                    <a:pt x="496" y="668"/>
                    <a:pt x="494" y="670"/>
                  </a:cubicBezTo>
                  <a:lnTo>
                    <a:pt x="484" y="675"/>
                  </a:lnTo>
                  <a:cubicBezTo>
                    <a:pt x="483" y="676"/>
                    <a:pt x="483" y="676"/>
                    <a:pt x="482" y="676"/>
                  </a:cubicBezTo>
                  <a:cubicBezTo>
                    <a:pt x="481" y="676"/>
                    <a:pt x="481" y="675"/>
                    <a:pt x="480" y="674"/>
                  </a:cubicBezTo>
                  <a:cubicBezTo>
                    <a:pt x="479" y="673"/>
                    <a:pt x="479" y="671"/>
                    <a:pt x="481" y="670"/>
                  </a:cubicBezTo>
                  <a:lnTo>
                    <a:pt x="491" y="664"/>
                  </a:lnTo>
                  <a:close/>
                  <a:moveTo>
                    <a:pt x="718" y="664"/>
                  </a:moveTo>
                  <a:lnTo>
                    <a:pt x="727" y="670"/>
                  </a:lnTo>
                  <a:cubicBezTo>
                    <a:pt x="728" y="670"/>
                    <a:pt x="729" y="672"/>
                    <a:pt x="728" y="674"/>
                  </a:cubicBezTo>
                  <a:cubicBezTo>
                    <a:pt x="728" y="675"/>
                    <a:pt x="726" y="676"/>
                    <a:pt x="725" y="676"/>
                  </a:cubicBezTo>
                  <a:cubicBezTo>
                    <a:pt x="725" y="676"/>
                    <a:pt x="724" y="676"/>
                    <a:pt x="724" y="675"/>
                  </a:cubicBezTo>
                  <a:lnTo>
                    <a:pt x="714" y="670"/>
                  </a:lnTo>
                  <a:cubicBezTo>
                    <a:pt x="713" y="669"/>
                    <a:pt x="713" y="667"/>
                    <a:pt x="713" y="665"/>
                  </a:cubicBezTo>
                  <a:cubicBezTo>
                    <a:pt x="714" y="664"/>
                    <a:pt x="716" y="664"/>
                    <a:pt x="718" y="664"/>
                  </a:cubicBezTo>
                  <a:moveTo>
                    <a:pt x="723" y="596"/>
                  </a:moveTo>
                  <a:lnTo>
                    <a:pt x="744" y="596"/>
                  </a:lnTo>
                  <a:cubicBezTo>
                    <a:pt x="748" y="596"/>
                    <a:pt x="751" y="599"/>
                    <a:pt x="751" y="602"/>
                  </a:cubicBezTo>
                  <a:cubicBezTo>
                    <a:pt x="751" y="606"/>
                    <a:pt x="747" y="609"/>
                    <a:pt x="744" y="609"/>
                  </a:cubicBezTo>
                  <a:lnTo>
                    <a:pt x="723" y="609"/>
                  </a:lnTo>
                  <a:cubicBezTo>
                    <a:pt x="720" y="609"/>
                    <a:pt x="717" y="606"/>
                    <a:pt x="717" y="602"/>
                  </a:cubicBezTo>
                  <a:cubicBezTo>
                    <a:pt x="717" y="599"/>
                    <a:pt x="720" y="596"/>
                    <a:pt x="723" y="596"/>
                  </a:cubicBezTo>
                  <a:moveTo>
                    <a:pt x="464" y="596"/>
                  </a:moveTo>
                  <a:lnTo>
                    <a:pt x="484" y="596"/>
                  </a:lnTo>
                  <a:cubicBezTo>
                    <a:pt x="488" y="596"/>
                    <a:pt x="491" y="599"/>
                    <a:pt x="491" y="602"/>
                  </a:cubicBezTo>
                  <a:cubicBezTo>
                    <a:pt x="491" y="606"/>
                    <a:pt x="488" y="609"/>
                    <a:pt x="484" y="609"/>
                  </a:cubicBezTo>
                  <a:lnTo>
                    <a:pt x="464" y="609"/>
                  </a:lnTo>
                  <a:cubicBezTo>
                    <a:pt x="460" y="609"/>
                    <a:pt x="457" y="606"/>
                    <a:pt x="457" y="602"/>
                  </a:cubicBezTo>
                  <a:cubicBezTo>
                    <a:pt x="457" y="599"/>
                    <a:pt x="460" y="596"/>
                    <a:pt x="464" y="596"/>
                  </a:cubicBezTo>
                  <a:moveTo>
                    <a:pt x="724" y="529"/>
                  </a:moveTo>
                  <a:cubicBezTo>
                    <a:pt x="725" y="528"/>
                    <a:pt x="727" y="528"/>
                    <a:pt x="728" y="530"/>
                  </a:cubicBezTo>
                  <a:cubicBezTo>
                    <a:pt x="729" y="532"/>
                    <a:pt x="729" y="534"/>
                    <a:pt x="727" y="535"/>
                  </a:cubicBezTo>
                  <a:lnTo>
                    <a:pt x="718" y="540"/>
                  </a:lnTo>
                  <a:cubicBezTo>
                    <a:pt x="718" y="540"/>
                    <a:pt x="717" y="540"/>
                    <a:pt x="716" y="540"/>
                  </a:cubicBezTo>
                  <a:cubicBezTo>
                    <a:pt x="715" y="540"/>
                    <a:pt x="714" y="540"/>
                    <a:pt x="714" y="538"/>
                  </a:cubicBezTo>
                  <a:cubicBezTo>
                    <a:pt x="713" y="537"/>
                    <a:pt x="713" y="535"/>
                    <a:pt x="715" y="534"/>
                  </a:cubicBezTo>
                  <a:lnTo>
                    <a:pt x="724" y="529"/>
                  </a:lnTo>
                  <a:close/>
                  <a:moveTo>
                    <a:pt x="484" y="529"/>
                  </a:moveTo>
                  <a:lnTo>
                    <a:pt x="493" y="534"/>
                  </a:lnTo>
                  <a:cubicBezTo>
                    <a:pt x="494" y="535"/>
                    <a:pt x="495" y="537"/>
                    <a:pt x="494" y="538"/>
                  </a:cubicBezTo>
                  <a:cubicBezTo>
                    <a:pt x="493" y="540"/>
                    <a:pt x="493" y="540"/>
                    <a:pt x="491" y="540"/>
                  </a:cubicBezTo>
                  <a:cubicBezTo>
                    <a:pt x="491" y="540"/>
                    <a:pt x="490" y="540"/>
                    <a:pt x="490" y="540"/>
                  </a:cubicBezTo>
                  <a:lnTo>
                    <a:pt x="481" y="535"/>
                  </a:lnTo>
                  <a:cubicBezTo>
                    <a:pt x="480" y="534"/>
                    <a:pt x="479" y="532"/>
                    <a:pt x="480" y="530"/>
                  </a:cubicBezTo>
                  <a:cubicBezTo>
                    <a:pt x="481" y="528"/>
                    <a:pt x="482" y="528"/>
                    <a:pt x="484" y="529"/>
                  </a:cubicBezTo>
                  <a:moveTo>
                    <a:pt x="604" y="502"/>
                  </a:moveTo>
                  <a:cubicBezTo>
                    <a:pt x="606" y="502"/>
                    <a:pt x="609" y="504"/>
                    <a:pt x="609" y="507"/>
                  </a:cubicBezTo>
                  <a:lnTo>
                    <a:pt x="609" y="592"/>
                  </a:lnTo>
                  <a:lnTo>
                    <a:pt x="612" y="595"/>
                  </a:lnTo>
                  <a:lnTo>
                    <a:pt x="665" y="595"/>
                  </a:lnTo>
                  <a:cubicBezTo>
                    <a:pt x="668" y="595"/>
                    <a:pt x="671" y="599"/>
                    <a:pt x="671" y="602"/>
                  </a:cubicBezTo>
                  <a:cubicBezTo>
                    <a:pt x="671" y="606"/>
                    <a:pt x="668" y="610"/>
                    <a:pt x="665" y="610"/>
                  </a:cubicBezTo>
                  <a:lnTo>
                    <a:pt x="612" y="610"/>
                  </a:lnTo>
                  <a:lnTo>
                    <a:pt x="609" y="613"/>
                  </a:lnTo>
                  <a:lnTo>
                    <a:pt x="609" y="627"/>
                  </a:lnTo>
                  <a:cubicBezTo>
                    <a:pt x="609" y="629"/>
                    <a:pt x="607" y="632"/>
                    <a:pt x="604" y="632"/>
                  </a:cubicBezTo>
                  <a:cubicBezTo>
                    <a:pt x="601" y="632"/>
                    <a:pt x="599" y="629"/>
                    <a:pt x="599" y="627"/>
                  </a:cubicBezTo>
                  <a:lnTo>
                    <a:pt x="599" y="613"/>
                  </a:lnTo>
                  <a:lnTo>
                    <a:pt x="596" y="610"/>
                  </a:lnTo>
                  <a:lnTo>
                    <a:pt x="581" y="610"/>
                  </a:lnTo>
                  <a:cubicBezTo>
                    <a:pt x="577" y="610"/>
                    <a:pt x="574" y="606"/>
                    <a:pt x="574" y="602"/>
                  </a:cubicBezTo>
                  <a:cubicBezTo>
                    <a:pt x="574" y="599"/>
                    <a:pt x="577" y="595"/>
                    <a:pt x="581" y="595"/>
                  </a:cubicBezTo>
                  <a:lnTo>
                    <a:pt x="596" y="595"/>
                  </a:lnTo>
                  <a:lnTo>
                    <a:pt x="599" y="592"/>
                  </a:lnTo>
                  <a:lnTo>
                    <a:pt x="599" y="507"/>
                  </a:lnTo>
                  <a:cubicBezTo>
                    <a:pt x="599" y="504"/>
                    <a:pt x="601" y="502"/>
                    <a:pt x="604" y="502"/>
                  </a:cubicBezTo>
                  <a:moveTo>
                    <a:pt x="676" y="478"/>
                  </a:moveTo>
                  <a:cubicBezTo>
                    <a:pt x="677" y="478"/>
                    <a:pt x="678" y="480"/>
                    <a:pt x="677" y="482"/>
                  </a:cubicBezTo>
                  <a:lnTo>
                    <a:pt x="672" y="491"/>
                  </a:lnTo>
                  <a:cubicBezTo>
                    <a:pt x="671" y="492"/>
                    <a:pt x="670" y="493"/>
                    <a:pt x="669" y="493"/>
                  </a:cubicBezTo>
                  <a:cubicBezTo>
                    <a:pt x="668" y="493"/>
                    <a:pt x="668" y="493"/>
                    <a:pt x="668" y="492"/>
                  </a:cubicBezTo>
                  <a:cubicBezTo>
                    <a:pt x="666" y="492"/>
                    <a:pt x="666" y="490"/>
                    <a:pt x="666" y="488"/>
                  </a:cubicBezTo>
                  <a:lnTo>
                    <a:pt x="671" y="479"/>
                  </a:lnTo>
                  <a:cubicBezTo>
                    <a:pt x="672" y="478"/>
                    <a:pt x="674" y="477"/>
                    <a:pt x="676" y="478"/>
                  </a:cubicBezTo>
                  <a:moveTo>
                    <a:pt x="532" y="478"/>
                  </a:moveTo>
                  <a:cubicBezTo>
                    <a:pt x="534" y="477"/>
                    <a:pt x="536" y="477"/>
                    <a:pt x="537" y="479"/>
                  </a:cubicBezTo>
                  <a:lnTo>
                    <a:pt x="542" y="488"/>
                  </a:lnTo>
                  <a:cubicBezTo>
                    <a:pt x="543" y="489"/>
                    <a:pt x="543" y="491"/>
                    <a:pt x="541" y="492"/>
                  </a:cubicBezTo>
                  <a:cubicBezTo>
                    <a:pt x="540" y="493"/>
                    <a:pt x="539" y="493"/>
                    <a:pt x="539" y="493"/>
                  </a:cubicBezTo>
                  <a:cubicBezTo>
                    <a:pt x="537" y="493"/>
                    <a:pt x="537" y="492"/>
                    <a:pt x="536" y="491"/>
                  </a:cubicBezTo>
                  <a:lnTo>
                    <a:pt x="531" y="482"/>
                  </a:lnTo>
                  <a:cubicBezTo>
                    <a:pt x="531" y="481"/>
                    <a:pt x="531" y="479"/>
                    <a:pt x="532" y="478"/>
                  </a:cubicBezTo>
                  <a:moveTo>
                    <a:pt x="604" y="455"/>
                  </a:moveTo>
                  <a:cubicBezTo>
                    <a:pt x="608" y="455"/>
                    <a:pt x="610" y="458"/>
                    <a:pt x="610" y="462"/>
                  </a:cubicBezTo>
                  <a:lnTo>
                    <a:pt x="610" y="483"/>
                  </a:lnTo>
                  <a:cubicBezTo>
                    <a:pt x="610" y="486"/>
                    <a:pt x="607" y="489"/>
                    <a:pt x="604" y="489"/>
                  </a:cubicBezTo>
                  <a:cubicBezTo>
                    <a:pt x="600" y="489"/>
                    <a:pt x="598" y="486"/>
                    <a:pt x="598" y="483"/>
                  </a:cubicBezTo>
                  <a:lnTo>
                    <a:pt x="598" y="462"/>
                  </a:lnTo>
                  <a:cubicBezTo>
                    <a:pt x="598" y="458"/>
                    <a:pt x="600" y="455"/>
                    <a:pt x="604" y="455"/>
                  </a:cubicBezTo>
                  <a:moveTo>
                    <a:pt x="604" y="443"/>
                  </a:moveTo>
                  <a:cubicBezTo>
                    <a:pt x="517" y="443"/>
                    <a:pt x="445" y="515"/>
                    <a:pt x="445" y="602"/>
                  </a:cubicBezTo>
                  <a:cubicBezTo>
                    <a:pt x="445" y="690"/>
                    <a:pt x="517" y="762"/>
                    <a:pt x="604" y="762"/>
                  </a:cubicBezTo>
                  <a:cubicBezTo>
                    <a:pt x="691" y="762"/>
                    <a:pt x="763" y="690"/>
                    <a:pt x="763" y="602"/>
                  </a:cubicBezTo>
                  <a:cubicBezTo>
                    <a:pt x="763" y="515"/>
                    <a:pt x="691" y="443"/>
                    <a:pt x="604" y="443"/>
                  </a:cubicBezTo>
                  <a:moveTo>
                    <a:pt x="604" y="393"/>
                  </a:moveTo>
                  <a:cubicBezTo>
                    <a:pt x="719" y="393"/>
                    <a:pt x="813" y="488"/>
                    <a:pt x="813" y="603"/>
                  </a:cubicBezTo>
                  <a:cubicBezTo>
                    <a:pt x="813" y="719"/>
                    <a:pt x="719" y="813"/>
                    <a:pt x="604" y="813"/>
                  </a:cubicBezTo>
                  <a:cubicBezTo>
                    <a:pt x="488" y="813"/>
                    <a:pt x="395" y="719"/>
                    <a:pt x="395" y="603"/>
                  </a:cubicBezTo>
                  <a:cubicBezTo>
                    <a:pt x="395" y="488"/>
                    <a:pt x="489" y="393"/>
                    <a:pt x="604" y="393"/>
                  </a:cubicBezTo>
                  <a:moveTo>
                    <a:pt x="569" y="0"/>
                  </a:moveTo>
                  <a:cubicBezTo>
                    <a:pt x="583" y="0"/>
                    <a:pt x="594" y="11"/>
                    <a:pt x="594" y="25"/>
                  </a:cubicBezTo>
                  <a:lnTo>
                    <a:pt x="594" y="192"/>
                  </a:lnTo>
                  <a:cubicBezTo>
                    <a:pt x="594" y="205"/>
                    <a:pt x="583" y="217"/>
                    <a:pt x="569" y="217"/>
                  </a:cubicBezTo>
                  <a:cubicBezTo>
                    <a:pt x="555" y="217"/>
                    <a:pt x="544" y="205"/>
                    <a:pt x="544" y="192"/>
                  </a:cubicBezTo>
                  <a:lnTo>
                    <a:pt x="544" y="135"/>
                  </a:lnTo>
                  <a:lnTo>
                    <a:pt x="280" y="135"/>
                  </a:lnTo>
                  <a:cubicBezTo>
                    <a:pt x="266" y="135"/>
                    <a:pt x="255" y="124"/>
                    <a:pt x="255" y="110"/>
                  </a:cubicBezTo>
                  <a:cubicBezTo>
                    <a:pt x="255" y="96"/>
                    <a:pt x="266" y="85"/>
                    <a:pt x="280" y="85"/>
                  </a:cubicBezTo>
                  <a:lnTo>
                    <a:pt x="544" y="85"/>
                  </a:lnTo>
                  <a:lnTo>
                    <a:pt x="544" y="25"/>
                  </a:lnTo>
                  <a:cubicBezTo>
                    <a:pt x="544" y="11"/>
                    <a:pt x="555" y="0"/>
                    <a:pt x="569" y="0"/>
                  </a:cubicBezTo>
                  <a:moveTo>
                    <a:pt x="213" y="0"/>
                  </a:moveTo>
                  <a:cubicBezTo>
                    <a:pt x="227" y="0"/>
                    <a:pt x="238" y="11"/>
                    <a:pt x="238" y="25"/>
                  </a:cubicBezTo>
                  <a:lnTo>
                    <a:pt x="238" y="192"/>
                  </a:lnTo>
                  <a:cubicBezTo>
                    <a:pt x="238" y="205"/>
                    <a:pt x="227" y="217"/>
                    <a:pt x="213" y="217"/>
                  </a:cubicBezTo>
                  <a:cubicBezTo>
                    <a:pt x="199" y="217"/>
                    <a:pt x="188" y="205"/>
                    <a:pt x="188" y="192"/>
                  </a:cubicBezTo>
                  <a:lnTo>
                    <a:pt x="188" y="135"/>
                  </a:lnTo>
                  <a:lnTo>
                    <a:pt x="82" y="135"/>
                  </a:lnTo>
                  <a:cubicBezTo>
                    <a:pt x="65" y="135"/>
                    <a:pt x="50" y="150"/>
                    <a:pt x="50" y="167"/>
                  </a:cubicBezTo>
                  <a:lnTo>
                    <a:pt x="50" y="264"/>
                  </a:lnTo>
                  <a:lnTo>
                    <a:pt x="731" y="264"/>
                  </a:lnTo>
                  <a:lnTo>
                    <a:pt x="731" y="167"/>
                  </a:lnTo>
                  <a:cubicBezTo>
                    <a:pt x="731" y="150"/>
                    <a:pt x="716" y="135"/>
                    <a:pt x="699" y="135"/>
                  </a:cubicBezTo>
                  <a:lnTo>
                    <a:pt x="635" y="135"/>
                  </a:lnTo>
                  <a:cubicBezTo>
                    <a:pt x="622" y="135"/>
                    <a:pt x="610" y="124"/>
                    <a:pt x="610" y="110"/>
                  </a:cubicBezTo>
                  <a:cubicBezTo>
                    <a:pt x="610" y="96"/>
                    <a:pt x="622" y="85"/>
                    <a:pt x="635" y="85"/>
                  </a:cubicBezTo>
                  <a:lnTo>
                    <a:pt x="699" y="85"/>
                  </a:lnTo>
                  <a:cubicBezTo>
                    <a:pt x="744" y="85"/>
                    <a:pt x="781" y="122"/>
                    <a:pt x="781" y="167"/>
                  </a:cubicBezTo>
                  <a:lnTo>
                    <a:pt x="781" y="288"/>
                  </a:lnTo>
                  <a:lnTo>
                    <a:pt x="782" y="289"/>
                  </a:lnTo>
                  <a:lnTo>
                    <a:pt x="781" y="291"/>
                  </a:lnTo>
                  <a:lnTo>
                    <a:pt x="781" y="390"/>
                  </a:lnTo>
                  <a:cubicBezTo>
                    <a:pt x="781" y="404"/>
                    <a:pt x="771" y="415"/>
                    <a:pt x="756" y="415"/>
                  </a:cubicBezTo>
                  <a:cubicBezTo>
                    <a:pt x="742" y="415"/>
                    <a:pt x="731" y="404"/>
                    <a:pt x="731" y="390"/>
                  </a:cubicBezTo>
                  <a:lnTo>
                    <a:pt x="731" y="315"/>
                  </a:lnTo>
                  <a:lnTo>
                    <a:pt x="50" y="315"/>
                  </a:lnTo>
                  <a:lnTo>
                    <a:pt x="50" y="674"/>
                  </a:lnTo>
                  <a:cubicBezTo>
                    <a:pt x="50" y="691"/>
                    <a:pt x="65" y="706"/>
                    <a:pt x="82" y="706"/>
                  </a:cubicBezTo>
                  <a:lnTo>
                    <a:pt x="375" y="706"/>
                  </a:lnTo>
                  <a:cubicBezTo>
                    <a:pt x="389" y="706"/>
                    <a:pt x="400" y="717"/>
                    <a:pt x="400" y="731"/>
                  </a:cubicBezTo>
                  <a:cubicBezTo>
                    <a:pt x="400" y="745"/>
                    <a:pt x="389" y="757"/>
                    <a:pt x="375" y="757"/>
                  </a:cubicBezTo>
                  <a:lnTo>
                    <a:pt x="82" y="757"/>
                  </a:lnTo>
                  <a:cubicBezTo>
                    <a:pt x="37" y="757"/>
                    <a:pt x="0" y="719"/>
                    <a:pt x="0" y="674"/>
                  </a:cubicBezTo>
                  <a:lnTo>
                    <a:pt x="0" y="167"/>
                  </a:lnTo>
                  <a:cubicBezTo>
                    <a:pt x="0" y="122"/>
                    <a:pt x="37" y="85"/>
                    <a:pt x="82" y="85"/>
                  </a:cubicBezTo>
                  <a:lnTo>
                    <a:pt x="188" y="85"/>
                  </a:lnTo>
                  <a:lnTo>
                    <a:pt x="188" y="25"/>
                  </a:lnTo>
                  <a:cubicBezTo>
                    <a:pt x="188" y="11"/>
                    <a:pt x="199" y="0"/>
                    <a:pt x="213" y="0"/>
                  </a:cubicBezTo>
                </a:path>
              </a:pathLst>
            </a:custGeom>
            <a:solidFill>
              <a:srgbClr val="DFA87F">
                <a:alpha val="100000"/>
              </a:srgbClr>
            </a:solidFill>
            <a:ln w="0" cap="flat">
              <a:noFill/>
              <a:prstDash val="solid"/>
              <a:miter lim="0"/>
            </a:ln>
          </p:spPr>
          <p:txBody>
            <a:bodyPr rtlCol="0"/>
            <a:lstStyle/>
            <a:p>
              <a:pPr algn="ctr"/>
              <a:endParaRPr lang="zh-CN" altLang="en-US"/>
            </a:p>
          </p:txBody>
        </p:sp>
        <p:sp>
          <p:nvSpPr>
            <p:cNvPr id="40" name="path 40"/>
            <p:cNvSpPr/>
            <p:nvPr/>
          </p:nvSpPr>
          <p:spPr>
            <a:xfrm>
              <a:off x="0" y="0"/>
              <a:ext cx="520315" cy="520315"/>
            </a:xfrm>
            <a:custGeom>
              <a:avLst/>
              <a:gdLst/>
              <a:ahLst/>
              <a:cxnLst/>
              <a:rect l="0" t="0" r="0" b="0"/>
              <a:pathLst>
                <a:path w="819" h="819">
                  <a:moveTo>
                    <a:pt x="607" y="719"/>
                  </a:moveTo>
                  <a:cubicBezTo>
                    <a:pt x="611" y="719"/>
                    <a:pt x="613" y="722"/>
                    <a:pt x="613" y="725"/>
                  </a:cubicBezTo>
                  <a:lnTo>
                    <a:pt x="613" y="746"/>
                  </a:lnTo>
                  <a:cubicBezTo>
                    <a:pt x="613" y="750"/>
                    <a:pt x="610" y="753"/>
                    <a:pt x="607" y="753"/>
                  </a:cubicBezTo>
                  <a:cubicBezTo>
                    <a:pt x="603" y="753"/>
                    <a:pt x="600" y="750"/>
                    <a:pt x="600" y="746"/>
                  </a:cubicBezTo>
                  <a:lnTo>
                    <a:pt x="600" y="725"/>
                  </a:lnTo>
                  <a:cubicBezTo>
                    <a:pt x="600" y="722"/>
                    <a:pt x="603" y="719"/>
                    <a:pt x="607" y="719"/>
                  </a:cubicBezTo>
                  <a:moveTo>
                    <a:pt x="670" y="715"/>
                  </a:moveTo>
                  <a:cubicBezTo>
                    <a:pt x="671" y="714"/>
                    <a:pt x="673" y="714"/>
                    <a:pt x="674" y="716"/>
                  </a:cubicBezTo>
                  <a:lnTo>
                    <a:pt x="680" y="725"/>
                  </a:lnTo>
                  <a:cubicBezTo>
                    <a:pt x="681" y="727"/>
                    <a:pt x="681" y="728"/>
                    <a:pt x="679" y="730"/>
                  </a:cubicBezTo>
                  <a:cubicBezTo>
                    <a:pt x="678" y="730"/>
                    <a:pt x="678" y="730"/>
                    <a:pt x="677" y="730"/>
                  </a:cubicBezTo>
                  <a:cubicBezTo>
                    <a:pt x="676" y="730"/>
                    <a:pt x="675" y="730"/>
                    <a:pt x="674" y="728"/>
                  </a:cubicBezTo>
                  <a:lnTo>
                    <a:pt x="669" y="719"/>
                  </a:lnTo>
                  <a:cubicBezTo>
                    <a:pt x="668" y="718"/>
                    <a:pt x="668" y="716"/>
                    <a:pt x="670" y="715"/>
                  </a:cubicBezTo>
                  <a:moveTo>
                    <a:pt x="544" y="715"/>
                  </a:moveTo>
                  <a:cubicBezTo>
                    <a:pt x="545" y="715"/>
                    <a:pt x="546" y="717"/>
                    <a:pt x="545" y="719"/>
                  </a:cubicBezTo>
                  <a:lnTo>
                    <a:pt x="540" y="728"/>
                  </a:lnTo>
                  <a:cubicBezTo>
                    <a:pt x="538" y="730"/>
                    <a:pt x="538" y="730"/>
                    <a:pt x="537" y="730"/>
                  </a:cubicBezTo>
                  <a:cubicBezTo>
                    <a:pt x="536" y="730"/>
                    <a:pt x="535" y="730"/>
                    <a:pt x="535" y="730"/>
                  </a:cubicBezTo>
                  <a:cubicBezTo>
                    <a:pt x="534" y="729"/>
                    <a:pt x="533" y="727"/>
                    <a:pt x="534" y="725"/>
                  </a:cubicBezTo>
                  <a:lnTo>
                    <a:pt x="540" y="716"/>
                  </a:lnTo>
                  <a:cubicBezTo>
                    <a:pt x="540" y="715"/>
                    <a:pt x="542" y="714"/>
                    <a:pt x="544" y="715"/>
                  </a:cubicBezTo>
                  <a:moveTo>
                    <a:pt x="494" y="667"/>
                  </a:moveTo>
                  <a:cubicBezTo>
                    <a:pt x="495" y="666"/>
                    <a:pt x="497" y="666"/>
                    <a:pt x="498" y="668"/>
                  </a:cubicBezTo>
                  <a:cubicBezTo>
                    <a:pt x="499" y="670"/>
                    <a:pt x="499" y="671"/>
                    <a:pt x="497" y="673"/>
                  </a:cubicBezTo>
                  <a:lnTo>
                    <a:pt x="487" y="678"/>
                  </a:lnTo>
                  <a:cubicBezTo>
                    <a:pt x="486" y="679"/>
                    <a:pt x="486" y="679"/>
                    <a:pt x="485" y="679"/>
                  </a:cubicBezTo>
                  <a:cubicBezTo>
                    <a:pt x="484" y="679"/>
                    <a:pt x="483" y="678"/>
                    <a:pt x="483" y="677"/>
                  </a:cubicBezTo>
                  <a:cubicBezTo>
                    <a:pt x="482" y="676"/>
                    <a:pt x="482" y="674"/>
                    <a:pt x="484" y="673"/>
                  </a:cubicBezTo>
                  <a:lnTo>
                    <a:pt x="494" y="667"/>
                  </a:lnTo>
                  <a:close/>
                  <a:moveTo>
                    <a:pt x="721" y="667"/>
                  </a:moveTo>
                  <a:lnTo>
                    <a:pt x="730" y="673"/>
                  </a:lnTo>
                  <a:cubicBezTo>
                    <a:pt x="731" y="673"/>
                    <a:pt x="732" y="675"/>
                    <a:pt x="731" y="677"/>
                  </a:cubicBezTo>
                  <a:cubicBezTo>
                    <a:pt x="731" y="678"/>
                    <a:pt x="729" y="679"/>
                    <a:pt x="728" y="679"/>
                  </a:cubicBezTo>
                  <a:cubicBezTo>
                    <a:pt x="727" y="679"/>
                    <a:pt x="727" y="679"/>
                    <a:pt x="727" y="678"/>
                  </a:cubicBezTo>
                  <a:lnTo>
                    <a:pt x="717" y="673"/>
                  </a:lnTo>
                  <a:cubicBezTo>
                    <a:pt x="716" y="672"/>
                    <a:pt x="715" y="670"/>
                    <a:pt x="716" y="668"/>
                  </a:cubicBezTo>
                  <a:cubicBezTo>
                    <a:pt x="717" y="667"/>
                    <a:pt x="719" y="666"/>
                    <a:pt x="721" y="667"/>
                  </a:cubicBezTo>
                  <a:moveTo>
                    <a:pt x="726" y="599"/>
                  </a:moveTo>
                  <a:lnTo>
                    <a:pt x="747" y="599"/>
                  </a:lnTo>
                  <a:cubicBezTo>
                    <a:pt x="751" y="599"/>
                    <a:pt x="753" y="602"/>
                    <a:pt x="753" y="605"/>
                  </a:cubicBezTo>
                  <a:cubicBezTo>
                    <a:pt x="753" y="609"/>
                    <a:pt x="750" y="612"/>
                    <a:pt x="747" y="612"/>
                  </a:cubicBezTo>
                  <a:lnTo>
                    <a:pt x="726" y="612"/>
                  </a:lnTo>
                  <a:cubicBezTo>
                    <a:pt x="722" y="612"/>
                    <a:pt x="720" y="609"/>
                    <a:pt x="720" y="605"/>
                  </a:cubicBezTo>
                  <a:cubicBezTo>
                    <a:pt x="720" y="602"/>
                    <a:pt x="722" y="599"/>
                    <a:pt x="726" y="599"/>
                  </a:cubicBezTo>
                  <a:moveTo>
                    <a:pt x="466" y="599"/>
                  </a:moveTo>
                  <a:lnTo>
                    <a:pt x="487" y="599"/>
                  </a:lnTo>
                  <a:cubicBezTo>
                    <a:pt x="491" y="599"/>
                    <a:pt x="494" y="602"/>
                    <a:pt x="494" y="605"/>
                  </a:cubicBezTo>
                  <a:cubicBezTo>
                    <a:pt x="494" y="609"/>
                    <a:pt x="490" y="612"/>
                    <a:pt x="487" y="612"/>
                  </a:cubicBezTo>
                  <a:lnTo>
                    <a:pt x="466" y="612"/>
                  </a:lnTo>
                  <a:cubicBezTo>
                    <a:pt x="463" y="612"/>
                    <a:pt x="460" y="609"/>
                    <a:pt x="460" y="605"/>
                  </a:cubicBezTo>
                  <a:cubicBezTo>
                    <a:pt x="460" y="602"/>
                    <a:pt x="463" y="599"/>
                    <a:pt x="466" y="599"/>
                  </a:cubicBezTo>
                  <a:moveTo>
                    <a:pt x="727" y="532"/>
                  </a:moveTo>
                  <a:cubicBezTo>
                    <a:pt x="728" y="531"/>
                    <a:pt x="730" y="531"/>
                    <a:pt x="731" y="533"/>
                  </a:cubicBezTo>
                  <a:cubicBezTo>
                    <a:pt x="732" y="534"/>
                    <a:pt x="732" y="536"/>
                    <a:pt x="730" y="538"/>
                  </a:cubicBezTo>
                  <a:lnTo>
                    <a:pt x="721" y="543"/>
                  </a:lnTo>
                  <a:cubicBezTo>
                    <a:pt x="721" y="543"/>
                    <a:pt x="720" y="543"/>
                    <a:pt x="719" y="543"/>
                  </a:cubicBezTo>
                  <a:cubicBezTo>
                    <a:pt x="718" y="543"/>
                    <a:pt x="717" y="543"/>
                    <a:pt x="717" y="541"/>
                  </a:cubicBezTo>
                  <a:cubicBezTo>
                    <a:pt x="716" y="540"/>
                    <a:pt x="716" y="538"/>
                    <a:pt x="718" y="537"/>
                  </a:cubicBezTo>
                  <a:lnTo>
                    <a:pt x="727" y="532"/>
                  </a:lnTo>
                  <a:close/>
                  <a:moveTo>
                    <a:pt x="487" y="532"/>
                  </a:moveTo>
                  <a:lnTo>
                    <a:pt x="496" y="537"/>
                  </a:lnTo>
                  <a:cubicBezTo>
                    <a:pt x="497" y="538"/>
                    <a:pt x="498" y="540"/>
                    <a:pt x="497" y="541"/>
                  </a:cubicBezTo>
                  <a:cubicBezTo>
                    <a:pt x="496" y="543"/>
                    <a:pt x="495" y="543"/>
                    <a:pt x="494" y="543"/>
                  </a:cubicBezTo>
                  <a:cubicBezTo>
                    <a:pt x="494" y="543"/>
                    <a:pt x="493" y="543"/>
                    <a:pt x="493" y="543"/>
                  </a:cubicBezTo>
                  <a:lnTo>
                    <a:pt x="484" y="538"/>
                  </a:lnTo>
                  <a:cubicBezTo>
                    <a:pt x="483" y="537"/>
                    <a:pt x="482" y="535"/>
                    <a:pt x="483" y="533"/>
                  </a:cubicBezTo>
                  <a:cubicBezTo>
                    <a:pt x="483" y="531"/>
                    <a:pt x="485" y="531"/>
                    <a:pt x="487" y="532"/>
                  </a:cubicBezTo>
                  <a:moveTo>
                    <a:pt x="607" y="505"/>
                  </a:moveTo>
                  <a:cubicBezTo>
                    <a:pt x="609" y="505"/>
                    <a:pt x="612" y="507"/>
                    <a:pt x="612" y="510"/>
                  </a:cubicBezTo>
                  <a:lnTo>
                    <a:pt x="612" y="595"/>
                  </a:lnTo>
                  <a:lnTo>
                    <a:pt x="615" y="598"/>
                  </a:lnTo>
                  <a:lnTo>
                    <a:pt x="667" y="598"/>
                  </a:lnTo>
                  <a:cubicBezTo>
                    <a:pt x="671" y="598"/>
                    <a:pt x="674" y="602"/>
                    <a:pt x="674" y="605"/>
                  </a:cubicBezTo>
                  <a:cubicBezTo>
                    <a:pt x="674" y="609"/>
                    <a:pt x="671" y="612"/>
                    <a:pt x="667" y="612"/>
                  </a:cubicBezTo>
                  <a:lnTo>
                    <a:pt x="615" y="612"/>
                  </a:lnTo>
                  <a:lnTo>
                    <a:pt x="612" y="616"/>
                  </a:lnTo>
                  <a:lnTo>
                    <a:pt x="612" y="630"/>
                  </a:lnTo>
                  <a:cubicBezTo>
                    <a:pt x="612" y="632"/>
                    <a:pt x="610" y="635"/>
                    <a:pt x="607" y="635"/>
                  </a:cubicBezTo>
                  <a:cubicBezTo>
                    <a:pt x="604" y="635"/>
                    <a:pt x="602" y="632"/>
                    <a:pt x="602" y="630"/>
                  </a:cubicBezTo>
                  <a:lnTo>
                    <a:pt x="602" y="616"/>
                  </a:lnTo>
                  <a:lnTo>
                    <a:pt x="599" y="612"/>
                  </a:lnTo>
                  <a:lnTo>
                    <a:pt x="584" y="612"/>
                  </a:lnTo>
                  <a:cubicBezTo>
                    <a:pt x="580" y="612"/>
                    <a:pt x="577" y="609"/>
                    <a:pt x="577" y="605"/>
                  </a:cubicBezTo>
                  <a:cubicBezTo>
                    <a:pt x="577" y="602"/>
                    <a:pt x="580" y="598"/>
                    <a:pt x="584" y="598"/>
                  </a:cubicBezTo>
                  <a:lnTo>
                    <a:pt x="599" y="598"/>
                  </a:lnTo>
                  <a:lnTo>
                    <a:pt x="602" y="595"/>
                  </a:lnTo>
                  <a:lnTo>
                    <a:pt x="602" y="510"/>
                  </a:lnTo>
                  <a:cubicBezTo>
                    <a:pt x="602" y="507"/>
                    <a:pt x="604" y="505"/>
                    <a:pt x="607" y="505"/>
                  </a:cubicBezTo>
                  <a:moveTo>
                    <a:pt x="679" y="481"/>
                  </a:moveTo>
                  <a:cubicBezTo>
                    <a:pt x="680" y="481"/>
                    <a:pt x="681" y="483"/>
                    <a:pt x="680" y="485"/>
                  </a:cubicBezTo>
                  <a:lnTo>
                    <a:pt x="675" y="494"/>
                  </a:lnTo>
                  <a:cubicBezTo>
                    <a:pt x="674" y="495"/>
                    <a:pt x="672" y="496"/>
                    <a:pt x="672" y="496"/>
                  </a:cubicBezTo>
                  <a:cubicBezTo>
                    <a:pt x="671" y="496"/>
                    <a:pt x="671" y="496"/>
                    <a:pt x="671" y="495"/>
                  </a:cubicBezTo>
                  <a:cubicBezTo>
                    <a:pt x="669" y="494"/>
                    <a:pt x="669" y="493"/>
                    <a:pt x="669" y="491"/>
                  </a:cubicBezTo>
                  <a:lnTo>
                    <a:pt x="674" y="482"/>
                  </a:lnTo>
                  <a:cubicBezTo>
                    <a:pt x="675" y="481"/>
                    <a:pt x="677" y="480"/>
                    <a:pt x="679" y="481"/>
                  </a:cubicBezTo>
                  <a:moveTo>
                    <a:pt x="535" y="481"/>
                  </a:moveTo>
                  <a:cubicBezTo>
                    <a:pt x="537" y="480"/>
                    <a:pt x="538" y="480"/>
                    <a:pt x="540" y="482"/>
                  </a:cubicBezTo>
                  <a:lnTo>
                    <a:pt x="545" y="491"/>
                  </a:lnTo>
                  <a:cubicBezTo>
                    <a:pt x="545" y="492"/>
                    <a:pt x="545" y="494"/>
                    <a:pt x="544" y="495"/>
                  </a:cubicBezTo>
                  <a:cubicBezTo>
                    <a:pt x="543" y="496"/>
                    <a:pt x="542" y="496"/>
                    <a:pt x="542" y="496"/>
                  </a:cubicBezTo>
                  <a:cubicBezTo>
                    <a:pt x="540" y="496"/>
                    <a:pt x="540" y="495"/>
                    <a:pt x="539" y="494"/>
                  </a:cubicBezTo>
                  <a:lnTo>
                    <a:pt x="534" y="485"/>
                  </a:lnTo>
                  <a:cubicBezTo>
                    <a:pt x="533" y="484"/>
                    <a:pt x="533" y="482"/>
                    <a:pt x="535" y="481"/>
                  </a:cubicBezTo>
                  <a:moveTo>
                    <a:pt x="607" y="458"/>
                  </a:moveTo>
                  <a:cubicBezTo>
                    <a:pt x="611" y="458"/>
                    <a:pt x="613" y="461"/>
                    <a:pt x="613" y="465"/>
                  </a:cubicBezTo>
                  <a:lnTo>
                    <a:pt x="613" y="486"/>
                  </a:lnTo>
                  <a:cubicBezTo>
                    <a:pt x="613" y="489"/>
                    <a:pt x="610" y="492"/>
                    <a:pt x="607" y="492"/>
                  </a:cubicBezTo>
                  <a:cubicBezTo>
                    <a:pt x="603" y="492"/>
                    <a:pt x="600" y="489"/>
                    <a:pt x="600" y="486"/>
                  </a:cubicBezTo>
                  <a:lnTo>
                    <a:pt x="600" y="465"/>
                  </a:lnTo>
                  <a:cubicBezTo>
                    <a:pt x="600" y="461"/>
                    <a:pt x="603" y="458"/>
                    <a:pt x="607" y="458"/>
                  </a:cubicBezTo>
                  <a:moveTo>
                    <a:pt x="607" y="446"/>
                  </a:moveTo>
                  <a:cubicBezTo>
                    <a:pt x="520" y="446"/>
                    <a:pt x="448" y="518"/>
                    <a:pt x="448" y="605"/>
                  </a:cubicBezTo>
                  <a:cubicBezTo>
                    <a:pt x="448" y="693"/>
                    <a:pt x="520" y="765"/>
                    <a:pt x="607" y="765"/>
                  </a:cubicBezTo>
                  <a:cubicBezTo>
                    <a:pt x="694" y="765"/>
                    <a:pt x="765" y="693"/>
                    <a:pt x="765" y="605"/>
                  </a:cubicBezTo>
                  <a:cubicBezTo>
                    <a:pt x="765" y="518"/>
                    <a:pt x="694" y="446"/>
                    <a:pt x="607" y="446"/>
                  </a:cubicBezTo>
                  <a:moveTo>
                    <a:pt x="607" y="396"/>
                  </a:moveTo>
                  <a:cubicBezTo>
                    <a:pt x="722" y="396"/>
                    <a:pt x="816" y="491"/>
                    <a:pt x="816" y="606"/>
                  </a:cubicBezTo>
                  <a:cubicBezTo>
                    <a:pt x="816" y="722"/>
                    <a:pt x="722" y="816"/>
                    <a:pt x="607" y="816"/>
                  </a:cubicBezTo>
                  <a:cubicBezTo>
                    <a:pt x="491" y="816"/>
                    <a:pt x="397" y="722"/>
                    <a:pt x="397" y="606"/>
                  </a:cubicBezTo>
                  <a:cubicBezTo>
                    <a:pt x="397" y="491"/>
                    <a:pt x="492" y="396"/>
                    <a:pt x="607" y="396"/>
                  </a:cubicBezTo>
                  <a:moveTo>
                    <a:pt x="572" y="2"/>
                  </a:moveTo>
                  <a:cubicBezTo>
                    <a:pt x="586" y="2"/>
                    <a:pt x="597" y="14"/>
                    <a:pt x="597" y="28"/>
                  </a:cubicBezTo>
                  <a:lnTo>
                    <a:pt x="597" y="195"/>
                  </a:lnTo>
                  <a:cubicBezTo>
                    <a:pt x="597" y="208"/>
                    <a:pt x="586" y="220"/>
                    <a:pt x="572" y="220"/>
                  </a:cubicBezTo>
                  <a:cubicBezTo>
                    <a:pt x="558" y="220"/>
                    <a:pt x="547" y="208"/>
                    <a:pt x="547" y="195"/>
                  </a:cubicBezTo>
                  <a:lnTo>
                    <a:pt x="547" y="138"/>
                  </a:lnTo>
                  <a:lnTo>
                    <a:pt x="283" y="138"/>
                  </a:lnTo>
                  <a:cubicBezTo>
                    <a:pt x="269" y="138"/>
                    <a:pt x="258" y="127"/>
                    <a:pt x="258" y="113"/>
                  </a:cubicBezTo>
                  <a:cubicBezTo>
                    <a:pt x="258" y="99"/>
                    <a:pt x="269" y="87"/>
                    <a:pt x="283" y="87"/>
                  </a:cubicBezTo>
                  <a:lnTo>
                    <a:pt x="547" y="87"/>
                  </a:lnTo>
                  <a:lnTo>
                    <a:pt x="547" y="28"/>
                  </a:lnTo>
                  <a:cubicBezTo>
                    <a:pt x="547" y="14"/>
                    <a:pt x="558" y="2"/>
                    <a:pt x="572" y="2"/>
                  </a:cubicBezTo>
                  <a:moveTo>
                    <a:pt x="216" y="2"/>
                  </a:moveTo>
                  <a:cubicBezTo>
                    <a:pt x="230" y="2"/>
                    <a:pt x="241" y="14"/>
                    <a:pt x="241" y="28"/>
                  </a:cubicBezTo>
                  <a:lnTo>
                    <a:pt x="241" y="195"/>
                  </a:lnTo>
                  <a:cubicBezTo>
                    <a:pt x="241" y="208"/>
                    <a:pt x="230" y="220"/>
                    <a:pt x="216" y="220"/>
                  </a:cubicBezTo>
                  <a:cubicBezTo>
                    <a:pt x="202" y="220"/>
                    <a:pt x="191" y="208"/>
                    <a:pt x="191" y="195"/>
                  </a:cubicBezTo>
                  <a:lnTo>
                    <a:pt x="191" y="138"/>
                  </a:lnTo>
                  <a:lnTo>
                    <a:pt x="85" y="138"/>
                  </a:lnTo>
                  <a:cubicBezTo>
                    <a:pt x="68" y="138"/>
                    <a:pt x="53" y="153"/>
                    <a:pt x="53" y="170"/>
                  </a:cubicBezTo>
                  <a:lnTo>
                    <a:pt x="53" y="267"/>
                  </a:lnTo>
                  <a:lnTo>
                    <a:pt x="734" y="267"/>
                  </a:lnTo>
                  <a:lnTo>
                    <a:pt x="734" y="170"/>
                  </a:lnTo>
                  <a:cubicBezTo>
                    <a:pt x="734" y="153"/>
                    <a:pt x="719" y="138"/>
                    <a:pt x="702" y="138"/>
                  </a:cubicBezTo>
                  <a:lnTo>
                    <a:pt x="638" y="138"/>
                  </a:lnTo>
                  <a:cubicBezTo>
                    <a:pt x="624" y="138"/>
                    <a:pt x="613" y="127"/>
                    <a:pt x="613" y="113"/>
                  </a:cubicBezTo>
                  <a:cubicBezTo>
                    <a:pt x="613" y="99"/>
                    <a:pt x="624" y="87"/>
                    <a:pt x="638" y="87"/>
                  </a:cubicBezTo>
                  <a:lnTo>
                    <a:pt x="702" y="87"/>
                  </a:lnTo>
                  <a:cubicBezTo>
                    <a:pt x="747" y="87"/>
                    <a:pt x="784" y="125"/>
                    <a:pt x="784" y="170"/>
                  </a:cubicBezTo>
                  <a:lnTo>
                    <a:pt x="784" y="291"/>
                  </a:lnTo>
                  <a:lnTo>
                    <a:pt x="785" y="292"/>
                  </a:lnTo>
                  <a:lnTo>
                    <a:pt x="784" y="294"/>
                  </a:lnTo>
                  <a:lnTo>
                    <a:pt x="784" y="392"/>
                  </a:lnTo>
                  <a:cubicBezTo>
                    <a:pt x="784" y="406"/>
                    <a:pt x="774" y="418"/>
                    <a:pt x="759" y="418"/>
                  </a:cubicBezTo>
                  <a:cubicBezTo>
                    <a:pt x="745" y="418"/>
                    <a:pt x="734" y="406"/>
                    <a:pt x="734" y="392"/>
                  </a:cubicBezTo>
                  <a:lnTo>
                    <a:pt x="734" y="318"/>
                  </a:lnTo>
                  <a:lnTo>
                    <a:pt x="53" y="318"/>
                  </a:lnTo>
                  <a:lnTo>
                    <a:pt x="53" y="676"/>
                  </a:lnTo>
                  <a:cubicBezTo>
                    <a:pt x="53" y="694"/>
                    <a:pt x="68" y="709"/>
                    <a:pt x="85" y="709"/>
                  </a:cubicBezTo>
                  <a:lnTo>
                    <a:pt x="378" y="709"/>
                  </a:lnTo>
                  <a:cubicBezTo>
                    <a:pt x="392" y="709"/>
                    <a:pt x="403" y="720"/>
                    <a:pt x="403" y="734"/>
                  </a:cubicBezTo>
                  <a:cubicBezTo>
                    <a:pt x="403" y="748"/>
                    <a:pt x="392" y="760"/>
                    <a:pt x="378" y="760"/>
                  </a:cubicBezTo>
                  <a:lnTo>
                    <a:pt x="85" y="760"/>
                  </a:lnTo>
                  <a:cubicBezTo>
                    <a:pt x="40" y="760"/>
                    <a:pt x="2" y="722"/>
                    <a:pt x="2" y="676"/>
                  </a:cubicBezTo>
                  <a:lnTo>
                    <a:pt x="2" y="170"/>
                  </a:lnTo>
                  <a:cubicBezTo>
                    <a:pt x="2" y="125"/>
                    <a:pt x="40" y="87"/>
                    <a:pt x="85" y="87"/>
                  </a:cubicBezTo>
                  <a:lnTo>
                    <a:pt x="191" y="87"/>
                  </a:lnTo>
                  <a:lnTo>
                    <a:pt x="191" y="28"/>
                  </a:lnTo>
                  <a:cubicBezTo>
                    <a:pt x="191" y="14"/>
                    <a:pt x="202" y="2"/>
                    <a:pt x="216" y="2"/>
                  </a:cubicBezTo>
                </a:path>
              </a:pathLst>
            </a:custGeom>
            <a:noFill/>
            <a:ln w="3679" cap="flat">
              <a:solidFill>
                <a:srgbClr val="DFA87F"/>
              </a:solidFill>
              <a:prstDash val="solid"/>
              <a:miter lim="1000000"/>
            </a:ln>
          </p:spPr>
          <p:txBody>
            <a:bodyPr rtlCol="0"/>
            <a:lstStyle/>
            <a:p>
              <a:pPr algn="ctr"/>
              <a:endParaRPr lang="zh-CN" altLang="en-US"/>
            </a:p>
          </p:txBody>
        </p:sp>
      </p:grpSp>
      <p:pic>
        <p:nvPicPr>
          <p:cNvPr id="42" name="picture 42"/>
          <p:cNvPicPr>
            <a:picLocks noChangeAspect="1"/>
          </p:cNvPicPr>
          <p:nvPr/>
        </p:nvPicPr>
        <p:blipFill>
          <a:blip r:embed="rId8"/>
          <a:stretch>
            <a:fillRect/>
          </a:stretch>
        </p:blipFill>
        <p:spPr>
          <a:xfrm rot="21600000">
            <a:off x="3002549" y="3986965"/>
            <a:ext cx="503551" cy="502248"/>
          </a:xfrm>
          <a:prstGeom prst="rect">
            <a:avLst/>
          </a:prstGeom>
        </p:spPr>
      </p:pic>
      <p:pic>
        <p:nvPicPr>
          <p:cNvPr id="44" name="picture 44"/>
          <p:cNvPicPr>
            <a:picLocks noChangeAspect="1"/>
          </p:cNvPicPr>
          <p:nvPr/>
        </p:nvPicPr>
        <p:blipFill>
          <a:blip r:embed="rId9"/>
          <a:stretch>
            <a:fillRect/>
          </a:stretch>
        </p:blipFill>
        <p:spPr>
          <a:xfrm rot="21600000">
            <a:off x="528066" y="2357628"/>
            <a:ext cx="6609864" cy="38100"/>
          </a:xfrm>
          <a:prstGeom prst="rect">
            <a:avLst/>
          </a:prstGeom>
        </p:spPr>
      </p:pic>
      <p:pic>
        <p:nvPicPr>
          <p:cNvPr id="46" name="picture 46"/>
          <p:cNvPicPr>
            <a:picLocks noChangeAspect="1"/>
          </p:cNvPicPr>
          <p:nvPr/>
        </p:nvPicPr>
        <p:blipFill>
          <a:blip r:embed="rId10"/>
          <a:stretch>
            <a:fillRect/>
          </a:stretch>
        </p:blipFill>
        <p:spPr>
          <a:xfrm rot="21600000">
            <a:off x="3026528" y="2926373"/>
            <a:ext cx="455592" cy="479572"/>
          </a:xfrm>
          <a:prstGeom prst="rect">
            <a:avLst/>
          </a:prstGeom>
        </p:spPr>
      </p:pic>
      <p:sp>
        <p:nvSpPr>
          <p:cNvPr id="48" name="path 48"/>
          <p:cNvSpPr/>
          <p:nvPr/>
        </p:nvSpPr>
        <p:spPr>
          <a:xfrm>
            <a:off x="841247" y="4014216"/>
            <a:ext cx="332232" cy="518159"/>
          </a:xfrm>
          <a:custGeom>
            <a:avLst/>
            <a:gdLst/>
            <a:ahLst/>
            <a:cxnLst/>
            <a:rect l="0" t="0" r="0" b="0"/>
            <a:pathLst>
              <a:path w="523" h="815">
                <a:moveTo>
                  <a:pt x="261" y="0"/>
                </a:moveTo>
                <a:cubicBezTo>
                  <a:pt x="117" y="0"/>
                  <a:pt x="0" y="40"/>
                  <a:pt x="0" y="90"/>
                </a:cubicBezTo>
                <a:lnTo>
                  <a:pt x="0" y="160"/>
                </a:lnTo>
                <a:cubicBezTo>
                  <a:pt x="0" y="210"/>
                  <a:pt x="117" y="251"/>
                  <a:pt x="261" y="251"/>
                </a:cubicBezTo>
                <a:cubicBezTo>
                  <a:pt x="406" y="251"/>
                  <a:pt x="523" y="210"/>
                  <a:pt x="523" y="160"/>
                </a:cubicBezTo>
                <a:lnTo>
                  <a:pt x="523" y="90"/>
                </a:lnTo>
                <a:cubicBezTo>
                  <a:pt x="523" y="40"/>
                  <a:pt x="406" y="0"/>
                  <a:pt x="261" y="0"/>
                </a:cubicBezTo>
                <a:moveTo>
                  <a:pt x="59" y="208"/>
                </a:moveTo>
                <a:cubicBezTo>
                  <a:pt x="45" y="202"/>
                  <a:pt x="33" y="195"/>
                  <a:pt x="24" y="188"/>
                </a:cubicBezTo>
                <a:lnTo>
                  <a:pt x="24" y="120"/>
                </a:lnTo>
                <a:cubicBezTo>
                  <a:pt x="33" y="127"/>
                  <a:pt x="45" y="134"/>
                  <a:pt x="59" y="140"/>
                </a:cubicBezTo>
                <a:lnTo>
                  <a:pt x="59" y="208"/>
                </a:lnTo>
                <a:close/>
                <a:moveTo>
                  <a:pt x="110" y="225"/>
                </a:moveTo>
                <a:cubicBezTo>
                  <a:pt x="98" y="222"/>
                  <a:pt x="86" y="218"/>
                  <a:pt x="75" y="214"/>
                </a:cubicBezTo>
                <a:lnTo>
                  <a:pt x="75" y="146"/>
                </a:lnTo>
                <a:cubicBezTo>
                  <a:pt x="86" y="150"/>
                  <a:pt x="98" y="154"/>
                  <a:pt x="110" y="157"/>
                </a:cubicBezTo>
                <a:lnTo>
                  <a:pt x="110" y="225"/>
                </a:lnTo>
                <a:close/>
                <a:moveTo>
                  <a:pt x="162" y="235"/>
                </a:moveTo>
                <a:cubicBezTo>
                  <a:pt x="150" y="233"/>
                  <a:pt x="138" y="231"/>
                  <a:pt x="127" y="229"/>
                </a:cubicBezTo>
                <a:lnTo>
                  <a:pt x="127" y="161"/>
                </a:lnTo>
                <a:cubicBezTo>
                  <a:pt x="138" y="163"/>
                  <a:pt x="150" y="166"/>
                  <a:pt x="162" y="167"/>
                </a:cubicBezTo>
                <a:lnTo>
                  <a:pt x="162" y="235"/>
                </a:lnTo>
                <a:close/>
                <a:moveTo>
                  <a:pt x="477" y="201"/>
                </a:moveTo>
                <a:cubicBezTo>
                  <a:pt x="466" y="207"/>
                  <a:pt x="455" y="212"/>
                  <a:pt x="442" y="216"/>
                </a:cubicBezTo>
                <a:lnTo>
                  <a:pt x="442" y="148"/>
                </a:lnTo>
                <a:cubicBezTo>
                  <a:pt x="455" y="144"/>
                  <a:pt x="466" y="139"/>
                  <a:pt x="477" y="134"/>
                </a:cubicBezTo>
                <a:lnTo>
                  <a:pt x="477" y="201"/>
                </a:lnTo>
                <a:close/>
                <a:moveTo>
                  <a:pt x="439" y="135"/>
                </a:moveTo>
                <a:cubicBezTo>
                  <a:pt x="392" y="151"/>
                  <a:pt x="329" y="160"/>
                  <a:pt x="261" y="160"/>
                </a:cubicBezTo>
                <a:cubicBezTo>
                  <a:pt x="194" y="160"/>
                  <a:pt x="130" y="151"/>
                  <a:pt x="83" y="135"/>
                </a:cubicBezTo>
                <a:cubicBezTo>
                  <a:pt x="40" y="120"/>
                  <a:pt x="21" y="102"/>
                  <a:pt x="21" y="90"/>
                </a:cubicBezTo>
                <a:cubicBezTo>
                  <a:pt x="21" y="79"/>
                  <a:pt x="40" y="61"/>
                  <a:pt x="83" y="46"/>
                </a:cubicBezTo>
                <a:cubicBezTo>
                  <a:pt x="130" y="30"/>
                  <a:pt x="194" y="21"/>
                  <a:pt x="261" y="21"/>
                </a:cubicBezTo>
                <a:cubicBezTo>
                  <a:pt x="329" y="21"/>
                  <a:pt x="392" y="30"/>
                  <a:pt x="439" y="46"/>
                </a:cubicBezTo>
                <a:cubicBezTo>
                  <a:pt x="482" y="61"/>
                  <a:pt x="501" y="79"/>
                  <a:pt x="501" y="90"/>
                </a:cubicBezTo>
                <a:cubicBezTo>
                  <a:pt x="501" y="102"/>
                  <a:pt x="482" y="120"/>
                  <a:pt x="439" y="135"/>
                </a:cubicBezTo>
                <a:moveTo>
                  <a:pt x="345" y="96"/>
                </a:moveTo>
                <a:cubicBezTo>
                  <a:pt x="340" y="92"/>
                  <a:pt x="335" y="90"/>
                  <a:pt x="328" y="87"/>
                </a:cubicBezTo>
                <a:cubicBezTo>
                  <a:pt x="321" y="85"/>
                  <a:pt x="309" y="83"/>
                  <a:pt x="290" y="79"/>
                </a:cubicBezTo>
                <a:cubicBezTo>
                  <a:pt x="269" y="74"/>
                  <a:pt x="256" y="71"/>
                  <a:pt x="251" y="70"/>
                </a:cubicBezTo>
                <a:cubicBezTo>
                  <a:pt x="247" y="68"/>
                  <a:pt x="244" y="66"/>
                  <a:pt x="244" y="62"/>
                </a:cubicBezTo>
                <a:cubicBezTo>
                  <a:pt x="244" y="60"/>
                  <a:pt x="246" y="58"/>
                  <a:pt x="248" y="56"/>
                </a:cubicBezTo>
                <a:cubicBezTo>
                  <a:pt x="250" y="55"/>
                  <a:pt x="253" y="55"/>
                  <a:pt x="258" y="55"/>
                </a:cubicBezTo>
                <a:cubicBezTo>
                  <a:pt x="263" y="55"/>
                  <a:pt x="267" y="55"/>
                  <a:pt x="268" y="57"/>
                </a:cubicBezTo>
                <a:cubicBezTo>
                  <a:pt x="270" y="58"/>
                  <a:pt x="271" y="61"/>
                  <a:pt x="271" y="65"/>
                </a:cubicBezTo>
                <a:lnTo>
                  <a:pt x="271" y="70"/>
                </a:lnTo>
                <a:lnTo>
                  <a:pt x="343" y="70"/>
                </a:lnTo>
                <a:cubicBezTo>
                  <a:pt x="344" y="67"/>
                  <a:pt x="344" y="66"/>
                  <a:pt x="344" y="65"/>
                </a:cubicBezTo>
                <a:cubicBezTo>
                  <a:pt x="344" y="57"/>
                  <a:pt x="338" y="52"/>
                  <a:pt x="327" y="48"/>
                </a:cubicBezTo>
                <a:cubicBezTo>
                  <a:pt x="316" y="44"/>
                  <a:pt x="300" y="41"/>
                  <a:pt x="277" y="40"/>
                </a:cubicBezTo>
                <a:lnTo>
                  <a:pt x="277" y="32"/>
                </a:lnTo>
                <a:lnTo>
                  <a:pt x="244" y="32"/>
                </a:lnTo>
                <a:lnTo>
                  <a:pt x="244" y="40"/>
                </a:lnTo>
                <a:cubicBezTo>
                  <a:pt x="219" y="41"/>
                  <a:pt x="201" y="44"/>
                  <a:pt x="189" y="48"/>
                </a:cubicBezTo>
                <a:cubicBezTo>
                  <a:pt x="176" y="52"/>
                  <a:pt x="170" y="58"/>
                  <a:pt x="170" y="65"/>
                </a:cubicBezTo>
                <a:cubicBezTo>
                  <a:pt x="170" y="70"/>
                  <a:pt x="173" y="75"/>
                  <a:pt x="179" y="79"/>
                </a:cubicBezTo>
                <a:cubicBezTo>
                  <a:pt x="185" y="83"/>
                  <a:pt x="192" y="86"/>
                  <a:pt x="200" y="88"/>
                </a:cubicBezTo>
                <a:cubicBezTo>
                  <a:pt x="208" y="90"/>
                  <a:pt x="223" y="94"/>
                  <a:pt x="245" y="98"/>
                </a:cubicBezTo>
                <a:cubicBezTo>
                  <a:pt x="258" y="101"/>
                  <a:pt x="266" y="104"/>
                  <a:pt x="268" y="106"/>
                </a:cubicBezTo>
                <a:cubicBezTo>
                  <a:pt x="270" y="108"/>
                  <a:pt x="271" y="112"/>
                  <a:pt x="271" y="118"/>
                </a:cubicBezTo>
                <a:cubicBezTo>
                  <a:pt x="271" y="120"/>
                  <a:pt x="270" y="122"/>
                  <a:pt x="268" y="123"/>
                </a:cubicBezTo>
                <a:cubicBezTo>
                  <a:pt x="266" y="124"/>
                  <a:pt x="262" y="124"/>
                  <a:pt x="257" y="124"/>
                </a:cubicBezTo>
                <a:cubicBezTo>
                  <a:pt x="251" y="124"/>
                  <a:pt x="248" y="124"/>
                  <a:pt x="246" y="122"/>
                </a:cubicBezTo>
                <a:cubicBezTo>
                  <a:pt x="245" y="120"/>
                  <a:pt x="244" y="116"/>
                  <a:pt x="244" y="110"/>
                </a:cubicBezTo>
                <a:lnTo>
                  <a:pt x="244" y="104"/>
                </a:lnTo>
                <a:lnTo>
                  <a:pt x="171" y="104"/>
                </a:lnTo>
                <a:lnTo>
                  <a:pt x="171" y="109"/>
                </a:lnTo>
                <a:cubicBezTo>
                  <a:pt x="171" y="120"/>
                  <a:pt x="179" y="127"/>
                  <a:pt x="193" y="132"/>
                </a:cubicBezTo>
                <a:cubicBezTo>
                  <a:pt x="208" y="136"/>
                  <a:pt x="225" y="138"/>
                  <a:pt x="244" y="139"/>
                </a:cubicBezTo>
                <a:lnTo>
                  <a:pt x="244" y="149"/>
                </a:lnTo>
                <a:lnTo>
                  <a:pt x="277" y="149"/>
                </a:lnTo>
                <a:lnTo>
                  <a:pt x="277" y="140"/>
                </a:lnTo>
                <a:cubicBezTo>
                  <a:pt x="302" y="138"/>
                  <a:pt x="321" y="135"/>
                  <a:pt x="333" y="130"/>
                </a:cubicBezTo>
                <a:cubicBezTo>
                  <a:pt x="346" y="125"/>
                  <a:pt x="352" y="118"/>
                  <a:pt x="352" y="110"/>
                </a:cubicBezTo>
                <a:cubicBezTo>
                  <a:pt x="352" y="104"/>
                  <a:pt x="350" y="100"/>
                  <a:pt x="345" y="96"/>
                </a:cubicBezTo>
                <a:moveTo>
                  <a:pt x="261" y="273"/>
                </a:moveTo>
                <a:cubicBezTo>
                  <a:pt x="126" y="273"/>
                  <a:pt x="14" y="237"/>
                  <a:pt x="1" y="191"/>
                </a:cubicBezTo>
                <a:cubicBezTo>
                  <a:pt x="0" y="194"/>
                  <a:pt x="0" y="197"/>
                  <a:pt x="0" y="201"/>
                </a:cubicBezTo>
                <a:lnTo>
                  <a:pt x="0" y="270"/>
                </a:lnTo>
                <a:cubicBezTo>
                  <a:pt x="0" y="320"/>
                  <a:pt x="117" y="361"/>
                  <a:pt x="261" y="361"/>
                </a:cubicBezTo>
                <a:cubicBezTo>
                  <a:pt x="406" y="361"/>
                  <a:pt x="523" y="320"/>
                  <a:pt x="523" y="270"/>
                </a:cubicBezTo>
                <a:lnTo>
                  <a:pt x="523" y="201"/>
                </a:lnTo>
                <a:cubicBezTo>
                  <a:pt x="523" y="197"/>
                  <a:pt x="522" y="194"/>
                  <a:pt x="521" y="191"/>
                </a:cubicBezTo>
                <a:cubicBezTo>
                  <a:pt x="508" y="237"/>
                  <a:pt x="396" y="273"/>
                  <a:pt x="261" y="273"/>
                </a:cubicBezTo>
                <a:moveTo>
                  <a:pt x="59" y="318"/>
                </a:moveTo>
                <a:cubicBezTo>
                  <a:pt x="45" y="312"/>
                  <a:pt x="33" y="305"/>
                  <a:pt x="24" y="298"/>
                </a:cubicBezTo>
                <a:lnTo>
                  <a:pt x="24" y="230"/>
                </a:lnTo>
                <a:cubicBezTo>
                  <a:pt x="33" y="237"/>
                  <a:pt x="45" y="244"/>
                  <a:pt x="59" y="250"/>
                </a:cubicBezTo>
                <a:lnTo>
                  <a:pt x="59" y="318"/>
                </a:lnTo>
                <a:close/>
                <a:moveTo>
                  <a:pt x="110" y="335"/>
                </a:moveTo>
                <a:cubicBezTo>
                  <a:pt x="98" y="332"/>
                  <a:pt x="86" y="328"/>
                  <a:pt x="75" y="325"/>
                </a:cubicBezTo>
                <a:lnTo>
                  <a:pt x="75" y="257"/>
                </a:lnTo>
                <a:cubicBezTo>
                  <a:pt x="86" y="261"/>
                  <a:pt x="98" y="264"/>
                  <a:pt x="110" y="267"/>
                </a:cubicBezTo>
                <a:lnTo>
                  <a:pt x="110" y="335"/>
                </a:lnTo>
                <a:close/>
                <a:moveTo>
                  <a:pt x="162" y="345"/>
                </a:moveTo>
                <a:cubicBezTo>
                  <a:pt x="150" y="344"/>
                  <a:pt x="138" y="341"/>
                  <a:pt x="127" y="339"/>
                </a:cubicBezTo>
                <a:lnTo>
                  <a:pt x="127" y="271"/>
                </a:lnTo>
                <a:cubicBezTo>
                  <a:pt x="138" y="274"/>
                  <a:pt x="150" y="276"/>
                  <a:pt x="162" y="278"/>
                </a:cubicBezTo>
                <a:lnTo>
                  <a:pt x="162" y="345"/>
                </a:lnTo>
                <a:close/>
                <a:moveTo>
                  <a:pt x="477" y="312"/>
                </a:moveTo>
                <a:cubicBezTo>
                  <a:pt x="466" y="317"/>
                  <a:pt x="455" y="322"/>
                  <a:pt x="442" y="326"/>
                </a:cubicBezTo>
                <a:lnTo>
                  <a:pt x="442" y="258"/>
                </a:lnTo>
                <a:cubicBezTo>
                  <a:pt x="455" y="254"/>
                  <a:pt x="466" y="249"/>
                  <a:pt x="477" y="244"/>
                </a:cubicBezTo>
                <a:lnTo>
                  <a:pt x="477" y="312"/>
                </a:lnTo>
                <a:close/>
                <a:moveTo>
                  <a:pt x="261" y="386"/>
                </a:moveTo>
                <a:cubicBezTo>
                  <a:pt x="126" y="386"/>
                  <a:pt x="14" y="350"/>
                  <a:pt x="1" y="304"/>
                </a:cubicBezTo>
                <a:cubicBezTo>
                  <a:pt x="0" y="307"/>
                  <a:pt x="0" y="310"/>
                  <a:pt x="0" y="314"/>
                </a:cubicBezTo>
                <a:lnTo>
                  <a:pt x="0" y="383"/>
                </a:lnTo>
                <a:cubicBezTo>
                  <a:pt x="0" y="433"/>
                  <a:pt x="117" y="474"/>
                  <a:pt x="261" y="474"/>
                </a:cubicBezTo>
                <a:cubicBezTo>
                  <a:pt x="406" y="474"/>
                  <a:pt x="523" y="433"/>
                  <a:pt x="523" y="383"/>
                </a:cubicBezTo>
                <a:lnTo>
                  <a:pt x="523" y="314"/>
                </a:lnTo>
                <a:cubicBezTo>
                  <a:pt x="523" y="310"/>
                  <a:pt x="522" y="307"/>
                  <a:pt x="521" y="304"/>
                </a:cubicBezTo>
                <a:cubicBezTo>
                  <a:pt x="508" y="350"/>
                  <a:pt x="396" y="386"/>
                  <a:pt x="261" y="386"/>
                </a:cubicBezTo>
                <a:moveTo>
                  <a:pt x="59" y="431"/>
                </a:moveTo>
                <a:cubicBezTo>
                  <a:pt x="45" y="425"/>
                  <a:pt x="33" y="418"/>
                  <a:pt x="24" y="411"/>
                </a:cubicBezTo>
                <a:lnTo>
                  <a:pt x="24" y="343"/>
                </a:lnTo>
                <a:cubicBezTo>
                  <a:pt x="33" y="350"/>
                  <a:pt x="45" y="357"/>
                  <a:pt x="59" y="363"/>
                </a:cubicBezTo>
                <a:lnTo>
                  <a:pt x="59" y="431"/>
                </a:lnTo>
                <a:close/>
                <a:moveTo>
                  <a:pt x="110" y="448"/>
                </a:moveTo>
                <a:cubicBezTo>
                  <a:pt x="98" y="445"/>
                  <a:pt x="86" y="441"/>
                  <a:pt x="75" y="438"/>
                </a:cubicBezTo>
                <a:lnTo>
                  <a:pt x="75" y="370"/>
                </a:lnTo>
                <a:cubicBezTo>
                  <a:pt x="86" y="374"/>
                  <a:pt x="98" y="377"/>
                  <a:pt x="110" y="380"/>
                </a:cubicBezTo>
                <a:lnTo>
                  <a:pt x="110" y="448"/>
                </a:lnTo>
                <a:close/>
                <a:moveTo>
                  <a:pt x="162" y="458"/>
                </a:moveTo>
                <a:cubicBezTo>
                  <a:pt x="150" y="457"/>
                  <a:pt x="138" y="455"/>
                  <a:pt x="127" y="452"/>
                </a:cubicBezTo>
                <a:lnTo>
                  <a:pt x="127" y="384"/>
                </a:lnTo>
                <a:cubicBezTo>
                  <a:pt x="138" y="387"/>
                  <a:pt x="150" y="389"/>
                  <a:pt x="162" y="391"/>
                </a:cubicBezTo>
                <a:lnTo>
                  <a:pt x="162" y="458"/>
                </a:lnTo>
                <a:close/>
                <a:moveTo>
                  <a:pt x="477" y="425"/>
                </a:moveTo>
                <a:cubicBezTo>
                  <a:pt x="466" y="430"/>
                  <a:pt x="455" y="435"/>
                  <a:pt x="442" y="440"/>
                </a:cubicBezTo>
                <a:lnTo>
                  <a:pt x="442" y="372"/>
                </a:lnTo>
                <a:cubicBezTo>
                  <a:pt x="455" y="367"/>
                  <a:pt x="466" y="362"/>
                  <a:pt x="477" y="357"/>
                </a:cubicBezTo>
                <a:lnTo>
                  <a:pt x="477" y="425"/>
                </a:lnTo>
                <a:close/>
                <a:moveTo>
                  <a:pt x="261" y="499"/>
                </a:moveTo>
                <a:cubicBezTo>
                  <a:pt x="126" y="499"/>
                  <a:pt x="14" y="463"/>
                  <a:pt x="1" y="417"/>
                </a:cubicBezTo>
                <a:cubicBezTo>
                  <a:pt x="0" y="420"/>
                  <a:pt x="0" y="423"/>
                  <a:pt x="0" y="427"/>
                </a:cubicBezTo>
                <a:lnTo>
                  <a:pt x="0" y="496"/>
                </a:lnTo>
                <a:cubicBezTo>
                  <a:pt x="0" y="546"/>
                  <a:pt x="117" y="587"/>
                  <a:pt x="261" y="587"/>
                </a:cubicBezTo>
                <a:cubicBezTo>
                  <a:pt x="406" y="587"/>
                  <a:pt x="523" y="546"/>
                  <a:pt x="523" y="496"/>
                </a:cubicBezTo>
                <a:lnTo>
                  <a:pt x="523" y="427"/>
                </a:lnTo>
                <a:cubicBezTo>
                  <a:pt x="523" y="423"/>
                  <a:pt x="522" y="420"/>
                  <a:pt x="521" y="417"/>
                </a:cubicBezTo>
                <a:cubicBezTo>
                  <a:pt x="508" y="463"/>
                  <a:pt x="396" y="499"/>
                  <a:pt x="261" y="499"/>
                </a:cubicBezTo>
                <a:moveTo>
                  <a:pt x="59" y="544"/>
                </a:moveTo>
                <a:cubicBezTo>
                  <a:pt x="45" y="538"/>
                  <a:pt x="33" y="531"/>
                  <a:pt x="24" y="524"/>
                </a:cubicBezTo>
                <a:lnTo>
                  <a:pt x="24" y="456"/>
                </a:lnTo>
                <a:cubicBezTo>
                  <a:pt x="33" y="463"/>
                  <a:pt x="45" y="470"/>
                  <a:pt x="59" y="476"/>
                </a:cubicBezTo>
                <a:lnTo>
                  <a:pt x="59" y="544"/>
                </a:lnTo>
                <a:close/>
                <a:moveTo>
                  <a:pt x="110" y="561"/>
                </a:moveTo>
                <a:cubicBezTo>
                  <a:pt x="98" y="558"/>
                  <a:pt x="86" y="554"/>
                  <a:pt x="75" y="551"/>
                </a:cubicBezTo>
                <a:lnTo>
                  <a:pt x="75" y="483"/>
                </a:lnTo>
                <a:cubicBezTo>
                  <a:pt x="86" y="487"/>
                  <a:pt x="98" y="490"/>
                  <a:pt x="110" y="493"/>
                </a:cubicBezTo>
                <a:lnTo>
                  <a:pt x="110" y="561"/>
                </a:lnTo>
                <a:close/>
                <a:moveTo>
                  <a:pt x="162" y="571"/>
                </a:moveTo>
                <a:cubicBezTo>
                  <a:pt x="150" y="570"/>
                  <a:pt x="138" y="568"/>
                  <a:pt x="127" y="565"/>
                </a:cubicBezTo>
                <a:lnTo>
                  <a:pt x="127" y="497"/>
                </a:lnTo>
                <a:cubicBezTo>
                  <a:pt x="138" y="500"/>
                  <a:pt x="150" y="502"/>
                  <a:pt x="162" y="504"/>
                </a:cubicBezTo>
                <a:lnTo>
                  <a:pt x="162" y="571"/>
                </a:lnTo>
                <a:close/>
                <a:moveTo>
                  <a:pt x="477" y="538"/>
                </a:moveTo>
                <a:cubicBezTo>
                  <a:pt x="466" y="543"/>
                  <a:pt x="455" y="548"/>
                  <a:pt x="442" y="552"/>
                </a:cubicBezTo>
                <a:lnTo>
                  <a:pt x="442" y="485"/>
                </a:lnTo>
                <a:cubicBezTo>
                  <a:pt x="455" y="480"/>
                  <a:pt x="466" y="475"/>
                  <a:pt x="477" y="470"/>
                </a:cubicBezTo>
                <a:lnTo>
                  <a:pt x="477" y="538"/>
                </a:lnTo>
                <a:close/>
                <a:moveTo>
                  <a:pt x="261" y="614"/>
                </a:moveTo>
                <a:cubicBezTo>
                  <a:pt x="126" y="614"/>
                  <a:pt x="14" y="579"/>
                  <a:pt x="1" y="533"/>
                </a:cubicBezTo>
                <a:cubicBezTo>
                  <a:pt x="0" y="536"/>
                  <a:pt x="0" y="539"/>
                  <a:pt x="0" y="542"/>
                </a:cubicBezTo>
                <a:lnTo>
                  <a:pt x="0" y="611"/>
                </a:lnTo>
                <a:cubicBezTo>
                  <a:pt x="0" y="662"/>
                  <a:pt x="117" y="702"/>
                  <a:pt x="261" y="702"/>
                </a:cubicBezTo>
                <a:cubicBezTo>
                  <a:pt x="406" y="702"/>
                  <a:pt x="523" y="662"/>
                  <a:pt x="523" y="611"/>
                </a:cubicBezTo>
                <a:lnTo>
                  <a:pt x="523" y="542"/>
                </a:lnTo>
                <a:cubicBezTo>
                  <a:pt x="523" y="539"/>
                  <a:pt x="522" y="536"/>
                  <a:pt x="521" y="533"/>
                </a:cubicBezTo>
                <a:cubicBezTo>
                  <a:pt x="508" y="579"/>
                  <a:pt x="396" y="614"/>
                  <a:pt x="261" y="614"/>
                </a:cubicBezTo>
                <a:moveTo>
                  <a:pt x="59" y="660"/>
                </a:moveTo>
                <a:cubicBezTo>
                  <a:pt x="45" y="653"/>
                  <a:pt x="33" y="647"/>
                  <a:pt x="24" y="640"/>
                </a:cubicBezTo>
                <a:lnTo>
                  <a:pt x="24" y="572"/>
                </a:lnTo>
                <a:cubicBezTo>
                  <a:pt x="33" y="579"/>
                  <a:pt x="45" y="586"/>
                  <a:pt x="59" y="592"/>
                </a:cubicBezTo>
                <a:lnTo>
                  <a:pt x="59" y="660"/>
                </a:lnTo>
                <a:close/>
                <a:moveTo>
                  <a:pt x="110" y="677"/>
                </a:moveTo>
                <a:cubicBezTo>
                  <a:pt x="98" y="674"/>
                  <a:pt x="86" y="670"/>
                  <a:pt x="75" y="666"/>
                </a:cubicBezTo>
                <a:lnTo>
                  <a:pt x="75" y="598"/>
                </a:lnTo>
                <a:cubicBezTo>
                  <a:pt x="86" y="602"/>
                  <a:pt x="98" y="606"/>
                  <a:pt x="110" y="609"/>
                </a:cubicBezTo>
                <a:lnTo>
                  <a:pt x="110" y="677"/>
                </a:lnTo>
                <a:close/>
                <a:moveTo>
                  <a:pt x="162" y="687"/>
                </a:moveTo>
                <a:cubicBezTo>
                  <a:pt x="150" y="685"/>
                  <a:pt x="138" y="683"/>
                  <a:pt x="127" y="681"/>
                </a:cubicBezTo>
                <a:lnTo>
                  <a:pt x="127" y="613"/>
                </a:lnTo>
                <a:cubicBezTo>
                  <a:pt x="138" y="615"/>
                  <a:pt x="150" y="617"/>
                  <a:pt x="162" y="619"/>
                </a:cubicBezTo>
                <a:lnTo>
                  <a:pt x="162" y="687"/>
                </a:lnTo>
                <a:close/>
                <a:moveTo>
                  <a:pt x="477" y="653"/>
                </a:moveTo>
                <a:cubicBezTo>
                  <a:pt x="466" y="659"/>
                  <a:pt x="455" y="663"/>
                  <a:pt x="442" y="668"/>
                </a:cubicBezTo>
                <a:lnTo>
                  <a:pt x="442" y="600"/>
                </a:lnTo>
                <a:cubicBezTo>
                  <a:pt x="455" y="596"/>
                  <a:pt x="466" y="591"/>
                  <a:pt x="477" y="585"/>
                </a:cubicBezTo>
                <a:lnTo>
                  <a:pt x="477" y="653"/>
                </a:lnTo>
                <a:close/>
                <a:moveTo>
                  <a:pt x="261" y="727"/>
                </a:moveTo>
                <a:cubicBezTo>
                  <a:pt x="126" y="727"/>
                  <a:pt x="14" y="692"/>
                  <a:pt x="1" y="646"/>
                </a:cubicBezTo>
                <a:cubicBezTo>
                  <a:pt x="0" y="649"/>
                  <a:pt x="0" y="652"/>
                  <a:pt x="0" y="655"/>
                </a:cubicBezTo>
                <a:lnTo>
                  <a:pt x="0" y="724"/>
                </a:lnTo>
                <a:cubicBezTo>
                  <a:pt x="0" y="775"/>
                  <a:pt x="117" y="815"/>
                  <a:pt x="261" y="815"/>
                </a:cubicBezTo>
                <a:cubicBezTo>
                  <a:pt x="406" y="815"/>
                  <a:pt x="523" y="775"/>
                  <a:pt x="523" y="724"/>
                </a:cubicBezTo>
                <a:lnTo>
                  <a:pt x="523" y="655"/>
                </a:lnTo>
                <a:cubicBezTo>
                  <a:pt x="523" y="652"/>
                  <a:pt x="522" y="649"/>
                  <a:pt x="521" y="646"/>
                </a:cubicBezTo>
                <a:cubicBezTo>
                  <a:pt x="508" y="692"/>
                  <a:pt x="396" y="727"/>
                  <a:pt x="261" y="727"/>
                </a:cubicBezTo>
                <a:moveTo>
                  <a:pt x="59" y="772"/>
                </a:moveTo>
                <a:cubicBezTo>
                  <a:pt x="45" y="766"/>
                  <a:pt x="33" y="760"/>
                  <a:pt x="24" y="752"/>
                </a:cubicBezTo>
                <a:lnTo>
                  <a:pt x="24" y="685"/>
                </a:lnTo>
                <a:cubicBezTo>
                  <a:pt x="33" y="692"/>
                  <a:pt x="45" y="699"/>
                  <a:pt x="59" y="705"/>
                </a:cubicBezTo>
                <a:lnTo>
                  <a:pt x="59" y="772"/>
                </a:lnTo>
                <a:close/>
                <a:moveTo>
                  <a:pt x="110" y="790"/>
                </a:moveTo>
                <a:cubicBezTo>
                  <a:pt x="98" y="787"/>
                  <a:pt x="86" y="783"/>
                  <a:pt x="75" y="779"/>
                </a:cubicBezTo>
                <a:lnTo>
                  <a:pt x="75" y="711"/>
                </a:lnTo>
                <a:cubicBezTo>
                  <a:pt x="86" y="715"/>
                  <a:pt x="98" y="719"/>
                  <a:pt x="110" y="722"/>
                </a:cubicBezTo>
                <a:lnTo>
                  <a:pt x="110" y="790"/>
                </a:lnTo>
                <a:close/>
                <a:moveTo>
                  <a:pt x="162" y="800"/>
                </a:moveTo>
                <a:cubicBezTo>
                  <a:pt x="150" y="798"/>
                  <a:pt x="138" y="796"/>
                  <a:pt x="127" y="794"/>
                </a:cubicBezTo>
                <a:lnTo>
                  <a:pt x="127" y="726"/>
                </a:lnTo>
                <a:cubicBezTo>
                  <a:pt x="138" y="728"/>
                  <a:pt x="150" y="730"/>
                  <a:pt x="162" y="732"/>
                </a:cubicBezTo>
                <a:lnTo>
                  <a:pt x="162" y="800"/>
                </a:lnTo>
                <a:close/>
                <a:moveTo>
                  <a:pt x="477" y="766"/>
                </a:moveTo>
                <a:cubicBezTo>
                  <a:pt x="466" y="772"/>
                  <a:pt x="455" y="776"/>
                  <a:pt x="442" y="781"/>
                </a:cubicBezTo>
                <a:lnTo>
                  <a:pt x="442" y="713"/>
                </a:lnTo>
                <a:cubicBezTo>
                  <a:pt x="455" y="709"/>
                  <a:pt x="466" y="704"/>
                  <a:pt x="477" y="698"/>
                </a:cubicBezTo>
                <a:lnTo>
                  <a:pt x="477" y="766"/>
                </a:lnTo>
                <a:close/>
              </a:path>
            </a:pathLst>
          </a:custGeom>
          <a:solidFill>
            <a:srgbClr val="DFA87F">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50"/>
          <p:cNvPicPr>
            <a:picLocks noChangeAspect="1"/>
          </p:cNvPicPr>
          <p:nvPr/>
        </p:nvPicPr>
        <p:blipFill>
          <a:blip r:embed="rId2"/>
          <a:stretch>
            <a:fillRect/>
          </a:stretch>
        </p:blipFill>
        <p:spPr>
          <a:xfrm rot="21600000">
            <a:off x="0" y="0"/>
            <a:ext cx="12192000" cy="6857996"/>
          </a:xfrm>
          <a:prstGeom prst="rect">
            <a:avLst/>
          </a:prstGeom>
        </p:spPr>
      </p:pic>
      <p:pic>
        <p:nvPicPr>
          <p:cNvPr id="52" name="picture 52"/>
          <p:cNvPicPr>
            <a:picLocks noChangeAspect="1"/>
          </p:cNvPicPr>
          <p:nvPr/>
        </p:nvPicPr>
        <p:blipFill>
          <a:blip r:embed="rId3"/>
          <a:stretch>
            <a:fillRect/>
          </a:stretch>
        </p:blipFill>
        <p:spPr>
          <a:xfrm rot="21600000">
            <a:off x="0" y="0"/>
            <a:ext cx="12014200" cy="6857998"/>
          </a:xfrm>
          <a:prstGeom prst="rect">
            <a:avLst/>
          </a:prstGeom>
        </p:spPr>
      </p:pic>
      <p:sp>
        <p:nvSpPr>
          <p:cNvPr id="54" name="textbox 54"/>
          <p:cNvSpPr/>
          <p:nvPr/>
        </p:nvSpPr>
        <p:spPr>
          <a:xfrm>
            <a:off x="626770" y="2589069"/>
            <a:ext cx="5426709" cy="1119505"/>
          </a:xfrm>
          <a:prstGeom prst="rect">
            <a:avLst/>
          </a:prstGeom>
          <a:noFill/>
          <a:ln w="0" cap="flat">
            <a:noFill/>
            <a:prstDash val="solid"/>
            <a:miter lim="0"/>
          </a:ln>
        </p:spPr>
        <p:txBody>
          <a:bodyPr vert="horz" wrap="square" lIns="0" tIns="0" rIns="0" bIns="0"/>
          <a:lstStyle/>
          <a:p>
            <a:pPr algn="l" rtl="0" eaLnBrk="0">
              <a:lnSpc>
                <a:spcPct val="100000"/>
              </a:lnSpc>
              <a:tabLst/>
            </a:pPr>
            <a:endParaRPr sz="100" dirty="0">
              <a:latin typeface="Arial"/>
              <a:ea typeface="Arial"/>
              <a:cs typeface="Arial"/>
            </a:endParaRPr>
          </a:p>
          <a:p>
            <a:pPr marL="26034" algn="l" rtl="0" eaLnBrk="0">
              <a:lnSpc>
                <a:spcPct val="85000"/>
              </a:lnSpc>
              <a:spcBef>
                <a:spcPts val="1"/>
              </a:spcBef>
              <a:tabLst/>
            </a:pPr>
            <a:r>
              <a:rPr sz="3900" b="1" kern="0" spc="50" dirty="0">
                <a:solidFill>
                  <a:srgbClr val="595959">
                    <a:alpha val="100000"/>
                  </a:srgbClr>
                </a:solidFill>
                <a:latin typeface="KaiTi"/>
                <a:ea typeface="KaiTi"/>
                <a:cs typeface="KaiTi"/>
              </a:rPr>
              <a:t>世界模型</a:t>
            </a:r>
            <a:endParaRPr sz="3900" dirty="0">
              <a:latin typeface="KaiTi"/>
              <a:ea typeface="KaiTi"/>
              <a:cs typeface="KaiTi"/>
            </a:endParaRPr>
          </a:p>
          <a:p>
            <a:pPr marL="12700" algn="l" rtl="0" eaLnBrk="0">
              <a:lnSpc>
                <a:spcPct val="86000"/>
              </a:lnSpc>
              <a:spcBef>
                <a:spcPts val="588"/>
              </a:spcBef>
              <a:tabLst/>
            </a:pPr>
            <a:r>
              <a:rPr sz="3900" b="1" kern="0" spc="140" dirty="0">
                <a:solidFill>
                  <a:srgbClr val="595959">
                    <a:alpha val="100000"/>
                  </a:srgbClr>
                </a:solidFill>
                <a:latin typeface="KaiTi"/>
                <a:ea typeface="KaiTi"/>
                <a:cs typeface="KaiTi"/>
              </a:rPr>
              <a:t>——资本市场</a:t>
            </a:r>
            <a:r>
              <a:rPr sz="3900" kern="0" spc="140" dirty="0">
                <a:solidFill>
                  <a:srgbClr val="595959">
                    <a:alpha val="100000"/>
                  </a:srgbClr>
                </a:solidFill>
                <a:latin typeface="KaiTi"/>
                <a:ea typeface="KaiTi"/>
                <a:cs typeface="KaiTi"/>
              </a:rPr>
              <a:t> </a:t>
            </a:r>
            <a:r>
              <a:rPr sz="3900" b="1" kern="0" spc="0" dirty="0">
                <a:solidFill>
                  <a:srgbClr val="595959">
                    <a:alpha val="100000"/>
                  </a:srgbClr>
                </a:solidFill>
                <a:latin typeface="Times New Roman"/>
                <a:ea typeface="Times New Roman"/>
                <a:cs typeface="Times New Roman"/>
              </a:rPr>
              <a:t>Overview</a:t>
            </a:r>
            <a:endParaRPr sz="3900" dirty="0">
              <a:latin typeface="Times New Roman"/>
              <a:ea typeface="Times New Roman"/>
              <a:cs typeface="Times New Roman"/>
            </a:endParaRPr>
          </a:p>
        </p:txBody>
      </p:sp>
      <p:pic>
        <p:nvPicPr>
          <p:cNvPr id="56" name="picture 56"/>
          <p:cNvPicPr>
            <a:picLocks noChangeAspect="1"/>
          </p:cNvPicPr>
          <p:nvPr/>
        </p:nvPicPr>
        <p:blipFill>
          <a:blip r:embed="rId4"/>
          <a:stretch>
            <a:fillRect/>
          </a:stretch>
        </p:blipFill>
        <p:spPr>
          <a:xfrm rot="21600000">
            <a:off x="528066" y="4047744"/>
            <a:ext cx="6660515" cy="38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table 58"/>
          <p:cNvGraphicFramePr>
            <a:graphicFrameLocks noGrp="1"/>
          </p:cNvGraphicFramePr>
          <p:nvPr/>
        </p:nvGraphicFramePr>
        <p:xfrm>
          <a:off x="389890" y="3186429"/>
          <a:ext cx="11174094" cy="3411220"/>
        </p:xfrm>
        <a:graphic>
          <a:graphicData uri="http://schemas.openxmlformats.org/drawingml/2006/table">
            <a:tbl>
              <a:tblPr/>
              <a:tblGrid>
                <a:gridCol w="2303779"/>
                <a:gridCol w="2322195"/>
                <a:gridCol w="2197735"/>
                <a:gridCol w="2228850"/>
                <a:gridCol w="2121535"/>
              </a:tblGrid>
              <a:tr h="933450">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DDDDDD"/>
                      </a:solidFill>
                      <a:prstDash val="dash"/>
                      <a:round/>
                      <a:headEnd type="none" w="med" len="med"/>
                      <a:tailEnd type="none" w="med" len="med"/>
                    </a:lnL>
                    <a:lnR>
                      <a:noFill/>
                    </a:lnR>
                    <a:lnT w="12700" cap="flat" cmpd="sng" algn="ctr">
                      <a:solidFill>
                        <a:srgbClr val="DDDDDD"/>
                      </a:solidFill>
                      <a:prstDash val="dash"/>
                      <a:round/>
                      <a:headEnd type="none" w="med" len="med"/>
                      <a:tailEnd type="none" w="med" len="med"/>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w="12700" cap="flat" cmpd="sng" algn="ctr">
                      <a:solidFill>
                        <a:srgbClr val="DDDDDD"/>
                      </a:solidFill>
                      <a:prstDash val="dash"/>
                      <a:round/>
                      <a:headEnd type="none" w="med" len="med"/>
                      <a:tailEnd type="none" w="med" len="med"/>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w="12700" cap="flat" cmpd="sng" algn="ctr">
                      <a:solidFill>
                        <a:srgbClr val="DDDDDD"/>
                      </a:solidFill>
                      <a:prstDash val="dash"/>
                      <a:round/>
                      <a:headEnd type="none" w="med" len="med"/>
                      <a:tailEnd type="none" w="med" len="med"/>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w="12700" cap="flat" cmpd="sng" algn="ctr">
                      <a:solidFill>
                        <a:srgbClr val="DDDDDD"/>
                      </a:solidFill>
                      <a:prstDash val="dash"/>
                      <a:round/>
                      <a:headEnd type="none" w="med" len="med"/>
                      <a:tailEnd type="none" w="med" len="med"/>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12700" cap="flat" cmpd="sng" algn="ctr">
                      <a:solidFill>
                        <a:srgbClr val="DDDDDD"/>
                      </a:solidFill>
                      <a:prstDash val="dash"/>
                      <a:round/>
                      <a:headEnd type="none" w="med" len="med"/>
                      <a:tailEnd type="none" w="med" len="med"/>
                    </a:lnR>
                    <a:lnT w="12700" cap="flat" cmpd="sng" algn="ctr">
                      <a:solidFill>
                        <a:srgbClr val="DDDDDD"/>
                      </a:solidFill>
                      <a:prstDash val="dash"/>
                      <a:round/>
                      <a:headEnd type="none" w="med" len="med"/>
                      <a:tailEnd type="none" w="med" len="med"/>
                    </a:lnT>
                    <a:lnB>
                      <a:noFill/>
                    </a:lnB>
                  </a:tcPr>
                </a:tc>
              </a:tr>
              <a:tr h="853440">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DDDDDD"/>
                      </a:solidFill>
                      <a:prstDash val="dash"/>
                      <a:round/>
                      <a:headEnd type="none" w="med" len="med"/>
                      <a:tailEnd type="none" w="med" len="med"/>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12700" cap="flat" cmpd="sng" algn="ctr">
                      <a:solidFill>
                        <a:srgbClr val="DDDDDD"/>
                      </a:solidFill>
                      <a:prstDash val="dash"/>
                      <a:round/>
                      <a:headEnd type="none" w="med" len="med"/>
                      <a:tailEnd type="none" w="med" len="med"/>
                    </a:lnR>
                    <a:lnT>
                      <a:noFill/>
                    </a:lnT>
                    <a:lnB>
                      <a:noFill/>
                    </a:lnB>
                  </a:tcPr>
                </a:tc>
              </a:tr>
              <a:tr h="855980">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DDDDDD"/>
                      </a:solidFill>
                      <a:prstDash val="dash"/>
                      <a:round/>
                      <a:headEnd type="none" w="med" len="med"/>
                      <a:tailEnd type="none" w="med" len="med"/>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12700" cap="flat" cmpd="sng" algn="ctr">
                      <a:solidFill>
                        <a:srgbClr val="DDDDDD"/>
                      </a:solidFill>
                      <a:prstDash val="dash"/>
                      <a:round/>
                      <a:headEnd type="none" w="med" len="med"/>
                      <a:tailEnd type="none" w="med" len="med"/>
                    </a:lnR>
                    <a:lnT>
                      <a:noFill/>
                    </a:lnT>
                    <a:lnB>
                      <a:noFill/>
                    </a:lnB>
                  </a:tcPr>
                </a:tc>
              </a:tr>
              <a:tr h="768350">
                <a:tc>
                  <a:txBody>
                    <a:bodyPr/>
                    <a:lstStyle/>
                    <a:p>
                      <a:pPr algn="l" rtl="0" eaLnBrk="0">
                        <a:lnSpc>
                          <a:spcPct val="100000"/>
                        </a:lnSpc>
                        <a:tabLst/>
                      </a:pPr>
                      <a:endParaRPr sz="1000" dirty="0">
                        <a:latin typeface="Arial"/>
                        <a:ea typeface="Arial"/>
                        <a:cs typeface="Arial"/>
                      </a:endParaRPr>
                    </a:p>
                  </a:txBody>
                  <a:tcPr marL="0" marR="0" marT="0" marB="0" vert="horz">
                    <a:lnL w="12700" cap="flat" cmpd="sng" algn="ctr">
                      <a:solidFill>
                        <a:srgbClr val="DDDDDD"/>
                      </a:solidFill>
                      <a:prstDash val="dash"/>
                      <a:round/>
                      <a:headEnd type="none" w="med" len="med"/>
                      <a:tailEnd type="none" w="med" len="med"/>
                    </a:lnL>
                    <a:lnR>
                      <a:noFill/>
                    </a:lnR>
                    <a:lnT>
                      <a:noFill/>
                    </a:lnT>
                    <a:lnB w="12700" cap="flat" cmpd="sng" algn="ctr">
                      <a:solidFill>
                        <a:srgbClr val="DDDDDD"/>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w="12700" cap="flat" cmpd="sng" algn="ctr">
                      <a:solidFill>
                        <a:srgbClr val="DDDDDD"/>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w="12700" cap="flat" cmpd="sng" algn="ctr">
                      <a:solidFill>
                        <a:srgbClr val="DDDDDD"/>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w="12700" cap="flat" cmpd="sng" algn="ctr">
                      <a:solidFill>
                        <a:srgbClr val="DDDDDD"/>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w="12700" cap="flat" cmpd="sng" algn="ctr">
                      <a:solidFill>
                        <a:srgbClr val="DDDDDD"/>
                      </a:solidFill>
                      <a:prstDash val="dash"/>
                      <a:round/>
                      <a:headEnd type="none" w="med" len="med"/>
                      <a:tailEnd type="none" w="med" len="med"/>
                    </a:lnR>
                    <a:lnT>
                      <a:noFill/>
                    </a:lnT>
                    <a:lnB w="12700" cap="flat" cmpd="sng" algn="ctr">
                      <a:solidFill>
                        <a:srgbClr val="DDDDDD"/>
                      </a:solidFill>
                      <a:prstDash val="dash"/>
                      <a:round/>
                      <a:headEnd type="none" w="med" len="med"/>
                      <a:tailEnd type="none" w="med" len="med"/>
                    </a:lnB>
                  </a:tcPr>
                </a:tc>
              </a:tr>
            </a:tbl>
          </a:graphicData>
        </a:graphic>
      </p:graphicFrame>
      <p:sp>
        <p:nvSpPr>
          <p:cNvPr id="60" name="textbox 60"/>
          <p:cNvSpPr/>
          <p:nvPr/>
        </p:nvSpPr>
        <p:spPr>
          <a:xfrm>
            <a:off x="0" y="518159"/>
            <a:ext cx="7856219" cy="990600"/>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57000"/>
              </a:lnSpc>
              <a:tabLst/>
            </a:pPr>
            <a:endParaRPr sz="1000" dirty="0">
              <a:latin typeface="Arial"/>
              <a:ea typeface="Arial"/>
              <a:cs typeface="Arial"/>
            </a:endParaRPr>
          </a:p>
          <a:p>
            <a:pPr algn="l" rtl="0" eaLnBrk="0">
              <a:lnSpc>
                <a:spcPct val="7632"/>
              </a:lnSpc>
              <a:tabLst/>
            </a:pPr>
            <a:endParaRPr sz="100" dirty="0">
              <a:latin typeface="Arial"/>
              <a:ea typeface="Arial"/>
              <a:cs typeface="Arial"/>
            </a:endParaRPr>
          </a:p>
          <a:p>
            <a:pPr marL="616584" algn="l" rtl="0" eaLnBrk="0">
              <a:lnSpc>
                <a:spcPct val="83000"/>
              </a:lnSpc>
              <a:tabLst/>
            </a:pPr>
            <a:r>
              <a:rPr sz="4400" b="1" kern="0" spc="-310" dirty="0">
                <a:solidFill>
                  <a:srgbClr val="FFFFFF">
                    <a:alpha val="100000"/>
                  </a:srgbClr>
                </a:solidFill>
                <a:latin typeface="KaiTi"/>
                <a:ea typeface="KaiTi"/>
                <a:cs typeface="KaiTi"/>
              </a:rPr>
              <a:t>目录</a:t>
            </a:r>
            <a:endParaRPr sz="4400" dirty="0">
              <a:latin typeface="KaiTi"/>
              <a:ea typeface="KaiTi"/>
              <a:cs typeface="KaiTi"/>
            </a:endParaRPr>
          </a:p>
        </p:txBody>
      </p:sp>
      <p:graphicFrame>
        <p:nvGraphicFramePr>
          <p:cNvPr id="62" name="table 62"/>
          <p:cNvGraphicFramePr>
            <a:graphicFrameLocks noGrp="1"/>
          </p:cNvGraphicFramePr>
          <p:nvPr/>
        </p:nvGraphicFramePr>
        <p:xfrm>
          <a:off x="4184650" y="2067814"/>
          <a:ext cx="3517900" cy="774700"/>
        </p:xfrm>
        <a:graphic>
          <a:graphicData uri="http://schemas.openxmlformats.org/drawingml/2006/table">
            <a:tbl>
              <a:tblPr/>
              <a:tblGrid>
                <a:gridCol w="3517900"/>
              </a:tblGrid>
              <a:tr h="762000">
                <a:tc>
                  <a:txBody>
                    <a:bodyPr/>
                    <a:lstStyle/>
                    <a:p>
                      <a:pPr algn="l" rtl="0" eaLnBrk="0">
                        <a:lnSpc>
                          <a:spcPct val="114000"/>
                        </a:lnSpc>
                        <a:tabLst/>
                      </a:pPr>
                      <a:endParaRPr sz="1000" dirty="0">
                        <a:latin typeface="Arial"/>
                        <a:ea typeface="Arial"/>
                        <a:cs typeface="Arial"/>
                      </a:endParaRPr>
                    </a:p>
                    <a:p>
                      <a:pPr marL="158750" algn="l" rtl="0" eaLnBrk="0">
                        <a:lnSpc>
                          <a:spcPct val="85000"/>
                        </a:lnSpc>
                        <a:spcBef>
                          <a:spcPts val="6"/>
                        </a:spcBef>
                        <a:tabLst>
                          <a:tab pos="285115" algn="l"/>
                        </a:tabLst>
                      </a:pPr>
                      <a:r>
                        <a:rPr sz="1400" kern="0" spc="0" dirty="0">
                          <a:solidFill>
                            <a:srgbClr val="000000">
                              <a:alpha val="100000"/>
                            </a:srgbClr>
                          </a:solidFill>
                          <a:latin typeface="KaiTi"/>
                          <a:ea typeface="KaiTi"/>
                          <a:cs typeface="KaiTi"/>
                        </a:rPr>
                        <a:t>	</a:t>
                      </a:r>
                      <a:r>
                        <a:rPr sz="1400" kern="0" spc="-340" dirty="0">
                          <a:solidFill>
                            <a:srgbClr val="000000">
                              <a:alpha val="100000"/>
                            </a:srgbClr>
                          </a:solidFill>
                          <a:latin typeface="KaiTi"/>
                          <a:ea typeface="KaiTi"/>
                          <a:cs typeface="KaiTi"/>
                        </a:rPr>
                        <a:t> </a:t>
                      </a:r>
                      <a:r>
                        <a:rPr sz="1400" kern="0" spc="-20" dirty="0">
                          <a:solidFill>
                            <a:srgbClr val="000000">
                              <a:alpha val="100000"/>
                            </a:srgbClr>
                          </a:solidFill>
                          <a:latin typeface="KaiTi"/>
                          <a:ea typeface="KaiTi"/>
                          <a:cs typeface="KaiTi"/>
                        </a:rPr>
                        <a:t>竞对融资路径</a:t>
                      </a:r>
                      <a:endParaRPr sz="1400" dirty="0">
                        <a:latin typeface="KaiTi"/>
                        <a:ea typeface="KaiTi"/>
                        <a:cs typeface="KaiTi"/>
                      </a:endParaRPr>
                    </a:p>
                    <a:p>
                      <a:pPr algn="l" rtl="0" eaLnBrk="0">
                        <a:lnSpc>
                          <a:spcPct val="104000"/>
                        </a:lnSpc>
                        <a:tabLst/>
                      </a:pPr>
                      <a:endParaRPr sz="1100" dirty="0">
                        <a:latin typeface="Arial"/>
                        <a:ea typeface="Arial"/>
                        <a:cs typeface="Arial"/>
                      </a:endParaRPr>
                    </a:p>
                    <a:p>
                      <a:pPr marL="158750" algn="l" rtl="0" eaLnBrk="0">
                        <a:lnSpc>
                          <a:spcPct val="90000"/>
                        </a:lnSpc>
                        <a:spcBef>
                          <a:spcPts val="5"/>
                        </a:spcBef>
                        <a:tabLst>
                          <a:tab pos="285115" algn="l"/>
                        </a:tabLst>
                      </a:pPr>
                      <a:r>
                        <a:rPr sz="1400" kern="0" spc="0" dirty="0">
                          <a:solidFill>
                            <a:srgbClr val="000000">
                              <a:alpha val="100000"/>
                            </a:srgbClr>
                          </a:solidFill>
                          <a:latin typeface="KaiTi"/>
                          <a:ea typeface="KaiTi"/>
                          <a:cs typeface="KaiTi"/>
                        </a:rPr>
                        <a:t>	</a:t>
                      </a:r>
                      <a:r>
                        <a:rPr sz="1400" kern="0" spc="-330" dirty="0">
                          <a:solidFill>
                            <a:srgbClr val="000000">
                              <a:alpha val="100000"/>
                            </a:srgbClr>
                          </a:solidFill>
                          <a:latin typeface="KaiTi"/>
                          <a:ea typeface="KaiTi"/>
                          <a:cs typeface="KaiTi"/>
                        </a:rPr>
                        <a:t> </a:t>
                      </a:r>
                      <a:r>
                        <a:rPr sz="1400" kern="0" spc="-10" dirty="0">
                          <a:solidFill>
                            <a:srgbClr val="000000">
                              <a:alpha val="100000"/>
                            </a:srgbClr>
                          </a:solidFill>
                          <a:latin typeface="KaiTi"/>
                          <a:ea typeface="KaiTi"/>
                          <a:cs typeface="KaiTi"/>
                        </a:rPr>
                        <a:t>市场玩家</a:t>
                      </a:r>
                      <a:r>
                        <a:rPr sz="1400" kern="0" spc="-10" dirty="0">
                          <a:solidFill>
                            <a:srgbClr val="000000">
                              <a:alpha val="100000"/>
                            </a:srgbClr>
                          </a:solidFill>
                          <a:latin typeface="Times New Roman"/>
                          <a:ea typeface="Times New Roman"/>
                          <a:cs typeface="Times New Roman"/>
                        </a:rPr>
                        <a:t>mapping</a:t>
                      </a:r>
                      <a:endParaRPr sz="1400" dirty="0">
                        <a:latin typeface="Times New Roman"/>
                        <a:ea typeface="Times New Roman"/>
                        <a:cs typeface="Times New Roman"/>
                      </a:endParaRPr>
                    </a:p>
                  </a:txBody>
                  <a:tcPr marL="0" marR="0" marT="0" marB="0" vert="horz">
                    <a:lnL w="12700" cap="flat" cmpd="sng" algn="ctr">
                      <a:solidFill>
                        <a:srgbClr val="DDDDDD"/>
                      </a:solidFill>
                      <a:prstDash val="dash"/>
                      <a:round/>
                      <a:headEnd type="none" w="med" len="med"/>
                      <a:tailEnd type="none" w="med" len="med"/>
                    </a:lnL>
                    <a:lnR w="12700" cap="flat" cmpd="sng" algn="ctr">
                      <a:solidFill>
                        <a:srgbClr val="DDDDDD"/>
                      </a:solidFill>
                      <a:prstDash val="dash"/>
                      <a:round/>
                      <a:headEnd type="none" w="med" len="med"/>
                      <a:tailEnd type="none" w="med" len="med"/>
                    </a:lnR>
                    <a:lnT w="12700" cap="flat" cmpd="sng" algn="ctr">
                      <a:solidFill>
                        <a:srgbClr val="DDDDDD"/>
                      </a:solidFill>
                      <a:prstDash val="dash"/>
                      <a:round/>
                      <a:headEnd type="none" w="med" len="med"/>
                      <a:tailEnd type="none" w="med" len="med"/>
                    </a:lnT>
                    <a:lnB w="12700" cap="flat" cmpd="sng" algn="ctr">
                      <a:solidFill>
                        <a:srgbClr val="DDDDDD"/>
                      </a:solidFill>
                      <a:prstDash val="dash"/>
                      <a:round/>
                      <a:headEnd type="none" w="med" len="med"/>
                      <a:tailEnd type="none" w="med" len="med"/>
                    </a:lnB>
                  </a:tcPr>
                </a:tc>
              </a:tr>
            </a:tbl>
          </a:graphicData>
        </a:graphic>
      </p:graphicFrame>
      <p:pic>
        <p:nvPicPr>
          <p:cNvPr id="64" name="picture 64"/>
          <p:cNvPicPr>
            <a:picLocks noChangeAspect="1"/>
          </p:cNvPicPr>
          <p:nvPr/>
        </p:nvPicPr>
        <p:blipFill>
          <a:blip r:embed="rId2"/>
          <a:stretch>
            <a:fillRect/>
          </a:stretch>
        </p:blipFill>
        <p:spPr>
          <a:xfrm rot="21600000">
            <a:off x="4343772" y="2621212"/>
            <a:ext cx="126598" cy="130878"/>
          </a:xfrm>
          <a:prstGeom prst="rect">
            <a:avLst/>
          </a:prstGeom>
        </p:spPr>
      </p:pic>
      <p:pic>
        <p:nvPicPr>
          <p:cNvPr id="66" name="picture 66"/>
          <p:cNvPicPr>
            <a:picLocks noChangeAspect="1"/>
          </p:cNvPicPr>
          <p:nvPr/>
        </p:nvPicPr>
        <p:blipFill>
          <a:blip r:embed="rId3"/>
          <a:stretch>
            <a:fillRect/>
          </a:stretch>
        </p:blipFill>
        <p:spPr>
          <a:xfrm rot="21600000">
            <a:off x="4343772" y="2264596"/>
            <a:ext cx="126598" cy="130878"/>
          </a:xfrm>
          <a:prstGeom prst="rect">
            <a:avLst/>
          </a:prstGeom>
        </p:spPr>
      </p:pic>
      <p:sp>
        <p:nvSpPr>
          <p:cNvPr id="68" name="textbox 68"/>
          <p:cNvSpPr/>
          <p:nvPr/>
        </p:nvSpPr>
        <p:spPr>
          <a:xfrm>
            <a:off x="8087986" y="2747767"/>
            <a:ext cx="1250950" cy="207645"/>
          </a:xfrm>
          <a:prstGeom prst="rect">
            <a:avLst/>
          </a:prstGeom>
          <a:noFill/>
          <a:ln w="0" cap="flat">
            <a:noFill/>
            <a:prstDash val="solid"/>
            <a:miter lim="0"/>
          </a:ln>
        </p:spPr>
        <p:txBody>
          <a:bodyPr vert="horz" wrap="square" lIns="0" tIns="0" rIns="0" bIns="0"/>
          <a:lstStyle/>
          <a:p>
            <a:pPr algn="l" rtl="0" eaLnBrk="0">
              <a:lnSpc>
                <a:spcPct val="87699"/>
              </a:lnSpc>
              <a:tabLst/>
            </a:pPr>
            <a:endParaRPr sz="100" dirty="0">
              <a:latin typeface="Arial"/>
              <a:ea typeface="Arial"/>
              <a:cs typeface="Arial"/>
            </a:endParaRPr>
          </a:p>
          <a:p>
            <a:pPr marL="12700" algn="l" rtl="0" eaLnBrk="0">
              <a:lnSpc>
                <a:spcPct val="85000"/>
              </a:lnSpc>
              <a:tabLst>
                <a:tab pos="139064" algn="l"/>
              </a:tabLst>
            </a:pPr>
            <a:r>
              <a:rPr sz="1400" kern="0" spc="0" dirty="0">
                <a:solidFill>
                  <a:srgbClr val="000000">
                    <a:alpha val="100000"/>
                  </a:srgbClr>
                </a:solidFill>
                <a:latin typeface="KaiTi"/>
                <a:ea typeface="KaiTi"/>
                <a:cs typeface="KaiTi"/>
              </a:rPr>
              <a:t>	</a:t>
            </a:r>
            <a:r>
              <a:rPr sz="1400" kern="0" spc="-350" dirty="0">
                <a:solidFill>
                  <a:srgbClr val="000000">
                    <a:alpha val="100000"/>
                  </a:srgbClr>
                </a:solidFill>
                <a:latin typeface="KaiTi"/>
                <a:ea typeface="KaiTi"/>
                <a:cs typeface="KaiTi"/>
              </a:rPr>
              <a:t> </a:t>
            </a:r>
            <a:r>
              <a:rPr sz="1400" kern="0" spc="-80" dirty="0">
                <a:solidFill>
                  <a:srgbClr val="000000">
                    <a:alpha val="100000"/>
                  </a:srgbClr>
                </a:solidFill>
                <a:latin typeface="KaiTi"/>
                <a:ea typeface="KaiTi"/>
                <a:cs typeface="KaiTi"/>
              </a:rPr>
              <a:t>项</a:t>
            </a:r>
            <a:r>
              <a:rPr sz="1400" kern="0" spc="-330" dirty="0">
                <a:solidFill>
                  <a:srgbClr val="000000">
                    <a:alpha val="100000"/>
                  </a:srgbClr>
                </a:solidFill>
                <a:latin typeface="KaiTi"/>
                <a:ea typeface="KaiTi"/>
                <a:cs typeface="KaiTi"/>
              </a:rPr>
              <a:t> </a:t>
            </a:r>
            <a:r>
              <a:rPr sz="1400" kern="0" spc="-80" dirty="0">
                <a:solidFill>
                  <a:srgbClr val="000000">
                    <a:alpha val="100000"/>
                  </a:srgbClr>
                </a:solidFill>
                <a:latin typeface="KaiTi"/>
                <a:ea typeface="KaiTi"/>
                <a:cs typeface="KaiTi"/>
              </a:rPr>
              <a:t>目执行亮点</a:t>
            </a:r>
            <a:endParaRPr sz="1400" dirty="0">
              <a:latin typeface="KaiTi"/>
              <a:ea typeface="KaiTi"/>
              <a:cs typeface="KaiTi"/>
            </a:endParaRPr>
          </a:p>
        </p:txBody>
      </p:sp>
      <p:pic>
        <p:nvPicPr>
          <p:cNvPr id="70" name="picture 70"/>
          <p:cNvPicPr>
            <a:picLocks noChangeAspect="1"/>
          </p:cNvPicPr>
          <p:nvPr/>
        </p:nvPicPr>
        <p:blipFill>
          <a:blip r:embed="rId4"/>
          <a:stretch>
            <a:fillRect/>
          </a:stretch>
        </p:blipFill>
        <p:spPr>
          <a:xfrm rot="21600000">
            <a:off x="8100686" y="2782756"/>
            <a:ext cx="126598" cy="130878"/>
          </a:xfrm>
          <a:prstGeom prst="rect">
            <a:avLst/>
          </a:prstGeom>
        </p:spPr>
      </p:pic>
      <p:graphicFrame>
        <p:nvGraphicFramePr>
          <p:cNvPr id="72" name="table 72"/>
          <p:cNvGraphicFramePr>
            <a:graphicFrameLocks noGrp="1"/>
          </p:cNvGraphicFramePr>
          <p:nvPr/>
        </p:nvGraphicFramePr>
        <p:xfrm>
          <a:off x="7918450" y="2067814"/>
          <a:ext cx="3517900" cy="774700"/>
        </p:xfrm>
        <a:graphic>
          <a:graphicData uri="http://schemas.openxmlformats.org/drawingml/2006/table">
            <a:tbl>
              <a:tblPr/>
              <a:tblGrid>
                <a:gridCol w="3517900"/>
              </a:tblGrid>
              <a:tr h="762000">
                <a:tc>
                  <a:txBody>
                    <a:bodyPr/>
                    <a:lstStyle/>
                    <a:p>
                      <a:pPr algn="l" rtl="0" eaLnBrk="0">
                        <a:lnSpc>
                          <a:spcPct val="164000"/>
                        </a:lnSpc>
                        <a:tabLst/>
                      </a:pPr>
                      <a:endParaRPr sz="1000" dirty="0">
                        <a:latin typeface="Arial"/>
                        <a:ea typeface="Arial"/>
                        <a:cs typeface="Arial"/>
                      </a:endParaRPr>
                    </a:p>
                    <a:p>
                      <a:pPr marL="181610" algn="l" rtl="0" eaLnBrk="0">
                        <a:lnSpc>
                          <a:spcPct val="85000"/>
                        </a:lnSpc>
                        <a:tabLst>
                          <a:tab pos="308609" algn="l"/>
                        </a:tabLst>
                      </a:pPr>
                      <a:r>
                        <a:rPr sz="1400" kern="0" spc="0" dirty="0">
                          <a:solidFill>
                            <a:srgbClr val="000000">
                              <a:alpha val="100000"/>
                            </a:srgbClr>
                          </a:solidFill>
                          <a:latin typeface="KaiTi"/>
                          <a:ea typeface="KaiTi"/>
                          <a:cs typeface="KaiTi"/>
                        </a:rPr>
                        <a:t>	</a:t>
                      </a:r>
                      <a:r>
                        <a:rPr sz="1400" kern="0" spc="-300" dirty="0">
                          <a:solidFill>
                            <a:srgbClr val="000000">
                              <a:alpha val="100000"/>
                            </a:srgbClr>
                          </a:solidFill>
                          <a:latin typeface="KaiTi"/>
                          <a:ea typeface="KaiTi"/>
                          <a:cs typeface="KaiTi"/>
                        </a:rPr>
                        <a:t> </a:t>
                      </a:r>
                      <a:r>
                        <a:rPr sz="1400" kern="0" spc="-20" dirty="0">
                          <a:solidFill>
                            <a:srgbClr val="000000">
                              <a:alpha val="100000"/>
                            </a:srgbClr>
                          </a:solidFill>
                          <a:latin typeface="KaiTi"/>
                          <a:ea typeface="KaiTi"/>
                          <a:cs typeface="KaiTi"/>
                        </a:rPr>
                        <a:t>深度覆盖全景机构</a:t>
                      </a:r>
                      <a:endParaRPr sz="1400" dirty="0">
                        <a:latin typeface="KaiTi"/>
                        <a:ea typeface="KaiTi"/>
                        <a:cs typeface="KaiTi"/>
                      </a:endParaRPr>
                    </a:p>
                  </a:txBody>
                  <a:tcPr marL="0" marR="0" marT="0" marB="0" vert="horz">
                    <a:lnL w="12700" cap="flat" cmpd="sng" algn="ctr">
                      <a:solidFill>
                        <a:srgbClr val="DDDDDD"/>
                      </a:solidFill>
                      <a:prstDash val="dash"/>
                      <a:round/>
                      <a:headEnd type="none" w="med" len="med"/>
                      <a:tailEnd type="none" w="med" len="med"/>
                    </a:lnL>
                    <a:lnR w="12700" cap="flat" cmpd="sng" algn="ctr">
                      <a:solidFill>
                        <a:srgbClr val="DDDDDD"/>
                      </a:solidFill>
                      <a:prstDash val="dash"/>
                      <a:round/>
                      <a:headEnd type="none" w="med" len="med"/>
                      <a:tailEnd type="none" w="med" len="med"/>
                    </a:lnR>
                    <a:lnT w="12700" cap="flat" cmpd="sng" algn="ctr">
                      <a:solidFill>
                        <a:srgbClr val="DDDDDD"/>
                      </a:solidFill>
                      <a:prstDash val="dash"/>
                      <a:round/>
                      <a:headEnd type="none" w="med" len="med"/>
                      <a:tailEnd type="none" w="med" len="med"/>
                    </a:lnT>
                    <a:lnB w="12700" cap="flat" cmpd="sng" algn="ctr">
                      <a:solidFill>
                        <a:srgbClr val="DDDDDD"/>
                      </a:solidFill>
                      <a:prstDash val="dash"/>
                      <a:round/>
                      <a:headEnd type="none" w="med" len="med"/>
                      <a:tailEnd type="none" w="med" len="med"/>
                    </a:lnB>
                  </a:tcPr>
                </a:tc>
              </a:tr>
            </a:tbl>
          </a:graphicData>
        </a:graphic>
      </p:graphicFrame>
      <p:pic>
        <p:nvPicPr>
          <p:cNvPr id="74" name="picture 74"/>
          <p:cNvPicPr>
            <a:picLocks noChangeAspect="1"/>
          </p:cNvPicPr>
          <p:nvPr/>
        </p:nvPicPr>
        <p:blipFill>
          <a:blip r:embed="rId5"/>
          <a:stretch>
            <a:fillRect/>
          </a:stretch>
        </p:blipFill>
        <p:spPr>
          <a:xfrm rot="21600000">
            <a:off x="8100686" y="2340796"/>
            <a:ext cx="126598" cy="130878"/>
          </a:xfrm>
          <a:prstGeom prst="rect">
            <a:avLst/>
          </a:prstGeom>
        </p:spPr>
      </p:pic>
      <p:graphicFrame>
        <p:nvGraphicFramePr>
          <p:cNvPr id="76" name="table 76"/>
          <p:cNvGraphicFramePr>
            <a:graphicFrameLocks noGrp="1"/>
          </p:cNvGraphicFramePr>
          <p:nvPr/>
        </p:nvGraphicFramePr>
        <p:xfrm>
          <a:off x="679450" y="2067814"/>
          <a:ext cx="3289300" cy="774700"/>
        </p:xfrm>
        <a:graphic>
          <a:graphicData uri="http://schemas.openxmlformats.org/drawingml/2006/table">
            <a:tbl>
              <a:tblPr/>
              <a:tblGrid>
                <a:gridCol w="3289300"/>
              </a:tblGrid>
              <a:tr h="762000">
                <a:tc>
                  <a:txBody>
                    <a:bodyPr/>
                    <a:lstStyle/>
                    <a:p>
                      <a:pPr algn="l" rtl="0" eaLnBrk="0">
                        <a:lnSpc>
                          <a:spcPct val="113000"/>
                        </a:lnSpc>
                        <a:tabLst/>
                      </a:pPr>
                      <a:endParaRPr sz="1000" dirty="0">
                        <a:latin typeface="Arial"/>
                        <a:ea typeface="Arial"/>
                        <a:cs typeface="Arial"/>
                      </a:endParaRPr>
                    </a:p>
                    <a:p>
                      <a:pPr algn="l" rtl="0" eaLnBrk="0">
                        <a:lnSpc>
                          <a:spcPct val="9995"/>
                        </a:lnSpc>
                        <a:tabLst/>
                      </a:pPr>
                      <a:endParaRPr sz="100" dirty="0">
                        <a:latin typeface="Arial"/>
                        <a:ea typeface="Arial"/>
                        <a:cs typeface="Arial"/>
                      </a:endParaRPr>
                    </a:p>
                    <a:p>
                      <a:pPr marL="166370" algn="l" rtl="0" eaLnBrk="0">
                        <a:lnSpc>
                          <a:spcPct val="86000"/>
                        </a:lnSpc>
                        <a:tabLst>
                          <a:tab pos="292734" algn="l"/>
                        </a:tabLst>
                      </a:pPr>
                      <a:r>
                        <a:rPr sz="1400" kern="0" spc="0" dirty="0">
                          <a:solidFill>
                            <a:srgbClr val="000000">
                              <a:alpha val="100000"/>
                            </a:srgbClr>
                          </a:solidFill>
                          <a:latin typeface="KaiTi"/>
                          <a:ea typeface="KaiTi"/>
                          <a:cs typeface="KaiTi"/>
                        </a:rPr>
                        <a:t>	</a:t>
                      </a:r>
                      <a:r>
                        <a:rPr sz="1400" kern="0" spc="-340" dirty="0">
                          <a:solidFill>
                            <a:srgbClr val="000000">
                              <a:alpha val="100000"/>
                            </a:srgbClr>
                          </a:solidFill>
                          <a:latin typeface="KaiTi"/>
                          <a:ea typeface="KaiTi"/>
                          <a:cs typeface="KaiTi"/>
                        </a:rPr>
                        <a:t> </a:t>
                      </a:r>
                      <a:r>
                        <a:rPr sz="1400" kern="0" spc="-20" dirty="0">
                          <a:solidFill>
                            <a:srgbClr val="000000">
                              <a:alpha val="100000"/>
                            </a:srgbClr>
                          </a:solidFill>
                          <a:latin typeface="KaiTi"/>
                          <a:ea typeface="KaiTi"/>
                          <a:cs typeface="KaiTi"/>
                        </a:rPr>
                        <a:t>赛道想象空间</a:t>
                      </a:r>
                      <a:endParaRPr sz="1400" dirty="0">
                        <a:latin typeface="KaiTi"/>
                        <a:ea typeface="KaiTi"/>
                        <a:cs typeface="KaiTi"/>
                      </a:endParaRPr>
                    </a:p>
                    <a:p>
                      <a:pPr algn="l" rtl="0" eaLnBrk="0">
                        <a:lnSpc>
                          <a:spcPct val="108000"/>
                        </a:lnSpc>
                        <a:tabLst/>
                      </a:pPr>
                      <a:endParaRPr sz="1100" dirty="0">
                        <a:latin typeface="Arial"/>
                        <a:ea typeface="Arial"/>
                        <a:cs typeface="Arial"/>
                      </a:endParaRPr>
                    </a:p>
                    <a:p>
                      <a:pPr algn="l" rtl="0" eaLnBrk="0">
                        <a:lnSpc>
                          <a:spcPct val="8226"/>
                        </a:lnSpc>
                        <a:tabLst/>
                      </a:pPr>
                      <a:endParaRPr sz="100" dirty="0">
                        <a:latin typeface="Arial"/>
                        <a:ea typeface="Arial"/>
                        <a:cs typeface="Arial"/>
                      </a:endParaRPr>
                    </a:p>
                    <a:p>
                      <a:pPr marL="166370" algn="l" rtl="0" eaLnBrk="0">
                        <a:lnSpc>
                          <a:spcPct val="86000"/>
                        </a:lnSpc>
                        <a:tabLst>
                          <a:tab pos="292734" algn="l"/>
                        </a:tabLst>
                      </a:pPr>
                      <a:r>
                        <a:rPr sz="1400" kern="0" spc="0" dirty="0">
                          <a:solidFill>
                            <a:srgbClr val="000000">
                              <a:alpha val="100000"/>
                            </a:srgbClr>
                          </a:solidFill>
                          <a:latin typeface="KaiTi"/>
                          <a:ea typeface="KaiTi"/>
                          <a:cs typeface="KaiTi"/>
                        </a:rPr>
                        <a:t>	</a:t>
                      </a:r>
                      <a:r>
                        <a:rPr sz="1400" kern="0" spc="-360" dirty="0">
                          <a:solidFill>
                            <a:srgbClr val="000000">
                              <a:alpha val="100000"/>
                            </a:srgbClr>
                          </a:solidFill>
                          <a:latin typeface="KaiTi"/>
                          <a:ea typeface="KaiTi"/>
                          <a:cs typeface="KaiTi"/>
                        </a:rPr>
                        <a:t> </a:t>
                      </a:r>
                      <a:r>
                        <a:rPr sz="1400" kern="0" spc="-20" dirty="0">
                          <a:solidFill>
                            <a:srgbClr val="000000">
                              <a:alpha val="100000"/>
                            </a:srgbClr>
                          </a:solidFill>
                          <a:latin typeface="KaiTi"/>
                          <a:ea typeface="KaiTi"/>
                          <a:cs typeface="KaiTi"/>
                        </a:rPr>
                        <a:t>赛道转折点</a:t>
                      </a:r>
                      <a:endParaRPr sz="1400" dirty="0">
                        <a:latin typeface="KaiTi"/>
                        <a:ea typeface="KaiTi"/>
                        <a:cs typeface="KaiTi"/>
                      </a:endParaRPr>
                    </a:p>
                  </a:txBody>
                  <a:tcPr marL="0" marR="0" marT="0" marB="0" vert="horz">
                    <a:lnL w="12700" cap="flat" cmpd="sng" algn="ctr">
                      <a:solidFill>
                        <a:srgbClr val="DDDDDD"/>
                      </a:solidFill>
                      <a:prstDash val="dash"/>
                      <a:round/>
                      <a:headEnd type="none" w="med" len="med"/>
                      <a:tailEnd type="none" w="med" len="med"/>
                    </a:lnL>
                    <a:lnR w="12700" cap="flat" cmpd="sng" algn="ctr">
                      <a:solidFill>
                        <a:srgbClr val="DDDDDD"/>
                      </a:solidFill>
                      <a:prstDash val="dash"/>
                      <a:round/>
                      <a:headEnd type="none" w="med" len="med"/>
                      <a:tailEnd type="none" w="med" len="med"/>
                    </a:lnR>
                    <a:lnT w="12700" cap="flat" cmpd="sng" algn="ctr">
                      <a:solidFill>
                        <a:srgbClr val="DDDDDD"/>
                      </a:solidFill>
                      <a:prstDash val="dash"/>
                      <a:round/>
                      <a:headEnd type="none" w="med" len="med"/>
                      <a:tailEnd type="none" w="med" len="med"/>
                    </a:lnT>
                    <a:lnB w="12700" cap="flat" cmpd="sng" algn="ctr">
                      <a:solidFill>
                        <a:srgbClr val="DDDDDD"/>
                      </a:solidFill>
                      <a:prstDash val="dash"/>
                      <a:round/>
                      <a:headEnd type="none" w="med" len="med"/>
                      <a:tailEnd type="none" w="med" len="med"/>
                    </a:lnB>
                  </a:tcPr>
                </a:tc>
              </a:tr>
            </a:tbl>
          </a:graphicData>
        </a:graphic>
      </p:graphicFrame>
      <p:pic>
        <p:nvPicPr>
          <p:cNvPr id="78" name="picture 78"/>
          <p:cNvPicPr>
            <a:picLocks noChangeAspect="1"/>
          </p:cNvPicPr>
          <p:nvPr/>
        </p:nvPicPr>
        <p:blipFill>
          <a:blip r:embed="rId6"/>
          <a:stretch>
            <a:fillRect/>
          </a:stretch>
        </p:blipFill>
        <p:spPr>
          <a:xfrm rot="21600000">
            <a:off x="845862" y="2630356"/>
            <a:ext cx="126598" cy="130878"/>
          </a:xfrm>
          <a:prstGeom prst="rect">
            <a:avLst/>
          </a:prstGeom>
        </p:spPr>
      </p:pic>
      <p:pic>
        <p:nvPicPr>
          <p:cNvPr id="80" name="picture 80"/>
          <p:cNvPicPr>
            <a:picLocks noChangeAspect="1"/>
          </p:cNvPicPr>
          <p:nvPr/>
        </p:nvPicPr>
        <p:blipFill>
          <a:blip r:embed="rId7"/>
          <a:stretch>
            <a:fillRect/>
          </a:stretch>
        </p:blipFill>
        <p:spPr>
          <a:xfrm rot="21600000">
            <a:off x="845862" y="2264596"/>
            <a:ext cx="126598" cy="130878"/>
          </a:xfrm>
          <a:prstGeom prst="rect">
            <a:avLst/>
          </a:prstGeom>
        </p:spPr>
      </p:pic>
      <p:sp>
        <p:nvSpPr>
          <p:cNvPr id="82" name="textbox 82"/>
          <p:cNvSpPr/>
          <p:nvPr/>
        </p:nvSpPr>
        <p:spPr>
          <a:xfrm>
            <a:off x="9852659" y="5122164"/>
            <a:ext cx="1545589" cy="559434"/>
          </a:xfrm>
          <a:prstGeom prst="rect">
            <a:avLst/>
          </a:prstGeom>
          <a:solidFill>
            <a:srgbClr val="F9F5ED">
              <a:alpha val="30980"/>
            </a:srgbClr>
          </a:solidFill>
          <a:ln w="0" cap="flat">
            <a:noFill/>
            <a:prstDash val="solid"/>
            <a:miter lim="0"/>
          </a:ln>
        </p:spPr>
        <p:txBody>
          <a:bodyPr vert="horz" wrap="square" lIns="0" tIns="0" rIns="0" bIns="0"/>
          <a:lstStyle/>
          <a:p>
            <a:pPr algn="l" rtl="0" eaLnBrk="0">
              <a:lnSpc>
                <a:spcPct val="103000"/>
              </a:lnSpc>
              <a:tabLst/>
            </a:pPr>
            <a:endParaRPr sz="800" dirty="0">
              <a:latin typeface="Arial"/>
              <a:ea typeface="Arial"/>
              <a:cs typeface="Arial"/>
            </a:endParaRPr>
          </a:p>
          <a:p>
            <a:pPr algn="l" rtl="0" eaLnBrk="0">
              <a:lnSpc>
                <a:spcPct val="6311"/>
              </a:lnSpc>
              <a:tabLst/>
            </a:pPr>
            <a:endParaRPr sz="100" dirty="0">
              <a:latin typeface="Arial"/>
              <a:ea typeface="Arial"/>
              <a:cs typeface="Arial"/>
            </a:endParaRPr>
          </a:p>
          <a:p>
            <a:pPr marL="438784" algn="l" rtl="0" eaLnBrk="0">
              <a:lnSpc>
                <a:spcPct val="91000"/>
              </a:lnSpc>
              <a:tabLst/>
            </a:pPr>
            <a:r>
              <a:rPr sz="800" i="1" kern="0" spc="-10" dirty="0">
                <a:solidFill>
                  <a:srgbClr val="000000">
                    <a:alpha val="100000"/>
                  </a:srgbClr>
                </a:solidFill>
                <a:latin typeface="Microsoft YaHei"/>
                <a:ea typeface="Microsoft YaHei"/>
                <a:cs typeface="Microsoft YaHei"/>
              </a:rPr>
              <a:t>Skyland</a:t>
            </a:r>
            <a:r>
              <a:rPr sz="800" kern="0" spc="110" dirty="0">
                <a:solidFill>
                  <a:srgbClr val="000000">
                    <a:alpha val="100000"/>
                  </a:srgbClr>
                </a:solidFill>
                <a:latin typeface="Microsoft YaHei"/>
                <a:ea typeface="Microsoft YaHei"/>
                <a:cs typeface="Microsoft YaHei"/>
              </a:rPr>
              <a:t> </a:t>
            </a:r>
            <a:r>
              <a:rPr sz="800" i="1" kern="0" spc="-10" dirty="0">
                <a:solidFill>
                  <a:srgbClr val="000000">
                    <a:alpha val="100000"/>
                  </a:srgbClr>
                </a:solidFill>
                <a:latin typeface="Microsoft YaHei"/>
                <a:ea typeface="Microsoft YaHei"/>
                <a:cs typeface="Microsoft YaHei"/>
              </a:rPr>
              <a:t>Innova</a:t>
            </a:r>
            <a:r>
              <a:rPr sz="800" i="1" kern="0" spc="-20" dirty="0">
                <a:solidFill>
                  <a:srgbClr val="000000">
                    <a:alpha val="100000"/>
                  </a:srgbClr>
                </a:solidFill>
                <a:latin typeface="Microsoft YaHei"/>
                <a:ea typeface="Microsoft YaHei"/>
                <a:cs typeface="Microsoft YaHei"/>
              </a:rPr>
              <a:t>tion</a:t>
            </a:r>
            <a:endParaRPr sz="800" dirty="0">
              <a:latin typeface="Microsoft YaHei"/>
              <a:ea typeface="Microsoft YaHei"/>
              <a:cs typeface="Microsoft YaHei"/>
            </a:endParaRPr>
          </a:p>
        </p:txBody>
      </p:sp>
      <p:sp>
        <p:nvSpPr>
          <p:cNvPr id="84" name="textbox 84"/>
          <p:cNvSpPr/>
          <p:nvPr/>
        </p:nvSpPr>
        <p:spPr>
          <a:xfrm>
            <a:off x="9839959" y="5109464"/>
            <a:ext cx="1570989" cy="584834"/>
          </a:xfrm>
          <a:prstGeom prst="roundRect">
            <a:avLst>
              <a:gd name="adj" fmla="val 18062"/>
            </a:avLst>
          </a:prstGeom>
          <a:noFill/>
          <a:ln w="9525" cap="flat">
            <a:solidFill>
              <a:srgbClr val="F8F8F8"/>
            </a:solidFill>
            <a:prstDash val="solid"/>
            <a:miter lim="0"/>
          </a:ln>
        </p:spPr>
        <p:txBody>
          <a:bodyPr vert="horz" wrap="square" lIns="0" tIns="0" rIns="0" bIns="0"/>
          <a:lstStyle/>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8160"/>
              </a:lnSpc>
              <a:tabLst/>
            </a:pPr>
            <a:endParaRPr sz="100" dirty="0">
              <a:latin typeface="Arial"/>
              <a:ea typeface="Arial"/>
              <a:cs typeface="Arial"/>
            </a:endParaRPr>
          </a:p>
          <a:p>
            <a:pPr marL="109854" algn="l" rtl="0" eaLnBrk="0">
              <a:lnSpc>
                <a:spcPct val="89000"/>
              </a:lnSpc>
              <a:tabLst/>
            </a:pPr>
            <a:r>
              <a:rPr sz="800" kern="0" spc="20" dirty="0">
                <a:solidFill>
                  <a:srgbClr val="737475">
                    <a:alpha val="100000"/>
                  </a:srgbClr>
                </a:solidFill>
                <a:latin typeface="Arial"/>
                <a:ea typeface="Arial"/>
                <a:cs typeface="Arial"/>
              </a:rPr>
              <a:t>2026.6</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86" name="rect 86"/>
          <p:cNvSpPr/>
          <p:nvPr/>
        </p:nvSpPr>
        <p:spPr>
          <a:xfrm>
            <a:off x="772668" y="5122164"/>
            <a:ext cx="1545336" cy="559308"/>
          </a:xfrm>
          <a:prstGeom prst="rect">
            <a:avLst/>
          </a:prstGeom>
          <a:solidFill>
            <a:srgbClr val="F9F5ED">
              <a:alpha val="29411"/>
            </a:srgbClr>
          </a:solidFill>
          <a:ln w="0" cap="flat">
            <a:noFill/>
            <a:prstDash val="solid"/>
            <a:miter lim="0"/>
          </a:ln>
        </p:spPr>
        <p:txBody>
          <a:bodyPr rtlCol="0"/>
          <a:lstStyle/>
          <a:p>
            <a:pPr algn="ctr"/>
            <a:endParaRPr lang="zh-CN" altLang="en-US"/>
          </a:p>
        </p:txBody>
      </p:sp>
      <p:sp>
        <p:nvSpPr>
          <p:cNvPr id="88" name="textbox 88"/>
          <p:cNvSpPr/>
          <p:nvPr/>
        </p:nvSpPr>
        <p:spPr>
          <a:xfrm>
            <a:off x="759968" y="5109464"/>
            <a:ext cx="1570989" cy="584834"/>
          </a:xfrm>
          <a:prstGeom prst="roundRect">
            <a:avLst>
              <a:gd name="adj" fmla="val 18062"/>
            </a:avLst>
          </a:prstGeom>
          <a:noFill/>
          <a:ln w="9525" cap="flat">
            <a:solidFill>
              <a:srgbClr val="F8F8F8"/>
            </a:solidFill>
            <a:prstDash val="solid"/>
            <a:miter lim="0"/>
          </a:ln>
        </p:spPr>
        <p:txBody>
          <a:bodyPr vert="horz" wrap="square" lIns="0" tIns="0" rIns="0" bIns="0"/>
          <a:lstStyle/>
          <a:p>
            <a:pPr algn="l" rtl="0" eaLnBrk="0">
              <a:lnSpc>
                <a:spcPct val="112000"/>
              </a:lnSpc>
              <a:tabLst/>
            </a:pPr>
            <a:endParaRPr sz="400" dirty="0">
              <a:latin typeface="Arial"/>
              <a:ea typeface="Arial"/>
              <a:cs typeface="Arial"/>
            </a:endParaRPr>
          </a:p>
          <a:p>
            <a:pPr marL="109854" indent="269240" algn="l" rtl="0" eaLnBrk="0">
              <a:lnSpc>
                <a:spcPct val="170000"/>
              </a:lnSpc>
              <a:spcBef>
                <a:spcPts val="4"/>
              </a:spcBef>
              <a:tabLst>
                <a:tab pos="418465" algn="l"/>
              </a:tabLst>
            </a:pPr>
            <a:r>
              <a:rPr sz="800" b="1" kern="0" spc="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Skyland</a:t>
            </a:r>
            <a:r>
              <a:rPr sz="800" b="1" kern="0" spc="9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Innovatio</a:t>
            </a:r>
            <a:r>
              <a:rPr sz="800" b="1" i="1" kern="0" spc="-20" dirty="0">
                <a:solidFill>
                  <a:srgbClr val="000000">
                    <a:alpha val="100000"/>
                  </a:srgbClr>
                </a:solidFill>
                <a:latin typeface="Microsoft YaHei"/>
                <a:ea typeface="Microsoft YaHei"/>
                <a:cs typeface="Microsoft YaHei"/>
              </a:rPr>
              <a:t>n</a:t>
            </a:r>
            <a:r>
              <a:rPr sz="800" b="1" kern="0" spc="0" dirty="0">
                <a:solidFill>
                  <a:srgbClr val="000000">
                    <a:alpha val="100000"/>
                  </a:srgbClr>
                </a:solidFill>
                <a:latin typeface="Microsoft YaHei"/>
                <a:ea typeface="Microsoft YaHei"/>
                <a:cs typeface="Microsoft YaHei"/>
              </a:rPr>
              <a:t>  </a:t>
            </a:r>
            <a:r>
              <a:rPr sz="800" kern="0" spc="20" dirty="0">
                <a:solidFill>
                  <a:srgbClr val="737475">
                    <a:alpha val="100000"/>
                  </a:srgbClr>
                </a:solidFill>
                <a:latin typeface="Arial"/>
                <a:ea typeface="Arial"/>
                <a:cs typeface="Arial"/>
              </a:rPr>
              <a:t>2025.8</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90" name="picture 90"/>
          <p:cNvPicPr>
            <a:picLocks noChangeAspect="1"/>
          </p:cNvPicPr>
          <p:nvPr/>
        </p:nvPicPr>
        <p:blipFill>
          <a:blip r:embed="rId8"/>
          <a:stretch>
            <a:fillRect/>
          </a:stretch>
        </p:blipFill>
        <p:spPr>
          <a:xfrm rot="21600000">
            <a:off x="903731" y="5180076"/>
            <a:ext cx="266700" cy="227075"/>
          </a:xfrm>
          <a:prstGeom prst="rect">
            <a:avLst/>
          </a:prstGeom>
        </p:spPr>
      </p:pic>
      <p:sp>
        <p:nvSpPr>
          <p:cNvPr id="92" name="rect 92"/>
          <p:cNvSpPr/>
          <p:nvPr/>
        </p:nvSpPr>
        <p:spPr>
          <a:xfrm>
            <a:off x="5396483" y="5122164"/>
            <a:ext cx="1545335" cy="559308"/>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94" name="textbox 94"/>
          <p:cNvSpPr/>
          <p:nvPr/>
        </p:nvSpPr>
        <p:spPr>
          <a:xfrm>
            <a:off x="5383783" y="5109464"/>
            <a:ext cx="1570989" cy="584834"/>
          </a:xfrm>
          <a:prstGeom prst="roundRect">
            <a:avLst>
              <a:gd name="adj" fmla="val 18062"/>
            </a:avLst>
          </a:prstGeom>
          <a:noFill/>
          <a:ln w="9525" cap="flat">
            <a:solidFill>
              <a:srgbClr val="F8F8F8"/>
            </a:solidFill>
            <a:prstDash val="solid"/>
            <a:miter lim="0"/>
          </a:ln>
        </p:spPr>
        <p:txBody>
          <a:bodyPr vert="horz" wrap="square" lIns="0" tIns="0" rIns="0" bIns="0"/>
          <a:lstStyle/>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marL="106679" algn="l" rtl="0" eaLnBrk="0">
              <a:lnSpc>
                <a:spcPct val="90000"/>
              </a:lnSpc>
              <a:spcBef>
                <a:spcPts val="2"/>
              </a:spcBef>
              <a:tabLst/>
            </a:pPr>
            <a:r>
              <a:rPr sz="800" kern="0" spc="20" dirty="0">
                <a:solidFill>
                  <a:srgbClr val="737475">
                    <a:alpha val="100000"/>
                  </a:srgbClr>
                </a:solidFill>
                <a:latin typeface="Arial"/>
                <a:ea typeface="Arial"/>
                <a:cs typeface="Arial"/>
              </a:rPr>
              <a:t>2025.7</a:t>
            </a:r>
            <a:r>
              <a:rPr sz="800" kern="0" spc="26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96" name="rect 96"/>
          <p:cNvSpPr/>
          <p:nvPr/>
        </p:nvSpPr>
        <p:spPr>
          <a:xfrm>
            <a:off x="7626096" y="4274820"/>
            <a:ext cx="1545335" cy="559307"/>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98" name="textbox 98"/>
          <p:cNvSpPr/>
          <p:nvPr/>
        </p:nvSpPr>
        <p:spPr>
          <a:xfrm>
            <a:off x="7613396" y="4262120"/>
            <a:ext cx="1570989" cy="584834"/>
          </a:xfrm>
          <a:prstGeom prst="roundRect">
            <a:avLst>
              <a:gd name="adj" fmla="val 18062"/>
            </a:avLst>
          </a:prstGeom>
          <a:noFill/>
          <a:ln w="9525" cap="flat">
            <a:solidFill>
              <a:srgbClr val="F8F8F8"/>
            </a:solidFill>
            <a:prstDash val="solid"/>
            <a:miter lim="0"/>
          </a:ln>
        </p:spPr>
        <p:txBody>
          <a:bodyPr vert="horz" wrap="square" lIns="0" tIns="0" rIns="0" bIns="0"/>
          <a:lstStyle/>
          <a:p>
            <a:pPr algn="l" rtl="0" eaLnBrk="0">
              <a:lnSpc>
                <a:spcPct val="115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8898"/>
              </a:lnSpc>
              <a:tabLst/>
            </a:pPr>
            <a:endParaRPr sz="100" dirty="0">
              <a:latin typeface="Arial"/>
              <a:ea typeface="Arial"/>
              <a:cs typeface="Arial"/>
            </a:endParaRPr>
          </a:p>
          <a:p>
            <a:pPr marL="74294" algn="l" rtl="0" eaLnBrk="0">
              <a:lnSpc>
                <a:spcPct val="90000"/>
              </a:lnSpc>
              <a:tabLst/>
            </a:pPr>
            <a:r>
              <a:rPr sz="800" kern="0" spc="20" dirty="0">
                <a:solidFill>
                  <a:srgbClr val="737475">
                    <a:alpha val="100000"/>
                  </a:srgbClr>
                </a:solidFill>
                <a:latin typeface="Arial"/>
                <a:ea typeface="Arial"/>
                <a:cs typeface="Arial"/>
              </a:rPr>
              <a:t>2025.10</a:t>
            </a:r>
            <a:r>
              <a:rPr sz="800" kern="0" spc="28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00" name="rect 100"/>
          <p:cNvSpPr/>
          <p:nvPr/>
        </p:nvSpPr>
        <p:spPr>
          <a:xfrm>
            <a:off x="9846564" y="3409188"/>
            <a:ext cx="1543811" cy="559307"/>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02" name="textbox 102"/>
          <p:cNvSpPr/>
          <p:nvPr/>
        </p:nvSpPr>
        <p:spPr>
          <a:xfrm>
            <a:off x="9833864" y="3396488"/>
            <a:ext cx="1569719" cy="584834"/>
          </a:xfrm>
          <a:prstGeom prst="roundRect">
            <a:avLst>
              <a:gd name="adj" fmla="val 18062"/>
            </a:avLst>
          </a:prstGeom>
          <a:noFill/>
          <a:ln w="9525" cap="flat">
            <a:solidFill>
              <a:srgbClr val="F8F8F8"/>
            </a:solidFill>
            <a:prstDash val="solid"/>
            <a:miter lim="0"/>
          </a:ln>
        </p:spPr>
        <p:txBody>
          <a:bodyPr vert="horz" wrap="square" lIns="0" tIns="0" rIns="0" bIns="0"/>
          <a:lstStyle/>
          <a:p>
            <a:pPr algn="l" rtl="0" eaLnBrk="0">
              <a:lnSpc>
                <a:spcPct val="111000"/>
              </a:lnSpc>
              <a:tabLst/>
            </a:pPr>
            <a:endParaRPr sz="400" dirty="0">
              <a:latin typeface="Arial"/>
              <a:ea typeface="Arial"/>
              <a:cs typeface="Arial"/>
            </a:endParaRPr>
          </a:p>
          <a:p>
            <a:pPr marL="139700" indent="237490" algn="l" rtl="0" eaLnBrk="0">
              <a:lnSpc>
                <a:spcPct val="170000"/>
              </a:lnSpc>
              <a:spcBef>
                <a:spcPts val="4"/>
              </a:spcBef>
              <a:tabLst>
                <a:tab pos="419100" algn="l"/>
              </a:tabLst>
            </a:pPr>
            <a:r>
              <a:rPr sz="800" kern="0" spc="0" dirty="0">
                <a:solidFill>
                  <a:srgbClr val="000000">
                    <a:alpha val="100000"/>
                  </a:srgbClr>
                </a:solidFill>
                <a:latin typeface="Microsoft YaHei"/>
                <a:ea typeface="Microsoft YaHei"/>
                <a:cs typeface="Microsoft YaHei"/>
              </a:rPr>
              <a:t>	</a:t>
            </a:r>
            <a:r>
              <a:rPr sz="800" i="1" kern="0" spc="-10" dirty="0">
                <a:solidFill>
                  <a:srgbClr val="000000">
                    <a:alpha val="100000"/>
                  </a:srgbClr>
                </a:solidFill>
                <a:latin typeface="Microsoft YaHei"/>
                <a:ea typeface="Microsoft YaHei"/>
                <a:cs typeface="Microsoft YaHei"/>
              </a:rPr>
              <a:t>Skyland</a:t>
            </a:r>
            <a:r>
              <a:rPr sz="800" kern="0" spc="100" dirty="0">
                <a:solidFill>
                  <a:srgbClr val="000000">
                    <a:alpha val="100000"/>
                  </a:srgbClr>
                </a:solidFill>
                <a:latin typeface="Microsoft YaHei"/>
                <a:ea typeface="Microsoft YaHei"/>
                <a:cs typeface="Microsoft YaHei"/>
              </a:rPr>
              <a:t> </a:t>
            </a:r>
            <a:r>
              <a:rPr sz="800" i="1" kern="0" spc="-10" dirty="0">
                <a:solidFill>
                  <a:srgbClr val="000000">
                    <a:alpha val="100000"/>
                  </a:srgbClr>
                </a:solidFill>
                <a:latin typeface="Microsoft YaHei"/>
                <a:ea typeface="Microsoft YaHei"/>
                <a:cs typeface="Microsoft YaHei"/>
              </a:rPr>
              <a:t>Innovatio</a:t>
            </a:r>
            <a:r>
              <a:rPr sz="800" i="1" kern="0" spc="-20" dirty="0">
                <a:solidFill>
                  <a:srgbClr val="000000">
                    <a:alpha val="100000"/>
                  </a:srgbClr>
                </a:solidFill>
                <a:latin typeface="Microsoft YaHei"/>
                <a:ea typeface="Microsoft YaHei"/>
                <a:cs typeface="Microsoft YaHei"/>
              </a:rPr>
              <a:t>n</a:t>
            </a:r>
            <a:r>
              <a:rPr sz="800" kern="0" spc="0" dirty="0">
                <a:solidFill>
                  <a:srgbClr val="000000">
                    <a:alpha val="100000"/>
                  </a:srgbClr>
                </a:solidFill>
                <a:latin typeface="Microsoft YaHei"/>
                <a:ea typeface="Microsoft YaHei"/>
                <a:cs typeface="Microsoft YaHei"/>
              </a:rPr>
              <a:t>    </a:t>
            </a:r>
            <a:r>
              <a:rPr sz="800" kern="0" spc="0" dirty="0">
                <a:solidFill>
                  <a:srgbClr val="737475">
                    <a:alpha val="100000"/>
                  </a:srgbClr>
                </a:solidFill>
                <a:latin typeface="Arial"/>
                <a:ea typeface="Arial"/>
                <a:cs typeface="Arial"/>
              </a:rPr>
              <a:t>2026.1</a:t>
            </a:r>
            <a:r>
              <a:rPr sz="800" kern="0" spc="70" dirty="0">
                <a:solidFill>
                  <a:srgbClr val="737475">
                    <a:alpha val="100000"/>
                  </a:srgbClr>
                </a:solidFill>
                <a:latin typeface="Arial"/>
                <a:ea typeface="Arial"/>
                <a:cs typeface="Arial"/>
              </a:rPr>
              <a:t>  </a:t>
            </a:r>
            <a:r>
              <a:rPr sz="800" i="1" kern="0" spc="0" dirty="0">
                <a:solidFill>
                  <a:srgbClr val="000000">
                    <a:alpha val="100000"/>
                  </a:srgbClr>
                </a:solidFill>
                <a:latin typeface="Microsoft YaHei"/>
                <a:ea typeface="Microsoft YaHei"/>
                <a:cs typeface="Microsoft YaHei"/>
              </a:rPr>
              <a:t>Tens</a:t>
            </a:r>
            <a:r>
              <a:rPr sz="800" kern="0" spc="0" dirty="0">
                <a:solidFill>
                  <a:srgbClr val="000000">
                    <a:alpha val="100000"/>
                  </a:srgbClr>
                </a:solidFill>
                <a:latin typeface="Microsoft YaHei"/>
                <a:ea typeface="Microsoft YaHei"/>
                <a:cs typeface="Microsoft YaHei"/>
              </a:rPr>
              <a:t> </a:t>
            </a:r>
            <a:r>
              <a:rPr sz="800" i="1" kern="0" spc="0" dirty="0">
                <a:solidFill>
                  <a:srgbClr val="000000">
                    <a:alpha val="100000"/>
                  </a:srgbClr>
                </a:solidFill>
                <a:latin typeface="Microsoft YaHei"/>
                <a:ea typeface="Microsoft YaHei"/>
                <a:cs typeface="Microsoft YaHei"/>
              </a:rPr>
              <a:t>of</a:t>
            </a:r>
            <a:r>
              <a:rPr sz="800" kern="0" spc="0" dirty="0">
                <a:solidFill>
                  <a:srgbClr val="000000">
                    <a:alpha val="100000"/>
                  </a:srgbClr>
                </a:solidFill>
                <a:latin typeface="Microsoft YaHei"/>
                <a:ea typeface="Microsoft YaHei"/>
                <a:cs typeface="Microsoft YaHei"/>
              </a:rPr>
              <a:t> </a:t>
            </a:r>
            <a:r>
              <a:rPr sz="800" i="1" kern="0" spc="0" dirty="0">
                <a:solidFill>
                  <a:srgbClr val="000000">
                    <a:alpha val="100000"/>
                  </a:srgbClr>
                </a:solidFill>
                <a:latin typeface="Microsoft YaHei"/>
                <a:ea typeface="Microsoft YaHei"/>
                <a:cs typeface="Microsoft YaHei"/>
              </a:rPr>
              <a:t>millions</a:t>
            </a:r>
            <a:r>
              <a:rPr sz="800" kern="0" spc="0" dirty="0">
                <a:solidFill>
                  <a:srgbClr val="000000">
                    <a:alpha val="100000"/>
                  </a:srgbClr>
                </a:solidFill>
                <a:latin typeface="Microsoft YaHei"/>
                <a:ea typeface="Microsoft YaHei"/>
                <a:cs typeface="Microsoft YaHei"/>
              </a:rPr>
              <a:t> </a:t>
            </a:r>
            <a:r>
              <a:rPr sz="800"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04" name="picture 104"/>
          <p:cNvPicPr>
            <a:picLocks noChangeAspect="1"/>
          </p:cNvPicPr>
          <p:nvPr/>
        </p:nvPicPr>
        <p:blipFill>
          <a:blip r:embed="rId8"/>
          <a:stretch>
            <a:fillRect/>
          </a:stretch>
        </p:blipFill>
        <p:spPr>
          <a:xfrm rot="21600000">
            <a:off x="9976104" y="3467100"/>
            <a:ext cx="266700" cy="227075"/>
          </a:xfrm>
          <a:prstGeom prst="rect">
            <a:avLst/>
          </a:prstGeom>
        </p:spPr>
      </p:pic>
      <p:sp>
        <p:nvSpPr>
          <p:cNvPr id="106" name="rect 106"/>
          <p:cNvSpPr/>
          <p:nvPr/>
        </p:nvSpPr>
        <p:spPr>
          <a:xfrm>
            <a:off x="7632192" y="3410711"/>
            <a:ext cx="1543811" cy="557783"/>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08" name="textbox 108"/>
          <p:cNvSpPr/>
          <p:nvPr/>
        </p:nvSpPr>
        <p:spPr>
          <a:xfrm>
            <a:off x="7619492" y="3398011"/>
            <a:ext cx="1569719" cy="583565"/>
          </a:xfrm>
          <a:prstGeom prst="roundRect">
            <a:avLst>
              <a:gd name="adj" fmla="val 18065"/>
            </a:avLst>
          </a:prstGeom>
          <a:noFill/>
          <a:ln w="9525" cap="flat">
            <a:solidFill>
              <a:srgbClr val="F8F8F8"/>
            </a:solidFill>
            <a:prstDash val="solid"/>
            <a:miter lim="0"/>
          </a:ln>
        </p:spPr>
        <p:txBody>
          <a:bodyPr vert="horz" wrap="square" lIns="0" tIns="0" rIns="0" bIns="0"/>
          <a:lstStyle/>
          <a:p>
            <a:pPr algn="l" rtl="0" eaLnBrk="0">
              <a:lnSpc>
                <a:spcPct val="111000"/>
              </a:lnSpc>
              <a:tabLst/>
            </a:pPr>
            <a:endParaRPr sz="800" dirty="0">
              <a:latin typeface="Arial"/>
              <a:ea typeface="Arial"/>
              <a:cs typeface="Arial"/>
            </a:endParaRPr>
          </a:p>
          <a:p>
            <a:pPr marL="545465" algn="l" rtl="0" eaLnBrk="0">
              <a:lnSpc>
                <a:spcPct val="91000"/>
              </a:lnSpc>
              <a:spcBef>
                <a:spcPts val="2"/>
              </a:spcBef>
              <a:tabLst>
                <a:tab pos="618490" algn="l"/>
              </a:tabLst>
            </a:pPr>
            <a:r>
              <a:rPr sz="900" b="1" kern="0" spc="0" dirty="0">
                <a:solidFill>
                  <a:srgbClr val="2236B9">
                    <a:alpha val="100000"/>
                  </a:srgbClr>
                </a:solidFill>
                <a:latin typeface="Microsoft YaHei"/>
                <a:ea typeface="Microsoft YaHei"/>
                <a:cs typeface="Microsoft YaHei"/>
              </a:rPr>
              <a:t>	</a:t>
            </a:r>
            <a:r>
              <a:rPr sz="900" b="1" i="1" kern="0" spc="-20" dirty="0">
                <a:solidFill>
                  <a:srgbClr val="2236B9">
                    <a:alpha val="100000"/>
                  </a:srgbClr>
                </a:solidFill>
                <a:latin typeface="Microsoft YaHei"/>
                <a:ea typeface="Microsoft YaHei"/>
                <a:cs typeface="Microsoft YaHei"/>
              </a:rPr>
              <a:t>Dexteleop</a:t>
            </a:r>
            <a:endParaRPr sz="900" dirty="0">
              <a:latin typeface="Microsoft YaHei"/>
              <a:ea typeface="Microsoft YaHei"/>
              <a:cs typeface="Microsoft YaHei"/>
            </a:endParaRPr>
          </a:p>
          <a:p>
            <a:pPr algn="l" rtl="0" eaLnBrk="0">
              <a:lnSpc>
                <a:spcPct val="107000"/>
              </a:lnSpc>
              <a:tabLst/>
            </a:pPr>
            <a:endParaRPr sz="600" dirty="0">
              <a:latin typeface="Arial"/>
              <a:ea typeface="Arial"/>
              <a:cs typeface="Arial"/>
            </a:endParaRPr>
          </a:p>
          <a:p>
            <a:pPr marL="102870" algn="l" rtl="0" eaLnBrk="0">
              <a:lnSpc>
                <a:spcPct val="89000"/>
              </a:lnSpc>
              <a:spcBef>
                <a:spcPts val="5"/>
              </a:spcBef>
              <a:tabLst/>
            </a:pPr>
            <a:r>
              <a:rPr sz="800" kern="0" spc="10" dirty="0">
                <a:solidFill>
                  <a:srgbClr val="737475">
                    <a:alpha val="100000"/>
                  </a:srgbClr>
                </a:solidFill>
                <a:latin typeface="Arial"/>
                <a:ea typeface="Arial"/>
                <a:cs typeface="Arial"/>
              </a:rPr>
              <a:t>2026.1</a:t>
            </a:r>
            <a:r>
              <a:rPr sz="800" kern="0" spc="1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1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13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1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10" name="picture 110"/>
          <p:cNvPicPr>
            <a:picLocks noChangeAspect="1"/>
          </p:cNvPicPr>
          <p:nvPr/>
        </p:nvPicPr>
        <p:blipFill>
          <a:blip r:embed="rId9"/>
          <a:stretch>
            <a:fillRect/>
          </a:stretch>
        </p:blipFill>
        <p:spPr>
          <a:xfrm rot="21600000">
            <a:off x="7938692" y="3467158"/>
            <a:ext cx="257263" cy="294014"/>
          </a:xfrm>
          <a:prstGeom prst="rect">
            <a:avLst/>
          </a:prstGeom>
        </p:spPr>
      </p:pic>
      <p:sp>
        <p:nvSpPr>
          <p:cNvPr id="112" name="rect 112"/>
          <p:cNvSpPr/>
          <p:nvPr/>
        </p:nvSpPr>
        <p:spPr>
          <a:xfrm>
            <a:off x="3238500" y="4274820"/>
            <a:ext cx="1543811" cy="557783"/>
          </a:xfrm>
          <a:prstGeom prst="rect">
            <a:avLst/>
          </a:prstGeom>
          <a:solidFill>
            <a:srgbClr val="F9F5ED">
              <a:alpha val="27843"/>
            </a:srgbClr>
          </a:solidFill>
          <a:ln w="0" cap="flat">
            <a:noFill/>
            <a:prstDash val="solid"/>
            <a:miter lim="0"/>
          </a:ln>
        </p:spPr>
        <p:txBody>
          <a:bodyPr rtlCol="0"/>
          <a:lstStyle/>
          <a:p>
            <a:pPr algn="ctr"/>
            <a:endParaRPr lang="zh-CN" altLang="en-US"/>
          </a:p>
        </p:txBody>
      </p:sp>
      <p:sp>
        <p:nvSpPr>
          <p:cNvPr id="114" name="textbox 114"/>
          <p:cNvSpPr/>
          <p:nvPr/>
        </p:nvSpPr>
        <p:spPr>
          <a:xfrm>
            <a:off x="3225800" y="4262120"/>
            <a:ext cx="1569719" cy="583565"/>
          </a:xfrm>
          <a:prstGeom prst="roundRect">
            <a:avLst>
              <a:gd name="adj" fmla="val 18065"/>
            </a:avLst>
          </a:prstGeom>
          <a:noFill/>
          <a:ln w="9525" cap="flat">
            <a:solidFill>
              <a:srgbClr val="F8F8F8"/>
            </a:solidFill>
            <a:prstDash val="solid"/>
            <a:miter lim="0"/>
          </a:ln>
        </p:spPr>
        <p:txBody>
          <a:bodyPr vert="horz" wrap="square" lIns="0" tIns="0" rIns="0" bIns="0"/>
          <a:lstStyle/>
          <a:p>
            <a:pPr algn="l" rtl="0" eaLnBrk="0">
              <a:lnSpc>
                <a:spcPct val="112000"/>
              </a:lnSpc>
              <a:tabLst/>
            </a:pPr>
            <a:endParaRPr sz="200" dirty="0">
              <a:latin typeface="Arial"/>
              <a:ea typeface="Arial"/>
              <a:cs typeface="Arial"/>
            </a:endParaRPr>
          </a:p>
          <a:p>
            <a:pPr marL="62864" indent="84455" algn="l" rtl="0" eaLnBrk="0">
              <a:lnSpc>
                <a:spcPct val="167000"/>
              </a:lnSpc>
              <a:spcBef>
                <a:spcPts val="2"/>
              </a:spcBef>
              <a:tabLst/>
            </a:pPr>
            <a:r>
              <a:rPr sz="800" kern="0" spc="30" dirty="0">
                <a:solidFill>
                  <a:srgbClr val="000000">
                    <a:alpha val="100000"/>
                  </a:srgbClr>
                </a:solidFill>
                <a:latin typeface="Arial"/>
                <a:ea typeface="Arial"/>
                <a:cs typeface="Arial"/>
              </a:rPr>
              <a:t>yun</a:t>
            </a:r>
            <a:r>
              <a:rPr sz="800" kern="0" spc="40" dirty="0">
                <a:solidFill>
                  <a:srgbClr val="000000">
                    <a:alpha val="100000"/>
                  </a:srgbClr>
                </a:solidFill>
                <a:latin typeface="Arial"/>
                <a:ea typeface="Arial"/>
                <a:cs typeface="Arial"/>
              </a:rPr>
              <a:t> </a:t>
            </a:r>
            <a:r>
              <a:rPr sz="800" kern="0" spc="30" dirty="0">
                <a:solidFill>
                  <a:srgbClr val="000000">
                    <a:alpha val="100000"/>
                  </a:srgbClr>
                </a:solidFill>
                <a:latin typeface="Arial"/>
                <a:ea typeface="Arial"/>
                <a:cs typeface="Arial"/>
              </a:rPr>
              <a:t>song</a:t>
            </a:r>
            <a:r>
              <a:rPr sz="800" kern="0" spc="-30" dirty="0">
                <a:solidFill>
                  <a:srgbClr val="000000">
                    <a:alpha val="100000"/>
                  </a:srgbClr>
                </a:solidFill>
                <a:latin typeface="Arial"/>
                <a:ea typeface="Arial"/>
                <a:cs typeface="Arial"/>
              </a:rPr>
              <a:t> </a:t>
            </a:r>
            <a:r>
              <a:rPr sz="800" kern="0" spc="30" dirty="0">
                <a:solidFill>
                  <a:srgbClr val="000000">
                    <a:alpha val="100000"/>
                  </a:srgbClr>
                </a:solidFill>
                <a:latin typeface="Arial"/>
                <a:ea typeface="Arial"/>
                <a:cs typeface="Arial"/>
              </a:rPr>
              <a:t>shu</a:t>
            </a:r>
            <a:r>
              <a:rPr sz="800" kern="0" spc="-20" dirty="0">
                <a:solidFill>
                  <a:srgbClr val="000000">
                    <a:alpha val="100000"/>
                  </a:srgbClr>
                </a:solidFill>
                <a:latin typeface="Arial"/>
                <a:ea typeface="Arial"/>
                <a:cs typeface="Arial"/>
              </a:rPr>
              <a:t> </a:t>
            </a:r>
            <a:r>
              <a:rPr sz="800" kern="0" spc="30" dirty="0">
                <a:solidFill>
                  <a:srgbClr val="000000">
                    <a:alpha val="100000"/>
                  </a:srgbClr>
                </a:solidFill>
                <a:latin typeface="Arial"/>
                <a:ea typeface="Arial"/>
                <a:cs typeface="Arial"/>
              </a:rPr>
              <a:t>Intelligence</a:t>
            </a:r>
            <a:r>
              <a:rPr sz="800" kern="0" spc="0" dirty="0">
                <a:solidFill>
                  <a:srgbClr val="000000">
                    <a:alpha val="100000"/>
                  </a:srgbClr>
                </a:solidFill>
                <a:latin typeface="Arial"/>
                <a:ea typeface="Arial"/>
                <a:cs typeface="Arial"/>
              </a:rPr>
              <a:t>   </a:t>
            </a:r>
            <a:r>
              <a:rPr sz="800" kern="0" spc="20" dirty="0">
                <a:solidFill>
                  <a:srgbClr val="737475">
                    <a:alpha val="100000"/>
                  </a:srgbClr>
                </a:solidFill>
                <a:latin typeface="Arial"/>
                <a:ea typeface="Arial"/>
                <a:cs typeface="Arial"/>
              </a:rPr>
              <a:t>2025.11</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6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1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16" name="textbox 116"/>
          <p:cNvSpPr/>
          <p:nvPr/>
        </p:nvSpPr>
        <p:spPr>
          <a:xfrm>
            <a:off x="3224783" y="5128259"/>
            <a:ext cx="1544319" cy="550544"/>
          </a:xfrm>
          <a:prstGeom prst="roundRect">
            <a:avLst>
              <a:gd name="adj" fmla="val 18084"/>
            </a:avLst>
          </a:prstGeom>
          <a:solidFill>
            <a:srgbClr val="FDFBF9">
              <a:alpha val="100000"/>
            </a:srgbClr>
          </a:solidFill>
          <a:ln w="9525" cap="flat">
            <a:solidFill>
              <a:srgbClr val="F8F8F8"/>
            </a:solidFill>
            <a:prstDash val="solid"/>
            <a:miter lim="0"/>
          </a:ln>
        </p:spPr>
        <p:txBody>
          <a:bodyPr vert="horz" wrap="square" lIns="0" tIns="0" rIns="0" bIns="0"/>
          <a:lstStyle/>
          <a:p>
            <a:pPr algn="l" rtl="0" eaLnBrk="0">
              <a:lnSpc>
                <a:spcPct val="115000"/>
              </a:lnSpc>
              <a:tabLst/>
            </a:pPr>
            <a:endParaRPr sz="500" dirty="0">
              <a:latin typeface="Arial"/>
              <a:ea typeface="Arial"/>
              <a:cs typeface="Arial"/>
            </a:endParaRPr>
          </a:p>
          <a:p>
            <a:pPr marL="300990" algn="l" rtl="0" eaLnBrk="0">
              <a:lnSpc>
                <a:spcPts val="1055"/>
              </a:lnSpc>
              <a:spcBef>
                <a:spcPts val="5"/>
              </a:spcBef>
              <a:tabLst/>
            </a:pPr>
            <a:r>
              <a:rPr sz="1400" kern="0" spc="50" dirty="0">
                <a:solidFill>
                  <a:srgbClr val="3353AF">
                    <a:alpha val="100000"/>
                  </a:srgbClr>
                </a:solidFill>
                <a:latin typeface="Arial"/>
                <a:ea typeface="Arial"/>
                <a:cs typeface="Arial"/>
              </a:rPr>
              <a:t>"</a:t>
            </a:r>
            <a:r>
              <a:rPr sz="1400" kern="0" spc="0" dirty="0">
                <a:solidFill>
                  <a:srgbClr val="3353AF">
                    <a:alpha val="100000"/>
                  </a:srgbClr>
                </a:solidFill>
                <a:latin typeface="Arial"/>
                <a:ea typeface="Arial"/>
                <a:cs typeface="Arial"/>
              </a:rPr>
              <a:t>Friend</a:t>
            </a:r>
            <a:r>
              <a:rPr sz="1400" kern="0" spc="-190" dirty="0">
                <a:solidFill>
                  <a:srgbClr val="3353AF">
                    <a:alpha val="100000"/>
                  </a:srgbClr>
                </a:solidFill>
                <a:latin typeface="Arial"/>
                <a:ea typeface="Arial"/>
                <a:cs typeface="Arial"/>
              </a:rPr>
              <a:t> </a:t>
            </a:r>
            <a:r>
              <a:rPr sz="1400" kern="0" spc="0" dirty="0">
                <a:solidFill>
                  <a:srgbClr val="3353AF">
                    <a:alpha val="100000"/>
                  </a:srgbClr>
                </a:solidFill>
                <a:latin typeface="Arial"/>
                <a:ea typeface="Arial"/>
                <a:cs typeface="Arial"/>
              </a:rPr>
              <a:t>liAl</a:t>
            </a:r>
            <a:endParaRPr sz="1400" dirty="0">
              <a:latin typeface="Arial"/>
              <a:ea typeface="Arial"/>
              <a:cs typeface="Arial"/>
            </a:endParaRPr>
          </a:p>
          <a:p>
            <a:pPr algn="l" rtl="0" eaLnBrk="0">
              <a:lnSpc>
                <a:spcPct val="109000"/>
              </a:lnSpc>
              <a:tabLst/>
            </a:pPr>
            <a:endParaRPr sz="600" dirty="0">
              <a:latin typeface="Arial"/>
              <a:ea typeface="Arial"/>
              <a:cs typeface="Arial"/>
            </a:endParaRPr>
          </a:p>
          <a:p>
            <a:pPr marL="93980" algn="l" rtl="0" eaLnBrk="0">
              <a:lnSpc>
                <a:spcPct val="90000"/>
              </a:lnSpc>
              <a:spcBef>
                <a:spcPts val="5"/>
              </a:spcBef>
              <a:tabLst/>
            </a:pPr>
            <a:r>
              <a:rPr sz="800" kern="0" spc="20" dirty="0">
                <a:solidFill>
                  <a:srgbClr val="737475">
                    <a:alpha val="100000"/>
                  </a:srgbClr>
                </a:solidFill>
                <a:latin typeface="Arial"/>
                <a:ea typeface="Arial"/>
                <a:cs typeface="Arial"/>
              </a:rPr>
              <a:t>2025.8</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18" name="rect 118"/>
          <p:cNvSpPr/>
          <p:nvPr/>
        </p:nvSpPr>
        <p:spPr>
          <a:xfrm>
            <a:off x="3168395" y="3415284"/>
            <a:ext cx="1545336" cy="548639"/>
          </a:xfrm>
          <a:prstGeom prst="rect">
            <a:avLst/>
          </a:prstGeom>
          <a:solidFill>
            <a:srgbClr val="F9F5ED">
              <a:alpha val="28627"/>
            </a:srgbClr>
          </a:solidFill>
          <a:ln w="0" cap="flat">
            <a:noFill/>
            <a:prstDash val="solid"/>
            <a:miter lim="0"/>
          </a:ln>
        </p:spPr>
        <p:txBody>
          <a:bodyPr rtlCol="0"/>
          <a:lstStyle/>
          <a:p>
            <a:pPr algn="ctr"/>
            <a:endParaRPr lang="zh-CN" altLang="en-US"/>
          </a:p>
        </p:txBody>
      </p:sp>
      <p:sp>
        <p:nvSpPr>
          <p:cNvPr id="120" name="textbox 120"/>
          <p:cNvSpPr/>
          <p:nvPr/>
        </p:nvSpPr>
        <p:spPr>
          <a:xfrm>
            <a:off x="3155695" y="3402584"/>
            <a:ext cx="1570989" cy="574040"/>
          </a:xfrm>
          <a:prstGeom prst="roundRect">
            <a:avLst>
              <a:gd name="adj" fmla="val 18088"/>
            </a:avLst>
          </a:prstGeom>
          <a:noFill/>
          <a:ln w="9525" cap="flat">
            <a:solidFill>
              <a:srgbClr val="F8F8F8"/>
            </a:solidFill>
            <a:prstDash val="solid"/>
            <a:miter lim="0"/>
          </a:ln>
        </p:spPr>
        <p:txBody>
          <a:bodyPr vert="horz" wrap="square" lIns="0" tIns="0" rIns="0" bIns="0"/>
          <a:lstStyle/>
          <a:p>
            <a:pPr algn="l" rtl="0" eaLnBrk="0">
              <a:lnSpc>
                <a:spcPct val="109000"/>
              </a:lnSpc>
              <a:tabLst/>
            </a:pPr>
            <a:endParaRPr sz="700" dirty="0">
              <a:latin typeface="Arial"/>
              <a:ea typeface="Arial"/>
              <a:cs typeface="Arial"/>
            </a:endParaRPr>
          </a:p>
          <a:p>
            <a:pPr marL="327659" algn="l" rtl="0" eaLnBrk="0">
              <a:lnSpc>
                <a:spcPts val="1079"/>
              </a:lnSpc>
              <a:spcBef>
                <a:spcPts val="1"/>
              </a:spcBef>
              <a:tabLst/>
            </a:pPr>
            <a:r>
              <a:rPr sz="1400" kern="0" spc="190" dirty="0">
                <a:solidFill>
                  <a:srgbClr val="000000">
                    <a:alpha val="100000"/>
                  </a:srgbClr>
                </a:solidFill>
                <a:latin typeface="Arial"/>
                <a:ea typeface="Arial"/>
                <a:cs typeface="Arial"/>
              </a:rPr>
              <a:t>ReaL</a:t>
            </a:r>
            <a:r>
              <a:rPr sz="1400" kern="0" spc="-170" dirty="0">
                <a:solidFill>
                  <a:srgbClr val="000000">
                    <a:alpha val="100000"/>
                  </a:srgbClr>
                </a:solidFill>
                <a:latin typeface="Arial"/>
                <a:ea typeface="Arial"/>
                <a:cs typeface="Arial"/>
              </a:rPr>
              <a:t> </a:t>
            </a:r>
            <a:r>
              <a:rPr sz="1400" kern="0" spc="190" dirty="0">
                <a:solidFill>
                  <a:srgbClr val="000000">
                    <a:alpha val="100000"/>
                  </a:srgbClr>
                </a:solidFill>
                <a:latin typeface="Arial"/>
                <a:ea typeface="Arial"/>
                <a:cs typeface="Arial"/>
              </a:rPr>
              <a:t>ink</a:t>
            </a:r>
            <a:endParaRPr sz="1400" dirty="0">
              <a:latin typeface="Arial"/>
              <a:ea typeface="Arial"/>
              <a:cs typeface="Arial"/>
            </a:endParaRPr>
          </a:p>
          <a:p>
            <a:pPr algn="l" rtl="0" eaLnBrk="0">
              <a:lnSpc>
                <a:spcPct val="113000"/>
              </a:lnSpc>
              <a:tabLst/>
            </a:pPr>
            <a:endParaRPr sz="500" dirty="0">
              <a:latin typeface="Arial"/>
              <a:ea typeface="Arial"/>
              <a:cs typeface="Arial"/>
            </a:endParaRPr>
          </a:p>
          <a:p>
            <a:pPr marL="92710" algn="l" rtl="0" eaLnBrk="0">
              <a:lnSpc>
                <a:spcPct val="89000"/>
              </a:lnSpc>
              <a:spcBef>
                <a:spcPts val="4"/>
              </a:spcBef>
              <a:tabLst/>
            </a:pPr>
            <a:r>
              <a:rPr sz="800" kern="0" spc="10" dirty="0">
                <a:solidFill>
                  <a:srgbClr val="737475">
                    <a:alpha val="100000"/>
                  </a:srgbClr>
                </a:solidFill>
                <a:latin typeface="Arial"/>
                <a:ea typeface="Arial"/>
                <a:cs typeface="Arial"/>
              </a:rPr>
              <a:t>2026.1</a:t>
            </a:r>
            <a:r>
              <a:rPr sz="800" kern="0" spc="1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1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13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1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22" name="rect 122"/>
          <p:cNvSpPr/>
          <p:nvPr/>
        </p:nvSpPr>
        <p:spPr>
          <a:xfrm>
            <a:off x="5399532" y="3407664"/>
            <a:ext cx="1543812" cy="548639"/>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24" name="textbox 124"/>
          <p:cNvSpPr/>
          <p:nvPr/>
        </p:nvSpPr>
        <p:spPr>
          <a:xfrm>
            <a:off x="5386832" y="3394964"/>
            <a:ext cx="1569719" cy="574040"/>
          </a:xfrm>
          <a:prstGeom prst="roundRect">
            <a:avLst>
              <a:gd name="adj" fmla="val 18088"/>
            </a:avLst>
          </a:prstGeom>
          <a:noFill/>
          <a:ln w="9525" cap="flat">
            <a:solidFill>
              <a:srgbClr val="F8F8F8"/>
            </a:solidFill>
            <a:prstDash val="solid"/>
            <a:miter lim="0"/>
          </a:ln>
        </p:spPr>
        <p:txBody>
          <a:bodyPr vert="horz" wrap="square" lIns="0" tIns="0" rIns="0" bIns="0"/>
          <a:lstStyle/>
          <a:p>
            <a:pPr algn="l" rtl="0" eaLnBrk="0">
              <a:lnSpc>
                <a:spcPct val="120000"/>
              </a:lnSpc>
              <a:tabLst/>
            </a:pPr>
            <a:endParaRPr sz="1000" dirty="0">
              <a:latin typeface="Arial"/>
              <a:ea typeface="Arial"/>
              <a:cs typeface="Arial"/>
            </a:endParaRPr>
          </a:p>
          <a:p>
            <a:pPr algn="l" rtl="0" eaLnBrk="0">
              <a:lnSpc>
                <a:spcPct val="120000"/>
              </a:lnSpc>
              <a:tabLst/>
            </a:pPr>
            <a:endParaRPr sz="1000" dirty="0">
              <a:latin typeface="Arial"/>
              <a:ea typeface="Arial"/>
              <a:cs typeface="Arial"/>
            </a:endParaRPr>
          </a:p>
          <a:p>
            <a:pPr algn="l" rtl="0" eaLnBrk="0">
              <a:lnSpc>
                <a:spcPct val="7412"/>
              </a:lnSpc>
              <a:tabLst/>
            </a:pPr>
            <a:endParaRPr sz="100" dirty="0">
              <a:latin typeface="Arial"/>
              <a:ea typeface="Arial"/>
              <a:cs typeface="Arial"/>
            </a:endParaRPr>
          </a:p>
          <a:p>
            <a:pPr marL="95885" algn="l" rtl="0" eaLnBrk="0">
              <a:lnSpc>
                <a:spcPct val="89000"/>
              </a:lnSpc>
              <a:tabLst/>
            </a:pPr>
            <a:r>
              <a:rPr sz="800" kern="0" spc="10" dirty="0">
                <a:solidFill>
                  <a:srgbClr val="737475">
                    <a:alpha val="100000"/>
                  </a:srgbClr>
                </a:solidFill>
                <a:latin typeface="Arial"/>
                <a:ea typeface="Arial"/>
                <a:cs typeface="Arial"/>
              </a:rPr>
              <a:t>2026.1</a:t>
            </a:r>
            <a:r>
              <a:rPr sz="800" kern="0" spc="1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1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13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1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26" name="rect 126"/>
          <p:cNvSpPr/>
          <p:nvPr/>
        </p:nvSpPr>
        <p:spPr>
          <a:xfrm>
            <a:off x="3195827" y="5978652"/>
            <a:ext cx="1543812" cy="548639"/>
          </a:xfrm>
          <a:prstGeom prst="rect">
            <a:avLst/>
          </a:prstGeom>
          <a:solidFill>
            <a:srgbClr val="F9F5ED">
              <a:alpha val="27843"/>
            </a:srgbClr>
          </a:solidFill>
          <a:ln w="0" cap="flat">
            <a:noFill/>
            <a:prstDash val="solid"/>
            <a:miter lim="0"/>
          </a:ln>
        </p:spPr>
        <p:txBody>
          <a:bodyPr rtlCol="0"/>
          <a:lstStyle/>
          <a:p>
            <a:pPr algn="ctr"/>
            <a:endParaRPr lang="zh-CN" altLang="en-US"/>
          </a:p>
        </p:txBody>
      </p:sp>
      <p:sp>
        <p:nvSpPr>
          <p:cNvPr id="128" name="textbox 128"/>
          <p:cNvSpPr/>
          <p:nvPr/>
        </p:nvSpPr>
        <p:spPr>
          <a:xfrm>
            <a:off x="3183127" y="5965952"/>
            <a:ext cx="1569719" cy="574040"/>
          </a:xfrm>
          <a:prstGeom prst="roundRect">
            <a:avLst>
              <a:gd name="adj" fmla="val 18088"/>
            </a:avLst>
          </a:prstGeom>
          <a:noFill/>
          <a:ln w="9525" cap="flat">
            <a:solidFill>
              <a:srgbClr val="F8F8F8"/>
            </a:solidFill>
            <a:prstDash val="solid"/>
            <a:miter lim="0"/>
          </a:ln>
        </p:spPr>
        <p:txBody>
          <a:bodyPr vert="horz" wrap="square" lIns="0" tIns="0" rIns="0" bIns="0"/>
          <a:lstStyle/>
          <a:p>
            <a:pPr algn="l" rtl="0" eaLnBrk="0">
              <a:lnSpc>
                <a:spcPct val="104000"/>
              </a:lnSpc>
              <a:tabLst/>
            </a:pPr>
            <a:endParaRPr sz="800" dirty="0">
              <a:latin typeface="Arial"/>
              <a:ea typeface="Arial"/>
              <a:cs typeface="Arial"/>
            </a:endParaRPr>
          </a:p>
          <a:p>
            <a:pPr algn="l" rtl="0" eaLnBrk="0">
              <a:lnSpc>
                <a:spcPct val="6727"/>
              </a:lnSpc>
              <a:tabLst/>
            </a:pPr>
            <a:endParaRPr sz="100" dirty="0">
              <a:latin typeface="Arial"/>
              <a:ea typeface="Arial"/>
              <a:cs typeface="Arial"/>
            </a:endParaRPr>
          </a:p>
          <a:p>
            <a:pPr marL="493394" algn="l" rtl="0" eaLnBrk="0">
              <a:lnSpc>
                <a:spcPct val="81000"/>
              </a:lnSpc>
              <a:tabLst>
                <a:tab pos="521334" algn="l"/>
              </a:tabLst>
            </a:pPr>
            <a:r>
              <a:rPr sz="800" b="1" kern="0" spc="0" dirty="0">
                <a:solidFill>
                  <a:srgbClr val="306FAF">
                    <a:alpha val="100000"/>
                  </a:srgbClr>
                </a:solidFill>
                <a:latin typeface="Microsoft YaHei"/>
                <a:ea typeface="Microsoft YaHei"/>
                <a:cs typeface="Microsoft YaHei"/>
              </a:rPr>
              <a:t>	</a:t>
            </a:r>
            <a:r>
              <a:rPr sz="800" b="1" i="1" kern="0" spc="-10" dirty="0">
                <a:solidFill>
                  <a:srgbClr val="306FAF">
                    <a:alpha val="100000"/>
                  </a:srgbClr>
                </a:solidFill>
                <a:latin typeface="Microsoft YaHei"/>
                <a:ea typeface="Microsoft YaHei"/>
                <a:cs typeface="Microsoft YaHei"/>
              </a:rPr>
              <a:t>Chinanoo</a:t>
            </a:r>
            <a:r>
              <a:rPr sz="800" b="1" kern="0" spc="110" dirty="0">
                <a:solidFill>
                  <a:srgbClr val="306FAF">
                    <a:alpha val="100000"/>
                  </a:srgbClr>
                </a:solidFill>
                <a:latin typeface="Microsoft YaHei"/>
                <a:ea typeface="Microsoft YaHei"/>
                <a:cs typeface="Microsoft YaHei"/>
              </a:rPr>
              <a:t> </a:t>
            </a:r>
            <a:r>
              <a:rPr sz="800" b="1" i="1" kern="0" spc="-10" dirty="0">
                <a:solidFill>
                  <a:srgbClr val="306FAF">
                    <a:alpha val="100000"/>
                  </a:srgbClr>
                </a:solidFill>
                <a:latin typeface="Microsoft YaHei"/>
                <a:ea typeface="Microsoft YaHei"/>
                <a:cs typeface="Microsoft YaHei"/>
              </a:rPr>
              <a:t>Pr</a:t>
            </a:r>
            <a:r>
              <a:rPr sz="800" b="1" i="1" kern="0" spc="-20" dirty="0">
                <a:solidFill>
                  <a:srgbClr val="306FAF">
                    <a:alpha val="100000"/>
                  </a:srgbClr>
                </a:solidFill>
                <a:latin typeface="Microsoft YaHei"/>
                <a:ea typeface="Microsoft YaHei"/>
                <a:cs typeface="Microsoft YaHei"/>
              </a:rPr>
              <a:t>ecision</a:t>
            </a:r>
            <a:endParaRPr sz="800" dirty="0">
              <a:latin typeface="Microsoft YaHei"/>
              <a:ea typeface="Microsoft YaHei"/>
              <a:cs typeface="Microsoft YaHei"/>
            </a:endParaRPr>
          </a:p>
          <a:p>
            <a:pPr algn="l" rtl="0" eaLnBrk="0">
              <a:lnSpc>
                <a:spcPct val="116000"/>
              </a:lnSpc>
              <a:tabLst/>
            </a:pPr>
            <a:endParaRPr sz="600" dirty="0">
              <a:latin typeface="Arial"/>
              <a:ea typeface="Arial"/>
              <a:cs typeface="Arial"/>
            </a:endParaRPr>
          </a:p>
          <a:p>
            <a:pPr marL="109220" algn="l" rtl="0" eaLnBrk="0">
              <a:lnSpc>
                <a:spcPct val="89000"/>
              </a:lnSpc>
              <a:spcBef>
                <a:spcPts val="1"/>
              </a:spcBef>
              <a:tabLst/>
            </a:pPr>
            <a:r>
              <a:rPr sz="800" kern="0" spc="20" dirty="0">
                <a:solidFill>
                  <a:srgbClr val="737475">
                    <a:alpha val="100000"/>
                  </a:srgbClr>
                </a:solidFill>
                <a:latin typeface="Arial"/>
                <a:ea typeface="Arial"/>
                <a:cs typeface="Arial"/>
              </a:rPr>
              <a:t>2025.4</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30" name="picture 130"/>
          <p:cNvPicPr>
            <a:picLocks noChangeAspect="1"/>
          </p:cNvPicPr>
          <p:nvPr/>
        </p:nvPicPr>
        <p:blipFill>
          <a:blip r:embed="rId10"/>
          <a:stretch>
            <a:fillRect/>
          </a:stretch>
        </p:blipFill>
        <p:spPr>
          <a:xfrm rot="21600000">
            <a:off x="3290315" y="6073188"/>
            <a:ext cx="417127" cy="173441"/>
          </a:xfrm>
          <a:prstGeom prst="rect">
            <a:avLst/>
          </a:prstGeom>
        </p:spPr>
      </p:pic>
      <p:sp>
        <p:nvSpPr>
          <p:cNvPr id="132" name="rect 132"/>
          <p:cNvSpPr/>
          <p:nvPr/>
        </p:nvSpPr>
        <p:spPr>
          <a:xfrm>
            <a:off x="5402579" y="4280916"/>
            <a:ext cx="1545336" cy="547116"/>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34" name="textbox 134"/>
          <p:cNvSpPr/>
          <p:nvPr/>
        </p:nvSpPr>
        <p:spPr>
          <a:xfrm>
            <a:off x="5389879" y="4268216"/>
            <a:ext cx="1570989" cy="572769"/>
          </a:xfrm>
          <a:prstGeom prst="roundRect">
            <a:avLst>
              <a:gd name="adj" fmla="val 18092"/>
            </a:avLst>
          </a:prstGeom>
          <a:noFill/>
          <a:ln w="9525" cap="flat">
            <a:solidFill>
              <a:srgbClr val="F8F8F8"/>
            </a:solidFill>
            <a:prstDash val="solid"/>
            <a:miter lim="0"/>
          </a:ln>
        </p:spPr>
        <p:txBody>
          <a:bodyPr vert="horz" wrap="square" lIns="0" tIns="0" rIns="0" bIns="0"/>
          <a:lstStyle/>
          <a:p>
            <a:pPr algn="l" rtl="0" eaLnBrk="0">
              <a:lnSpc>
                <a:spcPct val="111000"/>
              </a:lnSpc>
              <a:tabLst/>
            </a:pPr>
            <a:endParaRPr sz="800" dirty="0">
              <a:latin typeface="Arial"/>
              <a:ea typeface="Arial"/>
              <a:cs typeface="Arial"/>
            </a:endParaRPr>
          </a:p>
          <a:p>
            <a:pPr marL="332104" algn="l" rtl="0" eaLnBrk="0">
              <a:lnSpc>
                <a:spcPct val="74000"/>
              </a:lnSpc>
              <a:spcBef>
                <a:spcPts val="4"/>
              </a:spcBef>
              <a:tabLst/>
            </a:pPr>
            <a:r>
              <a:rPr sz="1000" kern="0" spc="1490" dirty="0">
                <a:solidFill>
                  <a:srgbClr val="323232">
                    <a:alpha val="100000"/>
                  </a:srgbClr>
                </a:solidFill>
                <a:latin typeface="Arial"/>
                <a:ea typeface="Arial"/>
                <a:cs typeface="Arial"/>
              </a:rPr>
              <a:t>L</a:t>
            </a:r>
            <a:r>
              <a:rPr sz="1000" kern="0" spc="130" dirty="0">
                <a:solidFill>
                  <a:srgbClr val="323232">
                    <a:alpha val="100000"/>
                  </a:srgbClr>
                </a:solidFill>
                <a:latin typeface="Arial"/>
                <a:ea typeface="Arial"/>
                <a:cs typeface="Arial"/>
              </a:rPr>
              <a:t> </a:t>
            </a:r>
            <a:r>
              <a:rPr sz="1000" kern="0" spc="930" dirty="0">
                <a:solidFill>
                  <a:srgbClr val="262928">
                    <a:alpha val="100000"/>
                  </a:srgbClr>
                </a:solidFill>
                <a:latin typeface="Arial"/>
                <a:ea typeface="Arial"/>
                <a:cs typeface="Arial"/>
              </a:rPr>
              <a:t>M</a:t>
            </a:r>
            <a:r>
              <a:rPr sz="1000" kern="0" spc="70" dirty="0">
                <a:solidFill>
                  <a:srgbClr val="262928">
                    <a:alpha val="100000"/>
                  </a:srgbClr>
                </a:solidFill>
                <a:latin typeface="Arial"/>
                <a:ea typeface="Arial"/>
                <a:cs typeface="Arial"/>
              </a:rPr>
              <a:t> </a:t>
            </a:r>
            <a:r>
              <a:rPr sz="1000" kern="0" spc="930" dirty="0">
                <a:solidFill>
                  <a:srgbClr val="373C3B">
                    <a:alpha val="100000"/>
                  </a:srgbClr>
                </a:solidFill>
                <a:latin typeface="Microsoft YaHei"/>
                <a:ea typeface="Microsoft YaHei"/>
                <a:cs typeface="Microsoft YaHei"/>
              </a:rPr>
              <a:t>口</a:t>
            </a:r>
            <a:endParaRPr sz="1000" dirty="0">
              <a:latin typeface="Microsoft YaHei"/>
              <a:ea typeface="Microsoft YaHei"/>
              <a:cs typeface="Microsoft YaHei"/>
            </a:endParaRPr>
          </a:p>
          <a:p>
            <a:pPr algn="l" rtl="0" eaLnBrk="0">
              <a:lnSpc>
                <a:spcPct val="104000"/>
              </a:lnSpc>
              <a:tabLst/>
            </a:pPr>
            <a:endParaRPr sz="600" dirty="0">
              <a:latin typeface="Arial"/>
              <a:ea typeface="Arial"/>
              <a:cs typeface="Arial"/>
            </a:endParaRPr>
          </a:p>
          <a:p>
            <a:pPr marL="84455" algn="l" rtl="0" eaLnBrk="0">
              <a:lnSpc>
                <a:spcPct val="89000"/>
              </a:lnSpc>
              <a:spcBef>
                <a:spcPts val="7"/>
              </a:spcBef>
              <a:tabLst/>
            </a:pPr>
            <a:r>
              <a:rPr sz="800" kern="0" spc="20" dirty="0">
                <a:solidFill>
                  <a:srgbClr val="737475">
                    <a:alpha val="100000"/>
                  </a:srgbClr>
                </a:solidFill>
                <a:latin typeface="Arial"/>
                <a:ea typeface="Arial"/>
                <a:cs typeface="Arial"/>
              </a:rPr>
              <a:t>2025.11</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36" name="rect 136"/>
          <p:cNvSpPr/>
          <p:nvPr/>
        </p:nvSpPr>
        <p:spPr>
          <a:xfrm>
            <a:off x="790956" y="5977128"/>
            <a:ext cx="1545335" cy="547116"/>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38" name="textbox 138"/>
          <p:cNvSpPr/>
          <p:nvPr/>
        </p:nvSpPr>
        <p:spPr>
          <a:xfrm>
            <a:off x="778256" y="5964428"/>
            <a:ext cx="1570989" cy="572769"/>
          </a:xfrm>
          <a:prstGeom prst="roundRect">
            <a:avLst>
              <a:gd name="adj" fmla="val 18092"/>
            </a:avLst>
          </a:prstGeom>
          <a:noFill/>
          <a:ln w="9525" cap="flat">
            <a:solidFill>
              <a:srgbClr val="F8F8F8"/>
            </a:solidFill>
            <a:prstDash val="solid"/>
            <a:miter lim="0"/>
          </a:ln>
        </p:spPr>
        <p:txBody>
          <a:bodyPr vert="horz" wrap="square" lIns="0" tIns="0" rIns="0" bIns="0"/>
          <a:lstStyle/>
          <a:p>
            <a:pPr algn="l" rtl="0" eaLnBrk="0">
              <a:lnSpc>
                <a:spcPct val="113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marL="116839" algn="l" rtl="0" eaLnBrk="0">
              <a:lnSpc>
                <a:spcPct val="89000"/>
              </a:lnSpc>
              <a:spcBef>
                <a:spcPts val="2"/>
              </a:spcBef>
              <a:tabLst/>
            </a:pPr>
            <a:r>
              <a:rPr sz="800" kern="0" spc="20" dirty="0">
                <a:solidFill>
                  <a:srgbClr val="737475">
                    <a:alpha val="100000"/>
                  </a:srgbClr>
                </a:solidFill>
                <a:latin typeface="Arial"/>
                <a:ea typeface="Arial"/>
                <a:cs typeface="Arial"/>
              </a:rPr>
              <a:t>2025.6</a:t>
            </a:r>
            <a:r>
              <a:rPr sz="800" kern="0" spc="26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40" name="rect 140"/>
          <p:cNvSpPr/>
          <p:nvPr/>
        </p:nvSpPr>
        <p:spPr>
          <a:xfrm>
            <a:off x="777240" y="3415284"/>
            <a:ext cx="1545336" cy="547115"/>
          </a:xfrm>
          <a:prstGeom prst="rect">
            <a:avLst/>
          </a:prstGeom>
          <a:solidFill>
            <a:srgbClr val="F9F5ED">
              <a:alpha val="32941"/>
            </a:srgbClr>
          </a:solidFill>
          <a:ln w="0" cap="flat">
            <a:noFill/>
            <a:prstDash val="solid"/>
            <a:miter lim="0"/>
          </a:ln>
        </p:spPr>
        <p:txBody>
          <a:bodyPr rtlCol="0"/>
          <a:lstStyle/>
          <a:p>
            <a:pPr algn="ctr"/>
            <a:endParaRPr lang="zh-CN" altLang="en-US"/>
          </a:p>
        </p:txBody>
      </p:sp>
      <p:sp>
        <p:nvSpPr>
          <p:cNvPr id="142" name="textbox 142"/>
          <p:cNvSpPr/>
          <p:nvPr/>
        </p:nvSpPr>
        <p:spPr>
          <a:xfrm>
            <a:off x="764540" y="3402584"/>
            <a:ext cx="1570989" cy="572769"/>
          </a:xfrm>
          <a:prstGeom prst="roundRect">
            <a:avLst>
              <a:gd name="adj" fmla="val 18092"/>
            </a:avLst>
          </a:prstGeom>
          <a:noFill/>
          <a:ln w="9525" cap="flat">
            <a:solidFill>
              <a:srgbClr val="F8F8F8"/>
            </a:solidFill>
            <a:prstDash val="solid"/>
            <a:miter lim="0"/>
          </a:ln>
        </p:spPr>
        <p:txBody>
          <a:bodyPr vert="horz" wrap="square" lIns="0" tIns="0" rIns="0" bIns="0"/>
          <a:lstStyle/>
          <a:p>
            <a:pPr algn="l" rtl="0" eaLnBrk="0">
              <a:lnSpc>
                <a:spcPct val="112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marL="93980" algn="l" rtl="0" eaLnBrk="0">
              <a:lnSpc>
                <a:spcPct val="89000"/>
              </a:lnSpc>
              <a:tabLst/>
            </a:pPr>
            <a:r>
              <a:rPr sz="800" kern="0" spc="20" dirty="0">
                <a:solidFill>
                  <a:srgbClr val="737475">
                    <a:alpha val="100000"/>
                  </a:srgbClr>
                </a:solidFill>
                <a:latin typeface="Arial"/>
                <a:ea typeface="Arial"/>
                <a:cs typeface="Arial"/>
              </a:rPr>
              <a:t>2026.2</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44" name="rect 144"/>
          <p:cNvSpPr/>
          <p:nvPr/>
        </p:nvSpPr>
        <p:spPr>
          <a:xfrm>
            <a:off x="7616952" y="5125211"/>
            <a:ext cx="1545335" cy="547115"/>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46" name="textbox 146"/>
          <p:cNvSpPr/>
          <p:nvPr/>
        </p:nvSpPr>
        <p:spPr>
          <a:xfrm>
            <a:off x="7604252" y="5112511"/>
            <a:ext cx="1570989" cy="572769"/>
          </a:xfrm>
          <a:prstGeom prst="roundRect">
            <a:avLst>
              <a:gd name="adj" fmla="val 14008"/>
            </a:avLst>
          </a:prstGeom>
          <a:noFill/>
          <a:ln w="9525" cap="flat">
            <a:solidFill>
              <a:srgbClr val="F8F8F8"/>
            </a:solidFill>
            <a:prstDash val="solid"/>
            <a:miter lim="0"/>
          </a:ln>
        </p:spPr>
        <p:txBody>
          <a:bodyPr vert="horz" wrap="square" lIns="0" tIns="0" rIns="0" bIns="0"/>
          <a:lstStyle/>
          <a:p>
            <a:pPr algn="l" rtl="0" eaLnBrk="0">
              <a:lnSpc>
                <a:spcPct val="169000"/>
              </a:lnSpc>
              <a:tabLst/>
            </a:pPr>
            <a:endParaRPr sz="100" dirty="0">
              <a:latin typeface="Arial"/>
              <a:ea typeface="Arial"/>
              <a:cs typeface="Arial"/>
            </a:endParaRPr>
          </a:p>
          <a:p>
            <a:pPr marL="310515" algn="l" rtl="0" eaLnBrk="0">
              <a:lnSpc>
                <a:spcPts val="2002"/>
              </a:lnSpc>
              <a:spcBef>
                <a:spcPts val="1"/>
              </a:spcBef>
              <a:tabLst/>
            </a:pPr>
            <a:r>
              <a:rPr sz="1200" kern="0" spc="-10" dirty="0">
                <a:solidFill>
                  <a:srgbClr val="3837FE">
                    <a:alpha val="100000"/>
                  </a:srgbClr>
                </a:solidFill>
                <a:latin typeface="Arial"/>
                <a:ea typeface="Arial"/>
                <a:cs typeface="Arial"/>
              </a:rPr>
              <a:t>KS</a:t>
            </a:r>
            <a:r>
              <a:rPr sz="1200" kern="0" spc="-10" dirty="0">
                <a:solidFill>
                  <a:srgbClr val="3837FE">
                    <a:alpha val="100000"/>
                  </a:srgbClr>
                </a:solidFill>
                <a:latin typeface="Arial"/>
                <a:ea typeface="Arial"/>
                <a:cs typeface="Arial"/>
              </a:rPr>
              <a:t> </a:t>
            </a:r>
            <a:r>
              <a:rPr sz="1200" kern="0" spc="-10" dirty="0">
                <a:solidFill>
                  <a:srgbClr val="3837FE">
                    <a:alpha val="100000"/>
                  </a:srgbClr>
                </a:solidFill>
                <a:latin typeface="Arial"/>
                <a:ea typeface="Arial"/>
                <a:cs typeface="Arial"/>
              </a:rPr>
              <a:t>Qianjiue</a:t>
            </a:r>
            <a:endParaRPr sz="1200" dirty="0">
              <a:latin typeface="Arial"/>
              <a:ea typeface="Arial"/>
              <a:cs typeface="Arial"/>
            </a:endParaRPr>
          </a:p>
          <a:p>
            <a:pPr algn="l" rtl="0" eaLnBrk="0">
              <a:lnSpc>
                <a:spcPct val="109000"/>
              </a:lnSpc>
              <a:tabLst/>
            </a:pPr>
            <a:endParaRPr sz="400" dirty="0">
              <a:latin typeface="Arial"/>
              <a:ea typeface="Arial"/>
              <a:cs typeface="Arial"/>
            </a:endParaRPr>
          </a:p>
          <a:p>
            <a:pPr marL="118110" algn="l" rtl="0" eaLnBrk="0">
              <a:lnSpc>
                <a:spcPct val="89000"/>
              </a:lnSpc>
              <a:spcBef>
                <a:spcPts val="2"/>
              </a:spcBef>
              <a:tabLst/>
            </a:pPr>
            <a:r>
              <a:rPr sz="800" kern="0" spc="20" dirty="0">
                <a:solidFill>
                  <a:srgbClr val="737475">
                    <a:alpha val="100000"/>
                  </a:srgbClr>
                </a:solidFill>
                <a:latin typeface="Arial"/>
                <a:ea typeface="Arial"/>
                <a:cs typeface="Arial"/>
              </a:rPr>
              <a:t>2025.6</a:t>
            </a:r>
            <a:r>
              <a:rPr sz="800" kern="0" spc="27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48" name="rect 148"/>
          <p:cNvSpPr/>
          <p:nvPr/>
        </p:nvSpPr>
        <p:spPr>
          <a:xfrm>
            <a:off x="9857231" y="5974079"/>
            <a:ext cx="1543812" cy="547115"/>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50" name="textbox 150"/>
          <p:cNvSpPr/>
          <p:nvPr/>
        </p:nvSpPr>
        <p:spPr>
          <a:xfrm>
            <a:off x="9844531" y="5961379"/>
            <a:ext cx="1569719" cy="572769"/>
          </a:xfrm>
          <a:prstGeom prst="roundRect">
            <a:avLst>
              <a:gd name="adj" fmla="val 14008"/>
            </a:avLst>
          </a:prstGeom>
          <a:noFill/>
          <a:ln w="9525" cap="flat">
            <a:solidFill>
              <a:srgbClr val="F8F8F8"/>
            </a:solidFill>
            <a:prstDash val="solid"/>
            <a:miter lim="0"/>
          </a:ln>
        </p:spPr>
        <p:txBody>
          <a:bodyPr vert="horz" wrap="square" lIns="0" tIns="0" rIns="0" bIns="0"/>
          <a:lstStyle/>
          <a:p>
            <a:pPr algn="l" rtl="0" eaLnBrk="0">
              <a:lnSpc>
                <a:spcPct val="109000"/>
              </a:lnSpc>
              <a:tabLst/>
            </a:pPr>
            <a:endParaRPr sz="700" dirty="0">
              <a:latin typeface="Arial"/>
              <a:ea typeface="Arial"/>
              <a:cs typeface="Arial"/>
            </a:endParaRPr>
          </a:p>
          <a:p>
            <a:pPr marL="596900" algn="l" rtl="0" eaLnBrk="0">
              <a:lnSpc>
                <a:spcPct val="79000"/>
              </a:lnSpc>
              <a:spcBef>
                <a:spcPts val="5"/>
              </a:spcBef>
              <a:tabLst>
                <a:tab pos="639444" algn="l"/>
              </a:tabLst>
            </a:pPr>
            <a:r>
              <a:rPr sz="1000" kern="0" spc="0" dirty="0">
                <a:solidFill>
                  <a:srgbClr val="177BFF">
                    <a:alpha val="100000"/>
                  </a:srgbClr>
                </a:solidFill>
                <a:latin typeface="Arial"/>
                <a:ea typeface="Arial"/>
                <a:cs typeface="Arial"/>
              </a:rPr>
              <a:t>	</a:t>
            </a:r>
            <a:r>
              <a:rPr sz="1000" kern="0" spc="-30" dirty="0">
                <a:solidFill>
                  <a:srgbClr val="177BFF">
                    <a:alpha val="100000"/>
                  </a:srgbClr>
                </a:solidFill>
                <a:latin typeface="Arial"/>
                <a:ea typeface="Arial"/>
                <a:cs typeface="Arial"/>
              </a:rPr>
              <a:t>Qian</a:t>
            </a:r>
            <a:r>
              <a:rPr sz="1000" kern="0" spc="-50" dirty="0">
                <a:solidFill>
                  <a:srgbClr val="177BFF">
                    <a:alpha val="100000"/>
                  </a:srgbClr>
                </a:solidFill>
                <a:latin typeface="Arial"/>
                <a:ea typeface="Arial"/>
                <a:cs typeface="Arial"/>
              </a:rPr>
              <a:t> </a:t>
            </a:r>
            <a:r>
              <a:rPr sz="1000" kern="0" spc="-30" dirty="0">
                <a:solidFill>
                  <a:srgbClr val="177BFF">
                    <a:alpha val="100000"/>
                  </a:srgbClr>
                </a:solidFill>
                <a:latin typeface="Arial"/>
                <a:ea typeface="Arial"/>
                <a:cs typeface="Arial"/>
              </a:rPr>
              <a:t>jue</a:t>
            </a:r>
            <a:endParaRPr sz="1000" dirty="0">
              <a:latin typeface="Arial"/>
              <a:ea typeface="Arial"/>
              <a:cs typeface="Arial"/>
            </a:endParaRPr>
          </a:p>
          <a:p>
            <a:pPr algn="l" rtl="0" eaLnBrk="0">
              <a:lnSpc>
                <a:spcPct val="103000"/>
              </a:lnSpc>
              <a:tabLst/>
            </a:pPr>
            <a:endParaRPr sz="700" dirty="0">
              <a:latin typeface="Arial"/>
              <a:ea typeface="Arial"/>
              <a:cs typeface="Arial"/>
            </a:endParaRPr>
          </a:p>
          <a:p>
            <a:pPr marL="85725" algn="l" rtl="0" eaLnBrk="0">
              <a:lnSpc>
                <a:spcPct val="89000"/>
              </a:lnSpc>
              <a:spcBef>
                <a:spcPts val="1"/>
              </a:spcBef>
              <a:tabLst/>
            </a:pPr>
            <a:r>
              <a:rPr sz="800" kern="0" spc="20" dirty="0">
                <a:solidFill>
                  <a:srgbClr val="737475">
                    <a:alpha val="100000"/>
                  </a:srgbClr>
                </a:solidFill>
                <a:latin typeface="Arial"/>
                <a:ea typeface="Arial"/>
                <a:cs typeface="Arial"/>
              </a:rPr>
              <a:t>2024.12</a:t>
            </a:r>
            <a:r>
              <a:rPr sz="800" kern="0" spc="3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52" name="picture 152"/>
          <p:cNvPicPr>
            <a:picLocks noChangeAspect="1"/>
          </p:cNvPicPr>
          <p:nvPr/>
        </p:nvPicPr>
        <p:blipFill>
          <a:blip r:embed="rId11"/>
          <a:stretch>
            <a:fillRect/>
          </a:stretch>
        </p:blipFill>
        <p:spPr>
          <a:xfrm rot="21600000">
            <a:off x="10177271" y="6010655"/>
            <a:ext cx="287926" cy="254342"/>
          </a:xfrm>
          <a:prstGeom prst="rect">
            <a:avLst/>
          </a:prstGeom>
        </p:spPr>
      </p:pic>
      <p:sp>
        <p:nvSpPr>
          <p:cNvPr id="154" name="rect 154"/>
          <p:cNvSpPr/>
          <p:nvPr/>
        </p:nvSpPr>
        <p:spPr>
          <a:xfrm>
            <a:off x="5388863" y="5974079"/>
            <a:ext cx="1543812" cy="547115"/>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56" name="textbox 156"/>
          <p:cNvSpPr/>
          <p:nvPr/>
        </p:nvSpPr>
        <p:spPr>
          <a:xfrm>
            <a:off x="5376163" y="5961379"/>
            <a:ext cx="1569719" cy="572769"/>
          </a:xfrm>
          <a:prstGeom prst="roundRect">
            <a:avLst>
              <a:gd name="adj" fmla="val 14008"/>
            </a:avLst>
          </a:prstGeom>
          <a:noFill/>
          <a:ln w="9525" cap="flat">
            <a:solidFill>
              <a:srgbClr val="F8F8F8"/>
            </a:solidFill>
            <a:prstDash val="solid"/>
            <a:miter lim="0"/>
          </a:ln>
        </p:spPr>
        <p:txBody>
          <a:bodyPr vert="horz" wrap="square" lIns="0" tIns="0" rIns="0" bIns="0"/>
          <a:lstStyle/>
          <a:p>
            <a:pPr algn="l" rtl="0" eaLnBrk="0">
              <a:lnSpc>
                <a:spcPct val="109000"/>
              </a:lnSpc>
              <a:tabLst/>
            </a:pPr>
            <a:endParaRPr sz="700" dirty="0">
              <a:latin typeface="Arial"/>
              <a:ea typeface="Arial"/>
              <a:cs typeface="Arial"/>
            </a:endParaRPr>
          </a:p>
          <a:p>
            <a:pPr marL="595630" algn="l" rtl="0" eaLnBrk="0">
              <a:lnSpc>
                <a:spcPct val="79000"/>
              </a:lnSpc>
              <a:spcBef>
                <a:spcPts val="5"/>
              </a:spcBef>
              <a:tabLst>
                <a:tab pos="639444" algn="l"/>
              </a:tabLst>
            </a:pPr>
            <a:r>
              <a:rPr sz="1000" kern="0" spc="0" dirty="0">
                <a:solidFill>
                  <a:srgbClr val="177BFF">
                    <a:alpha val="100000"/>
                  </a:srgbClr>
                </a:solidFill>
                <a:latin typeface="Arial"/>
                <a:ea typeface="Arial"/>
                <a:cs typeface="Arial"/>
              </a:rPr>
              <a:t>	</a:t>
            </a:r>
            <a:r>
              <a:rPr sz="1000" kern="0" spc="-50" dirty="0">
                <a:solidFill>
                  <a:srgbClr val="177BFF">
                    <a:alpha val="100000"/>
                  </a:srgbClr>
                </a:solidFill>
                <a:latin typeface="Arial"/>
                <a:ea typeface="Arial"/>
                <a:cs typeface="Arial"/>
              </a:rPr>
              <a:t>Qian</a:t>
            </a:r>
            <a:r>
              <a:rPr sz="1000" kern="0" spc="-20" dirty="0">
                <a:solidFill>
                  <a:srgbClr val="177BFF">
                    <a:alpha val="100000"/>
                  </a:srgbClr>
                </a:solidFill>
                <a:latin typeface="Arial"/>
                <a:ea typeface="Arial"/>
                <a:cs typeface="Arial"/>
              </a:rPr>
              <a:t> </a:t>
            </a:r>
            <a:r>
              <a:rPr sz="1000" kern="0" spc="-50" dirty="0">
                <a:solidFill>
                  <a:srgbClr val="177BFF">
                    <a:alpha val="100000"/>
                  </a:srgbClr>
                </a:solidFill>
                <a:latin typeface="Arial"/>
                <a:ea typeface="Arial"/>
                <a:cs typeface="Arial"/>
              </a:rPr>
              <a:t>jiue</a:t>
            </a:r>
            <a:endParaRPr sz="1000" dirty="0">
              <a:latin typeface="Arial"/>
              <a:ea typeface="Arial"/>
              <a:cs typeface="Arial"/>
            </a:endParaRPr>
          </a:p>
          <a:p>
            <a:pPr algn="l" rtl="0" eaLnBrk="0">
              <a:lnSpc>
                <a:spcPct val="103000"/>
              </a:lnSpc>
              <a:tabLst/>
            </a:pPr>
            <a:endParaRPr sz="700" dirty="0">
              <a:latin typeface="Arial"/>
              <a:ea typeface="Arial"/>
              <a:cs typeface="Arial"/>
            </a:endParaRPr>
          </a:p>
          <a:p>
            <a:pPr marL="117475" algn="l" rtl="0" eaLnBrk="0">
              <a:lnSpc>
                <a:spcPct val="89000"/>
              </a:lnSpc>
              <a:spcBef>
                <a:spcPts val="1"/>
              </a:spcBef>
              <a:tabLst/>
            </a:pPr>
            <a:r>
              <a:rPr sz="800" kern="0" spc="20" dirty="0">
                <a:solidFill>
                  <a:srgbClr val="737475">
                    <a:alpha val="100000"/>
                  </a:srgbClr>
                </a:solidFill>
                <a:latin typeface="Arial"/>
                <a:ea typeface="Arial"/>
                <a:cs typeface="Arial"/>
              </a:rPr>
              <a:t>2025.3</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58" name="picture 158"/>
          <p:cNvPicPr>
            <a:picLocks noChangeAspect="1"/>
          </p:cNvPicPr>
          <p:nvPr/>
        </p:nvPicPr>
        <p:blipFill>
          <a:blip r:embed="rId12"/>
          <a:stretch>
            <a:fillRect/>
          </a:stretch>
        </p:blipFill>
        <p:spPr>
          <a:xfrm rot="21600000">
            <a:off x="5708903" y="6010655"/>
            <a:ext cx="286675" cy="254342"/>
          </a:xfrm>
          <a:prstGeom prst="rect">
            <a:avLst/>
          </a:prstGeom>
        </p:spPr>
      </p:pic>
      <p:sp>
        <p:nvSpPr>
          <p:cNvPr id="160" name="rect 160"/>
          <p:cNvSpPr/>
          <p:nvPr/>
        </p:nvSpPr>
        <p:spPr>
          <a:xfrm>
            <a:off x="9861804" y="4280916"/>
            <a:ext cx="1543811" cy="547116"/>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62" name="textbox 162"/>
          <p:cNvSpPr/>
          <p:nvPr/>
        </p:nvSpPr>
        <p:spPr>
          <a:xfrm>
            <a:off x="9849104" y="4268216"/>
            <a:ext cx="1569719" cy="572769"/>
          </a:xfrm>
          <a:prstGeom prst="roundRect">
            <a:avLst>
              <a:gd name="adj" fmla="val 18092"/>
            </a:avLst>
          </a:prstGeom>
          <a:noFill/>
          <a:ln w="9525" cap="flat">
            <a:solidFill>
              <a:srgbClr val="F8F8F8"/>
            </a:solidFill>
            <a:prstDash val="solid"/>
            <a:miter lim="0"/>
          </a:ln>
        </p:spPr>
        <p:txBody>
          <a:bodyPr vert="horz" wrap="square" lIns="0" tIns="0" rIns="0" bIns="0"/>
          <a:lstStyle/>
          <a:p>
            <a:pPr algn="l" rtl="0" eaLnBrk="0">
              <a:lnSpc>
                <a:spcPct val="111000"/>
              </a:lnSpc>
              <a:tabLst/>
            </a:pPr>
            <a:endParaRPr sz="800" dirty="0">
              <a:latin typeface="Arial"/>
              <a:ea typeface="Arial"/>
              <a:cs typeface="Arial"/>
            </a:endParaRPr>
          </a:p>
          <a:p>
            <a:pPr marL="330834" algn="l" rtl="0" eaLnBrk="0">
              <a:lnSpc>
                <a:spcPct val="74000"/>
              </a:lnSpc>
              <a:spcBef>
                <a:spcPts val="4"/>
              </a:spcBef>
              <a:tabLst/>
            </a:pPr>
            <a:r>
              <a:rPr sz="1000" kern="0" spc="1510" dirty="0">
                <a:solidFill>
                  <a:srgbClr val="333333">
                    <a:alpha val="100000"/>
                  </a:srgbClr>
                </a:solidFill>
                <a:latin typeface="Arial"/>
                <a:ea typeface="Arial"/>
                <a:cs typeface="Arial"/>
              </a:rPr>
              <a:t>L</a:t>
            </a:r>
            <a:r>
              <a:rPr sz="1000" kern="0" spc="130" dirty="0">
                <a:solidFill>
                  <a:srgbClr val="333333">
                    <a:alpha val="100000"/>
                  </a:srgbClr>
                </a:solidFill>
                <a:latin typeface="Arial"/>
                <a:ea typeface="Arial"/>
                <a:cs typeface="Arial"/>
              </a:rPr>
              <a:t> </a:t>
            </a:r>
            <a:r>
              <a:rPr sz="1000" kern="0" spc="930" dirty="0">
                <a:solidFill>
                  <a:srgbClr val="1B1E1D">
                    <a:alpha val="100000"/>
                  </a:srgbClr>
                </a:solidFill>
                <a:latin typeface="Arial"/>
                <a:ea typeface="Arial"/>
                <a:cs typeface="Arial"/>
              </a:rPr>
              <a:t>M</a:t>
            </a:r>
            <a:r>
              <a:rPr sz="1000" kern="0" spc="70" dirty="0">
                <a:solidFill>
                  <a:srgbClr val="1B1E1D">
                    <a:alpha val="100000"/>
                  </a:srgbClr>
                </a:solidFill>
                <a:latin typeface="Arial"/>
                <a:ea typeface="Arial"/>
                <a:cs typeface="Arial"/>
              </a:rPr>
              <a:t> </a:t>
            </a:r>
            <a:r>
              <a:rPr sz="1000" kern="0" spc="930" dirty="0">
                <a:solidFill>
                  <a:srgbClr val="272B2A">
                    <a:alpha val="100000"/>
                  </a:srgbClr>
                </a:solidFill>
                <a:latin typeface="Microsoft YaHei"/>
                <a:ea typeface="Microsoft YaHei"/>
                <a:cs typeface="Microsoft YaHei"/>
              </a:rPr>
              <a:t>口</a:t>
            </a:r>
            <a:endParaRPr sz="1000" dirty="0">
              <a:latin typeface="Microsoft YaHei"/>
              <a:ea typeface="Microsoft YaHei"/>
              <a:cs typeface="Microsoft YaHei"/>
            </a:endParaRPr>
          </a:p>
          <a:p>
            <a:pPr algn="l" rtl="0" eaLnBrk="0">
              <a:lnSpc>
                <a:spcPct val="104000"/>
              </a:lnSpc>
              <a:tabLst/>
            </a:pPr>
            <a:endParaRPr sz="600" dirty="0">
              <a:latin typeface="Arial"/>
              <a:ea typeface="Arial"/>
              <a:cs typeface="Arial"/>
            </a:endParaRPr>
          </a:p>
          <a:p>
            <a:pPr marL="115570" algn="l" rtl="0" eaLnBrk="0">
              <a:lnSpc>
                <a:spcPct val="89000"/>
              </a:lnSpc>
              <a:spcBef>
                <a:spcPts val="3"/>
              </a:spcBef>
              <a:tabLst/>
            </a:pPr>
            <a:r>
              <a:rPr sz="800" kern="0" spc="20" dirty="0">
                <a:solidFill>
                  <a:srgbClr val="737475">
                    <a:alpha val="100000"/>
                  </a:srgbClr>
                </a:solidFill>
                <a:latin typeface="Arial"/>
                <a:ea typeface="Arial"/>
                <a:cs typeface="Arial"/>
              </a:rPr>
              <a:t>2025.9</a:t>
            </a:r>
            <a:r>
              <a:rPr sz="800" kern="0" spc="2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20" dirty="0">
                <a:solidFill>
                  <a:srgbClr val="000000">
                    <a:alpha val="100000"/>
                  </a:srgbClr>
                </a:solidFill>
                <a:latin typeface="Microsoft YaHei"/>
                <a:ea typeface="Microsoft YaHei"/>
                <a:cs typeface="Microsoft YaHei"/>
              </a:rPr>
              <a:t> </a:t>
            </a:r>
            <a:r>
              <a:rPr sz="800" b="1" i="1" kern="0" spc="2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64" name="rect 164"/>
          <p:cNvSpPr/>
          <p:nvPr/>
        </p:nvSpPr>
        <p:spPr>
          <a:xfrm>
            <a:off x="7620000" y="5977128"/>
            <a:ext cx="1543811" cy="547116"/>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66" name="textbox 166"/>
          <p:cNvSpPr/>
          <p:nvPr/>
        </p:nvSpPr>
        <p:spPr>
          <a:xfrm>
            <a:off x="7607300" y="5964428"/>
            <a:ext cx="1569719" cy="572769"/>
          </a:xfrm>
          <a:prstGeom prst="roundRect">
            <a:avLst>
              <a:gd name="adj" fmla="val 18092"/>
            </a:avLst>
          </a:prstGeom>
          <a:noFill/>
          <a:ln w="9525" cap="flat">
            <a:solidFill>
              <a:srgbClr val="F8F8F8"/>
            </a:solidFill>
            <a:prstDash val="solid"/>
            <a:miter lim="0"/>
          </a:ln>
        </p:spPr>
        <p:txBody>
          <a:bodyPr vert="horz" wrap="square" lIns="0" tIns="0" rIns="0" bIns="0"/>
          <a:lstStyle/>
          <a:p>
            <a:pPr algn="l" rtl="0" eaLnBrk="0">
              <a:lnSpc>
                <a:spcPct val="128000"/>
              </a:lnSpc>
              <a:tabLst/>
            </a:pPr>
            <a:endParaRPr sz="300" dirty="0">
              <a:latin typeface="Arial"/>
              <a:ea typeface="Arial"/>
              <a:cs typeface="Arial"/>
            </a:endParaRPr>
          </a:p>
          <a:p>
            <a:pPr marL="302895" algn="l" rtl="0" eaLnBrk="0">
              <a:lnSpc>
                <a:spcPct val="85000"/>
              </a:lnSpc>
              <a:spcBef>
                <a:spcPts val="1"/>
              </a:spcBef>
              <a:tabLst/>
            </a:pPr>
            <a:r>
              <a:rPr sz="1600" kern="0" spc="-140" dirty="0">
                <a:solidFill>
                  <a:srgbClr val="0E0E0E">
                    <a:alpha val="100000"/>
                  </a:srgbClr>
                </a:solidFill>
                <a:latin typeface="Microsoft YaHei"/>
                <a:ea typeface="Microsoft YaHei"/>
                <a:cs typeface="Microsoft YaHei"/>
              </a:rPr>
              <a:t>乡</a:t>
            </a:r>
            <a:r>
              <a:rPr sz="1600" kern="0" spc="80" dirty="0">
                <a:solidFill>
                  <a:srgbClr val="0E0E0E">
                    <a:alpha val="100000"/>
                  </a:srgbClr>
                </a:solidFill>
                <a:latin typeface="Microsoft YaHei"/>
                <a:ea typeface="Microsoft YaHei"/>
                <a:cs typeface="Microsoft YaHei"/>
              </a:rPr>
              <a:t> </a:t>
            </a:r>
            <a:r>
              <a:rPr sz="1600" kern="0" spc="-140" dirty="0">
                <a:solidFill>
                  <a:srgbClr val="38404F">
                    <a:alpha val="100000"/>
                  </a:srgbClr>
                </a:solidFill>
                <a:latin typeface="Arial"/>
                <a:ea typeface="Arial"/>
                <a:cs typeface="Arial"/>
              </a:rPr>
              <a:t>cin</a:t>
            </a:r>
            <a:r>
              <a:rPr sz="1600" kern="0" spc="-250" dirty="0">
                <a:solidFill>
                  <a:srgbClr val="38404F">
                    <a:alpha val="100000"/>
                  </a:srgbClr>
                </a:solidFill>
                <a:latin typeface="Arial"/>
                <a:ea typeface="Arial"/>
                <a:cs typeface="Arial"/>
              </a:rPr>
              <a:t> </a:t>
            </a:r>
            <a:r>
              <a:rPr sz="1600" kern="0" spc="-140" dirty="0">
                <a:solidFill>
                  <a:srgbClr val="38404F">
                    <a:alpha val="100000"/>
                  </a:srgbClr>
                </a:solidFill>
                <a:latin typeface="Arial"/>
                <a:ea typeface="Arial"/>
                <a:cs typeface="Arial"/>
              </a:rPr>
              <a:t>eyAl</a:t>
            </a:r>
            <a:endParaRPr sz="1600" dirty="0">
              <a:latin typeface="Arial"/>
              <a:ea typeface="Arial"/>
              <a:cs typeface="Arial"/>
            </a:endParaRPr>
          </a:p>
          <a:p>
            <a:pPr algn="l" rtl="0" eaLnBrk="0">
              <a:lnSpc>
                <a:spcPct val="106000"/>
              </a:lnSpc>
              <a:tabLst/>
            </a:pPr>
            <a:endParaRPr sz="400" dirty="0">
              <a:latin typeface="Arial"/>
              <a:ea typeface="Arial"/>
              <a:cs typeface="Arial"/>
            </a:endParaRPr>
          </a:p>
          <a:p>
            <a:pPr marL="95885" algn="l" rtl="0" eaLnBrk="0">
              <a:lnSpc>
                <a:spcPct val="90000"/>
              </a:lnSpc>
              <a:spcBef>
                <a:spcPts val="3"/>
              </a:spcBef>
              <a:tabLst/>
            </a:pPr>
            <a:r>
              <a:rPr sz="800" kern="0" spc="10" dirty="0">
                <a:solidFill>
                  <a:srgbClr val="737475">
                    <a:alpha val="100000"/>
                  </a:srgbClr>
                </a:solidFill>
                <a:latin typeface="Arial"/>
                <a:ea typeface="Arial"/>
                <a:cs typeface="Arial"/>
              </a:rPr>
              <a:t>2025.1</a:t>
            </a:r>
            <a:r>
              <a:rPr sz="800" kern="0" spc="1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Tens</a:t>
            </a:r>
            <a:r>
              <a:rPr sz="800" b="1" kern="0" spc="1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12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r>
              <a:rPr sz="800" b="1" kern="0" spc="10" dirty="0">
                <a:solidFill>
                  <a:srgbClr val="000000">
                    <a:alpha val="100000"/>
                  </a:srgbClr>
                </a:solidFill>
                <a:latin typeface="Microsoft YaHei"/>
                <a:ea typeface="Microsoft YaHei"/>
                <a:cs typeface="Microsoft YaHei"/>
              </a:rPr>
              <a:t> </a:t>
            </a: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sp>
        <p:nvSpPr>
          <p:cNvPr id="168" name="rect 168"/>
          <p:cNvSpPr/>
          <p:nvPr/>
        </p:nvSpPr>
        <p:spPr>
          <a:xfrm>
            <a:off x="777240" y="4277867"/>
            <a:ext cx="1543811" cy="547116"/>
          </a:xfrm>
          <a:prstGeom prst="rect">
            <a:avLst/>
          </a:prstGeom>
          <a:solidFill>
            <a:srgbClr val="F9F5ED">
              <a:alpha val="34117"/>
            </a:srgbClr>
          </a:solidFill>
          <a:ln w="0" cap="flat">
            <a:noFill/>
            <a:prstDash val="solid"/>
            <a:miter lim="0"/>
          </a:ln>
        </p:spPr>
        <p:txBody>
          <a:bodyPr rtlCol="0"/>
          <a:lstStyle/>
          <a:p>
            <a:pPr algn="ctr"/>
            <a:endParaRPr lang="zh-CN" altLang="en-US"/>
          </a:p>
        </p:txBody>
      </p:sp>
      <p:sp>
        <p:nvSpPr>
          <p:cNvPr id="170" name="textbox 170"/>
          <p:cNvSpPr/>
          <p:nvPr/>
        </p:nvSpPr>
        <p:spPr>
          <a:xfrm>
            <a:off x="764540" y="4265167"/>
            <a:ext cx="1569719" cy="572769"/>
          </a:xfrm>
          <a:prstGeom prst="roundRect">
            <a:avLst>
              <a:gd name="adj" fmla="val 14008"/>
            </a:avLst>
          </a:prstGeom>
          <a:noFill/>
          <a:ln w="9525" cap="flat">
            <a:solidFill>
              <a:srgbClr val="F8F8F8"/>
            </a:solidFill>
            <a:prstDash val="solid"/>
            <a:miter lim="0"/>
          </a:ln>
        </p:spPr>
        <p:txBody>
          <a:bodyPr vert="horz" wrap="square" lIns="0" tIns="0" rIns="0" bIns="0"/>
          <a:lstStyle/>
          <a:p>
            <a:pPr algn="l" rtl="0" eaLnBrk="0">
              <a:lnSpc>
                <a:spcPct val="109000"/>
              </a:lnSpc>
              <a:tabLst/>
            </a:pPr>
            <a:endParaRPr sz="700" dirty="0">
              <a:latin typeface="Arial"/>
              <a:ea typeface="Arial"/>
              <a:cs typeface="Arial"/>
            </a:endParaRPr>
          </a:p>
          <a:p>
            <a:pPr marL="639444" algn="l" rtl="0" eaLnBrk="0">
              <a:lnSpc>
                <a:spcPct val="79000"/>
              </a:lnSpc>
              <a:spcBef>
                <a:spcPts val="3"/>
              </a:spcBef>
              <a:tabLst/>
            </a:pPr>
            <a:r>
              <a:rPr sz="1000" kern="0" spc="-50" dirty="0">
                <a:solidFill>
                  <a:srgbClr val="177BFF">
                    <a:alpha val="100000"/>
                  </a:srgbClr>
                </a:solidFill>
                <a:latin typeface="Arial"/>
                <a:ea typeface="Arial"/>
                <a:cs typeface="Arial"/>
              </a:rPr>
              <a:t>Qian</a:t>
            </a:r>
            <a:r>
              <a:rPr sz="1000" kern="0" spc="-60" dirty="0">
                <a:solidFill>
                  <a:srgbClr val="177BFF">
                    <a:alpha val="100000"/>
                  </a:srgbClr>
                </a:solidFill>
                <a:latin typeface="Arial"/>
                <a:ea typeface="Arial"/>
                <a:cs typeface="Arial"/>
              </a:rPr>
              <a:t> </a:t>
            </a:r>
            <a:r>
              <a:rPr sz="1000" kern="0" spc="-50" dirty="0">
                <a:solidFill>
                  <a:srgbClr val="177BFF">
                    <a:alpha val="100000"/>
                  </a:srgbClr>
                </a:solidFill>
                <a:latin typeface="Arial"/>
                <a:ea typeface="Arial"/>
                <a:cs typeface="Arial"/>
              </a:rPr>
              <a:t>jiue</a:t>
            </a:r>
            <a:endParaRPr sz="1000" dirty="0">
              <a:latin typeface="Arial"/>
              <a:ea typeface="Arial"/>
              <a:cs typeface="Arial"/>
            </a:endParaRPr>
          </a:p>
          <a:p>
            <a:pPr algn="r" rtl="0" eaLnBrk="0">
              <a:lnSpc>
                <a:spcPct val="89000"/>
              </a:lnSpc>
              <a:spcBef>
                <a:spcPts val="357"/>
              </a:spcBef>
              <a:tabLst/>
            </a:pPr>
            <a:r>
              <a:rPr sz="800" kern="0" spc="0" dirty="0">
                <a:solidFill>
                  <a:srgbClr val="737475">
                    <a:alpha val="100000"/>
                  </a:srgbClr>
                </a:solidFill>
                <a:latin typeface="Arial"/>
                <a:ea typeface="Arial"/>
                <a:cs typeface="Arial"/>
              </a:rPr>
              <a:t>2025.12</a:t>
            </a:r>
            <a:r>
              <a:rPr sz="800" kern="0" spc="0" dirty="0">
                <a:solidFill>
                  <a:srgbClr val="737475">
                    <a:alpha val="100000"/>
                  </a:srgbClr>
                </a:solidFill>
                <a:latin typeface="Arial"/>
                <a:ea typeface="Arial"/>
                <a:cs typeface="Arial"/>
              </a:rPr>
              <a:t>  </a:t>
            </a:r>
            <a:r>
              <a:rPr sz="800" b="1" i="1" kern="0" spc="0" dirty="0">
                <a:solidFill>
                  <a:srgbClr val="000000">
                    <a:alpha val="100000"/>
                  </a:srgbClr>
                </a:solidFill>
                <a:latin typeface="Microsoft YaHei"/>
                <a:ea typeface="Microsoft YaHei"/>
                <a:cs typeface="Microsoft YaHei"/>
              </a:rPr>
              <a:t>Hundreds</a:t>
            </a:r>
            <a:r>
              <a:rPr sz="800" b="1" kern="0" spc="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of</a:t>
            </a:r>
            <a:r>
              <a:rPr sz="800" b="1" kern="0" spc="100" dirty="0">
                <a:solidFill>
                  <a:srgbClr val="000000">
                    <a:alpha val="100000"/>
                  </a:srgbClr>
                </a:solidFill>
                <a:latin typeface="Microsoft YaHei"/>
                <a:ea typeface="Microsoft YaHei"/>
                <a:cs typeface="Microsoft YaHei"/>
              </a:rPr>
              <a:t> </a:t>
            </a:r>
            <a:r>
              <a:rPr sz="800" b="1" i="1" kern="0" spc="0" dirty="0">
                <a:solidFill>
                  <a:srgbClr val="000000">
                    <a:alpha val="100000"/>
                  </a:srgbClr>
                </a:solidFill>
                <a:latin typeface="Microsoft YaHei"/>
                <a:ea typeface="Microsoft YaHei"/>
                <a:cs typeface="Microsoft YaHei"/>
              </a:rPr>
              <a:t>millions</a:t>
            </a:r>
            <a:endParaRPr sz="800" dirty="0">
              <a:latin typeface="Microsoft YaHei"/>
              <a:ea typeface="Microsoft YaHei"/>
              <a:cs typeface="Microsoft YaHei"/>
            </a:endParaRPr>
          </a:p>
          <a:p>
            <a:pPr marL="744855" algn="l" rtl="0" eaLnBrk="0">
              <a:lnSpc>
                <a:spcPct val="78000"/>
              </a:lnSpc>
              <a:spcBef>
                <a:spcPts val="182"/>
              </a:spcBef>
              <a:tabLst/>
            </a:pPr>
            <a:r>
              <a:rPr sz="800" b="1" i="1" kern="0" spc="-10" dirty="0">
                <a:solidFill>
                  <a:srgbClr val="000000">
                    <a:alpha val="100000"/>
                  </a:srgbClr>
                </a:solidFill>
                <a:latin typeface="Microsoft YaHei"/>
                <a:ea typeface="Microsoft YaHei"/>
                <a:cs typeface="Microsoft YaHei"/>
              </a:rPr>
              <a:t>¥</a:t>
            </a:r>
            <a:endParaRPr sz="800" dirty="0">
              <a:latin typeface="Microsoft YaHei"/>
              <a:ea typeface="Microsoft YaHei"/>
              <a:cs typeface="Microsoft YaHei"/>
            </a:endParaRPr>
          </a:p>
        </p:txBody>
      </p:sp>
      <p:pic>
        <p:nvPicPr>
          <p:cNvPr id="172" name="picture 172"/>
          <p:cNvPicPr>
            <a:picLocks noChangeAspect="1"/>
          </p:cNvPicPr>
          <p:nvPr/>
        </p:nvPicPr>
        <p:blipFill>
          <a:blip r:embed="rId13"/>
          <a:stretch>
            <a:fillRect/>
          </a:stretch>
        </p:blipFill>
        <p:spPr>
          <a:xfrm rot="21600000">
            <a:off x="1097280" y="4314481"/>
            <a:ext cx="300445" cy="254343"/>
          </a:xfrm>
          <a:prstGeom prst="rect">
            <a:avLst/>
          </a:prstGeom>
        </p:spPr>
      </p:pic>
      <p:sp>
        <p:nvSpPr>
          <p:cNvPr id="174" name="textbox 174"/>
          <p:cNvSpPr/>
          <p:nvPr/>
        </p:nvSpPr>
        <p:spPr>
          <a:xfrm>
            <a:off x="4751832" y="3048000"/>
            <a:ext cx="2452370" cy="262254"/>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14000"/>
              </a:lnSpc>
              <a:tabLst/>
            </a:pPr>
            <a:endParaRPr sz="200" dirty="0">
              <a:latin typeface="Arial"/>
              <a:ea typeface="Arial"/>
              <a:cs typeface="Arial"/>
            </a:endParaRPr>
          </a:p>
          <a:p>
            <a:pPr marL="514984" algn="l" rtl="0" eaLnBrk="0">
              <a:lnSpc>
                <a:spcPct val="95000"/>
              </a:lnSpc>
              <a:tabLst/>
            </a:pPr>
            <a:r>
              <a:rPr sz="1500" b="1" kern="0" spc="0" dirty="0">
                <a:solidFill>
                  <a:srgbClr val="FFFFFF">
                    <a:alpha val="100000"/>
                  </a:srgbClr>
                </a:solidFill>
                <a:latin typeface="Times New Roman"/>
                <a:ea typeface="Times New Roman"/>
                <a:cs typeface="Times New Roman"/>
              </a:rPr>
              <a:t>Maple</a:t>
            </a:r>
            <a:r>
              <a:rPr sz="1500" b="1" kern="0" spc="130" dirty="0">
                <a:solidFill>
                  <a:srgbClr val="FFFFFF">
                    <a:alpha val="100000"/>
                  </a:srgbClr>
                </a:solidFill>
                <a:latin typeface="Times New Roman"/>
                <a:ea typeface="Times New Roman"/>
                <a:cs typeface="Times New Roman"/>
              </a:rPr>
              <a:t> </a:t>
            </a:r>
            <a:r>
              <a:rPr sz="1500" b="1" kern="0" spc="130" dirty="0">
                <a:solidFill>
                  <a:srgbClr val="FFFFFF">
                    <a:alpha val="100000"/>
                  </a:srgbClr>
                </a:solidFill>
                <a:latin typeface="KaiTi"/>
                <a:ea typeface="KaiTi"/>
                <a:cs typeface="KaiTi"/>
              </a:rPr>
              <a:t>项目概览</a:t>
            </a:r>
            <a:endParaRPr sz="1500" dirty="0">
              <a:latin typeface="KaiTi"/>
              <a:ea typeface="KaiTi"/>
              <a:cs typeface="KaiTi"/>
            </a:endParaRPr>
          </a:p>
        </p:txBody>
      </p:sp>
      <p:pic>
        <p:nvPicPr>
          <p:cNvPr id="176" name="picture 176"/>
          <p:cNvPicPr>
            <a:picLocks noChangeAspect="1"/>
          </p:cNvPicPr>
          <p:nvPr/>
        </p:nvPicPr>
        <p:blipFill>
          <a:blip r:embed="rId14"/>
          <a:stretch>
            <a:fillRect/>
          </a:stretch>
        </p:blipFill>
        <p:spPr>
          <a:xfrm rot="21600000">
            <a:off x="10114788" y="414528"/>
            <a:ext cx="1616964" cy="365759"/>
          </a:xfrm>
          <a:prstGeom prst="rect">
            <a:avLst/>
          </a:prstGeom>
        </p:spPr>
      </p:pic>
      <p:sp>
        <p:nvSpPr>
          <p:cNvPr id="178" name="textbox 178"/>
          <p:cNvSpPr/>
          <p:nvPr/>
        </p:nvSpPr>
        <p:spPr>
          <a:xfrm>
            <a:off x="8079975" y="1863204"/>
            <a:ext cx="2153920" cy="206375"/>
          </a:xfrm>
          <a:prstGeom prst="rect">
            <a:avLst/>
          </a:prstGeom>
          <a:noFill/>
          <a:ln w="0" cap="flat">
            <a:noFill/>
            <a:prstDash val="solid"/>
            <a:miter lim="0"/>
          </a:ln>
        </p:spPr>
        <p:txBody>
          <a:bodyPr vert="horz" wrap="square" lIns="0" tIns="0" rIns="0" bIns="0"/>
          <a:lstStyle/>
          <a:p>
            <a:pPr algn="l" rtl="0" eaLnBrk="0">
              <a:lnSpc>
                <a:spcPct val="80582"/>
              </a:lnSpc>
              <a:tabLst/>
            </a:pPr>
            <a:endParaRPr sz="100" dirty="0">
              <a:latin typeface="Arial"/>
              <a:ea typeface="Arial"/>
              <a:cs typeface="Arial"/>
            </a:endParaRPr>
          </a:p>
          <a:p>
            <a:pPr marL="12700" algn="l" rtl="0" eaLnBrk="0">
              <a:lnSpc>
                <a:spcPct val="85000"/>
              </a:lnSpc>
              <a:tabLst/>
            </a:pPr>
            <a:r>
              <a:rPr sz="1400" b="1" kern="0" spc="-10" dirty="0">
                <a:solidFill>
                  <a:srgbClr val="000000">
                    <a:alpha val="100000"/>
                  </a:srgbClr>
                </a:solidFill>
                <a:latin typeface="KaiTi"/>
                <a:ea typeface="KaiTi"/>
                <a:cs typeface="KaiTi"/>
              </a:rPr>
              <a:t>3.</a:t>
            </a:r>
            <a:r>
              <a:rPr sz="1400" kern="0" spc="-10" dirty="0">
                <a:solidFill>
                  <a:srgbClr val="000000">
                    <a:alpha val="100000"/>
                  </a:srgbClr>
                </a:solidFill>
                <a:latin typeface="KaiTi"/>
                <a:ea typeface="KaiTi"/>
                <a:cs typeface="KaiTi"/>
              </a:rPr>
              <a:t> </a:t>
            </a:r>
            <a:r>
              <a:rPr sz="1400" b="1" kern="0" spc="-10" dirty="0">
                <a:solidFill>
                  <a:srgbClr val="000000">
                    <a:alpha val="100000"/>
                  </a:srgbClr>
                </a:solidFill>
                <a:latin typeface="KaiTi"/>
                <a:ea typeface="KaiTi"/>
                <a:cs typeface="KaiTi"/>
              </a:rPr>
              <a:t>潜在机构覆盖</a:t>
            </a:r>
            <a:r>
              <a:rPr sz="1400" b="1" kern="0" spc="-20" dirty="0">
                <a:solidFill>
                  <a:srgbClr val="000000">
                    <a:alpha val="100000"/>
                  </a:srgbClr>
                </a:solidFill>
                <a:latin typeface="KaiTi"/>
                <a:ea typeface="KaiTi"/>
                <a:cs typeface="KaiTi"/>
              </a:rPr>
              <a:t>&amp;执行概要</a:t>
            </a:r>
            <a:endParaRPr sz="1400" dirty="0">
              <a:latin typeface="KaiTi"/>
              <a:ea typeface="KaiTi"/>
              <a:cs typeface="KaiTi"/>
            </a:endParaRPr>
          </a:p>
        </p:txBody>
      </p:sp>
      <p:pic>
        <p:nvPicPr>
          <p:cNvPr id="180" name="picture 180"/>
          <p:cNvPicPr>
            <a:picLocks noChangeAspect="1"/>
          </p:cNvPicPr>
          <p:nvPr/>
        </p:nvPicPr>
        <p:blipFill>
          <a:blip r:embed="rId15"/>
          <a:stretch>
            <a:fillRect/>
          </a:stretch>
        </p:blipFill>
        <p:spPr>
          <a:xfrm rot="21600000">
            <a:off x="5756148" y="3483864"/>
            <a:ext cx="818388" cy="254507"/>
          </a:xfrm>
          <a:prstGeom prst="rect">
            <a:avLst/>
          </a:prstGeom>
        </p:spPr>
      </p:pic>
      <p:pic>
        <p:nvPicPr>
          <p:cNvPr id="182" name="picture 182"/>
          <p:cNvPicPr>
            <a:picLocks noChangeAspect="1"/>
          </p:cNvPicPr>
          <p:nvPr/>
        </p:nvPicPr>
        <p:blipFill>
          <a:blip r:embed="rId16"/>
          <a:stretch>
            <a:fillRect/>
          </a:stretch>
        </p:blipFill>
        <p:spPr>
          <a:xfrm rot="21600000">
            <a:off x="1194250" y="3475926"/>
            <a:ext cx="700646" cy="273113"/>
          </a:xfrm>
          <a:prstGeom prst="rect">
            <a:avLst/>
          </a:prstGeom>
        </p:spPr>
      </p:pic>
      <p:pic>
        <p:nvPicPr>
          <p:cNvPr id="184" name="picture 184"/>
          <p:cNvPicPr>
            <a:picLocks noChangeAspect="1"/>
          </p:cNvPicPr>
          <p:nvPr/>
        </p:nvPicPr>
        <p:blipFill>
          <a:blip r:embed="rId17"/>
          <a:stretch>
            <a:fillRect/>
          </a:stretch>
        </p:blipFill>
        <p:spPr>
          <a:xfrm rot="21600000">
            <a:off x="5689605" y="5211218"/>
            <a:ext cx="944968" cy="200505"/>
          </a:xfrm>
          <a:prstGeom prst="rect">
            <a:avLst/>
          </a:prstGeom>
        </p:spPr>
      </p:pic>
      <p:pic>
        <p:nvPicPr>
          <p:cNvPr id="186" name="picture 186"/>
          <p:cNvPicPr>
            <a:picLocks noChangeAspect="1"/>
          </p:cNvPicPr>
          <p:nvPr/>
        </p:nvPicPr>
        <p:blipFill>
          <a:blip r:embed="rId18"/>
          <a:stretch>
            <a:fillRect/>
          </a:stretch>
        </p:blipFill>
        <p:spPr>
          <a:xfrm rot="21600000">
            <a:off x="7919217" y="4367091"/>
            <a:ext cx="944968" cy="197288"/>
          </a:xfrm>
          <a:prstGeom prst="rect">
            <a:avLst/>
          </a:prstGeom>
        </p:spPr>
      </p:pic>
      <p:sp>
        <p:nvSpPr>
          <p:cNvPr id="188" name="textbox 188"/>
          <p:cNvSpPr/>
          <p:nvPr/>
        </p:nvSpPr>
        <p:spPr>
          <a:xfrm>
            <a:off x="4321631" y="1863204"/>
            <a:ext cx="1000125" cy="204470"/>
          </a:xfrm>
          <a:prstGeom prst="rect">
            <a:avLst/>
          </a:prstGeom>
          <a:noFill/>
          <a:ln w="0" cap="flat">
            <a:noFill/>
            <a:prstDash val="solid"/>
            <a:miter lim="0"/>
          </a:ln>
        </p:spPr>
        <p:txBody>
          <a:bodyPr vert="horz" wrap="square" lIns="0" tIns="0" rIns="0" bIns="0"/>
          <a:lstStyle/>
          <a:p>
            <a:pPr algn="l" rtl="0" eaLnBrk="0">
              <a:lnSpc>
                <a:spcPct val="79452"/>
              </a:lnSpc>
              <a:tabLst/>
            </a:pPr>
            <a:endParaRPr sz="100" dirty="0">
              <a:latin typeface="Arial"/>
              <a:ea typeface="Arial"/>
              <a:cs typeface="Arial"/>
            </a:endParaRPr>
          </a:p>
          <a:p>
            <a:pPr marL="12700" algn="l" rtl="0" eaLnBrk="0">
              <a:lnSpc>
                <a:spcPct val="84000"/>
              </a:lnSpc>
              <a:tabLst/>
            </a:pPr>
            <a:r>
              <a:rPr sz="1400" b="1" kern="0" spc="-30" dirty="0">
                <a:solidFill>
                  <a:srgbClr val="000000">
                    <a:alpha val="100000"/>
                  </a:srgbClr>
                </a:solidFill>
                <a:latin typeface="KaiTi"/>
                <a:ea typeface="KaiTi"/>
                <a:cs typeface="KaiTi"/>
              </a:rPr>
              <a:t>2.</a:t>
            </a:r>
            <a:r>
              <a:rPr sz="1400" kern="0" spc="70" dirty="0">
                <a:solidFill>
                  <a:srgbClr val="000000">
                    <a:alpha val="100000"/>
                  </a:srgbClr>
                </a:solidFill>
                <a:latin typeface="KaiTi"/>
                <a:ea typeface="KaiTi"/>
                <a:cs typeface="KaiTi"/>
              </a:rPr>
              <a:t> </a:t>
            </a:r>
            <a:r>
              <a:rPr sz="1400" b="1" kern="0" spc="-30" dirty="0">
                <a:solidFill>
                  <a:srgbClr val="000000">
                    <a:alpha val="100000"/>
                  </a:srgbClr>
                </a:solidFill>
                <a:latin typeface="KaiTi"/>
                <a:ea typeface="KaiTi"/>
                <a:cs typeface="KaiTi"/>
              </a:rPr>
              <a:t>行业分析</a:t>
            </a:r>
            <a:endParaRPr sz="1400" dirty="0">
              <a:latin typeface="KaiTi"/>
              <a:ea typeface="KaiTi"/>
              <a:cs typeface="KaiTi"/>
            </a:endParaRPr>
          </a:p>
        </p:txBody>
      </p:sp>
      <p:sp>
        <p:nvSpPr>
          <p:cNvPr id="190" name="textbox 190"/>
          <p:cNvSpPr/>
          <p:nvPr/>
        </p:nvSpPr>
        <p:spPr>
          <a:xfrm>
            <a:off x="834259" y="1863204"/>
            <a:ext cx="989964" cy="210184"/>
          </a:xfrm>
          <a:prstGeom prst="rect">
            <a:avLst/>
          </a:prstGeom>
          <a:noFill/>
          <a:ln w="0" cap="flat">
            <a:noFill/>
            <a:prstDash val="solid"/>
            <a:miter lim="0"/>
          </a:ln>
        </p:spPr>
        <p:txBody>
          <a:bodyPr vert="horz" wrap="square" lIns="0" tIns="0" rIns="0" bIns="0"/>
          <a:lstStyle/>
          <a:p>
            <a:pPr algn="l" rtl="0" eaLnBrk="0">
              <a:lnSpc>
                <a:spcPct val="89371"/>
              </a:lnSpc>
              <a:tabLst/>
            </a:pPr>
            <a:endParaRPr sz="100" dirty="0">
              <a:latin typeface="Arial"/>
              <a:ea typeface="Arial"/>
              <a:cs typeface="Arial"/>
            </a:endParaRPr>
          </a:p>
          <a:p>
            <a:pPr marL="12700" algn="l" rtl="0" eaLnBrk="0">
              <a:lnSpc>
                <a:spcPct val="86000"/>
              </a:lnSpc>
              <a:tabLst/>
            </a:pPr>
            <a:r>
              <a:rPr sz="1400" b="1" kern="0" spc="-40" dirty="0">
                <a:solidFill>
                  <a:srgbClr val="000000">
                    <a:alpha val="100000"/>
                  </a:srgbClr>
                </a:solidFill>
                <a:latin typeface="KaiTi"/>
                <a:ea typeface="KaiTi"/>
                <a:cs typeface="KaiTi"/>
              </a:rPr>
              <a:t>1.</a:t>
            </a:r>
            <a:r>
              <a:rPr sz="1400" kern="0" spc="70" dirty="0">
                <a:solidFill>
                  <a:srgbClr val="000000">
                    <a:alpha val="100000"/>
                  </a:srgbClr>
                </a:solidFill>
                <a:latin typeface="KaiTi"/>
                <a:ea typeface="KaiTi"/>
                <a:cs typeface="KaiTi"/>
              </a:rPr>
              <a:t> </a:t>
            </a:r>
            <a:r>
              <a:rPr sz="1400" b="1" kern="0" spc="-40" dirty="0">
                <a:solidFill>
                  <a:srgbClr val="000000">
                    <a:alpha val="100000"/>
                  </a:srgbClr>
                </a:solidFill>
                <a:latin typeface="KaiTi"/>
                <a:ea typeface="KaiTi"/>
                <a:cs typeface="KaiTi"/>
              </a:rPr>
              <a:t>赛道机会</a:t>
            </a:r>
            <a:endParaRPr sz="1400" dirty="0">
              <a:latin typeface="KaiTi"/>
              <a:ea typeface="KaiTi"/>
              <a:cs typeface="KaiTi"/>
            </a:endParaRPr>
          </a:p>
        </p:txBody>
      </p:sp>
      <p:pic>
        <p:nvPicPr>
          <p:cNvPr id="192" name="picture 192"/>
          <p:cNvPicPr>
            <a:picLocks noChangeAspect="1"/>
          </p:cNvPicPr>
          <p:nvPr/>
        </p:nvPicPr>
        <p:blipFill>
          <a:blip r:embed="rId19"/>
          <a:stretch>
            <a:fillRect/>
          </a:stretch>
        </p:blipFill>
        <p:spPr>
          <a:xfrm rot="21600000">
            <a:off x="3046476" y="5055108"/>
            <a:ext cx="239267" cy="694220"/>
          </a:xfrm>
          <a:prstGeom prst="rect">
            <a:avLst/>
          </a:prstGeom>
        </p:spPr>
      </p:pic>
      <p:pic>
        <p:nvPicPr>
          <p:cNvPr id="194" name="picture 194"/>
          <p:cNvPicPr>
            <a:picLocks noChangeAspect="1"/>
          </p:cNvPicPr>
          <p:nvPr/>
        </p:nvPicPr>
        <p:blipFill>
          <a:blip r:embed="rId20"/>
          <a:stretch>
            <a:fillRect/>
          </a:stretch>
        </p:blipFill>
        <p:spPr>
          <a:xfrm rot="21600000">
            <a:off x="5245608" y="5143500"/>
            <a:ext cx="233171" cy="475488"/>
          </a:xfrm>
          <a:prstGeom prst="rect">
            <a:avLst/>
          </a:prstGeom>
        </p:spPr>
      </p:pic>
      <p:pic>
        <p:nvPicPr>
          <p:cNvPr id="196" name="picture 196"/>
          <p:cNvPicPr>
            <a:picLocks noChangeAspect="1"/>
          </p:cNvPicPr>
          <p:nvPr/>
        </p:nvPicPr>
        <p:blipFill>
          <a:blip r:embed="rId21"/>
          <a:stretch>
            <a:fillRect/>
          </a:stretch>
        </p:blipFill>
        <p:spPr>
          <a:xfrm rot="21600000">
            <a:off x="7475219" y="4296155"/>
            <a:ext cx="231647" cy="475488"/>
          </a:xfrm>
          <a:prstGeom prst="rect">
            <a:avLst/>
          </a:prstGeom>
        </p:spPr>
      </p:pic>
      <p:pic>
        <p:nvPicPr>
          <p:cNvPr id="198" name="picture 198"/>
          <p:cNvPicPr>
            <a:picLocks noChangeAspect="1"/>
          </p:cNvPicPr>
          <p:nvPr/>
        </p:nvPicPr>
        <p:blipFill>
          <a:blip r:embed="rId22"/>
          <a:stretch>
            <a:fillRect/>
          </a:stretch>
        </p:blipFill>
        <p:spPr>
          <a:xfrm rot="21600000">
            <a:off x="633984" y="6053328"/>
            <a:ext cx="233171" cy="440436"/>
          </a:xfrm>
          <a:prstGeom prst="rect">
            <a:avLst/>
          </a:prstGeom>
        </p:spPr>
      </p:pic>
      <p:pic>
        <p:nvPicPr>
          <p:cNvPr id="200" name="picture 200"/>
          <p:cNvPicPr>
            <a:picLocks noChangeAspect="1"/>
          </p:cNvPicPr>
          <p:nvPr/>
        </p:nvPicPr>
        <p:blipFill>
          <a:blip r:embed="rId23"/>
          <a:stretch>
            <a:fillRect/>
          </a:stretch>
        </p:blipFill>
        <p:spPr>
          <a:xfrm rot="21600000">
            <a:off x="5245608" y="4357116"/>
            <a:ext cx="233171" cy="440435"/>
          </a:xfrm>
          <a:prstGeom prst="rect">
            <a:avLst/>
          </a:prstGeom>
        </p:spPr>
      </p:pic>
      <p:pic>
        <p:nvPicPr>
          <p:cNvPr id="202" name="picture 202"/>
          <p:cNvPicPr>
            <a:picLocks noChangeAspect="1"/>
          </p:cNvPicPr>
          <p:nvPr/>
        </p:nvPicPr>
        <p:blipFill>
          <a:blip r:embed="rId24"/>
          <a:stretch>
            <a:fillRect/>
          </a:stretch>
        </p:blipFill>
        <p:spPr>
          <a:xfrm rot="21600000">
            <a:off x="9704831" y="4357116"/>
            <a:ext cx="231647" cy="440436"/>
          </a:xfrm>
          <a:prstGeom prst="rect">
            <a:avLst/>
          </a:prstGeom>
        </p:spPr>
      </p:pic>
      <p:pic>
        <p:nvPicPr>
          <p:cNvPr id="204" name="picture 204"/>
          <p:cNvPicPr>
            <a:picLocks noChangeAspect="1"/>
          </p:cNvPicPr>
          <p:nvPr/>
        </p:nvPicPr>
        <p:blipFill>
          <a:blip r:embed="rId25"/>
          <a:stretch>
            <a:fillRect/>
          </a:stretch>
        </p:blipFill>
        <p:spPr>
          <a:xfrm rot="21600000">
            <a:off x="3046476" y="4332732"/>
            <a:ext cx="233171" cy="432816"/>
          </a:xfrm>
          <a:prstGeom prst="rect">
            <a:avLst/>
          </a:prstGeom>
        </p:spPr>
      </p:pic>
      <p:pic>
        <p:nvPicPr>
          <p:cNvPr id="206" name="picture 206"/>
          <p:cNvPicPr>
            <a:picLocks noChangeAspect="1"/>
          </p:cNvPicPr>
          <p:nvPr/>
        </p:nvPicPr>
        <p:blipFill>
          <a:blip r:embed="rId26"/>
          <a:stretch>
            <a:fillRect/>
          </a:stretch>
        </p:blipFill>
        <p:spPr>
          <a:xfrm rot="21600000">
            <a:off x="9713976" y="5189220"/>
            <a:ext cx="213359" cy="426719"/>
          </a:xfrm>
          <a:prstGeom prst="rect">
            <a:avLst/>
          </a:prstGeom>
        </p:spPr>
      </p:pic>
      <p:pic>
        <p:nvPicPr>
          <p:cNvPr id="208" name="picture 208"/>
          <p:cNvPicPr>
            <a:picLocks noChangeAspect="1"/>
          </p:cNvPicPr>
          <p:nvPr/>
        </p:nvPicPr>
        <p:blipFill>
          <a:blip r:embed="rId27"/>
          <a:stretch>
            <a:fillRect/>
          </a:stretch>
        </p:blipFill>
        <p:spPr>
          <a:xfrm rot="21600000">
            <a:off x="630936" y="5204459"/>
            <a:ext cx="211836" cy="426719"/>
          </a:xfrm>
          <a:prstGeom prst="rect">
            <a:avLst/>
          </a:prstGeom>
        </p:spPr>
      </p:pic>
      <p:pic>
        <p:nvPicPr>
          <p:cNvPr id="210" name="picture 210"/>
          <p:cNvPicPr>
            <a:picLocks noChangeAspect="1"/>
          </p:cNvPicPr>
          <p:nvPr/>
        </p:nvPicPr>
        <p:blipFill>
          <a:blip r:embed="rId28"/>
          <a:stretch>
            <a:fillRect/>
          </a:stretch>
        </p:blipFill>
        <p:spPr>
          <a:xfrm rot="21600000">
            <a:off x="3046476" y="6030467"/>
            <a:ext cx="211835" cy="426720"/>
          </a:xfrm>
          <a:prstGeom prst="rect">
            <a:avLst/>
          </a:prstGeom>
        </p:spPr>
      </p:pic>
      <p:pic>
        <p:nvPicPr>
          <p:cNvPr id="212" name="picture 212"/>
          <p:cNvPicPr>
            <a:picLocks noChangeAspect="1"/>
          </p:cNvPicPr>
          <p:nvPr/>
        </p:nvPicPr>
        <p:blipFill>
          <a:blip r:embed="rId29"/>
          <a:stretch>
            <a:fillRect/>
          </a:stretch>
        </p:blipFill>
        <p:spPr>
          <a:xfrm rot="21600000">
            <a:off x="9717023" y="3473196"/>
            <a:ext cx="211835" cy="426719"/>
          </a:xfrm>
          <a:prstGeom prst="rect">
            <a:avLst/>
          </a:prstGeom>
        </p:spPr>
      </p:pic>
      <p:pic>
        <p:nvPicPr>
          <p:cNvPr id="214" name="picture 214"/>
          <p:cNvPicPr>
            <a:picLocks noChangeAspect="1"/>
          </p:cNvPicPr>
          <p:nvPr/>
        </p:nvPicPr>
        <p:blipFill>
          <a:blip r:embed="rId30"/>
          <a:stretch>
            <a:fillRect/>
          </a:stretch>
        </p:blipFill>
        <p:spPr>
          <a:xfrm rot="21600000">
            <a:off x="1140587" y="6126860"/>
            <a:ext cx="831045" cy="107670"/>
          </a:xfrm>
          <a:prstGeom prst="rect">
            <a:avLst/>
          </a:prstGeom>
        </p:spPr>
      </p:pic>
      <p:pic>
        <p:nvPicPr>
          <p:cNvPr id="216" name="picture 216"/>
          <p:cNvPicPr>
            <a:picLocks noChangeAspect="1"/>
          </p:cNvPicPr>
          <p:nvPr/>
        </p:nvPicPr>
        <p:blipFill>
          <a:blip r:embed="rId31"/>
          <a:stretch>
            <a:fillRect/>
          </a:stretch>
        </p:blipFill>
        <p:spPr>
          <a:xfrm rot="21600000">
            <a:off x="7475219" y="6010655"/>
            <a:ext cx="198119" cy="445008"/>
          </a:xfrm>
          <a:prstGeom prst="rect">
            <a:avLst/>
          </a:prstGeom>
        </p:spPr>
      </p:pic>
      <p:pic>
        <p:nvPicPr>
          <p:cNvPr id="218" name="picture 218"/>
          <p:cNvPicPr>
            <a:picLocks noChangeAspect="1"/>
          </p:cNvPicPr>
          <p:nvPr/>
        </p:nvPicPr>
        <p:blipFill>
          <a:blip r:embed="rId32"/>
          <a:stretch>
            <a:fillRect/>
          </a:stretch>
        </p:blipFill>
        <p:spPr>
          <a:xfrm rot="21600000">
            <a:off x="5245608" y="3453383"/>
            <a:ext cx="205739" cy="422148"/>
          </a:xfrm>
          <a:prstGeom prst="rect">
            <a:avLst/>
          </a:prstGeom>
        </p:spPr>
      </p:pic>
      <p:pic>
        <p:nvPicPr>
          <p:cNvPr id="220" name="picture 220"/>
          <p:cNvPicPr>
            <a:picLocks noChangeAspect="1"/>
          </p:cNvPicPr>
          <p:nvPr/>
        </p:nvPicPr>
        <p:blipFill>
          <a:blip r:embed="rId8"/>
          <a:stretch>
            <a:fillRect/>
          </a:stretch>
        </p:blipFill>
        <p:spPr>
          <a:xfrm rot="21600000">
            <a:off x="9983723" y="5180076"/>
            <a:ext cx="266700" cy="227075"/>
          </a:xfrm>
          <a:prstGeom prst="rect">
            <a:avLst/>
          </a:prstGeom>
        </p:spPr>
      </p:pic>
      <p:pic>
        <p:nvPicPr>
          <p:cNvPr id="222" name="picture 222"/>
          <p:cNvPicPr>
            <a:picLocks noChangeAspect="1"/>
          </p:cNvPicPr>
          <p:nvPr/>
        </p:nvPicPr>
        <p:blipFill>
          <a:blip r:embed="rId33"/>
          <a:stretch>
            <a:fillRect/>
          </a:stretch>
        </p:blipFill>
        <p:spPr>
          <a:xfrm rot="21600000">
            <a:off x="5245608" y="6100571"/>
            <a:ext cx="196596" cy="196595"/>
          </a:xfrm>
          <a:prstGeom prst="rect">
            <a:avLst/>
          </a:prstGeom>
        </p:spPr>
      </p:pic>
      <p:pic>
        <p:nvPicPr>
          <p:cNvPr id="224" name="picture 224"/>
          <p:cNvPicPr>
            <a:picLocks noChangeAspect="1"/>
          </p:cNvPicPr>
          <p:nvPr/>
        </p:nvPicPr>
        <p:blipFill>
          <a:blip r:embed="rId33"/>
          <a:stretch>
            <a:fillRect/>
          </a:stretch>
        </p:blipFill>
        <p:spPr>
          <a:xfrm rot="21600000">
            <a:off x="633984" y="3590544"/>
            <a:ext cx="196595" cy="196595"/>
          </a:xfrm>
          <a:prstGeom prst="rect">
            <a:avLst/>
          </a:prstGeom>
        </p:spPr>
      </p:pic>
      <p:pic>
        <p:nvPicPr>
          <p:cNvPr id="226" name="picture 226"/>
          <p:cNvPicPr>
            <a:picLocks noChangeAspect="1"/>
          </p:cNvPicPr>
          <p:nvPr/>
        </p:nvPicPr>
        <p:blipFill>
          <a:blip r:embed="rId33"/>
          <a:stretch>
            <a:fillRect/>
          </a:stretch>
        </p:blipFill>
        <p:spPr>
          <a:xfrm rot="21600000">
            <a:off x="633984" y="4404359"/>
            <a:ext cx="196595" cy="196595"/>
          </a:xfrm>
          <a:prstGeom prst="rect">
            <a:avLst/>
          </a:prstGeom>
        </p:spPr>
      </p:pic>
      <p:pic>
        <p:nvPicPr>
          <p:cNvPr id="228" name="picture 228"/>
          <p:cNvPicPr>
            <a:picLocks noChangeAspect="1"/>
          </p:cNvPicPr>
          <p:nvPr/>
        </p:nvPicPr>
        <p:blipFill>
          <a:blip r:embed="rId33"/>
          <a:stretch>
            <a:fillRect/>
          </a:stretch>
        </p:blipFill>
        <p:spPr>
          <a:xfrm rot="21600000">
            <a:off x="3046476" y="3590544"/>
            <a:ext cx="196595" cy="196595"/>
          </a:xfrm>
          <a:prstGeom prst="rect">
            <a:avLst/>
          </a:prstGeom>
        </p:spPr>
      </p:pic>
      <p:pic>
        <p:nvPicPr>
          <p:cNvPr id="230" name="picture 230"/>
          <p:cNvPicPr>
            <a:picLocks noChangeAspect="1"/>
          </p:cNvPicPr>
          <p:nvPr/>
        </p:nvPicPr>
        <p:blipFill>
          <a:blip r:embed="rId33"/>
          <a:stretch>
            <a:fillRect/>
          </a:stretch>
        </p:blipFill>
        <p:spPr>
          <a:xfrm rot="21600000">
            <a:off x="9713976" y="6100571"/>
            <a:ext cx="196595" cy="196595"/>
          </a:xfrm>
          <a:prstGeom prst="rect">
            <a:avLst/>
          </a:prstGeom>
        </p:spPr>
      </p:pic>
      <p:pic>
        <p:nvPicPr>
          <p:cNvPr id="232" name="picture 232"/>
          <p:cNvPicPr>
            <a:picLocks noChangeAspect="1"/>
          </p:cNvPicPr>
          <p:nvPr/>
        </p:nvPicPr>
        <p:blipFill>
          <a:blip r:embed="rId33"/>
          <a:stretch>
            <a:fillRect/>
          </a:stretch>
        </p:blipFill>
        <p:spPr>
          <a:xfrm rot="21600000">
            <a:off x="7475219" y="5251704"/>
            <a:ext cx="196595" cy="196595"/>
          </a:xfrm>
          <a:prstGeom prst="rect">
            <a:avLst/>
          </a:prstGeom>
        </p:spPr>
      </p:pic>
      <p:pic>
        <p:nvPicPr>
          <p:cNvPr id="234" name="picture 234"/>
          <p:cNvPicPr>
            <a:picLocks noChangeAspect="1"/>
          </p:cNvPicPr>
          <p:nvPr/>
        </p:nvPicPr>
        <p:blipFill>
          <a:blip r:embed="rId33"/>
          <a:stretch>
            <a:fillRect/>
          </a:stretch>
        </p:blipFill>
        <p:spPr>
          <a:xfrm rot="21600000">
            <a:off x="7475219" y="3590544"/>
            <a:ext cx="196595" cy="19659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rot="21600000">
            <a:off x="0" y="1016508"/>
            <a:ext cx="8210423" cy="5340095"/>
            <a:chOff x="0" y="0"/>
            <a:chExt cx="8210423" cy="5340095"/>
          </a:xfrm>
        </p:grpSpPr>
        <p:pic>
          <p:nvPicPr>
            <p:cNvPr id="236" name="picture 236"/>
            <p:cNvPicPr>
              <a:picLocks noChangeAspect="1"/>
            </p:cNvPicPr>
            <p:nvPr/>
          </p:nvPicPr>
          <p:blipFill>
            <a:blip r:embed="rId2"/>
            <a:stretch>
              <a:fillRect/>
            </a:stretch>
          </p:blipFill>
          <p:spPr>
            <a:xfrm rot="21600000">
              <a:off x="0" y="0"/>
              <a:ext cx="8202167" cy="5340095"/>
            </a:xfrm>
            <a:prstGeom prst="rect">
              <a:avLst/>
            </a:prstGeom>
          </p:spPr>
        </p:pic>
        <p:sp>
          <p:nvSpPr>
            <p:cNvPr id="238" name="textbox 238"/>
            <p:cNvSpPr/>
            <p:nvPr/>
          </p:nvSpPr>
          <p:spPr>
            <a:xfrm>
              <a:off x="467512" y="123088"/>
              <a:ext cx="1660525" cy="2002154"/>
            </a:xfrm>
            <a:prstGeom prst="rect">
              <a:avLst/>
            </a:prstGeom>
            <a:noFill/>
            <a:ln w="0" cap="flat">
              <a:noFill/>
              <a:prstDash val="solid"/>
              <a:miter lim="0"/>
            </a:ln>
          </p:spPr>
          <p:txBody>
            <a:bodyPr vert="horz" wrap="square" lIns="0" tIns="0" rIns="0" bIns="0"/>
            <a:lstStyle/>
            <a:p>
              <a:pPr algn="l" rtl="0" eaLnBrk="0">
                <a:lnSpc>
                  <a:spcPct val="86149"/>
                </a:lnSpc>
                <a:tabLst/>
              </a:pPr>
              <a:endParaRPr sz="100" dirty="0">
                <a:latin typeface="Arial"/>
                <a:ea typeface="Arial"/>
                <a:cs typeface="Arial"/>
              </a:endParaRPr>
            </a:p>
            <a:p>
              <a:pPr marL="502284" algn="l" rtl="0" eaLnBrk="0">
                <a:lnSpc>
                  <a:spcPct val="86000"/>
                </a:lnSpc>
                <a:tabLst/>
              </a:pPr>
              <a:r>
                <a:rPr sz="1200" b="1" kern="0" spc="-10" dirty="0">
                  <a:solidFill>
                    <a:srgbClr val="000000">
                      <a:alpha val="100000"/>
                    </a:srgbClr>
                  </a:solidFill>
                  <a:latin typeface="KaiTi"/>
                  <a:ea typeface="KaiTi"/>
                  <a:cs typeface="KaiTi"/>
                </a:rPr>
                <a:t>概念与框架</a:t>
              </a:r>
              <a:endParaRPr sz="1200" dirty="0">
                <a:latin typeface="KaiTi"/>
                <a:ea typeface="KaiTi"/>
                <a:cs typeface="KaiTi"/>
              </a:endParaRPr>
            </a:p>
            <a:p>
              <a:pPr marL="12700" algn="l" rtl="0" eaLnBrk="0">
                <a:lnSpc>
                  <a:spcPct val="73000"/>
                </a:lnSpc>
                <a:spcBef>
                  <a:spcPts val="982"/>
                </a:spcBef>
                <a:tabLst/>
              </a:pPr>
              <a:r>
                <a:rPr sz="1200" kern="0" spc="-10" dirty="0">
                  <a:solidFill>
                    <a:srgbClr val="12284C">
                      <a:alpha val="100000"/>
                    </a:srgbClr>
                  </a:solidFill>
                  <a:latin typeface="Times New Roman"/>
                  <a:ea typeface="Times New Roman"/>
                  <a:cs typeface="Times New Roman"/>
                </a:rPr>
                <a:t>-</a:t>
              </a:r>
              <a:r>
                <a:rPr sz="1200" kern="0" spc="20" dirty="0">
                  <a:solidFill>
                    <a:srgbClr val="12284C">
                      <a:alpha val="100000"/>
                    </a:srgbClr>
                  </a:solidFill>
                  <a:latin typeface="Times New Roman"/>
                  <a:ea typeface="Times New Roman"/>
                  <a:cs typeface="Times New Roman"/>
                </a:rPr>
                <a:t>   </a:t>
              </a:r>
              <a:r>
                <a:rPr sz="1200" kern="0" spc="-10" dirty="0">
                  <a:solidFill>
                    <a:srgbClr val="000000">
                      <a:alpha val="100000"/>
                    </a:srgbClr>
                  </a:solidFill>
                  <a:latin typeface="Times New Roman"/>
                  <a:ea typeface="Times New Roman"/>
                  <a:cs typeface="Times New Roman"/>
                </a:rPr>
                <a:t>David Ha</a:t>
              </a:r>
              <a:r>
                <a:rPr sz="1400" kern="0" spc="-10" dirty="0">
                  <a:solidFill>
                    <a:srgbClr val="000000">
                      <a:alpha val="100000"/>
                    </a:srgbClr>
                  </a:solidFill>
                  <a:latin typeface="Times New Roman"/>
                  <a:ea typeface="Times New Roman"/>
                  <a:cs typeface="Times New Roman"/>
                </a:rPr>
                <a:t>’</a:t>
              </a:r>
              <a:r>
                <a:rPr sz="1200" kern="0" spc="-10" dirty="0">
                  <a:solidFill>
                    <a:srgbClr val="000000">
                      <a:alpha val="100000"/>
                    </a:srgbClr>
                  </a:solidFill>
                  <a:latin typeface="Times New Roman"/>
                  <a:ea typeface="Times New Roman"/>
                  <a:cs typeface="Times New Roman"/>
                </a:rPr>
                <a:t>s W</a:t>
              </a:r>
              <a:r>
                <a:rPr sz="1200" kern="0" spc="-20" dirty="0">
                  <a:solidFill>
                    <a:srgbClr val="000000">
                      <a:alpha val="100000"/>
                    </a:srgbClr>
                  </a:solidFill>
                  <a:latin typeface="Times New Roman"/>
                  <a:ea typeface="Times New Roman"/>
                  <a:cs typeface="Times New Roman"/>
                </a:rPr>
                <a:t>orld</a:t>
              </a:r>
              <a:endParaRPr sz="1200" dirty="0">
                <a:latin typeface="Times New Roman"/>
                <a:ea typeface="Times New Roman"/>
                <a:cs typeface="Times New Roman"/>
              </a:endParaRPr>
            </a:p>
            <a:p>
              <a:pPr algn="r" rtl="0" eaLnBrk="0">
                <a:lnSpc>
                  <a:spcPct val="90000"/>
                </a:lnSpc>
                <a:spcBef>
                  <a:spcPts val="204"/>
                </a:spcBef>
                <a:tabLst/>
              </a:pPr>
              <a:r>
                <a:rPr sz="1200" kern="0" spc="-60" dirty="0">
                  <a:solidFill>
                    <a:srgbClr val="000000">
                      <a:alpha val="100000"/>
                    </a:srgbClr>
                  </a:solidFill>
                  <a:latin typeface="Times New Roman"/>
                  <a:ea typeface="Times New Roman"/>
                  <a:cs typeface="Times New Roman"/>
                </a:rPr>
                <a:t>models</a:t>
              </a:r>
              <a:r>
                <a:rPr sz="1200" kern="0" spc="-60" dirty="0">
                  <a:solidFill>
                    <a:srgbClr val="000000">
                      <a:alpha val="100000"/>
                    </a:srgbClr>
                  </a:solidFill>
                  <a:latin typeface="KaiTi"/>
                  <a:ea typeface="KaiTi"/>
                  <a:cs typeface="KaiTi"/>
                </a:rPr>
                <a:t>（</a:t>
              </a:r>
              <a:r>
                <a:rPr sz="1200" kern="0" spc="-60" dirty="0">
                  <a:solidFill>
                    <a:srgbClr val="000000">
                      <a:alpha val="100000"/>
                    </a:srgbClr>
                  </a:solidFill>
                  <a:latin typeface="Times New Roman"/>
                  <a:ea typeface="Times New Roman"/>
                  <a:cs typeface="Times New Roman"/>
                </a:rPr>
                <a:t>V-M-C</a:t>
              </a:r>
              <a:r>
                <a:rPr sz="1200" kern="0" spc="-60" dirty="0">
                  <a:solidFill>
                    <a:srgbClr val="000000">
                      <a:alpha val="100000"/>
                    </a:srgbClr>
                  </a:solidFill>
                  <a:latin typeface="KaiTi"/>
                  <a:ea typeface="KaiTi"/>
                  <a:cs typeface="KaiTi"/>
                </a:rPr>
                <a:t>框架）</a:t>
              </a:r>
              <a:endParaRPr sz="1200" dirty="0">
                <a:latin typeface="KaiTi"/>
                <a:ea typeface="KaiTi"/>
                <a:cs typeface="KaiTi"/>
              </a:endParaRPr>
            </a:p>
            <a:p>
              <a:pPr marL="12700" algn="l" rtl="0" eaLnBrk="0">
                <a:lnSpc>
                  <a:spcPct val="86000"/>
                </a:lnSpc>
                <a:spcBef>
                  <a:spcPts val="753"/>
                </a:spcBef>
                <a:tabLst/>
              </a:pPr>
              <a:r>
                <a:rPr sz="1200" kern="0" spc="0" dirty="0">
                  <a:solidFill>
                    <a:srgbClr val="12284C">
                      <a:alpha val="100000"/>
                    </a:srgbClr>
                  </a:solidFill>
                  <a:latin typeface="Times New Roman"/>
                  <a:ea typeface="Times New Roman"/>
                  <a:cs typeface="Times New Roman"/>
                </a:rPr>
                <a:t>-   </a:t>
              </a:r>
              <a:r>
                <a:rPr sz="1200" kern="0" spc="0" dirty="0">
                  <a:solidFill>
                    <a:srgbClr val="000000">
                      <a:alpha val="100000"/>
                    </a:srgbClr>
                  </a:solidFill>
                  <a:latin typeface="Times New Roman"/>
                  <a:ea typeface="Times New Roman"/>
                  <a:cs typeface="Times New Roman"/>
                </a:rPr>
                <a:t>RNN</a:t>
              </a:r>
              <a:r>
                <a:rPr sz="1200" kern="0" spc="0" dirty="0">
                  <a:solidFill>
                    <a:srgbClr val="000000">
                      <a:alpha val="100000"/>
                    </a:srgbClr>
                  </a:solidFill>
                  <a:latin typeface="KaiTi"/>
                  <a:ea typeface="KaiTi"/>
                  <a:cs typeface="KaiTi"/>
                </a:rPr>
                <a:t>世界模型概</a:t>
              </a:r>
              <a:r>
                <a:rPr sz="1200" kern="0" spc="-10" dirty="0">
                  <a:solidFill>
                    <a:srgbClr val="000000">
                      <a:alpha val="100000"/>
                    </a:srgbClr>
                  </a:solidFill>
                  <a:latin typeface="KaiTi"/>
                  <a:ea typeface="KaiTi"/>
                  <a:cs typeface="KaiTi"/>
                </a:rPr>
                <a:t>念</a:t>
              </a:r>
              <a:endParaRPr sz="1200" dirty="0">
                <a:latin typeface="KaiTi"/>
                <a:ea typeface="KaiTi"/>
                <a:cs typeface="KaiTi"/>
              </a:endParaRPr>
            </a:p>
            <a:p>
              <a:pPr marL="12700" algn="l" rtl="0" eaLnBrk="0">
                <a:lnSpc>
                  <a:spcPct val="76000"/>
                </a:lnSpc>
                <a:spcBef>
                  <a:spcPts val="984"/>
                </a:spcBef>
                <a:tabLst/>
              </a:pPr>
              <a:r>
                <a:rPr sz="1200" kern="0" spc="-10" dirty="0">
                  <a:solidFill>
                    <a:srgbClr val="12284C">
                      <a:alpha val="100000"/>
                    </a:srgbClr>
                  </a:solidFill>
                  <a:latin typeface="Times New Roman"/>
                  <a:ea typeface="Times New Roman"/>
                  <a:cs typeface="Times New Roman"/>
                </a:rPr>
                <a:t>-</a:t>
              </a:r>
              <a:r>
                <a:rPr sz="1200" kern="0" spc="20" dirty="0">
                  <a:solidFill>
                    <a:srgbClr val="12284C">
                      <a:alpha val="100000"/>
                    </a:srgbClr>
                  </a:solidFill>
                  <a:latin typeface="Times New Roman"/>
                  <a:ea typeface="Times New Roman"/>
                  <a:cs typeface="Times New Roman"/>
                </a:rPr>
                <a:t>   </a:t>
              </a:r>
              <a:r>
                <a:rPr sz="1200" kern="0" spc="-10" dirty="0">
                  <a:solidFill>
                    <a:srgbClr val="000000">
                      <a:alpha val="100000"/>
                    </a:srgbClr>
                  </a:solidFill>
                  <a:latin typeface="Times New Roman"/>
                  <a:ea typeface="Times New Roman"/>
                  <a:cs typeface="Times New Roman"/>
                </a:rPr>
                <a:t>Dreamer V1</a:t>
              </a:r>
              <a:endParaRPr sz="1200" dirty="0">
                <a:latin typeface="Times New Roman"/>
                <a:ea typeface="Times New Roman"/>
                <a:cs typeface="Times New Roman"/>
              </a:endParaRPr>
            </a:p>
            <a:p>
              <a:pPr algn="l" rtl="0" eaLnBrk="0">
                <a:lnSpc>
                  <a:spcPct val="146000"/>
                </a:lnSpc>
                <a:tabLst/>
              </a:pPr>
              <a:endParaRPr sz="1000" dirty="0">
                <a:latin typeface="Arial"/>
                <a:ea typeface="Arial"/>
                <a:cs typeface="Arial"/>
              </a:endParaRPr>
            </a:p>
            <a:p>
              <a:pPr algn="l" rtl="0" eaLnBrk="0">
                <a:lnSpc>
                  <a:spcPct val="146000"/>
                </a:lnSpc>
                <a:tabLst/>
              </a:pPr>
              <a:endParaRPr sz="1000" dirty="0">
                <a:latin typeface="Arial"/>
                <a:ea typeface="Arial"/>
                <a:cs typeface="Arial"/>
              </a:endParaRPr>
            </a:p>
            <a:p>
              <a:pPr marL="345440" algn="l" rtl="0" eaLnBrk="0">
                <a:lnSpc>
                  <a:spcPct val="84000"/>
                </a:lnSpc>
                <a:spcBef>
                  <a:spcPts val="369"/>
                </a:spcBef>
                <a:tabLst/>
              </a:pPr>
              <a:r>
                <a:rPr sz="1200" b="1" kern="0" spc="-20" dirty="0">
                  <a:solidFill>
                    <a:srgbClr val="FEFFFF">
                      <a:alpha val="100000"/>
                    </a:srgbClr>
                  </a:solidFill>
                  <a:latin typeface="KaiTi"/>
                  <a:ea typeface="KaiTi"/>
                  <a:cs typeface="KaiTi"/>
                </a:rPr>
                <a:t>早期理论与</a:t>
              </a:r>
              <a:endParaRPr sz="1200" dirty="0">
                <a:latin typeface="KaiTi"/>
                <a:ea typeface="KaiTi"/>
                <a:cs typeface="KaiTi"/>
              </a:endParaRPr>
            </a:p>
            <a:p>
              <a:pPr marL="574040" algn="l" rtl="0" eaLnBrk="0">
                <a:lnSpc>
                  <a:spcPct val="85000"/>
                </a:lnSpc>
                <a:spcBef>
                  <a:spcPts val="235"/>
                </a:spcBef>
                <a:tabLst/>
              </a:pPr>
              <a:r>
                <a:rPr sz="1200" b="1" kern="0" spc="-30" dirty="0">
                  <a:solidFill>
                    <a:srgbClr val="FEFFFF">
                      <a:alpha val="100000"/>
                    </a:srgbClr>
                  </a:solidFill>
                  <a:latin typeface="KaiTi"/>
                  <a:ea typeface="KaiTi"/>
                  <a:cs typeface="KaiTi"/>
                </a:rPr>
                <a:t>探索</a:t>
              </a:r>
              <a:endParaRPr sz="1200" dirty="0">
                <a:latin typeface="KaiTi"/>
                <a:ea typeface="KaiTi"/>
                <a:cs typeface="KaiTi"/>
              </a:endParaRPr>
            </a:p>
          </p:txBody>
        </p:sp>
        <p:sp>
          <p:nvSpPr>
            <p:cNvPr id="240" name="textbox 240"/>
            <p:cNvSpPr/>
            <p:nvPr/>
          </p:nvSpPr>
          <p:spPr>
            <a:xfrm>
              <a:off x="2451760" y="123088"/>
              <a:ext cx="1622425" cy="1998345"/>
            </a:xfrm>
            <a:prstGeom prst="rect">
              <a:avLst/>
            </a:prstGeom>
            <a:noFill/>
            <a:ln w="0" cap="flat">
              <a:noFill/>
              <a:prstDash val="solid"/>
              <a:miter lim="0"/>
            </a:ln>
          </p:spPr>
          <p:txBody>
            <a:bodyPr vert="horz" wrap="square" lIns="0" tIns="0" rIns="0" bIns="0"/>
            <a:lstStyle/>
            <a:p>
              <a:pPr algn="l" rtl="0" eaLnBrk="0">
                <a:lnSpc>
                  <a:spcPct val="86429"/>
                </a:lnSpc>
                <a:tabLst/>
              </a:pPr>
              <a:endParaRPr sz="100" dirty="0">
                <a:latin typeface="Arial"/>
                <a:ea typeface="Arial"/>
                <a:cs typeface="Arial"/>
              </a:endParaRPr>
            </a:p>
            <a:p>
              <a:pPr marL="463550" algn="l" rtl="0" eaLnBrk="0">
                <a:lnSpc>
                  <a:spcPct val="85000"/>
                </a:lnSpc>
                <a:tabLst/>
              </a:pPr>
              <a:r>
                <a:rPr sz="1200" b="1" kern="0" spc="-20" dirty="0">
                  <a:solidFill>
                    <a:srgbClr val="000000">
                      <a:alpha val="100000"/>
                    </a:srgbClr>
                  </a:solidFill>
                  <a:latin typeface="KaiTi"/>
                  <a:ea typeface="KaiTi"/>
                  <a:cs typeface="KaiTi"/>
                </a:rPr>
                <a:t>初步架构与路径</a:t>
              </a:r>
              <a:endParaRPr sz="1200" dirty="0">
                <a:latin typeface="KaiTi"/>
                <a:ea typeface="KaiTi"/>
                <a:cs typeface="KaiTi"/>
              </a:endParaRPr>
            </a:p>
            <a:p>
              <a:pPr marL="12700" algn="l" rtl="0" eaLnBrk="0">
                <a:lnSpc>
                  <a:spcPct val="76000"/>
                </a:lnSpc>
                <a:spcBef>
                  <a:spcPts val="936"/>
                </a:spcBef>
                <a:tabLst/>
              </a:pPr>
              <a:r>
                <a:rPr sz="1200" kern="0" spc="-10" dirty="0">
                  <a:solidFill>
                    <a:srgbClr val="12284C">
                      <a:alpha val="100000"/>
                    </a:srgbClr>
                  </a:solidFill>
                  <a:latin typeface="Times New Roman"/>
                  <a:ea typeface="Times New Roman"/>
                  <a:cs typeface="Times New Roman"/>
                </a:rPr>
                <a:t>-</a:t>
              </a:r>
              <a:r>
                <a:rPr sz="1200" kern="0" spc="40" dirty="0">
                  <a:solidFill>
                    <a:srgbClr val="12284C">
                      <a:alpha val="100000"/>
                    </a:srgbClr>
                  </a:solidFill>
                  <a:latin typeface="Times New Roman"/>
                  <a:ea typeface="Times New Roman"/>
                  <a:cs typeface="Times New Roman"/>
                </a:rPr>
                <a:t>   </a:t>
              </a:r>
              <a:r>
                <a:rPr sz="1200" kern="0" spc="-10" dirty="0">
                  <a:solidFill>
                    <a:srgbClr val="000000">
                      <a:alpha val="100000"/>
                    </a:srgbClr>
                  </a:solidFill>
                  <a:latin typeface="Times New Roman"/>
                  <a:ea typeface="Times New Roman"/>
                  <a:cs typeface="Times New Roman"/>
                </a:rPr>
                <a:t>Diffusion Models</a:t>
              </a:r>
              <a:endParaRPr sz="1200" dirty="0">
                <a:latin typeface="Times New Roman"/>
                <a:ea typeface="Times New Roman"/>
                <a:cs typeface="Times New Roman"/>
              </a:endParaRPr>
            </a:p>
            <a:p>
              <a:pPr marL="269875" indent="-257809" algn="l" rtl="0" eaLnBrk="0">
                <a:lnSpc>
                  <a:spcPct val="88000"/>
                </a:lnSpc>
                <a:spcBef>
                  <a:spcPts val="958"/>
                </a:spcBef>
                <a:tabLst/>
              </a:pPr>
              <a:r>
                <a:rPr sz="1200" kern="0" spc="0" dirty="0">
                  <a:solidFill>
                    <a:srgbClr val="12284C">
                      <a:alpha val="100000"/>
                    </a:srgbClr>
                  </a:solidFill>
                  <a:latin typeface="Times New Roman"/>
                  <a:ea typeface="Times New Roman"/>
                  <a:cs typeface="Times New Roman"/>
                </a:rPr>
                <a:t>-   </a:t>
              </a:r>
              <a:r>
                <a:rPr sz="1200" kern="0" spc="0" dirty="0">
                  <a:solidFill>
                    <a:srgbClr val="000000">
                      <a:alpha val="100000"/>
                    </a:srgbClr>
                  </a:solidFill>
                  <a:latin typeface="Times New Roman"/>
                  <a:ea typeface="Times New Roman"/>
                  <a:cs typeface="Times New Roman"/>
                </a:rPr>
                <a:t>Diffus</a:t>
              </a:r>
              <a:r>
                <a:rPr sz="1200" kern="0" spc="-10" dirty="0">
                  <a:solidFill>
                    <a:srgbClr val="000000">
                      <a:alpha val="100000"/>
                    </a:srgbClr>
                  </a:solidFill>
                  <a:latin typeface="Times New Roman"/>
                  <a:ea typeface="Times New Roman"/>
                  <a:cs typeface="Times New Roman"/>
                </a:rPr>
                <a:t>ion</a:t>
              </a:r>
              <a:r>
                <a:rPr sz="1200" kern="0" spc="20" dirty="0">
                  <a:solidFill>
                    <a:srgbClr val="000000">
                      <a:alpha val="100000"/>
                    </a:srgbClr>
                  </a:solidFill>
                  <a:latin typeface="Times New Roman"/>
                  <a:ea typeface="Times New Roman"/>
                  <a:cs typeface="Times New Roman"/>
                </a:rPr>
                <a:t> </a:t>
              </a:r>
              <a:r>
                <a:rPr sz="1200" kern="0" spc="-10" dirty="0">
                  <a:solidFill>
                    <a:srgbClr val="000000">
                      <a:alpha val="100000"/>
                    </a:srgbClr>
                  </a:solidFill>
                  <a:latin typeface="Times New Roman"/>
                  <a:ea typeface="Times New Roman"/>
                  <a:cs typeface="Times New Roman"/>
                </a:rPr>
                <a:t>Transformers</a:t>
              </a:r>
              <a:r>
                <a:rPr sz="1200" kern="0" spc="0" dirty="0">
                  <a:solidFill>
                    <a:srgbClr val="000000">
                      <a:alpha val="100000"/>
                    </a:srgbClr>
                  </a:solidFill>
                  <a:latin typeface="Times New Roman"/>
                  <a:ea typeface="Times New Roman"/>
                  <a:cs typeface="Times New Roman"/>
                </a:rPr>
                <a:t> </a:t>
              </a:r>
              <a:r>
                <a:rPr sz="1200" kern="0" spc="-60" dirty="0">
                  <a:solidFill>
                    <a:srgbClr val="000000">
                      <a:alpha val="100000"/>
                    </a:srgbClr>
                  </a:solidFill>
                  <a:latin typeface="KaiTi"/>
                  <a:ea typeface="KaiTi"/>
                  <a:cs typeface="KaiTi"/>
                </a:rPr>
                <a:t>（</a:t>
              </a:r>
              <a:r>
                <a:rPr sz="1200" kern="0" spc="-60" dirty="0">
                  <a:solidFill>
                    <a:srgbClr val="000000">
                      <a:alpha val="100000"/>
                    </a:srgbClr>
                  </a:solidFill>
                  <a:latin typeface="Times New Roman"/>
                  <a:ea typeface="Times New Roman"/>
                  <a:cs typeface="Times New Roman"/>
                </a:rPr>
                <a:t>Peebles&amp;Xie</a:t>
              </a:r>
              <a:r>
                <a:rPr sz="1200" kern="0" spc="-60" dirty="0">
                  <a:solidFill>
                    <a:srgbClr val="000000">
                      <a:alpha val="100000"/>
                    </a:srgbClr>
                  </a:solidFill>
                  <a:latin typeface="KaiTi"/>
                  <a:ea typeface="KaiTi"/>
                  <a:cs typeface="KaiTi"/>
                </a:rPr>
                <a:t>提出</a:t>
              </a:r>
              <a:endParaRPr sz="1200" dirty="0">
                <a:latin typeface="KaiTi"/>
                <a:ea typeface="KaiTi"/>
                <a:cs typeface="KaiTi"/>
              </a:endParaRPr>
            </a:p>
            <a:p>
              <a:pPr marL="12700" algn="l" rtl="0" eaLnBrk="0">
                <a:lnSpc>
                  <a:spcPct val="78000"/>
                </a:lnSpc>
                <a:spcBef>
                  <a:spcPts val="932"/>
                </a:spcBef>
                <a:tabLst/>
              </a:pPr>
              <a:r>
                <a:rPr sz="1200" kern="0" spc="-20" dirty="0">
                  <a:solidFill>
                    <a:srgbClr val="12284C">
                      <a:alpha val="100000"/>
                    </a:srgbClr>
                  </a:solidFill>
                  <a:latin typeface="Times New Roman"/>
                  <a:ea typeface="Times New Roman"/>
                  <a:cs typeface="Times New Roman"/>
                </a:rPr>
                <a:t>-</a:t>
              </a:r>
              <a:r>
                <a:rPr sz="1200" kern="0" spc="30" dirty="0">
                  <a:solidFill>
                    <a:srgbClr val="12284C">
                      <a:alpha val="100000"/>
                    </a:srgbClr>
                  </a:solidFill>
                  <a:latin typeface="Times New Roman"/>
                  <a:ea typeface="Times New Roman"/>
                  <a:cs typeface="Times New Roman"/>
                </a:rPr>
                <a:t>   </a:t>
              </a:r>
              <a:r>
                <a:rPr sz="1200" kern="0" spc="-20" dirty="0">
                  <a:solidFill>
                    <a:srgbClr val="000000">
                      <a:alpha val="100000"/>
                    </a:srgbClr>
                  </a:solidFill>
                  <a:latin typeface="Times New Roman"/>
                  <a:ea typeface="Times New Roman"/>
                  <a:cs typeface="Times New Roman"/>
                </a:rPr>
                <a:t>Open AI</a:t>
              </a:r>
              <a:r>
                <a:rPr sz="1200" kern="0" spc="70" dirty="0">
                  <a:solidFill>
                    <a:srgbClr val="000000">
                      <a:alpha val="100000"/>
                    </a:srgbClr>
                  </a:solidFill>
                  <a:latin typeface="Times New Roman"/>
                  <a:ea typeface="Times New Roman"/>
                  <a:cs typeface="Times New Roman"/>
                </a:rPr>
                <a:t> </a:t>
              </a:r>
              <a:r>
                <a:rPr sz="1200" kern="0" spc="-20" dirty="0">
                  <a:solidFill>
                    <a:srgbClr val="000000">
                      <a:alpha val="100000"/>
                    </a:srgbClr>
                  </a:solidFill>
                  <a:latin typeface="Times New Roman"/>
                  <a:ea typeface="Times New Roman"/>
                  <a:cs typeface="Times New Roman"/>
                </a:rPr>
                <a:t>Sora</a:t>
              </a:r>
              <a:endParaRPr sz="1200" dirty="0">
                <a:latin typeface="Times New Roman"/>
                <a:ea typeface="Times New Roman"/>
                <a:cs typeface="Times New Roman"/>
              </a:endParaRPr>
            </a:p>
            <a:p>
              <a:pPr marL="12700" algn="l" rtl="0" eaLnBrk="0">
                <a:lnSpc>
                  <a:spcPct val="69000"/>
                </a:lnSpc>
                <a:spcBef>
                  <a:spcPts val="945"/>
                </a:spcBef>
                <a:tabLst/>
              </a:pPr>
              <a:r>
                <a:rPr sz="1200" kern="0" spc="-30" dirty="0">
                  <a:solidFill>
                    <a:srgbClr val="12284C">
                      <a:alpha val="100000"/>
                    </a:srgbClr>
                  </a:solidFill>
                  <a:latin typeface="Times New Roman"/>
                  <a:ea typeface="Times New Roman"/>
                  <a:cs typeface="Times New Roman"/>
                </a:rPr>
                <a:t>-</a:t>
              </a:r>
              <a:r>
                <a:rPr sz="1200" kern="0" spc="30" dirty="0">
                  <a:solidFill>
                    <a:srgbClr val="12284C">
                      <a:alpha val="100000"/>
                    </a:srgbClr>
                  </a:solidFill>
                  <a:latin typeface="Times New Roman"/>
                  <a:ea typeface="Times New Roman"/>
                  <a:cs typeface="Times New Roman"/>
                </a:rPr>
                <a:t>   </a:t>
              </a:r>
              <a:r>
                <a:rPr sz="1200" kern="0" spc="-30" dirty="0">
                  <a:solidFill>
                    <a:srgbClr val="000000">
                      <a:alpha val="100000"/>
                    </a:srgbClr>
                  </a:solidFill>
                  <a:latin typeface="Times New Roman"/>
                  <a:ea typeface="Times New Roman"/>
                  <a:cs typeface="Times New Roman"/>
                </a:rPr>
                <a:t>V-JEPA</a:t>
              </a:r>
              <a:endParaRPr sz="1200" dirty="0">
                <a:latin typeface="Times New Roman"/>
                <a:ea typeface="Times New Roman"/>
                <a:cs typeface="Times New Roman"/>
              </a:endParaRPr>
            </a:p>
            <a:p>
              <a:pPr algn="l" rtl="0" eaLnBrk="0">
                <a:lnSpc>
                  <a:spcPct val="145000"/>
                </a:lnSpc>
                <a:tabLst/>
              </a:pPr>
              <a:endParaRPr sz="1000" dirty="0">
                <a:latin typeface="Arial"/>
                <a:ea typeface="Arial"/>
                <a:cs typeface="Arial"/>
              </a:endParaRPr>
            </a:p>
            <a:p>
              <a:pPr algn="l" rtl="0" eaLnBrk="0">
                <a:lnSpc>
                  <a:spcPct val="103000"/>
                </a:lnSpc>
                <a:tabLst/>
              </a:pPr>
              <a:endParaRPr sz="300" dirty="0">
                <a:latin typeface="Arial"/>
                <a:ea typeface="Arial"/>
                <a:cs typeface="Arial"/>
              </a:endParaRPr>
            </a:p>
            <a:p>
              <a:pPr marL="523875" indent="-298450" algn="l" rtl="0" eaLnBrk="0">
                <a:lnSpc>
                  <a:spcPct val="93000"/>
                </a:lnSpc>
                <a:spcBef>
                  <a:spcPts val="1"/>
                </a:spcBef>
                <a:tabLst/>
              </a:pPr>
              <a:r>
                <a:rPr sz="1200" b="1" kern="0" spc="-30" dirty="0">
                  <a:solidFill>
                    <a:srgbClr val="FEFFFF">
                      <a:alpha val="100000"/>
                    </a:srgbClr>
                  </a:solidFill>
                  <a:latin typeface="KaiTi"/>
                  <a:ea typeface="KaiTi"/>
                  <a:cs typeface="KaiTi"/>
                </a:rPr>
                <a:t>大模型时代的突破与</a:t>
              </a:r>
              <a:r>
                <a:rPr sz="1200" b="1" kern="0" spc="-30" dirty="0">
                  <a:solidFill>
                    <a:srgbClr val="FEFFFF">
                      <a:alpha val="100000"/>
                    </a:srgbClr>
                  </a:solidFill>
                  <a:latin typeface="KaiTi"/>
                  <a:ea typeface="KaiTi"/>
                  <a:cs typeface="KaiTi"/>
                </a:rPr>
                <a:t>多模态融合</a:t>
              </a:r>
              <a:endParaRPr sz="1200" dirty="0">
                <a:latin typeface="KaiTi"/>
                <a:ea typeface="KaiTi"/>
                <a:cs typeface="KaiTi"/>
              </a:endParaRPr>
            </a:p>
          </p:txBody>
        </p:sp>
        <p:sp>
          <p:nvSpPr>
            <p:cNvPr id="242" name="textbox 242"/>
            <p:cNvSpPr/>
            <p:nvPr/>
          </p:nvSpPr>
          <p:spPr>
            <a:xfrm>
              <a:off x="4740655" y="123088"/>
              <a:ext cx="1448435" cy="1998345"/>
            </a:xfrm>
            <a:prstGeom prst="rect">
              <a:avLst/>
            </a:prstGeom>
            <a:noFill/>
            <a:ln w="0" cap="flat">
              <a:noFill/>
              <a:prstDash val="solid"/>
              <a:miter lim="0"/>
            </a:ln>
          </p:spPr>
          <p:txBody>
            <a:bodyPr vert="horz" wrap="square" lIns="0" tIns="0" rIns="0" bIns="0"/>
            <a:lstStyle/>
            <a:p>
              <a:pPr algn="l" rtl="0" eaLnBrk="0">
                <a:lnSpc>
                  <a:spcPct val="82523"/>
                </a:lnSpc>
                <a:tabLst/>
              </a:pPr>
              <a:endParaRPr sz="100" dirty="0">
                <a:latin typeface="Arial"/>
                <a:ea typeface="Arial"/>
                <a:cs typeface="Arial"/>
              </a:endParaRPr>
            </a:p>
            <a:p>
              <a:pPr marL="372109" algn="l" rtl="0" eaLnBrk="0">
                <a:lnSpc>
                  <a:spcPct val="85000"/>
                </a:lnSpc>
                <a:tabLst/>
              </a:pPr>
              <a:r>
                <a:rPr sz="1200" b="1" kern="0" spc="-30" dirty="0">
                  <a:solidFill>
                    <a:srgbClr val="000000">
                      <a:alpha val="100000"/>
                    </a:srgbClr>
                  </a:solidFill>
                  <a:latin typeface="KaiTi"/>
                  <a:ea typeface="KaiTi"/>
                  <a:cs typeface="KaiTi"/>
                </a:rPr>
                <a:t>突破与落地卡点</a:t>
              </a:r>
              <a:endParaRPr sz="1200" dirty="0">
                <a:latin typeface="KaiTi"/>
                <a:ea typeface="KaiTi"/>
                <a:cs typeface="KaiTi"/>
              </a:endParaRPr>
            </a:p>
            <a:p>
              <a:pPr marL="15875" algn="l" rtl="0" eaLnBrk="0">
                <a:lnSpc>
                  <a:spcPct val="76000"/>
                </a:lnSpc>
                <a:spcBef>
                  <a:spcPts val="941"/>
                </a:spcBef>
                <a:tabLst/>
              </a:pPr>
              <a:r>
                <a:rPr sz="1200" kern="0" spc="-20" dirty="0">
                  <a:solidFill>
                    <a:srgbClr val="12284C">
                      <a:alpha val="100000"/>
                    </a:srgbClr>
                  </a:solidFill>
                  <a:latin typeface="Times New Roman"/>
                  <a:ea typeface="Times New Roman"/>
                  <a:cs typeface="Times New Roman"/>
                </a:rPr>
                <a:t>-</a:t>
              </a:r>
              <a:r>
                <a:rPr sz="1200" kern="0" spc="50" dirty="0">
                  <a:solidFill>
                    <a:srgbClr val="12284C">
                      <a:alpha val="100000"/>
                    </a:srgbClr>
                  </a:solidFill>
                  <a:latin typeface="Times New Roman"/>
                  <a:ea typeface="Times New Roman"/>
                  <a:cs typeface="Times New Roman"/>
                </a:rPr>
                <a:t>   </a:t>
              </a:r>
              <a:r>
                <a:rPr sz="1200" kern="0" spc="-20" dirty="0">
                  <a:solidFill>
                    <a:srgbClr val="000000">
                      <a:alpha val="100000"/>
                    </a:srgbClr>
                  </a:solidFill>
                  <a:latin typeface="Times New Roman"/>
                  <a:ea typeface="Times New Roman"/>
                  <a:cs typeface="Times New Roman"/>
                </a:rPr>
                <a:t>Embodied AI</a:t>
              </a:r>
              <a:endParaRPr sz="1200" dirty="0">
                <a:latin typeface="Times New Roman"/>
                <a:ea typeface="Times New Roman"/>
                <a:cs typeface="Times New Roman"/>
              </a:endParaRPr>
            </a:p>
            <a:p>
              <a:pPr marL="12700" algn="l" rtl="0" eaLnBrk="0">
                <a:lnSpc>
                  <a:spcPct val="85000"/>
                </a:lnSpc>
                <a:spcBef>
                  <a:spcPts val="821"/>
                </a:spcBef>
                <a:tabLst/>
              </a:pPr>
              <a:r>
                <a:rPr sz="1200" kern="0" spc="-20" dirty="0">
                  <a:solidFill>
                    <a:srgbClr val="12284C">
                      <a:alpha val="100000"/>
                    </a:srgbClr>
                  </a:solidFill>
                  <a:latin typeface="KaiTi"/>
                  <a:ea typeface="KaiTi"/>
                  <a:cs typeface="KaiTi"/>
                </a:rPr>
                <a:t>-</a:t>
              </a:r>
              <a:r>
                <a:rPr sz="1200" kern="0" spc="270" dirty="0">
                  <a:solidFill>
                    <a:srgbClr val="12284C">
                      <a:alpha val="100000"/>
                    </a:srgbClr>
                  </a:solidFill>
                  <a:latin typeface="KaiTi"/>
                  <a:ea typeface="KaiTi"/>
                  <a:cs typeface="KaiTi"/>
                </a:rPr>
                <a:t> </a:t>
              </a:r>
              <a:r>
                <a:rPr sz="1200" kern="0" spc="-20" dirty="0">
                  <a:solidFill>
                    <a:srgbClr val="000000">
                      <a:alpha val="100000"/>
                    </a:srgbClr>
                  </a:solidFill>
                  <a:latin typeface="KaiTi"/>
                  <a:ea typeface="KaiTi"/>
                  <a:cs typeface="KaiTi"/>
                </a:rPr>
                <a:t>长时间因果推理</a:t>
              </a:r>
              <a:endParaRPr sz="1200" dirty="0">
                <a:latin typeface="KaiTi"/>
                <a:ea typeface="KaiTi"/>
                <a:cs typeface="KaiTi"/>
              </a:endParaRPr>
            </a:p>
            <a:p>
              <a:pPr marL="15875" algn="l" rtl="0" eaLnBrk="0">
                <a:lnSpc>
                  <a:spcPct val="90000"/>
                </a:lnSpc>
                <a:spcBef>
                  <a:spcPts val="752"/>
                </a:spcBef>
                <a:tabLst/>
              </a:pPr>
              <a:r>
                <a:rPr sz="1200" kern="0" spc="0" dirty="0">
                  <a:solidFill>
                    <a:srgbClr val="12284C">
                      <a:alpha val="100000"/>
                    </a:srgbClr>
                  </a:solidFill>
                  <a:latin typeface="Times New Roman"/>
                  <a:ea typeface="Times New Roman"/>
                  <a:cs typeface="Times New Roman"/>
                </a:rPr>
                <a:t>-   </a:t>
              </a:r>
              <a:r>
                <a:rPr sz="1200" kern="0" spc="0" dirty="0">
                  <a:solidFill>
                    <a:srgbClr val="000000">
                      <a:alpha val="100000"/>
                    </a:srgbClr>
                  </a:solidFill>
                  <a:latin typeface="Times New Roman"/>
                  <a:ea typeface="Times New Roman"/>
                  <a:cs typeface="Times New Roman"/>
                </a:rPr>
                <a:t>L4+</a:t>
              </a:r>
              <a:r>
                <a:rPr sz="1200" kern="0" spc="0" dirty="0">
                  <a:solidFill>
                    <a:srgbClr val="000000">
                      <a:alpha val="100000"/>
                    </a:srgbClr>
                  </a:solidFill>
                  <a:latin typeface="KaiTi"/>
                  <a:ea typeface="KaiTi"/>
                  <a:cs typeface="KaiTi"/>
                </a:rPr>
                <a:t>高阶</a:t>
              </a:r>
              <a:r>
                <a:rPr sz="1200" kern="0" spc="-10" dirty="0">
                  <a:solidFill>
                    <a:srgbClr val="000000">
                      <a:alpha val="100000"/>
                    </a:srgbClr>
                  </a:solidFill>
                  <a:latin typeface="KaiTi"/>
                  <a:ea typeface="KaiTi"/>
                  <a:cs typeface="KaiTi"/>
                </a:rPr>
                <a:t>自动驾驶</a:t>
              </a:r>
              <a:endParaRPr sz="1200" dirty="0">
                <a:latin typeface="KaiTi"/>
                <a:ea typeface="KaiTi"/>
                <a:cs typeface="KaiTi"/>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2000"/>
                </a:lnSpc>
                <a:tabLst/>
              </a:pPr>
              <a:endParaRPr sz="300" dirty="0">
                <a:latin typeface="Arial"/>
                <a:ea typeface="Arial"/>
                <a:cs typeface="Arial"/>
              </a:endParaRPr>
            </a:p>
            <a:p>
              <a:pPr marL="523240" indent="-148589" algn="l" rtl="0" eaLnBrk="0">
                <a:lnSpc>
                  <a:spcPct val="93000"/>
                </a:lnSpc>
                <a:spcBef>
                  <a:spcPts val="2"/>
                </a:spcBef>
                <a:tabLst/>
              </a:pPr>
              <a:r>
                <a:rPr sz="1200" b="1" kern="0" spc="-20" dirty="0">
                  <a:solidFill>
                    <a:srgbClr val="FEFFFF">
                      <a:alpha val="100000"/>
                    </a:srgbClr>
                  </a:solidFill>
                  <a:latin typeface="KaiTi"/>
                  <a:ea typeface="KaiTi"/>
                  <a:cs typeface="KaiTi"/>
                </a:rPr>
                <a:t>迈向通用智能与</a:t>
              </a:r>
              <a:r>
                <a:rPr sz="1200" b="1" kern="0" spc="10" dirty="0">
                  <a:solidFill>
                    <a:srgbClr val="FEFFFF">
                      <a:alpha val="100000"/>
                    </a:srgbClr>
                  </a:solidFill>
                  <a:latin typeface="KaiTi"/>
                  <a:ea typeface="KaiTi"/>
                  <a:cs typeface="KaiTi"/>
                </a:rPr>
                <a:t>应用落地…</a:t>
              </a:r>
              <a:endParaRPr sz="1200" dirty="0">
                <a:latin typeface="KaiTi"/>
                <a:ea typeface="KaiTi"/>
                <a:cs typeface="KaiTi"/>
              </a:endParaRPr>
            </a:p>
          </p:txBody>
        </p:sp>
        <p:sp>
          <p:nvSpPr>
            <p:cNvPr id="244" name="textbox 244"/>
            <p:cNvSpPr/>
            <p:nvPr/>
          </p:nvSpPr>
          <p:spPr>
            <a:xfrm>
              <a:off x="3995292" y="2933903"/>
              <a:ext cx="1045210" cy="2049145"/>
            </a:xfrm>
            <a:prstGeom prst="rect">
              <a:avLst/>
            </a:prstGeom>
            <a:noFill/>
            <a:ln w="0" cap="flat">
              <a:noFill/>
              <a:prstDash val="solid"/>
              <a:miter lim="0"/>
            </a:ln>
          </p:spPr>
          <p:txBody>
            <a:bodyPr vert="horz" wrap="square" lIns="0" tIns="0" rIns="0" bIns="0"/>
            <a:lstStyle/>
            <a:p>
              <a:pPr algn="l" rtl="0" eaLnBrk="0">
                <a:lnSpc>
                  <a:spcPct val="88425"/>
                </a:lnSpc>
                <a:tabLst/>
              </a:pPr>
              <a:endParaRPr sz="100" dirty="0">
                <a:latin typeface="Arial"/>
                <a:ea typeface="Arial"/>
                <a:cs typeface="Arial"/>
              </a:endParaRPr>
            </a:p>
            <a:p>
              <a:pPr marL="271145" algn="l" rtl="0" eaLnBrk="0">
                <a:lnSpc>
                  <a:spcPct val="74000"/>
                </a:lnSpc>
                <a:tabLst/>
              </a:pPr>
              <a:r>
                <a:rPr sz="1200" b="1" kern="0" spc="-20" dirty="0">
                  <a:solidFill>
                    <a:srgbClr val="FEFFFF">
                      <a:alpha val="100000"/>
                    </a:srgbClr>
                  </a:solidFill>
                  <a:latin typeface="Times New Roman"/>
                  <a:ea typeface="Times New Roman"/>
                  <a:cs typeface="Times New Roman"/>
                </a:rPr>
                <a:t>Feature</a:t>
              </a:r>
              <a:endParaRPr sz="1200" dirty="0">
                <a:latin typeface="Times New Roman"/>
                <a:ea typeface="Times New Roman"/>
                <a:cs typeface="Times New Roman"/>
              </a:endParaRPr>
            </a:p>
            <a:p>
              <a:pPr marL="12700" algn="l" rtl="0" eaLnBrk="0">
                <a:lnSpc>
                  <a:spcPct val="75000"/>
                </a:lnSpc>
                <a:spcBef>
                  <a:spcPts val="374"/>
                </a:spcBef>
                <a:tabLst/>
              </a:pPr>
              <a:r>
                <a:rPr sz="1200" b="1" kern="0" spc="-10" dirty="0">
                  <a:solidFill>
                    <a:srgbClr val="FEFFFF">
                      <a:alpha val="100000"/>
                    </a:srgbClr>
                  </a:solidFill>
                  <a:latin typeface="Times New Roman"/>
                  <a:ea typeface="Times New Roman"/>
                  <a:cs typeface="Times New Roman"/>
                </a:rPr>
                <a:t>Prediction(non-</a:t>
              </a:r>
              <a:endParaRPr sz="1200" dirty="0">
                <a:latin typeface="Times New Roman"/>
                <a:ea typeface="Times New Roman"/>
                <a:cs typeface="Times New Roman"/>
              </a:endParaRPr>
            </a:p>
            <a:p>
              <a:pPr marL="161925" algn="l" rtl="0" eaLnBrk="0">
                <a:lnSpc>
                  <a:spcPct val="77000"/>
                </a:lnSpc>
                <a:spcBef>
                  <a:spcPts val="350"/>
                </a:spcBef>
                <a:tabLst/>
              </a:pPr>
              <a:r>
                <a:rPr sz="1200" b="1" kern="0" spc="-10" dirty="0">
                  <a:solidFill>
                    <a:srgbClr val="FEFFFF">
                      <a:alpha val="100000"/>
                    </a:srgbClr>
                  </a:solidFill>
                  <a:latin typeface="Times New Roman"/>
                  <a:ea typeface="Times New Roman"/>
                  <a:cs typeface="Times New Roman"/>
                </a:rPr>
                <a:t>generative)</a:t>
              </a:r>
              <a:endParaRPr sz="1200" dirty="0">
                <a:latin typeface="Times New Roman"/>
                <a:ea typeface="Times New Roman"/>
                <a:cs typeface="Times New Roman"/>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231140" algn="l" rtl="0" eaLnBrk="0">
                <a:lnSpc>
                  <a:spcPct val="92000"/>
                </a:lnSpc>
                <a:spcBef>
                  <a:spcPts val="282"/>
                </a:spcBef>
                <a:tabLst/>
              </a:pPr>
              <a:r>
                <a:rPr sz="900" kern="0" spc="80" dirty="0">
                  <a:solidFill>
                    <a:srgbClr val="000000">
                      <a:alpha val="100000"/>
                    </a:srgbClr>
                  </a:solidFill>
                  <a:latin typeface="KaiTi"/>
                  <a:ea typeface="KaiTi"/>
                  <a:cs typeface="KaiTi"/>
                </a:rPr>
                <a:t>物理常识</a:t>
              </a:r>
              <a:endParaRPr sz="900" dirty="0">
                <a:latin typeface="KaiTi"/>
                <a:ea typeface="KaiTi"/>
                <a:cs typeface="KaiTi"/>
              </a:endParaRPr>
            </a:p>
            <a:p>
              <a:pPr algn="l" rtl="0" eaLnBrk="0">
                <a:lnSpc>
                  <a:spcPct val="138000"/>
                </a:lnSpc>
                <a:tabLst/>
              </a:pPr>
              <a:endParaRPr sz="1000" dirty="0">
                <a:latin typeface="Arial"/>
                <a:ea typeface="Arial"/>
                <a:cs typeface="Arial"/>
              </a:endParaRPr>
            </a:p>
            <a:p>
              <a:pPr algn="l" rtl="0" eaLnBrk="0">
                <a:lnSpc>
                  <a:spcPct val="117000"/>
                </a:lnSpc>
                <a:tabLst/>
              </a:pPr>
              <a:endParaRPr sz="200" dirty="0">
                <a:latin typeface="Arial"/>
                <a:ea typeface="Arial"/>
                <a:cs typeface="Arial"/>
              </a:endParaRPr>
            </a:p>
            <a:p>
              <a:pPr marL="290829" algn="l" rtl="0" eaLnBrk="0">
                <a:lnSpc>
                  <a:spcPct val="69000"/>
                </a:lnSpc>
                <a:spcBef>
                  <a:spcPts val="1"/>
                </a:spcBef>
                <a:tabLst/>
              </a:pPr>
              <a:r>
                <a:rPr sz="900" kern="0" spc="0" dirty="0">
                  <a:solidFill>
                    <a:srgbClr val="000000">
                      <a:alpha val="100000"/>
                    </a:srgbClr>
                  </a:solidFill>
                  <a:latin typeface="Times New Roman"/>
                  <a:ea typeface="Times New Roman"/>
                  <a:cs typeface="Times New Roman"/>
                </a:rPr>
                <a:t>V-JEPA</a:t>
              </a:r>
              <a:endParaRPr sz="900" dirty="0">
                <a:latin typeface="Times New Roman"/>
                <a:ea typeface="Times New Roman"/>
                <a:cs typeface="Times New Roman"/>
              </a:endParaRPr>
            </a:p>
          </p:txBody>
        </p:sp>
        <p:sp>
          <p:nvSpPr>
            <p:cNvPr id="246" name="textbox 246"/>
            <p:cNvSpPr/>
            <p:nvPr/>
          </p:nvSpPr>
          <p:spPr>
            <a:xfrm>
              <a:off x="5638901" y="4311899"/>
              <a:ext cx="2407920" cy="678815"/>
            </a:xfrm>
            <a:prstGeom prst="rect">
              <a:avLst/>
            </a:prstGeom>
            <a:noFill/>
            <a:ln w="0" cap="flat">
              <a:noFill/>
              <a:prstDash val="solid"/>
              <a:miter lim="0"/>
            </a:ln>
          </p:spPr>
          <p:txBody>
            <a:bodyPr vert="horz" wrap="square" lIns="0" tIns="0" rIns="0" bIns="0"/>
            <a:lstStyle/>
            <a:p>
              <a:pPr algn="l" rtl="0" eaLnBrk="0">
                <a:lnSpc>
                  <a:spcPct val="77846"/>
                </a:lnSpc>
                <a:tabLst/>
              </a:pPr>
              <a:endParaRPr sz="100" dirty="0">
                <a:latin typeface="Arial"/>
                <a:ea typeface="Arial"/>
                <a:cs typeface="Arial"/>
              </a:endParaRPr>
            </a:p>
            <a:p>
              <a:pPr algn="r" rtl="0" eaLnBrk="0">
                <a:lnSpc>
                  <a:spcPct val="84000"/>
                </a:lnSpc>
                <a:tabLst/>
              </a:pPr>
              <a:r>
                <a:rPr sz="1400" b="1" kern="0" spc="-50" dirty="0">
                  <a:solidFill>
                    <a:srgbClr val="FEFFFF">
                      <a:alpha val="100000"/>
                    </a:srgbClr>
                  </a:solidFill>
                  <a:latin typeface="KaiTi"/>
                  <a:ea typeface="KaiTi"/>
                  <a:cs typeface="KaiTi"/>
                </a:rPr>
                <a:t>头部布局</a:t>
              </a:r>
              <a:endParaRPr sz="1400" dirty="0">
                <a:latin typeface="KaiTi"/>
                <a:ea typeface="KaiTi"/>
                <a:cs typeface="KaiTi"/>
              </a:endParaRPr>
            </a:p>
            <a:p>
              <a:pPr marL="12700" algn="l" rtl="0" eaLnBrk="0">
                <a:lnSpc>
                  <a:spcPct val="92000"/>
                </a:lnSpc>
                <a:spcBef>
                  <a:spcPts val="2"/>
                </a:spcBef>
                <a:tabLst/>
              </a:pPr>
              <a:r>
                <a:rPr sz="900" kern="0" spc="90" dirty="0">
                  <a:solidFill>
                    <a:srgbClr val="000000">
                      <a:alpha val="100000"/>
                    </a:srgbClr>
                  </a:solidFill>
                  <a:latin typeface="KaiTi"/>
                  <a:ea typeface="KaiTi"/>
                  <a:cs typeface="KaiTi"/>
                </a:rPr>
                <a:t>物理驾驶世界模型</a:t>
              </a:r>
              <a:endParaRPr sz="900" dirty="0">
                <a:latin typeface="KaiTi"/>
                <a:ea typeface="KaiTi"/>
                <a:cs typeface="KaiTi"/>
              </a:endParaRPr>
            </a:p>
            <a:p>
              <a:pPr algn="l" rtl="0" eaLnBrk="0">
                <a:lnSpc>
                  <a:spcPct val="137000"/>
                </a:lnSpc>
                <a:tabLst/>
              </a:pPr>
              <a:endParaRPr sz="1000" dirty="0">
                <a:latin typeface="Arial"/>
                <a:ea typeface="Arial"/>
                <a:cs typeface="Arial"/>
              </a:endParaRPr>
            </a:p>
            <a:p>
              <a:pPr algn="l" rtl="0" eaLnBrk="0">
                <a:lnSpc>
                  <a:spcPct val="114000"/>
                </a:lnSpc>
                <a:tabLst/>
              </a:pPr>
              <a:endParaRPr sz="200" dirty="0">
                <a:latin typeface="Arial"/>
                <a:ea typeface="Arial"/>
                <a:cs typeface="Arial"/>
              </a:endParaRPr>
            </a:p>
            <a:p>
              <a:pPr marL="50165" algn="l" rtl="0" eaLnBrk="0">
                <a:lnSpc>
                  <a:spcPct val="76000"/>
                </a:lnSpc>
                <a:spcBef>
                  <a:spcPts val="1"/>
                </a:spcBef>
                <a:tabLst/>
              </a:pPr>
              <a:r>
                <a:rPr sz="900" kern="0" spc="0" dirty="0">
                  <a:solidFill>
                    <a:srgbClr val="000000">
                      <a:alpha val="100000"/>
                    </a:srgbClr>
                  </a:solidFill>
                  <a:latin typeface="Times New Roman"/>
                  <a:ea typeface="Times New Roman"/>
                  <a:cs typeface="Times New Roman"/>
                </a:rPr>
                <a:t>FSD</a:t>
              </a:r>
              <a:r>
                <a:rPr sz="900" kern="0" spc="-10" dirty="0">
                  <a:solidFill>
                    <a:srgbClr val="000000">
                      <a:alpha val="100000"/>
                    </a:srgbClr>
                  </a:solidFill>
                  <a:latin typeface="Times New Roman"/>
                  <a:ea typeface="Times New Roman"/>
                  <a:cs typeface="Times New Roman"/>
                </a:rPr>
                <a:t> </a:t>
              </a:r>
              <a:r>
                <a:rPr sz="900" kern="0" spc="0" dirty="0">
                  <a:solidFill>
                    <a:srgbClr val="000000">
                      <a:alpha val="100000"/>
                    </a:srgbClr>
                  </a:solidFill>
                  <a:latin typeface="Times New Roman"/>
                  <a:ea typeface="Times New Roman"/>
                  <a:cs typeface="Times New Roman"/>
                </a:rPr>
                <a:t>v</a:t>
              </a:r>
              <a:r>
                <a:rPr sz="900" kern="0" spc="-10" dirty="0">
                  <a:solidFill>
                    <a:srgbClr val="000000">
                      <a:alpha val="100000"/>
                    </a:srgbClr>
                  </a:solidFill>
                  <a:latin typeface="Times New Roman"/>
                  <a:ea typeface="Times New Roman"/>
                  <a:cs typeface="Times New Roman"/>
                </a:rPr>
                <a:t>12+ </a:t>
              </a:r>
              <a:r>
                <a:rPr sz="900" kern="0" spc="0" dirty="0">
                  <a:solidFill>
                    <a:srgbClr val="000000">
                      <a:alpha val="100000"/>
                    </a:srgbClr>
                  </a:solidFill>
                  <a:latin typeface="Times New Roman"/>
                  <a:ea typeface="Times New Roman"/>
                  <a:cs typeface="Times New Roman"/>
                </a:rPr>
                <a:t>End</a:t>
              </a:r>
              <a:r>
                <a:rPr sz="900" kern="0" spc="-10" dirty="0">
                  <a:solidFill>
                    <a:srgbClr val="000000">
                      <a:alpha val="100000"/>
                    </a:srgbClr>
                  </a:solidFill>
                  <a:latin typeface="Times New Roman"/>
                  <a:ea typeface="Times New Roman"/>
                  <a:cs typeface="Times New Roman"/>
                </a:rPr>
                <a:t>2</a:t>
              </a:r>
              <a:r>
                <a:rPr sz="900" kern="0" spc="0" dirty="0">
                  <a:solidFill>
                    <a:srgbClr val="000000">
                      <a:alpha val="100000"/>
                    </a:srgbClr>
                  </a:solidFill>
                  <a:latin typeface="Times New Roman"/>
                  <a:ea typeface="Times New Roman"/>
                  <a:cs typeface="Times New Roman"/>
                </a:rPr>
                <a:t>End</a:t>
              </a:r>
              <a:endParaRPr sz="900" dirty="0">
                <a:latin typeface="Times New Roman"/>
                <a:ea typeface="Times New Roman"/>
                <a:cs typeface="Times New Roman"/>
              </a:endParaRPr>
            </a:p>
          </p:txBody>
        </p:sp>
        <p:sp>
          <p:nvSpPr>
            <p:cNvPr id="248" name="textbox 248"/>
            <p:cNvSpPr/>
            <p:nvPr/>
          </p:nvSpPr>
          <p:spPr>
            <a:xfrm>
              <a:off x="7315706" y="621406"/>
              <a:ext cx="868044" cy="1488439"/>
            </a:xfrm>
            <a:prstGeom prst="rect">
              <a:avLst/>
            </a:prstGeom>
            <a:noFill/>
            <a:ln w="0" cap="flat">
              <a:noFill/>
              <a:prstDash val="solid"/>
              <a:miter lim="0"/>
            </a:ln>
          </p:spPr>
          <p:txBody>
            <a:bodyPr vert="horz" wrap="square" lIns="0" tIns="0" rIns="0" bIns="0"/>
            <a:lstStyle/>
            <a:p>
              <a:pPr algn="l" rtl="0" eaLnBrk="0">
                <a:lnSpc>
                  <a:spcPct val="87699"/>
                </a:lnSpc>
                <a:tabLst/>
              </a:pPr>
              <a:endParaRPr sz="100" dirty="0">
                <a:latin typeface="Arial"/>
                <a:ea typeface="Arial"/>
                <a:cs typeface="Arial"/>
              </a:endParaRPr>
            </a:p>
            <a:p>
              <a:pPr marL="12700" algn="l" rtl="0" eaLnBrk="0">
                <a:lnSpc>
                  <a:spcPct val="85000"/>
                </a:lnSpc>
                <a:tabLst/>
              </a:pPr>
              <a:r>
                <a:rPr sz="1400" b="1" kern="0" spc="-30" dirty="0">
                  <a:solidFill>
                    <a:srgbClr val="FEFFFF">
                      <a:alpha val="100000"/>
                    </a:srgbClr>
                  </a:solidFill>
                  <a:latin typeface="KaiTi"/>
                  <a:ea typeface="KaiTi"/>
                  <a:cs typeface="KaiTi"/>
                </a:rPr>
                <a:t>技术沿革</a:t>
              </a:r>
              <a:endParaRPr sz="1400" dirty="0">
                <a:latin typeface="KaiTi"/>
                <a:ea typeface="KaiTi"/>
                <a:cs typeface="KaiTi"/>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marL="31115" algn="l" rtl="0" eaLnBrk="0">
                <a:lnSpc>
                  <a:spcPct val="86000"/>
                </a:lnSpc>
                <a:spcBef>
                  <a:spcPts val="369"/>
                </a:spcBef>
                <a:tabLst/>
              </a:pPr>
              <a:r>
                <a:rPr sz="1200" b="1" kern="0" spc="-30" dirty="0">
                  <a:solidFill>
                    <a:srgbClr val="000000">
                      <a:alpha val="100000"/>
                    </a:srgbClr>
                  </a:solidFill>
                  <a:latin typeface="KaiTi"/>
                  <a:ea typeface="KaiTi"/>
                  <a:cs typeface="KaiTi"/>
                </a:rPr>
                <a:t>学术/技术临</a:t>
              </a:r>
              <a:endParaRPr sz="1200" dirty="0">
                <a:latin typeface="KaiTi"/>
                <a:ea typeface="KaiTi"/>
                <a:cs typeface="KaiTi"/>
              </a:endParaRPr>
            </a:p>
            <a:p>
              <a:pPr marL="284479" algn="l" rtl="0" eaLnBrk="0">
                <a:lnSpc>
                  <a:spcPct val="83000"/>
                </a:lnSpc>
                <a:spcBef>
                  <a:spcPts val="203"/>
                </a:spcBef>
                <a:tabLst/>
              </a:pPr>
              <a:r>
                <a:rPr sz="1200" b="1" kern="0" spc="-20" dirty="0">
                  <a:solidFill>
                    <a:srgbClr val="000000">
                      <a:alpha val="100000"/>
                    </a:srgbClr>
                  </a:solidFill>
                  <a:latin typeface="KaiTi"/>
                  <a:ea typeface="KaiTi"/>
                  <a:cs typeface="KaiTi"/>
                </a:rPr>
                <a:t>界点</a:t>
              </a:r>
              <a:endParaRPr sz="1200" dirty="0">
                <a:latin typeface="KaiTi"/>
                <a:ea typeface="KaiTi"/>
                <a:cs typeface="KaiTi"/>
              </a:endParaRPr>
            </a:p>
          </p:txBody>
        </p:sp>
        <p:sp>
          <p:nvSpPr>
            <p:cNvPr id="250" name="textbox 250"/>
            <p:cNvSpPr/>
            <p:nvPr/>
          </p:nvSpPr>
          <p:spPr>
            <a:xfrm>
              <a:off x="334924" y="2498394"/>
              <a:ext cx="5917565" cy="164464"/>
            </a:xfrm>
            <a:prstGeom prst="rect">
              <a:avLst/>
            </a:prstGeom>
            <a:noFill/>
            <a:ln w="0" cap="flat">
              <a:noFill/>
              <a:prstDash val="solid"/>
              <a:miter lim="0"/>
            </a:ln>
          </p:spPr>
          <p:txBody>
            <a:bodyPr vert="horz" wrap="square" lIns="0" tIns="0" rIns="0" bIns="0"/>
            <a:lstStyle/>
            <a:p>
              <a:pPr algn="l" rtl="0" eaLnBrk="0">
                <a:lnSpc>
                  <a:spcPct val="80427"/>
                </a:lnSpc>
                <a:tabLst/>
              </a:pPr>
              <a:endParaRPr sz="100" dirty="0">
                <a:latin typeface="Arial"/>
                <a:ea typeface="Arial"/>
                <a:cs typeface="Arial"/>
              </a:endParaRPr>
            </a:p>
            <a:p>
              <a:pPr marL="12700" algn="l" rtl="0" eaLnBrk="0">
                <a:lnSpc>
                  <a:spcPct val="76000"/>
                </a:lnSpc>
                <a:tabLst/>
              </a:pPr>
              <a:r>
                <a:rPr sz="1200" kern="0" spc="0" dirty="0">
                  <a:solidFill>
                    <a:srgbClr val="000000">
                      <a:alpha val="100000"/>
                    </a:srgbClr>
                  </a:solidFill>
                  <a:latin typeface="Times New Roman"/>
                  <a:ea typeface="Times New Roman"/>
                  <a:cs typeface="Times New Roman"/>
                </a:rPr>
                <a:t>2010’s                             2021                                </a:t>
              </a:r>
              <a:r>
                <a:rPr sz="1200" kern="0" spc="-10" dirty="0">
                  <a:solidFill>
                    <a:srgbClr val="000000">
                      <a:alpha val="100000"/>
                    </a:srgbClr>
                  </a:solidFill>
                  <a:latin typeface="Times New Roman"/>
                  <a:ea typeface="Times New Roman"/>
                  <a:cs typeface="Times New Roman"/>
                </a:rPr>
                <a:t>                          2024                                   </a:t>
              </a:r>
              <a:r>
                <a:rPr sz="1200" b="1" kern="0" spc="-10" dirty="0">
                  <a:solidFill>
                    <a:srgbClr val="FF0000">
                      <a:alpha val="100000"/>
                    </a:srgbClr>
                  </a:solidFill>
                  <a:latin typeface="Times New Roman"/>
                  <a:ea typeface="Times New Roman"/>
                  <a:cs typeface="Times New Roman"/>
                </a:rPr>
                <a:t>2026</a:t>
              </a:r>
              <a:endParaRPr sz="1200" dirty="0">
                <a:latin typeface="Times New Roman"/>
                <a:ea typeface="Times New Roman"/>
                <a:cs typeface="Times New Roman"/>
              </a:endParaRPr>
            </a:p>
          </p:txBody>
        </p:sp>
        <p:sp>
          <p:nvSpPr>
            <p:cNvPr id="252" name="textbox 252"/>
            <p:cNvSpPr/>
            <p:nvPr/>
          </p:nvSpPr>
          <p:spPr>
            <a:xfrm>
              <a:off x="2333434" y="4490267"/>
              <a:ext cx="931544" cy="500380"/>
            </a:xfrm>
            <a:prstGeom prst="rect">
              <a:avLst/>
            </a:prstGeom>
            <a:noFill/>
            <a:ln w="0" cap="flat">
              <a:noFill/>
              <a:prstDash val="solid"/>
              <a:miter lim="0"/>
            </a:ln>
          </p:spPr>
          <p:txBody>
            <a:bodyPr vert="horz" wrap="square" lIns="0" tIns="0" rIns="0" bIns="0"/>
            <a:lstStyle/>
            <a:p>
              <a:pPr algn="l" rtl="0" eaLnBrk="0">
                <a:lnSpc>
                  <a:spcPct val="85420"/>
                </a:lnSpc>
                <a:tabLst/>
              </a:pPr>
              <a:endParaRPr sz="100" dirty="0">
                <a:latin typeface="Arial"/>
                <a:ea typeface="Arial"/>
                <a:cs typeface="Arial"/>
              </a:endParaRPr>
            </a:p>
            <a:p>
              <a:pPr marL="148589" algn="l" rtl="0" eaLnBrk="0">
                <a:lnSpc>
                  <a:spcPct val="92000"/>
                </a:lnSpc>
                <a:tabLst/>
              </a:pPr>
              <a:r>
                <a:rPr sz="900" kern="0" spc="80" dirty="0">
                  <a:solidFill>
                    <a:srgbClr val="000000">
                      <a:alpha val="100000"/>
                    </a:srgbClr>
                  </a:solidFill>
                  <a:latin typeface="KaiTi"/>
                  <a:ea typeface="KaiTi"/>
                  <a:cs typeface="KaiTi"/>
                </a:rPr>
                <a:t>交互式游戏</a:t>
              </a:r>
              <a:endParaRPr sz="900" dirty="0">
                <a:latin typeface="KaiTi"/>
                <a:ea typeface="KaiTi"/>
                <a:cs typeface="KaiTi"/>
              </a:endParaRPr>
            </a:p>
            <a:p>
              <a:pPr algn="l" rtl="0" eaLnBrk="0">
                <a:lnSpc>
                  <a:spcPct val="137000"/>
                </a:lnSpc>
                <a:tabLst/>
              </a:pPr>
              <a:endParaRPr sz="1000" dirty="0">
                <a:latin typeface="Arial"/>
                <a:ea typeface="Arial"/>
                <a:cs typeface="Arial"/>
              </a:endParaRPr>
            </a:p>
            <a:p>
              <a:pPr algn="l" rtl="0" eaLnBrk="0">
                <a:lnSpc>
                  <a:spcPct val="114000"/>
                </a:lnSpc>
                <a:tabLst/>
              </a:pPr>
              <a:endParaRPr sz="200" dirty="0">
                <a:latin typeface="Arial"/>
                <a:ea typeface="Arial"/>
                <a:cs typeface="Arial"/>
              </a:endParaRPr>
            </a:p>
            <a:p>
              <a:pPr marL="12700" algn="l" rtl="0" eaLnBrk="0">
                <a:lnSpc>
                  <a:spcPct val="76000"/>
                </a:lnSpc>
                <a:spcBef>
                  <a:spcPts val="1"/>
                </a:spcBef>
                <a:tabLst/>
              </a:pPr>
              <a:r>
                <a:rPr sz="900" kern="0" spc="-10" dirty="0">
                  <a:solidFill>
                    <a:srgbClr val="000000">
                      <a:alpha val="100000"/>
                    </a:srgbClr>
                  </a:solidFill>
                  <a:latin typeface="Times New Roman"/>
                  <a:ea typeface="Times New Roman"/>
                  <a:cs typeface="Times New Roman"/>
                </a:rPr>
                <a:t>Genie</a:t>
              </a:r>
              <a:r>
                <a:rPr sz="900" kern="0" spc="10" dirty="0">
                  <a:solidFill>
                    <a:srgbClr val="000000">
                      <a:alpha val="100000"/>
                    </a:srgbClr>
                  </a:solidFill>
                  <a:latin typeface="Times New Roman"/>
                  <a:ea typeface="Times New Roman"/>
                  <a:cs typeface="Times New Roman"/>
                </a:rPr>
                <a:t>          </a:t>
              </a:r>
              <a:r>
                <a:rPr sz="900" kern="0" spc="-10" dirty="0">
                  <a:solidFill>
                    <a:srgbClr val="000000">
                      <a:alpha val="100000"/>
                    </a:srgbClr>
                  </a:solidFill>
                  <a:latin typeface="Times New Roman"/>
                  <a:ea typeface="Times New Roman"/>
                  <a:cs typeface="Times New Roman"/>
                </a:rPr>
                <a:t>Gemini</a:t>
              </a:r>
              <a:endParaRPr sz="900" dirty="0">
                <a:latin typeface="Times New Roman"/>
                <a:ea typeface="Times New Roman"/>
                <a:cs typeface="Times New Roman"/>
              </a:endParaRPr>
            </a:p>
          </p:txBody>
        </p:sp>
        <p:sp>
          <p:nvSpPr>
            <p:cNvPr id="254" name="textbox 254"/>
            <p:cNvSpPr/>
            <p:nvPr/>
          </p:nvSpPr>
          <p:spPr>
            <a:xfrm>
              <a:off x="599833" y="4490267"/>
              <a:ext cx="911225" cy="500380"/>
            </a:xfrm>
            <a:prstGeom prst="rect">
              <a:avLst/>
            </a:prstGeom>
            <a:noFill/>
            <a:ln w="0" cap="flat">
              <a:noFill/>
              <a:prstDash val="solid"/>
              <a:miter lim="0"/>
            </a:ln>
          </p:spPr>
          <p:txBody>
            <a:bodyPr vert="horz" wrap="square" lIns="0" tIns="0" rIns="0" bIns="0"/>
            <a:lstStyle/>
            <a:p>
              <a:pPr algn="l" rtl="0" eaLnBrk="0">
                <a:lnSpc>
                  <a:spcPct val="85420"/>
                </a:lnSpc>
                <a:tabLst/>
              </a:pPr>
              <a:endParaRPr sz="100" dirty="0">
                <a:latin typeface="Arial"/>
                <a:ea typeface="Arial"/>
                <a:cs typeface="Arial"/>
              </a:endParaRPr>
            </a:p>
            <a:p>
              <a:pPr marL="149225" algn="l" rtl="0" eaLnBrk="0">
                <a:lnSpc>
                  <a:spcPct val="92000"/>
                </a:lnSpc>
                <a:tabLst/>
              </a:pPr>
              <a:r>
                <a:rPr sz="900" kern="0" spc="80" dirty="0">
                  <a:solidFill>
                    <a:srgbClr val="000000">
                      <a:alpha val="100000"/>
                    </a:srgbClr>
                  </a:solidFill>
                  <a:latin typeface="KaiTi"/>
                  <a:ea typeface="KaiTi"/>
                  <a:cs typeface="KaiTi"/>
                </a:rPr>
                <a:t>生成式模型</a:t>
              </a:r>
              <a:endParaRPr sz="900" dirty="0">
                <a:latin typeface="KaiTi"/>
                <a:ea typeface="KaiTi"/>
                <a:cs typeface="KaiTi"/>
              </a:endParaRPr>
            </a:p>
            <a:p>
              <a:pPr algn="l" rtl="0" eaLnBrk="0">
                <a:lnSpc>
                  <a:spcPct val="137000"/>
                </a:lnSpc>
                <a:tabLst/>
              </a:pPr>
              <a:endParaRPr sz="1000" dirty="0">
                <a:latin typeface="Arial"/>
                <a:ea typeface="Arial"/>
                <a:cs typeface="Arial"/>
              </a:endParaRPr>
            </a:p>
            <a:p>
              <a:pPr algn="l" rtl="0" eaLnBrk="0">
                <a:lnSpc>
                  <a:spcPct val="114000"/>
                </a:lnSpc>
                <a:tabLst/>
              </a:pPr>
              <a:endParaRPr sz="200" dirty="0">
                <a:latin typeface="Arial"/>
                <a:ea typeface="Arial"/>
                <a:cs typeface="Arial"/>
              </a:endParaRPr>
            </a:p>
            <a:p>
              <a:pPr marL="12700" algn="l" rtl="0" eaLnBrk="0">
                <a:lnSpc>
                  <a:spcPct val="76000"/>
                </a:lnSpc>
                <a:spcBef>
                  <a:spcPts val="1"/>
                </a:spcBef>
                <a:tabLst/>
              </a:pPr>
              <a:r>
                <a:rPr sz="900" kern="0" spc="-10" dirty="0">
                  <a:solidFill>
                    <a:srgbClr val="000000">
                      <a:alpha val="100000"/>
                    </a:srgbClr>
                  </a:solidFill>
                  <a:latin typeface="Times New Roman"/>
                  <a:ea typeface="Times New Roman"/>
                  <a:cs typeface="Times New Roman"/>
                </a:rPr>
                <a:t>Sora</a:t>
              </a:r>
              <a:r>
                <a:rPr sz="900" kern="0" spc="0" dirty="0">
                  <a:solidFill>
                    <a:srgbClr val="000000">
                      <a:alpha val="100000"/>
                    </a:srgbClr>
                  </a:solidFill>
                  <a:latin typeface="Times New Roman"/>
                  <a:ea typeface="Times New Roman"/>
                  <a:cs typeface="Times New Roman"/>
                </a:rPr>
                <a:t>           </a:t>
              </a:r>
              <a:r>
                <a:rPr sz="900" kern="0" spc="-10" dirty="0">
                  <a:solidFill>
                    <a:srgbClr val="000000">
                      <a:alpha val="100000"/>
                    </a:srgbClr>
                  </a:solidFill>
                  <a:latin typeface="Times New Roman"/>
                  <a:ea typeface="Times New Roman"/>
                  <a:cs typeface="Times New Roman"/>
                </a:rPr>
                <a:t>GPT-4o</a:t>
              </a:r>
              <a:endParaRPr sz="900" dirty="0">
                <a:latin typeface="Times New Roman"/>
                <a:ea typeface="Times New Roman"/>
                <a:cs typeface="Times New Roman"/>
              </a:endParaRPr>
            </a:p>
          </p:txBody>
        </p:sp>
        <p:sp>
          <p:nvSpPr>
            <p:cNvPr id="256" name="textbox 256"/>
            <p:cNvSpPr/>
            <p:nvPr/>
          </p:nvSpPr>
          <p:spPr>
            <a:xfrm>
              <a:off x="7299935" y="2995193"/>
              <a:ext cx="923289" cy="361315"/>
            </a:xfrm>
            <a:prstGeom prst="rect">
              <a:avLst/>
            </a:prstGeom>
            <a:noFill/>
            <a:ln w="0" cap="flat">
              <a:noFill/>
              <a:prstDash val="solid"/>
              <a:miter lim="0"/>
            </a:ln>
          </p:spPr>
          <p:txBody>
            <a:bodyPr vert="horz" wrap="square" lIns="0" tIns="0" rIns="0" bIns="0"/>
            <a:lstStyle/>
            <a:p>
              <a:pPr algn="l" rtl="0" eaLnBrk="0">
                <a:lnSpc>
                  <a:spcPct val="78336"/>
                </a:lnSpc>
                <a:tabLst/>
              </a:pPr>
              <a:endParaRPr sz="100" dirty="0">
                <a:latin typeface="Arial"/>
                <a:ea typeface="Arial"/>
                <a:cs typeface="Arial"/>
              </a:endParaRPr>
            </a:p>
            <a:p>
              <a:pPr marL="12700" algn="l" rtl="0" eaLnBrk="0">
                <a:lnSpc>
                  <a:spcPct val="86000"/>
                </a:lnSpc>
                <a:tabLst/>
              </a:pPr>
              <a:r>
                <a:rPr sz="1200" b="1" kern="0" spc="-30" dirty="0">
                  <a:solidFill>
                    <a:srgbClr val="000000">
                      <a:alpha val="100000"/>
                    </a:srgbClr>
                  </a:solidFill>
                  <a:latin typeface="KaiTi"/>
                  <a:ea typeface="KaiTi"/>
                  <a:cs typeface="KaiTi"/>
                </a:rPr>
                <a:t>头部布局资源</a:t>
              </a:r>
              <a:endParaRPr sz="1200" dirty="0">
                <a:latin typeface="KaiTi"/>
                <a:ea typeface="KaiTi"/>
                <a:cs typeface="KaiTi"/>
              </a:endParaRPr>
            </a:p>
            <a:p>
              <a:pPr marL="161925" algn="l" rtl="0" eaLnBrk="0">
                <a:lnSpc>
                  <a:spcPct val="84000"/>
                </a:lnSpc>
                <a:spcBef>
                  <a:spcPts val="202"/>
                </a:spcBef>
                <a:tabLst/>
              </a:pPr>
              <a:r>
                <a:rPr sz="1200" b="1" kern="0" spc="-40" dirty="0">
                  <a:solidFill>
                    <a:srgbClr val="000000">
                      <a:alpha val="100000"/>
                    </a:srgbClr>
                  </a:solidFill>
                  <a:latin typeface="KaiTi"/>
                  <a:ea typeface="KaiTi"/>
                  <a:cs typeface="KaiTi"/>
                </a:rPr>
                <a:t>效应聚焦</a:t>
              </a:r>
              <a:endParaRPr sz="1200" dirty="0">
                <a:latin typeface="KaiTi"/>
                <a:ea typeface="KaiTi"/>
                <a:cs typeface="KaiTi"/>
              </a:endParaRPr>
            </a:p>
          </p:txBody>
        </p:sp>
        <p:sp>
          <p:nvSpPr>
            <p:cNvPr id="258" name="textbox 258"/>
            <p:cNvSpPr/>
            <p:nvPr/>
          </p:nvSpPr>
          <p:spPr>
            <a:xfrm>
              <a:off x="2457704" y="3025343"/>
              <a:ext cx="791844" cy="344804"/>
            </a:xfrm>
            <a:prstGeom prst="rect">
              <a:avLst/>
            </a:prstGeom>
            <a:noFill/>
            <a:ln w="0" cap="flat">
              <a:noFill/>
              <a:prstDash val="solid"/>
              <a:miter lim="0"/>
            </a:ln>
          </p:spPr>
          <p:txBody>
            <a:bodyPr vert="horz" wrap="square" lIns="0" tIns="0" rIns="0" bIns="0"/>
            <a:lstStyle/>
            <a:p>
              <a:pPr algn="l" rtl="0" eaLnBrk="0">
                <a:lnSpc>
                  <a:spcPct val="16540"/>
                </a:lnSpc>
                <a:tabLst/>
              </a:pPr>
              <a:endParaRPr sz="100" dirty="0">
                <a:latin typeface="Arial"/>
                <a:ea typeface="Arial"/>
                <a:cs typeface="Arial"/>
              </a:endParaRPr>
            </a:p>
            <a:p>
              <a:pPr marL="43180" indent="-30480" algn="l" rtl="0" eaLnBrk="0">
                <a:lnSpc>
                  <a:spcPct val="90000"/>
                </a:lnSpc>
                <a:tabLst/>
              </a:pPr>
              <a:r>
                <a:rPr sz="1200" b="1" kern="0" spc="-10" dirty="0">
                  <a:solidFill>
                    <a:srgbClr val="FEFFFF">
                      <a:alpha val="100000"/>
                    </a:srgbClr>
                  </a:solidFill>
                  <a:latin typeface="Times New Roman"/>
                  <a:ea typeface="Times New Roman"/>
                  <a:cs typeface="Times New Roman"/>
                </a:rPr>
                <a:t>Multimodal</a:t>
              </a:r>
              <a:r>
                <a:rPr sz="1200" b="1" kern="0" spc="30" dirty="0">
                  <a:solidFill>
                    <a:srgbClr val="FEFFFF">
                      <a:alpha val="100000"/>
                    </a:srgbClr>
                  </a:solidFill>
                  <a:latin typeface="Times New Roman"/>
                  <a:ea typeface="Times New Roman"/>
                  <a:cs typeface="Times New Roman"/>
                </a:rPr>
                <a:t> </a:t>
              </a:r>
              <a:r>
                <a:rPr sz="1200" b="1" kern="0" spc="-10" dirty="0">
                  <a:solidFill>
                    <a:srgbClr val="FEFFFF">
                      <a:alpha val="100000"/>
                    </a:srgbClr>
                  </a:solidFill>
                  <a:latin typeface="Times New Roman"/>
                  <a:ea typeface="Times New Roman"/>
                  <a:cs typeface="Times New Roman"/>
                </a:rPr>
                <a:t>interaction</a:t>
              </a:r>
              <a:endParaRPr sz="1200" dirty="0">
                <a:latin typeface="Times New Roman"/>
                <a:ea typeface="Times New Roman"/>
                <a:cs typeface="Times New Roman"/>
              </a:endParaRPr>
            </a:p>
          </p:txBody>
        </p:sp>
        <p:sp>
          <p:nvSpPr>
            <p:cNvPr id="260" name="textbox 260"/>
            <p:cNvSpPr/>
            <p:nvPr/>
          </p:nvSpPr>
          <p:spPr>
            <a:xfrm>
              <a:off x="816508" y="3017469"/>
              <a:ext cx="753109" cy="344804"/>
            </a:xfrm>
            <a:prstGeom prst="rect">
              <a:avLst/>
            </a:prstGeom>
            <a:noFill/>
            <a:ln w="0" cap="flat">
              <a:noFill/>
              <a:prstDash val="solid"/>
              <a:miter lim="0"/>
            </a:ln>
          </p:spPr>
          <p:txBody>
            <a:bodyPr vert="horz" wrap="square" lIns="0" tIns="0" rIns="0" bIns="0"/>
            <a:lstStyle/>
            <a:p>
              <a:pPr algn="l" rtl="0" eaLnBrk="0">
                <a:lnSpc>
                  <a:spcPct val="16538"/>
                </a:lnSpc>
                <a:tabLst/>
              </a:pPr>
              <a:endParaRPr sz="100" dirty="0">
                <a:latin typeface="Arial"/>
                <a:ea typeface="Arial"/>
                <a:cs typeface="Arial"/>
              </a:endParaRPr>
            </a:p>
            <a:p>
              <a:pPr marL="12700" indent="52705" algn="l" rtl="0" eaLnBrk="0">
                <a:lnSpc>
                  <a:spcPct val="90000"/>
                </a:lnSpc>
                <a:tabLst/>
              </a:pPr>
              <a:r>
                <a:rPr sz="1200" b="1" kern="0" spc="0" dirty="0">
                  <a:solidFill>
                    <a:srgbClr val="FEFFFF">
                      <a:alpha val="100000"/>
                    </a:srgbClr>
                  </a:solidFill>
                  <a:latin typeface="Times New Roman"/>
                  <a:ea typeface="Times New Roman"/>
                  <a:cs typeface="Times New Roman"/>
                </a:rPr>
                <a:t>End</a:t>
              </a:r>
              <a:r>
                <a:rPr sz="1200" b="1" kern="0" spc="-10" dirty="0">
                  <a:solidFill>
                    <a:srgbClr val="FEFFFF">
                      <a:alpha val="100000"/>
                    </a:srgbClr>
                  </a:solidFill>
                  <a:latin typeface="Times New Roman"/>
                  <a:ea typeface="Times New Roman"/>
                  <a:cs typeface="Times New Roman"/>
                </a:rPr>
                <a:t>2</a:t>
              </a:r>
              <a:r>
                <a:rPr sz="1200" b="1" kern="0" spc="0" dirty="0">
                  <a:solidFill>
                    <a:srgbClr val="FEFFFF">
                      <a:alpha val="100000"/>
                    </a:srgbClr>
                  </a:solidFill>
                  <a:latin typeface="Times New Roman"/>
                  <a:ea typeface="Times New Roman"/>
                  <a:cs typeface="Times New Roman"/>
                </a:rPr>
                <a:t>End</a:t>
              </a:r>
              <a:r>
                <a:rPr sz="1200" b="1" kern="0" spc="-10" dirty="0">
                  <a:solidFill>
                    <a:srgbClr val="FEFFFF">
                      <a:alpha val="100000"/>
                    </a:srgbClr>
                  </a:solidFill>
                  <a:latin typeface="Times New Roman"/>
                  <a:ea typeface="Times New Roman"/>
                  <a:cs typeface="Times New Roman"/>
                </a:rPr>
                <a:t> </a:t>
              </a:r>
              <a:r>
                <a:rPr sz="1200" b="1" kern="0" spc="-10" dirty="0">
                  <a:solidFill>
                    <a:srgbClr val="FEFFFF">
                      <a:alpha val="100000"/>
                    </a:srgbClr>
                  </a:solidFill>
                  <a:latin typeface="Times New Roman"/>
                  <a:ea typeface="Times New Roman"/>
                  <a:cs typeface="Times New Roman"/>
                </a:rPr>
                <a:t>Generation</a:t>
              </a:r>
              <a:endParaRPr sz="1200" dirty="0">
                <a:latin typeface="Times New Roman"/>
                <a:ea typeface="Times New Roman"/>
                <a:cs typeface="Times New Roman"/>
              </a:endParaRPr>
            </a:p>
          </p:txBody>
        </p:sp>
        <p:sp>
          <p:nvSpPr>
            <p:cNvPr id="262" name="textbox 262"/>
            <p:cNvSpPr/>
            <p:nvPr/>
          </p:nvSpPr>
          <p:spPr>
            <a:xfrm>
              <a:off x="5802731" y="3025343"/>
              <a:ext cx="749934" cy="344804"/>
            </a:xfrm>
            <a:prstGeom prst="rect">
              <a:avLst/>
            </a:prstGeom>
            <a:noFill/>
            <a:ln w="0" cap="flat">
              <a:noFill/>
              <a:prstDash val="solid"/>
              <a:miter lim="0"/>
            </a:ln>
          </p:spPr>
          <p:txBody>
            <a:bodyPr vert="horz" wrap="square" lIns="0" tIns="0" rIns="0" bIns="0"/>
            <a:lstStyle/>
            <a:p>
              <a:pPr algn="l" rtl="0" eaLnBrk="0">
                <a:lnSpc>
                  <a:spcPct val="16540"/>
                </a:lnSpc>
                <a:tabLst/>
              </a:pPr>
              <a:endParaRPr sz="100" dirty="0">
                <a:latin typeface="Arial"/>
                <a:ea typeface="Arial"/>
                <a:cs typeface="Arial"/>
              </a:endParaRPr>
            </a:p>
            <a:p>
              <a:pPr marL="125095" indent="-112395" algn="l" rtl="0" eaLnBrk="0">
                <a:lnSpc>
                  <a:spcPct val="90000"/>
                </a:lnSpc>
                <a:tabLst/>
              </a:pPr>
              <a:r>
                <a:rPr sz="1200" b="1" kern="0" spc="-10" dirty="0">
                  <a:solidFill>
                    <a:srgbClr val="FEFFFF">
                      <a:alpha val="100000"/>
                    </a:srgbClr>
                  </a:solidFill>
                  <a:latin typeface="Times New Roman"/>
                  <a:ea typeface="Times New Roman"/>
                  <a:cs typeface="Times New Roman"/>
                </a:rPr>
                <a:t>Real-world</a:t>
              </a:r>
              <a:r>
                <a:rPr sz="1200" b="1" kern="0" spc="40" dirty="0">
                  <a:solidFill>
                    <a:srgbClr val="FEFFFF">
                      <a:alpha val="100000"/>
                    </a:srgbClr>
                  </a:solidFill>
                  <a:latin typeface="Times New Roman"/>
                  <a:ea typeface="Times New Roman"/>
                  <a:cs typeface="Times New Roman"/>
                </a:rPr>
                <a:t> </a:t>
              </a:r>
              <a:r>
                <a:rPr sz="1200" b="1" kern="0" spc="-10" dirty="0">
                  <a:solidFill>
                    <a:srgbClr val="FEFFFF">
                      <a:alpha val="100000"/>
                    </a:srgbClr>
                  </a:solidFill>
                  <a:latin typeface="Times New Roman"/>
                  <a:ea typeface="Times New Roman"/>
                  <a:cs typeface="Times New Roman"/>
                </a:rPr>
                <a:t>Control</a:t>
              </a:r>
              <a:endParaRPr sz="1200" dirty="0">
                <a:latin typeface="Times New Roman"/>
                <a:ea typeface="Times New Roman"/>
                <a:cs typeface="Times New Roman"/>
              </a:endParaRPr>
            </a:p>
          </p:txBody>
        </p:sp>
      </p:grpSp>
      <p:grpSp>
        <p:nvGrpSpPr>
          <p:cNvPr id="10" name="group 10"/>
          <p:cNvGrpSpPr/>
          <p:nvPr/>
        </p:nvGrpSpPr>
        <p:grpSpPr>
          <a:xfrm rot="21600000">
            <a:off x="8338247" y="1105319"/>
            <a:ext cx="3413817" cy="4954280"/>
            <a:chOff x="0" y="0"/>
            <a:chExt cx="3413817" cy="4954280"/>
          </a:xfrm>
        </p:grpSpPr>
        <p:sp>
          <p:nvSpPr>
            <p:cNvPr id="264" name="rect 264"/>
            <p:cNvSpPr/>
            <p:nvPr/>
          </p:nvSpPr>
          <p:spPr>
            <a:xfrm>
              <a:off x="499354" y="316873"/>
              <a:ext cx="2914463" cy="4637407"/>
            </a:xfrm>
            <a:prstGeom prst="rect">
              <a:avLst/>
            </a:prstGeom>
            <a:solidFill>
              <a:srgbClr val="7B7B7B">
                <a:alpha val="42745"/>
              </a:srgbClr>
            </a:solidFill>
            <a:ln w="0" cap="flat">
              <a:noFill/>
              <a:prstDash val="solid"/>
              <a:miter lim="0"/>
            </a:ln>
          </p:spPr>
          <p:txBody>
            <a:bodyPr rtlCol="0"/>
            <a:lstStyle/>
            <a:p>
              <a:pPr algn="ctr"/>
              <a:endParaRPr lang="zh-CN" altLang="en-US"/>
            </a:p>
          </p:txBody>
        </p:sp>
        <p:pic>
          <p:nvPicPr>
            <p:cNvPr id="266" name="picture 266"/>
            <p:cNvPicPr>
              <a:picLocks noChangeAspect="1"/>
            </p:cNvPicPr>
            <p:nvPr/>
          </p:nvPicPr>
          <p:blipFill>
            <a:blip r:embed="rId3"/>
            <a:stretch>
              <a:fillRect/>
            </a:stretch>
          </p:blipFill>
          <p:spPr>
            <a:xfrm rot="21600000">
              <a:off x="0" y="0"/>
              <a:ext cx="3373824" cy="4935396"/>
            </a:xfrm>
            <a:prstGeom prst="rect">
              <a:avLst/>
            </a:prstGeom>
          </p:spPr>
        </p:pic>
        <p:sp>
          <p:nvSpPr>
            <p:cNvPr id="268" name="textbox 268"/>
            <p:cNvSpPr/>
            <p:nvPr/>
          </p:nvSpPr>
          <p:spPr>
            <a:xfrm>
              <a:off x="783183" y="215738"/>
              <a:ext cx="2402839" cy="4615815"/>
            </a:xfrm>
            <a:prstGeom prst="rect">
              <a:avLst/>
            </a:prstGeom>
            <a:noFill/>
            <a:ln w="0" cap="flat">
              <a:noFill/>
              <a:prstDash val="solid"/>
              <a:miter lim="0"/>
            </a:ln>
          </p:spPr>
          <p:txBody>
            <a:bodyPr vert="horz" wrap="square" lIns="0" tIns="0" rIns="0" bIns="0"/>
            <a:lstStyle/>
            <a:p>
              <a:pPr algn="l" rtl="0" eaLnBrk="0">
                <a:lnSpc>
                  <a:spcPct val="78469"/>
                </a:lnSpc>
                <a:tabLst/>
              </a:pPr>
              <a:endParaRPr sz="100" dirty="0">
                <a:latin typeface="Arial"/>
                <a:ea typeface="Arial"/>
                <a:cs typeface="Arial"/>
              </a:endParaRPr>
            </a:p>
            <a:p>
              <a:pPr marL="579119" algn="l" rtl="0" eaLnBrk="0">
                <a:lnSpc>
                  <a:spcPct val="89000"/>
                </a:lnSpc>
                <a:tabLst/>
              </a:pPr>
              <a:r>
                <a:rPr sz="1500" b="1" kern="0" spc="70" dirty="0">
                  <a:solidFill>
                    <a:srgbClr val="BF756D">
                      <a:alpha val="100000"/>
                    </a:srgbClr>
                  </a:solidFill>
                  <a:latin typeface="KaiTi"/>
                  <a:ea typeface="KaiTi"/>
                  <a:cs typeface="KaiTi"/>
                </a:rPr>
                <a:t>资本市场观点</a:t>
              </a:r>
              <a:endParaRPr sz="1500" dirty="0">
                <a:latin typeface="KaiTi"/>
                <a:ea typeface="KaiTi"/>
                <a:cs typeface="KaiTi"/>
              </a:endParaRPr>
            </a:p>
            <a:p>
              <a:pPr algn="l" rtl="0" eaLnBrk="0">
                <a:lnSpc>
                  <a:spcPct val="134000"/>
                </a:lnSpc>
                <a:tabLst/>
              </a:pPr>
              <a:endParaRPr sz="1000" dirty="0">
                <a:latin typeface="Arial"/>
                <a:ea typeface="Arial"/>
                <a:cs typeface="Arial"/>
              </a:endParaRPr>
            </a:p>
            <a:p>
              <a:pPr marL="12700" indent="635" algn="l" rtl="0" eaLnBrk="0">
                <a:lnSpc>
                  <a:spcPct val="97000"/>
                </a:lnSpc>
                <a:spcBef>
                  <a:spcPts val="431"/>
                </a:spcBef>
                <a:tabLst/>
              </a:pPr>
              <a:r>
                <a:rPr sz="1400" b="1" kern="0" spc="100" dirty="0">
                  <a:solidFill>
                    <a:srgbClr val="000000">
                      <a:alpha val="100000"/>
                    </a:srgbClr>
                  </a:solidFill>
                  <a:latin typeface="KaiTi"/>
                  <a:ea typeface="KaiTi"/>
                  <a:cs typeface="KaiTi"/>
                </a:rPr>
                <a:t>世界模型是</a:t>
              </a:r>
              <a:r>
                <a:rPr sz="1400" b="1" kern="0" spc="0" dirty="0">
                  <a:solidFill>
                    <a:srgbClr val="000000">
                      <a:alpha val="100000"/>
                    </a:srgbClr>
                  </a:solidFill>
                  <a:latin typeface="Times New Roman"/>
                  <a:ea typeface="Times New Roman"/>
                  <a:cs typeface="Times New Roman"/>
                </a:rPr>
                <a:t>AI</a:t>
              </a:r>
              <a:r>
                <a:rPr sz="1400" b="1" kern="0" spc="100" dirty="0">
                  <a:solidFill>
                    <a:srgbClr val="000000">
                      <a:alpha val="100000"/>
                    </a:srgbClr>
                  </a:solidFill>
                  <a:latin typeface="KaiTi"/>
                  <a:ea typeface="KaiTi"/>
                  <a:cs typeface="KaiTi"/>
                </a:rPr>
                <a:t>核心底座</a:t>
              </a:r>
              <a:r>
                <a:rPr sz="1400" b="1" kern="0" spc="90" dirty="0">
                  <a:solidFill>
                    <a:srgbClr val="000000">
                      <a:alpha val="100000"/>
                    </a:srgbClr>
                  </a:solidFill>
                  <a:latin typeface="KaiTi"/>
                  <a:ea typeface="KaiTi"/>
                  <a:cs typeface="KaiTi"/>
                </a:rPr>
                <a:t>，通</a:t>
              </a:r>
              <a:r>
                <a:rPr sz="1400" b="1" kern="0" spc="-20" dirty="0">
                  <a:solidFill>
                    <a:srgbClr val="000000">
                      <a:alpha val="100000"/>
                    </a:srgbClr>
                  </a:solidFill>
                  <a:latin typeface="KaiTi"/>
                  <a:ea typeface="KaiTi"/>
                  <a:cs typeface="KaiTi"/>
                </a:rPr>
                <a:t>往AGI的必经之路</a:t>
              </a:r>
              <a:endParaRPr sz="1400" dirty="0">
                <a:latin typeface="KaiTi"/>
                <a:ea typeface="KaiTi"/>
                <a:cs typeface="KaiTi"/>
              </a:endParaRPr>
            </a:p>
            <a:p>
              <a:pPr algn="l" rtl="0" eaLnBrk="0">
                <a:lnSpc>
                  <a:spcPct val="100000"/>
                </a:lnSpc>
                <a:tabLst/>
              </a:pPr>
              <a:endParaRPr sz="1000" dirty="0">
                <a:latin typeface="Arial"/>
                <a:ea typeface="Arial"/>
                <a:cs typeface="Arial"/>
              </a:endParaRPr>
            </a:p>
            <a:p>
              <a:pPr marL="493394" indent="-15240" algn="l" rtl="0" eaLnBrk="0">
                <a:lnSpc>
                  <a:spcPct val="97000"/>
                </a:lnSpc>
                <a:spcBef>
                  <a:spcPts val="366"/>
                </a:spcBef>
                <a:tabLst/>
              </a:pPr>
              <a:r>
                <a:rPr sz="1200" b="1" kern="0" spc="-30" dirty="0">
                  <a:solidFill>
                    <a:srgbClr val="BF756D">
                      <a:alpha val="100000"/>
                    </a:srgbClr>
                  </a:solidFill>
                  <a:latin typeface="KaiTi"/>
                  <a:ea typeface="KaiTi"/>
                  <a:cs typeface="KaiTi"/>
                </a:rPr>
                <a:t>世界模型不是</a:t>
              </a:r>
              <a:r>
                <a:rPr sz="1200" kern="0" spc="-260" dirty="0">
                  <a:solidFill>
                    <a:srgbClr val="BF756D">
                      <a:alpha val="100000"/>
                    </a:srgbClr>
                  </a:solidFill>
                  <a:latin typeface="KaiTi"/>
                  <a:ea typeface="KaiTi"/>
                  <a:cs typeface="KaiTi"/>
                </a:rPr>
                <a:t> </a:t>
              </a:r>
              <a:r>
                <a:rPr sz="1200" b="1" kern="0" spc="-30" dirty="0">
                  <a:solidFill>
                    <a:srgbClr val="BF756D">
                      <a:alpha val="100000"/>
                    </a:srgbClr>
                  </a:solidFill>
                  <a:latin typeface="Times New Roman"/>
                  <a:ea typeface="Times New Roman"/>
                  <a:cs typeface="Times New Roman"/>
                </a:rPr>
                <a:t>LLM</a:t>
              </a:r>
              <a:r>
                <a:rPr sz="1200" b="1" kern="0" spc="110" dirty="0">
                  <a:solidFill>
                    <a:srgbClr val="BF756D">
                      <a:alpha val="100000"/>
                    </a:srgbClr>
                  </a:solidFill>
                  <a:latin typeface="Times New Roman"/>
                  <a:ea typeface="Times New Roman"/>
                  <a:cs typeface="Times New Roman"/>
                </a:rPr>
                <a:t> </a:t>
              </a:r>
              <a:r>
                <a:rPr sz="1200" b="1" kern="0" spc="-30" dirty="0">
                  <a:solidFill>
                    <a:srgbClr val="BF756D">
                      <a:alpha val="100000"/>
                    </a:srgbClr>
                  </a:solidFill>
                  <a:latin typeface="KaiTi"/>
                  <a:ea typeface="KaiTi"/>
                  <a:cs typeface="KaiTi"/>
                </a:rPr>
                <a:t>的补</a:t>
              </a:r>
              <a:r>
                <a:rPr sz="1200" b="1" kern="0" spc="-40" dirty="0">
                  <a:solidFill>
                    <a:srgbClr val="BF756D">
                      <a:alpha val="100000"/>
                    </a:srgbClr>
                  </a:solidFill>
                  <a:latin typeface="KaiTi"/>
                  <a:ea typeface="KaiTi"/>
                  <a:cs typeface="KaiTi"/>
                </a:rPr>
                <a:t>充，</a:t>
              </a:r>
              <a:r>
                <a:rPr sz="1200" b="1" kern="0" spc="-30" dirty="0">
                  <a:solidFill>
                    <a:srgbClr val="BF756D">
                      <a:alpha val="100000"/>
                    </a:srgbClr>
                  </a:solidFill>
                  <a:latin typeface="KaiTi"/>
                  <a:ea typeface="KaiTi"/>
                  <a:cs typeface="KaiTi"/>
                </a:rPr>
                <a:t>而是AI</a:t>
              </a:r>
              <a:r>
                <a:rPr sz="1200" kern="0" spc="140" dirty="0">
                  <a:solidFill>
                    <a:srgbClr val="BF756D">
                      <a:alpha val="100000"/>
                    </a:srgbClr>
                  </a:solidFill>
                  <a:latin typeface="KaiTi"/>
                  <a:ea typeface="KaiTi"/>
                  <a:cs typeface="KaiTi"/>
                </a:rPr>
                <a:t> </a:t>
              </a:r>
              <a:r>
                <a:rPr sz="1200" b="1" kern="0" spc="-30" dirty="0">
                  <a:solidFill>
                    <a:srgbClr val="BF756D">
                      <a:alpha val="100000"/>
                    </a:srgbClr>
                  </a:solidFill>
                  <a:latin typeface="KaiTi"/>
                  <a:ea typeface="KaiTi"/>
                  <a:cs typeface="KaiTi"/>
                </a:rPr>
                <a:t>范式的根本性革命</a:t>
              </a:r>
              <a:endParaRPr sz="1200" dirty="0">
                <a:latin typeface="KaiTi"/>
                <a:ea typeface="KaiTi"/>
                <a:cs typeface="KaiTi"/>
              </a:endParaRPr>
            </a:p>
            <a:p>
              <a:pPr algn="l" rtl="0" eaLnBrk="0">
                <a:lnSpc>
                  <a:spcPct val="173000"/>
                </a:lnSpc>
                <a:tabLst/>
              </a:pPr>
              <a:endParaRPr sz="1000" dirty="0">
                <a:latin typeface="Arial"/>
                <a:ea typeface="Arial"/>
                <a:cs typeface="Arial"/>
              </a:endParaRPr>
            </a:p>
            <a:p>
              <a:pPr marL="259079" indent="-216534" algn="l" rtl="0" eaLnBrk="0">
                <a:lnSpc>
                  <a:spcPct val="105000"/>
                </a:lnSpc>
                <a:spcBef>
                  <a:spcPts val="310"/>
                </a:spcBef>
                <a:tabLst/>
              </a:pPr>
              <a:r>
                <a:rPr sz="1000" kern="0" spc="10" dirty="0">
                  <a:solidFill>
                    <a:srgbClr val="000000">
                      <a:alpha val="100000"/>
                    </a:srgbClr>
                  </a:solidFill>
                  <a:latin typeface="Arial"/>
                  <a:ea typeface="Arial"/>
                  <a:cs typeface="Arial"/>
                </a:rPr>
                <a:t>•</a:t>
              </a:r>
              <a:r>
                <a:rPr sz="1000" kern="0" spc="0" dirty="0">
                  <a:solidFill>
                    <a:srgbClr val="000000">
                      <a:alpha val="100000"/>
                    </a:srgbClr>
                  </a:solidFill>
                  <a:latin typeface="Arial"/>
                  <a:ea typeface="Arial"/>
                  <a:cs typeface="Arial"/>
                </a:rPr>
                <a:t>     </a:t>
              </a:r>
              <a:r>
                <a:rPr sz="1000" kern="0" spc="10" dirty="0">
                  <a:solidFill>
                    <a:srgbClr val="000000">
                      <a:alpha val="100000"/>
                    </a:srgbClr>
                  </a:solidFill>
                  <a:latin typeface="KaiTi"/>
                  <a:ea typeface="KaiTi"/>
                  <a:cs typeface="KaiTi"/>
                </a:rPr>
                <a:t>让</a:t>
              </a:r>
              <a:r>
                <a:rPr sz="1000" kern="0" spc="0" dirty="0">
                  <a:solidFill>
                    <a:srgbClr val="000000">
                      <a:alpha val="100000"/>
                    </a:srgbClr>
                  </a:solidFill>
                  <a:latin typeface="Times New Roman"/>
                  <a:ea typeface="Times New Roman"/>
                  <a:cs typeface="Times New Roman"/>
                </a:rPr>
                <a:t>AI</a:t>
              </a:r>
              <a:r>
                <a:rPr sz="1000" kern="0" spc="10" dirty="0">
                  <a:solidFill>
                    <a:srgbClr val="000000">
                      <a:alpha val="100000"/>
                    </a:srgbClr>
                  </a:solidFill>
                  <a:latin typeface="Times New Roman"/>
                  <a:ea typeface="Times New Roman"/>
                  <a:cs typeface="Times New Roman"/>
                </a:rPr>
                <a:t> </a:t>
              </a:r>
              <a:r>
                <a:rPr sz="1000" kern="0" spc="10" dirty="0">
                  <a:solidFill>
                    <a:srgbClr val="000000">
                      <a:alpha val="100000"/>
                    </a:srgbClr>
                  </a:solidFill>
                  <a:latin typeface="KaiTi"/>
                  <a:ea typeface="KaiTi"/>
                  <a:cs typeface="KaiTi"/>
                </a:rPr>
                <a:t>从</a:t>
              </a:r>
              <a:r>
                <a:rPr sz="1000" kern="0" spc="10" dirty="0">
                  <a:solidFill>
                    <a:srgbClr val="000000">
                      <a:alpha val="100000"/>
                    </a:srgbClr>
                  </a:solidFill>
                  <a:latin typeface="KaiTi"/>
                  <a:ea typeface="KaiTi"/>
                  <a:cs typeface="KaiTi"/>
                </a:rPr>
                <a:t>  </a:t>
              </a:r>
              <a:r>
                <a:rPr sz="1000" kern="0" spc="10" dirty="0">
                  <a:solidFill>
                    <a:srgbClr val="000000">
                      <a:alpha val="100000"/>
                    </a:srgbClr>
                  </a:solidFill>
                  <a:latin typeface="KaiTi"/>
                  <a:ea typeface="KaiTi"/>
                  <a:cs typeface="KaiTi"/>
                </a:rPr>
                <a:t>“只会在数字</a:t>
              </a:r>
              <a:r>
                <a:rPr sz="1000" kern="0" spc="0" dirty="0">
                  <a:solidFill>
                    <a:srgbClr val="000000">
                      <a:alpha val="100000"/>
                    </a:srgbClr>
                  </a:solidFill>
                  <a:latin typeface="KaiTi"/>
                  <a:ea typeface="KaiTi"/>
                  <a:cs typeface="KaiTi"/>
                </a:rPr>
                <a:t>世界里说</a:t>
              </a:r>
              <a:r>
                <a:rPr sz="1000" kern="0" spc="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话”，走向</a:t>
              </a:r>
              <a:r>
                <a:rPr sz="1000" kern="0" spc="4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“能够在物理世界里</a:t>
              </a:r>
              <a:r>
                <a:rPr sz="1000" kern="0" spc="10" dirty="0">
                  <a:solidFill>
                    <a:srgbClr val="000000">
                      <a:alpha val="100000"/>
                    </a:srgbClr>
                  </a:solidFill>
                  <a:latin typeface="KaiTi"/>
                  <a:ea typeface="KaiTi"/>
                  <a:cs typeface="KaiTi"/>
                </a:rPr>
                <a:t>  </a:t>
              </a:r>
              <a:r>
                <a:rPr sz="1000" kern="0" spc="30" dirty="0">
                  <a:solidFill>
                    <a:srgbClr val="000000">
                      <a:alpha val="100000"/>
                    </a:srgbClr>
                  </a:solidFill>
                  <a:latin typeface="KaiTi"/>
                  <a:ea typeface="KaiTi"/>
                  <a:cs typeface="KaiTi"/>
                </a:rPr>
                <a:t>思考、决策与行动”。</a:t>
              </a:r>
              <a:endParaRPr sz="1000" dirty="0">
                <a:latin typeface="KaiTi"/>
                <a:ea typeface="KaiTi"/>
                <a:cs typeface="KaiTi"/>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marL="485140" indent="-11429" algn="l" rtl="0" eaLnBrk="0">
                <a:lnSpc>
                  <a:spcPct val="93000"/>
                </a:lnSpc>
                <a:spcBef>
                  <a:spcPts val="363"/>
                </a:spcBef>
                <a:tabLst/>
              </a:pPr>
              <a:r>
                <a:rPr sz="1200" b="1" kern="0" spc="-10" dirty="0">
                  <a:solidFill>
                    <a:srgbClr val="BF756D">
                      <a:alpha val="100000"/>
                    </a:srgbClr>
                  </a:solidFill>
                  <a:latin typeface="KaiTi"/>
                  <a:ea typeface="KaiTi"/>
                  <a:cs typeface="KaiTi"/>
                </a:rPr>
                <a:t>尽管困难重重，世界模型依</a:t>
              </a:r>
              <a:r>
                <a:rPr sz="1200" b="1" kern="0" spc="-20" dirty="0">
                  <a:solidFill>
                    <a:srgbClr val="BF756D">
                      <a:alpha val="100000"/>
                    </a:srgbClr>
                  </a:solidFill>
                  <a:latin typeface="KaiTi"/>
                  <a:ea typeface="KaiTi"/>
                  <a:cs typeface="KaiTi"/>
                </a:rPr>
                <a:t>然会快速朝着以下方向迭代</a:t>
              </a:r>
              <a:endParaRPr sz="1200" dirty="0">
                <a:latin typeface="KaiTi"/>
                <a:ea typeface="KaiTi"/>
                <a:cs typeface="KaiTi"/>
              </a:endParaRPr>
            </a:p>
            <a:p>
              <a:pPr algn="l" rtl="0" eaLnBrk="0">
                <a:lnSpc>
                  <a:spcPct val="183000"/>
                </a:lnSpc>
                <a:tabLst/>
              </a:pPr>
              <a:endParaRPr sz="1000" dirty="0">
                <a:latin typeface="Arial"/>
                <a:ea typeface="Arial"/>
                <a:cs typeface="Arial"/>
              </a:endParaRPr>
            </a:p>
            <a:p>
              <a:pPr marL="258445" indent="-215900" algn="l" rtl="0" eaLnBrk="0">
                <a:lnSpc>
                  <a:spcPct val="95000"/>
                </a:lnSpc>
                <a:spcBef>
                  <a:spcPts val="309"/>
                </a:spcBef>
                <a:tabLst/>
              </a:pPr>
              <a:r>
                <a:rPr sz="1000" kern="0" spc="40" dirty="0">
                  <a:solidFill>
                    <a:srgbClr val="000000">
                      <a:alpha val="100000"/>
                    </a:srgbClr>
                  </a:solidFill>
                  <a:latin typeface="Arial"/>
                  <a:ea typeface="Arial"/>
                  <a:cs typeface="Arial"/>
                </a:rPr>
                <a:t>•</a:t>
              </a:r>
              <a:r>
                <a:rPr sz="1000" kern="0" spc="0" dirty="0">
                  <a:solidFill>
                    <a:srgbClr val="000000">
                      <a:alpha val="100000"/>
                    </a:srgbClr>
                  </a:solidFill>
                  <a:latin typeface="Arial"/>
                  <a:ea typeface="Arial"/>
                  <a:cs typeface="Arial"/>
                </a:rPr>
                <a:t>     </a:t>
              </a:r>
              <a:r>
                <a:rPr sz="1000" kern="0" spc="40" dirty="0">
                  <a:solidFill>
                    <a:srgbClr val="000000">
                      <a:alpha val="100000"/>
                    </a:srgbClr>
                  </a:solidFill>
                  <a:latin typeface="KaiTi"/>
                  <a:ea typeface="KaiTi"/>
                  <a:cs typeface="KaiTi"/>
                </a:rPr>
                <a:t>未来世界模型的核心竞争将聚焦于</a:t>
              </a:r>
              <a:r>
                <a:rPr sz="1000" kern="0" spc="10" dirty="0">
                  <a:solidFill>
                    <a:srgbClr val="000000">
                      <a:alpha val="100000"/>
                    </a:srgbClr>
                  </a:solidFill>
                  <a:latin typeface="KaiTi"/>
                  <a:ea typeface="KaiTi"/>
                  <a:cs typeface="KaiTi"/>
                </a:rPr>
                <a:t>  </a:t>
              </a:r>
              <a:r>
                <a:rPr sz="1000" kern="0" spc="30" dirty="0">
                  <a:solidFill>
                    <a:srgbClr val="000000">
                      <a:alpha val="100000"/>
                    </a:srgbClr>
                  </a:solidFill>
                  <a:latin typeface="Times New Roman"/>
                  <a:ea typeface="Times New Roman"/>
                  <a:cs typeface="Times New Roman"/>
                </a:rPr>
                <a:t>3D</a:t>
              </a:r>
              <a:r>
                <a:rPr sz="1000" kern="0" spc="140" dirty="0">
                  <a:solidFill>
                    <a:srgbClr val="000000">
                      <a:alpha val="100000"/>
                    </a:srgbClr>
                  </a:solidFill>
                  <a:latin typeface="Times New Roman"/>
                  <a:ea typeface="Times New Roman"/>
                  <a:cs typeface="Times New Roman"/>
                </a:rPr>
                <a:t> </a:t>
              </a:r>
              <a:r>
                <a:rPr sz="1000" kern="0" spc="30" dirty="0">
                  <a:solidFill>
                    <a:srgbClr val="000000">
                      <a:alpha val="100000"/>
                    </a:srgbClr>
                  </a:solidFill>
                  <a:latin typeface="KaiTi"/>
                  <a:ea typeface="KaiTi"/>
                  <a:cs typeface="KaiTi"/>
                </a:rPr>
                <a:t>空间与物理精度</a:t>
              </a:r>
              <a:endParaRPr sz="1000" dirty="0">
                <a:latin typeface="KaiTi"/>
                <a:ea typeface="KaiTi"/>
                <a:cs typeface="KaiTi"/>
              </a:endParaRPr>
            </a:p>
            <a:p>
              <a:pPr marL="254000" indent="-211454" algn="l" rtl="0" eaLnBrk="0">
                <a:lnSpc>
                  <a:spcPct val="97000"/>
                </a:lnSpc>
                <a:spcBef>
                  <a:spcPts val="746"/>
                </a:spcBef>
                <a:tabLst/>
              </a:pPr>
              <a:r>
                <a:rPr sz="1000" kern="0" spc="40" dirty="0">
                  <a:solidFill>
                    <a:srgbClr val="000000">
                      <a:alpha val="100000"/>
                    </a:srgbClr>
                  </a:solidFill>
                  <a:latin typeface="Arial"/>
                  <a:ea typeface="Arial"/>
                  <a:cs typeface="Arial"/>
                </a:rPr>
                <a:t>•</a:t>
              </a:r>
              <a:r>
                <a:rPr sz="1000" kern="0" spc="80" dirty="0">
                  <a:solidFill>
                    <a:srgbClr val="000000">
                      <a:alpha val="100000"/>
                    </a:srgbClr>
                  </a:solidFill>
                  <a:latin typeface="Arial"/>
                  <a:ea typeface="Arial"/>
                  <a:cs typeface="Arial"/>
                </a:rPr>
                <a:t>    </a:t>
              </a:r>
              <a:r>
                <a:rPr sz="1000" kern="0" spc="40" dirty="0">
                  <a:solidFill>
                    <a:srgbClr val="000000">
                      <a:alpha val="100000"/>
                    </a:srgbClr>
                  </a:solidFill>
                  <a:latin typeface="KaiTi"/>
                  <a:ea typeface="KaiTi"/>
                  <a:cs typeface="KaiTi"/>
                </a:rPr>
                <a:t>从专用场景模型走向跨场景通用世</a:t>
              </a:r>
              <a:r>
                <a:rPr sz="1000" kern="0" spc="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界模型</a:t>
              </a:r>
              <a:endParaRPr sz="1000" dirty="0">
                <a:latin typeface="KaiTi"/>
                <a:ea typeface="KaiTi"/>
                <a:cs typeface="KaiTi"/>
              </a:endParaRPr>
            </a:p>
            <a:p>
              <a:pPr algn="l" rtl="0" eaLnBrk="0">
                <a:lnSpc>
                  <a:spcPct val="116000"/>
                </a:lnSpc>
                <a:tabLst/>
              </a:pPr>
              <a:endParaRPr sz="500" dirty="0">
                <a:latin typeface="Arial"/>
                <a:ea typeface="Arial"/>
                <a:cs typeface="Arial"/>
              </a:endParaRPr>
            </a:p>
            <a:p>
              <a:pPr marL="261620" indent="-219075" algn="l" rtl="0" eaLnBrk="0">
                <a:lnSpc>
                  <a:spcPct val="98000"/>
                </a:lnSpc>
                <a:spcBef>
                  <a:spcPts val="1"/>
                </a:spcBef>
                <a:tabLst/>
              </a:pPr>
              <a:r>
                <a:rPr sz="1000" kern="0" spc="40" dirty="0">
                  <a:solidFill>
                    <a:srgbClr val="000000">
                      <a:alpha val="100000"/>
                    </a:srgbClr>
                  </a:solidFill>
                  <a:latin typeface="Arial"/>
                  <a:ea typeface="Arial"/>
                  <a:cs typeface="Arial"/>
                </a:rPr>
                <a:t>•</a:t>
              </a:r>
              <a:r>
                <a:rPr sz="1000" kern="0" spc="0" dirty="0">
                  <a:solidFill>
                    <a:srgbClr val="000000">
                      <a:alpha val="100000"/>
                    </a:srgbClr>
                  </a:solidFill>
                  <a:latin typeface="Arial"/>
                  <a:ea typeface="Arial"/>
                  <a:cs typeface="Arial"/>
                </a:rPr>
                <a:t>     </a:t>
              </a:r>
              <a:r>
                <a:rPr sz="1000" kern="0" spc="40" dirty="0">
                  <a:solidFill>
                    <a:srgbClr val="000000">
                      <a:alpha val="100000"/>
                    </a:srgbClr>
                  </a:solidFill>
                  <a:latin typeface="KaiTi"/>
                  <a:ea typeface="KaiTi"/>
                  <a:cs typeface="KaiTi"/>
                </a:rPr>
                <a:t>与强化学习等多方案融合，</a:t>
              </a:r>
              <a:r>
                <a:rPr sz="1000" kern="0" spc="30" dirty="0">
                  <a:solidFill>
                    <a:srgbClr val="000000">
                      <a:alpha val="100000"/>
                    </a:srgbClr>
                  </a:solidFill>
                  <a:latin typeface="KaiTi"/>
                  <a:ea typeface="KaiTi"/>
                  <a:cs typeface="KaiTi"/>
                </a:rPr>
                <a:t>形成</a:t>
              </a:r>
              <a:r>
                <a:rPr sz="1000" kern="0" spc="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“世界模型</a:t>
              </a:r>
              <a:r>
                <a:rPr sz="1000" kern="0" spc="4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a:t>
              </a:r>
              <a:r>
                <a:rPr sz="1000" kern="0" spc="40" dirty="0">
                  <a:solidFill>
                    <a:srgbClr val="000000">
                      <a:alpha val="100000"/>
                    </a:srgbClr>
                  </a:solidFill>
                  <a:latin typeface="KaiTi"/>
                  <a:ea typeface="KaiTi"/>
                  <a:cs typeface="KaiTi"/>
                </a:rPr>
                <a:t> </a:t>
              </a:r>
              <a:r>
                <a:rPr sz="1000" kern="0" spc="0" dirty="0">
                  <a:solidFill>
                    <a:srgbClr val="000000">
                      <a:alpha val="100000"/>
                    </a:srgbClr>
                  </a:solidFill>
                  <a:latin typeface="Times New Roman"/>
                  <a:ea typeface="Times New Roman"/>
                  <a:cs typeface="Times New Roman"/>
                </a:rPr>
                <a:t>LLM</a:t>
              </a:r>
              <a:r>
                <a:rPr sz="1000" kern="0" spc="40" dirty="0">
                  <a:solidFill>
                    <a:srgbClr val="000000">
                      <a:alpha val="100000"/>
                    </a:srgbClr>
                  </a:solidFill>
                  <a:latin typeface="Times New Roman"/>
                  <a:ea typeface="Times New Roman"/>
                  <a:cs typeface="Times New Roman"/>
                </a:rPr>
                <a:t>+</a:t>
              </a:r>
              <a:r>
                <a:rPr sz="1000" kern="0" spc="0" dirty="0">
                  <a:solidFill>
                    <a:srgbClr val="000000">
                      <a:alpha val="100000"/>
                    </a:srgbClr>
                  </a:solidFill>
                  <a:latin typeface="Times New Roman"/>
                  <a:ea typeface="Times New Roman"/>
                  <a:cs typeface="Times New Roman"/>
                </a:rPr>
                <a:t>VLA</a:t>
              </a:r>
              <a:r>
                <a:rPr sz="1000" kern="0" spc="-110" dirty="0">
                  <a:solidFill>
                    <a:srgbClr val="000000">
                      <a:alpha val="100000"/>
                    </a:srgbClr>
                  </a:solidFill>
                  <a:latin typeface="Times New Roman"/>
                  <a:ea typeface="Times New Roman"/>
                  <a:cs typeface="Times New Roman"/>
                </a:rPr>
                <a:t> </a:t>
              </a:r>
              <a:r>
                <a:rPr sz="1000" kern="0" spc="40" dirty="0">
                  <a:solidFill>
                    <a:srgbClr val="000000">
                      <a:alpha val="100000"/>
                    </a:srgbClr>
                  </a:solidFill>
                  <a:latin typeface="KaiTi"/>
                  <a:ea typeface="KaiTi"/>
                  <a:cs typeface="KaiTi"/>
                </a:rPr>
                <a:t>”</a:t>
              </a:r>
              <a:r>
                <a:rPr sz="1000" kern="0" spc="40" dirty="0">
                  <a:solidFill>
                    <a:srgbClr val="000000">
                      <a:alpha val="100000"/>
                    </a:srgbClr>
                  </a:solidFill>
                  <a:latin typeface="KaiTi"/>
                  <a:ea typeface="KaiTi"/>
                  <a:cs typeface="KaiTi"/>
                </a:rPr>
                <a:t> </a:t>
              </a:r>
              <a:r>
                <a:rPr sz="1000" kern="0" spc="40" dirty="0">
                  <a:solidFill>
                    <a:srgbClr val="000000">
                      <a:alpha val="100000"/>
                    </a:srgbClr>
                  </a:solidFill>
                  <a:latin typeface="KaiTi"/>
                  <a:ea typeface="KaiTi"/>
                  <a:cs typeface="KaiTi"/>
                </a:rPr>
                <a:t>的</a:t>
              </a:r>
              <a:r>
                <a:rPr sz="1000" kern="0" spc="30" dirty="0">
                  <a:solidFill>
                    <a:srgbClr val="000000">
                      <a:alpha val="100000"/>
                    </a:srgbClr>
                  </a:solidFill>
                  <a:latin typeface="KaiTi"/>
                  <a:ea typeface="KaiTi"/>
                  <a:cs typeface="KaiTi"/>
                </a:rPr>
                <a:t>完</a:t>
              </a:r>
              <a:r>
                <a:rPr sz="1000" kern="0" spc="0" dirty="0">
                  <a:solidFill>
                    <a:srgbClr val="000000">
                      <a:alpha val="100000"/>
                    </a:srgbClr>
                  </a:solidFill>
                  <a:latin typeface="KaiTi"/>
                  <a:ea typeface="KaiTi"/>
                  <a:cs typeface="KaiTi"/>
                </a:rPr>
                <a:t> </a:t>
              </a:r>
              <a:r>
                <a:rPr sz="1000" kern="0" spc="20" dirty="0">
                  <a:solidFill>
                    <a:srgbClr val="000000">
                      <a:alpha val="100000"/>
                    </a:srgbClr>
                  </a:solidFill>
                  <a:latin typeface="KaiTi"/>
                  <a:ea typeface="KaiTi"/>
                  <a:cs typeface="KaiTi"/>
                </a:rPr>
                <a:t>整</a:t>
              </a:r>
              <a:r>
                <a:rPr sz="1000" kern="0" spc="20" dirty="0">
                  <a:solidFill>
                    <a:srgbClr val="000000">
                      <a:alpha val="100000"/>
                    </a:srgbClr>
                  </a:solidFill>
                  <a:latin typeface="KaiTi"/>
                  <a:ea typeface="KaiTi"/>
                  <a:cs typeface="KaiTi"/>
                </a:rPr>
                <a:t> </a:t>
              </a:r>
              <a:r>
                <a:rPr sz="1000" kern="0" spc="0" dirty="0">
                  <a:solidFill>
                    <a:srgbClr val="000000">
                      <a:alpha val="100000"/>
                    </a:srgbClr>
                  </a:solidFill>
                  <a:latin typeface="Times New Roman"/>
                  <a:ea typeface="Times New Roman"/>
                  <a:cs typeface="Times New Roman"/>
                </a:rPr>
                <a:t>AGI</a:t>
              </a:r>
              <a:r>
                <a:rPr sz="1000" kern="0" spc="70" dirty="0">
                  <a:solidFill>
                    <a:srgbClr val="000000">
                      <a:alpha val="100000"/>
                    </a:srgbClr>
                  </a:solidFill>
                  <a:latin typeface="Times New Roman"/>
                  <a:ea typeface="Times New Roman"/>
                  <a:cs typeface="Times New Roman"/>
                </a:rPr>
                <a:t>  </a:t>
              </a:r>
              <a:r>
                <a:rPr sz="1000" kern="0" spc="20" dirty="0">
                  <a:solidFill>
                    <a:srgbClr val="000000">
                      <a:alpha val="100000"/>
                    </a:srgbClr>
                  </a:solidFill>
                  <a:latin typeface="KaiTi"/>
                  <a:ea typeface="KaiTi"/>
                  <a:cs typeface="KaiTi"/>
                </a:rPr>
                <a:t>闭环</a:t>
              </a:r>
              <a:endParaRPr sz="1000" dirty="0">
                <a:latin typeface="KaiTi"/>
                <a:ea typeface="KaiTi"/>
                <a:cs typeface="KaiTi"/>
              </a:endParaRPr>
            </a:p>
          </p:txBody>
        </p:sp>
        <p:sp>
          <p:nvSpPr>
            <p:cNvPr id="270" name="path 270"/>
            <p:cNvSpPr/>
            <p:nvPr/>
          </p:nvSpPr>
          <p:spPr>
            <a:xfrm>
              <a:off x="726504" y="1262976"/>
              <a:ext cx="385190" cy="458723"/>
            </a:xfrm>
            <a:custGeom>
              <a:avLst/>
              <a:gdLst/>
              <a:ahLst/>
              <a:cxnLst/>
              <a:rect l="0" t="0" r="0" b="0"/>
              <a:pathLst>
                <a:path w="606" h="722">
                  <a:moveTo>
                    <a:pt x="601" y="393"/>
                  </a:moveTo>
                  <a:cubicBezTo>
                    <a:pt x="586" y="376"/>
                    <a:pt x="563" y="358"/>
                    <a:pt x="554" y="337"/>
                  </a:cubicBezTo>
                  <a:cubicBezTo>
                    <a:pt x="541" y="307"/>
                    <a:pt x="556" y="277"/>
                    <a:pt x="555" y="246"/>
                  </a:cubicBezTo>
                  <a:cubicBezTo>
                    <a:pt x="555" y="222"/>
                    <a:pt x="548" y="191"/>
                    <a:pt x="539" y="168"/>
                  </a:cubicBezTo>
                  <a:cubicBezTo>
                    <a:pt x="525" y="130"/>
                    <a:pt x="500" y="98"/>
                    <a:pt x="470" y="74"/>
                  </a:cubicBezTo>
                  <a:cubicBezTo>
                    <a:pt x="420" y="28"/>
                    <a:pt x="351" y="0"/>
                    <a:pt x="275" y="0"/>
                  </a:cubicBezTo>
                  <a:cubicBezTo>
                    <a:pt x="123" y="0"/>
                    <a:pt x="0" y="112"/>
                    <a:pt x="0" y="252"/>
                  </a:cubicBezTo>
                  <a:cubicBezTo>
                    <a:pt x="0" y="261"/>
                    <a:pt x="0" y="270"/>
                    <a:pt x="1" y="279"/>
                  </a:cubicBezTo>
                  <a:cubicBezTo>
                    <a:pt x="2" y="339"/>
                    <a:pt x="21" y="411"/>
                    <a:pt x="75" y="492"/>
                  </a:cubicBezTo>
                  <a:cubicBezTo>
                    <a:pt x="75" y="492"/>
                    <a:pt x="151" y="643"/>
                    <a:pt x="0" y="721"/>
                  </a:cubicBezTo>
                  <a:lnTo>
                    <a:pt x="333" y="722"/>
                  </a:lnTo>
                  <a:cubicBezTo>
                    <a:pt x="333" y="722"/>
                    <a:pt x="359" y="622"/>
                    <a:pt x="399" y="622"/>
                  </a:cubicBezTo>
                  <a:cubicBezTo>
                    <a:pt x="433" y="622"/>
                    <a:pt x="468" y="625"/>
                    <a:pt x="503" y="623"/>
                  </a:cubicBezTo>
                  <a:cubicBezTo>
                    <a:pt x="509" y="624"/>
                    <a:pt x="515" y="624"/>
                    <a:pt x="519" y="622"/>
                  </a:cubicBezTo>
                  <a:cubicBezTo>
                    <a:pt x="519" y="622"/>
                    <a:pt x="519" y="622"/>
                    <a:pt x="520" y="622"/>
                  </a:cubicBezTo>
                  <a:lnTo>
                    <a:pt x="520" y="621"/>
                  </a:lnTo>
                  <a:cubicBezTo>
                    <a:pt x="543" y="610"/>
                    <a:pt x="527" y="555"/>
                    <a:pt x="527" y="555"/>
                  </a:cubicBezTo>
                  <a:cubicBezTo>
                    <a:pt x="540" y="549"/>
                    <a:pt x="549" y="540"/>
                    <a:pt x="549" y="532"/>
                  </a:cubicBezTo>
                  <a:lnTo>
                    <a:pt x="549" y="531"/>
                  </a:lnTo>
                  <a:cubicBezTo>
                    <a:pt x="549" y="522"/>
                    <a:pt x="535" y="514"/>
                    <a:pt x="517" y="512"/>
                  </a:cubicBezTo>
                  <a:lnTo>
                    <a:pt x="525" y="512"/>
                  </a:lnTo>
                  <a:cubicBezTo>
                    <a:pt x="539" y="512"/>
                    <a:pt x="551" y="504"/>
                    <a:pt x="551" y="495"/>
                  </a:cubicBezTo>
                  <a:lnTo>
                    <a:pt x="551" y="493"/>
                  </a:lnTo>
                  <a:cubicBezTo>
                    <a:pt x="551" y="491"/>
                    <a:pt x="550" y="488"/>
                    <a:pt x="549" y="486"/>
                  </a:cubicBezTo>
                  <a:cubicBezTo>
                    <a:pt x="551" y="475"/>
                    <a:pt x="561" y="425"/>
                    <a:pt x="563" y="425"/>
                  </a:cubicBezTo>
                  <a:cubicBezTo>
                    <a:pt x="643" y="422"/>
                    <a:pt x="601" y="393"/>
                    <a:pt x="601" y="393"/>
                  </a:cubicBezTo>
                  <a:moveTo>
                    <a:pt x="321" y="192"/>
                  </a:moveTo>
                  <a:lnTo>
                    <a:pt x="283" y="215"/>
                  </a:lnTo>
                  <a:cubicBezTo>
                    <a:pt x="287" y="225"/>
                    <a:pt x="290" y="236"/>
                    <a:pt x="290" y="248"/>
                  </a:cubicBezTo>
                  <a:cubicBezTo>
                    <a:pt x="290" y="264"/>
                    <a:pt x="285" y="279"/>
                    <a:pt x="277" y="292"/>
                  </a:cubicBezTo>
                  <a:lnTo>
                    <a:pt x="350" y="334"/>
                  </a:lnTo>
                  <a:cubicBezTo>
                    <a:pt x="354" y="329"/>
                    <a:pt x="361" y="326"/>
                    <a:pt x="368" y="326"/>
                  </a:cubicBezTo>
                  <a:cubicBezTo>
                    <a:pt x="382" y="326"/>
                    <a:pt x="394" y="337"/>
                    <a:pt x="394" y="352"/>
                  </a:cubicBezTo>
                  <a:cubicBezTo>
                    <a:pt x="394" y="366"/>
                    <a:pt x="382" y="378"/>
                    <a:pt x="368" y="378"/>
                  </a:cubicBezTo>
                  <a:cubicBezTo>
                    <a:pt x="354" y="378"/>
                    <a:pt x="342" y="366"/>
                    <a:pt x="342" y="352"/>
                  </a:cubicBezTo>
                  <a:cubicBezTo>
                    <a:pt x="342" y="349"/>
                    <a:pt x="343" y="347"/>
                    <a:pt x="343" y="345"/>
                  </a:cubicBezTo>
                  <a:lnTo>
                    <a:pt x="269" y="302"/>
                  </a:lnTo>
                  <a:cubicBezTo>
                    <a:pt x="255" y="316"/>
                    <a:pt x="235" y="326"/>
                    <a:pt x="213" y="326"/>
                  </a:cubicBezTo>
                  <a:cubicBezTo>
                    <a:pt x="170" y="326"/>
                    <a:pt x="135" y="291"/>
                    <a:pt x="135" y="248"/>
                  </a:cubicBezTo>
                  <a:cubicBezTo>
                    <a:pt x="135" y="205"/>
                    <a:pt x="170" y="170"/>
                    <a:pt x="213" y="170"/>
                  </a:cubicBezTo>
                  <a:cubicBezTo>
                    <a:pt x="239" y="170"/>
                    <a:pt x="262" y="184"/>
                    <a:pt x="276" y="204"/>
                  </a:cubicBezTo>
                  <a:lnTo>
                    <a:pt x="317" y="180"/>
                  </a:lnTo>
                  <a:cubicBezTo>
                    <a:pt x="316" y="177"/>
                    <a:pt x="316" y="174"/>
                    <a:pt x="316" y="170"/>
                  </a:cubicBezTo>
                  <a:cubicBezTo>
                    <a:pt x="316" y="142"/>
                    <a:pt x="339" y="119"/>
                    <a:pt x="368" y="119"/>
                  </a:cubicBezTo>
                  <a:cubicBezTo>
                    <a:pt x="396" y="119"/>
                    <a:pt x="420" y="142"/>
                    <a:pt x="420" y="170"/>
                  </a:cubicBezTo>
                  <a:cubicBezTo>
                    <a:pt x="420" y="199"/>
                    <a:pt x="396" y="222"/>
                    <a:pt x="368" y="222"/>
                  </a:cubicBezTo>
                  <a:cubicBezTo>
                    <a:pt x="347" y="222"/>
                    <a:pt x="329" y="210"/>
                    <a:pt x="321" y="192"/>
                  </a:cubicBezTo>
                </a:path>
              </a:pathLst>
            </a:custGeom>
            <a:solidFill>
              <a:srgbClr val="BF756D">
                <a:alpha val="100000"/>
              </a:srgbClr>
            </a:solidFill>
            <a:ln w="0" cap="flat">
              <a:noFill/>
              <a:prstDash val="solid"/>
              <a:miter lim="0"/>
            </a:ln>
          </p:spPr>
          <p:txBody>
            <a:bodyPr rtlCol="0"/>
            <a:lstStyle/>
            <a:p>
              <a:pPr algn="ctr"/>
              <a:endParaRPr lang="zh-CN" altLang="en-US"/>
            </a:p>
          </p:txBody>
        </p:sp>
        <p:grpSp>
          <p:nvGrpSpPr>
            <p:cNvPr id="12" name="group 12"/>
            <p:cNvGrpSpPr/>
            <p:nvPr/>
          </p:nvGrpSpPr>
          <p:grpSpPr>
            <a:xfrm rot="21600000">
              <a:off x="342837" y="126453"/>
              <a:ext cx="393954" cy="404622"/>
              <a:chOff x="0" y="0"/>
              <a:chExt cx="393954" cy="404622"/>
            </a:xfrm>
          </p:grpSpPr>
          <p:sp>
            <p:nvSpPr>
              <p:cNvPr id="272" name="path 272"/>
              <p:cNvSpPr/>
              <p:nvPr/>
            </p:nvSpPr>
            <p:spPr>
              <a:xfrm>
                <a:off x="9525" y="9525"/>
                <a:ext cx="374904" cy="385572"/>
              </a:xfrm>
              <a:custGeom>
                <a:avLst/>
                <a:gdLst/>
                <a:ahLst/>
                <a:cxnLst/>
                <a:rect l="0" t="0" r="0" b="0"/>
                <a:pathLst>
                  <a:path w="590" h="607">
                    <a:moveTo>
                      <a:pt x="0" y="303"/>
                    </a:moveTo>
                    <a:cubicBezTo>
                      <a:pt x="0" y="136"/>
                      <a:pt x="132" y="0"/>
                      <a:pt x="295" y="0"/>
                    </a:cubicBezTo>
                    <a:cubicBezTo>
                      <a:pt x="458" y="0"/>
                      <a:pt x="590" y="136"/>
                      <a:pt x="590" y="303"/>
                    </a:cubicBezTo>
                    <a:cubicBezTo>
                      <a:pt x="590" y="471"/>
                      <a:pt x="458" y="607"/>
                      <a:pt x="295" y="607"/>
                    </a:cubicBezTo>
                    <a:cubicBezTo>
                      <a:pt x="132" y="607"/>
                      <a:pt x="0" y="471"/>
                      <a:pt x="0" y="303"/>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274" name="path 274"/>
              <p:cNvSpPr/>
              <p:nvPr/>
            </p:nvSpPr>
            <p:spPr>
              <a:xfrm>
                <a:off x="0" y="0"/>
                <a:ext cx="393954" cy="404622"/>
              </a:xfrm>
              <a:custGeom>
                <a:avLst/>
                <a:gdLst/>
                <a:ahLst/>
                <a:cxnLst/>
                <a:rect l="0" t="0" r="0" b="0"/>
                <a:pathLst>
                  <a:path w="620" h="637">
                    <a:moveTo>
                      <a:pt x="15" y="318"/>
                    </a:moveTo>
                    <a:cubicBezTo>
                      <a:pt x="15" y="151"/>
                      <a:pt x="147" y="15"/>
                      <a:pt x="310" y="15"/>
                    </a:cubicBezTo>
                    <a:cubicBezTo>
                      <a:pt x="473" y="15"/>
                      <a:pt x="605" y="151"/>
                      <a:pt x="605" y="318"/>
                    </a:cubicBezTo>
                    <a:cubicBezTo>
                      <a:pt x="605" y="486"/>
                      <a:pt x="473" y="622"/>
                      <a:pt x="310" y="622"/>
                    </a:cubicBezTo>
                    <a:cubicBezTo>
                      <a:pt x="147" y="622"/>
                      <a:pt x="15" y="486"/>
                      <a:pt x="15" y="318"/>
                    </a:cubicBezTo>
                  </a:path>
                </a:pathLst>
              </a:custGeom>
              <a:noFill/>
              <a:ln w="19050" cap="flat">
                <a:solidFill>
                  <a:srgbClr val="BF756D"/>
                </a:solidFill>
                <a:prstDash val="dash"/>
                <a:miter lim="800000"/>
              </a:ln>
            </p:spPr>
            <p:txBody>
              <a:bodyPr rtlCol="0"/>
              <a:lstStyle/>
              <a:p>
                <a:pPr algn="ctr"/>
                <a:endParaRPr lang="zh-CN" altLang="en-US"/>
              </a:p>
            </p:txBody>
          </p:sp>
          <p:sp>
            <p:nvSpPr>
              <p:cNvPr id="276" name="path 276"/>
              <p:cNvSpPr/>
              <p:nvPr/>
            </p:nvSpPr>
            <p:spPr>
              <a:xfrm>
                <a:off x="60579" y="57531"/>
                <a:ext cx="238125" cy="265175"/>
              </a:xfrm>
              <a:custGeom>
                <a:avLst/>
                <a:gdLst/>
                <a:ahLst/>
                <a:cxnLst/>
                <a:rect l="0" t="0" r="0" b="0"/>
                <a:pathLst>
                  <a:path w="375" h="417">
                    <a:moveTo>
                      <a:pt x="360" y="49"/>
                    </a:moveTo>
                    <a:cubicBezTo>
                      <a:pt x="312" y="0"/>
                      <a:pt x="234" y="0"/>
                      <a:pt x="185" y="49"/>
                    </a:cubicBezTo>
                    <a:cubicBezTo>
                      <a:pt x="152" y="83"/>
                      <a:pt x="142" y="133"/>
                      <a:pt x="156" y="177"/>
                    </a:cubicBezTo>
                    <a:lnTo>
                      <a:pt x="16" y="320"/>
                    </a:lnTo>
                    <a:cubicBezTo>
                      <a:pt x="13" y="323"/>
                      <a:pt x="11" y="327"/>
                      <a:pt x="10" y="331"/>
                    </a:cubicBezTo>
                    <a:lnTo>
                      <a:pt x="0" y="394"/>
                    </a:lnTo>
                    <a:cubicBezTo>
                      <a:pt x="0" y="400"/>
                      <a:pt x="2" y="406"/>
                      <a:pt x="6" y="411"/>
                    </a:cubicBezTo>
                    <a:cubicBezTo>
                      <a:pt x="10" y="415"/>
                      <a:pt x="16" y="417"/>
                      <a:pt x="22" y="416"/>
                    </a:cubicBezTo>
                    <a:lnTo>
                      <a:pt x="84" y="406"/>
                    </a:lnTo>
                    <a:cubicBezTo>
                      <a:pt x="88" y="405"/>
                      <a:pt x="91" y="403"/>
                      <a:pt x="94" y="400"/>
                    </a:cubicBezTo>
                    <a:lnTo>
                      <a:pt x="100" y="394"/>
                    </a:lnTo>
                    <a:lnTo>
                      <a:pt x="82" y="376"/>
                    </a:lnTo>
                    <a:cubicBezTo>
                      <a:pt x="76" y="370"/>
                      <a:pt x="76" y="361"/>
                      <a:pt x="82" y="355"/>
                    </a:cubicBezTo>
                    <a:cubicBezTo>
                      <a:pt x="88" y="350"/>
                      <a:pt x="96" y="350"/>
                      <a:pt x="102" y="355"/>
                    </a:cubicBezTo>
                    <a:lnTo>
                      <a:pt x="120" y="374"/>
                    </a:lnTo>
                    <a:lnTo>
                      <a:pt x="133" y="360"/>
                    </a:lnTo>
                    <a:lnTo>
                      <a:pt x="104" y="330"/>
                    </a:lnTo>
                    <a:cubicBezTo>
                      <a:pt x="99" y="325"/>
                      <a:pt x="99" y="316"/>
                      <a:pt x="104" y="310"/>
                    </a:cubicBezTo>
                    <a:cubicBezTo>
                      <a:pt x="110" y="304"/>
                      <a:pt x="119" y="304"/>
                      <a:pt x="124" y="310"/>
                    </a:cubicBezTo>
                    <a:lnTo>
                      <a:pt x="153" y="340"/>
                    </a:lnTo>
                    <a:lnTo>
                      <a:pt x="166" y="326"/>
                    </a:lnTo>
                    <a:lnTo>
                      <a:pt x="149" y="308"/>
                    </a:lnTo>
                    <a:cubicBezTo>
                      <a:pt x="143" y="302"/>
                      <a:pt x="143" y="293"/>
                      <a:pt x="149" y="287"/>
                    </a:cubicBezTo>
                    <a:cubicBezTo>
                      <a:pt x="154" y="282"/>
                      <a:pt x="163" y="282"/>
                      <a:pt x="168" y="287"/>
                    </a:cubicBezTo>
                    <a:lnTo>
                      <a:pt x="186" y="306"/>
                    </a:lnTo>
                    <a:lnTo>
                      <a:pt x="234" y="257"/>
                    </a:lnTo>
                    <a:cubicBezTo>
                      <a:pt x="277" y="272"/>
                      <a:pt x="325" y="262"/>
                      <a:pt x="360" y="227"/>
                    </a:cubicBezTo>
                    <a:cubicBezTo>
                      <a:pt x="408" y="177"/>
                      <a:pt x="408" y="98"/>
                      <a:pt x="360" y="49"/>
                    </a:cubicBezTo>
                    <a:moveTo>
                      <a:pt x="324" y="166"/>
                    </a:moveTo>
                    <a:cubicBezTo>
                      <a:pt x="311" y="179"/>
                      <a:pt x="291" y="179"/>
                      <a:pt x="279" y="166"/>
                    </a:cubicBezTo>
                    <a:lnTo>
                      <a:pt x="245" y="132"/>
                    </a:lnTo>
                    <a:cubicBezTo>
                      <a:pt x="232" y="119"/>
                      <a:pt x="232" y="98"/>
                      <a:pt x="245" y="85"/>
                    </a:cubicBezTo>
                    <a:cubicBezTo>
                      <a:pt x="257" y="72"/>
                      <a:pt x="277" y="72"/>
                      <a:pt x="290" y="85"/>
                    </a:cubicBezTo>
                    <a:lnTo>
                      <a:pt x="324" y="120"/>
                    </a:lnTo>
                    <a:cubicBezTo>
                      <a:pt x="336" y="133"/>
                      <a:pt x="336" y="153"/>
                      <a:pt x="324" y="166"/>
                    </a:cubicBezTo>
                  </a:path>
                </a:pathLst>
              </a:custGeom>
              <a:solidFill>
                <a:srgbClr val="BF756D">
                  <a:alpha val="100000"/>
                </a:srgbClr>
              </a:solidFill>
              <a:ln w="0" cap="flat">
                <a:noFill/>
                <a:prstDash val="solid"/>
                <a:miter lim="0"/>
              </a:ln>
            </p:spPr>
            <p:txBody>
              <a:bodyPr rtlCol="0"/>
              <a:lstStyle/>
              <a:p>
                <a:pPr algn="ctr"/>
                <a:endParaRPr lang="zh-CN" altLang="en-US"/>
              </a:p>
            </p:txBody>
          </p:sp>
        </p:grpSp>
        <p:sp>
          <p:nvSpPr>
            <p:cNvPr id="278" name="path 278"/>
            <p:cNvSpPr/>
            <p:nvPr/>
          </p:nvSpPr>
          <p:spPr>
            <a:xfrm>
              <a:off x="961200" y="2640545"/>
              <a:ext cx="2010918" cy="6350"/>
            </a:xfrm>
            <a:custGeom>
              <a:avLst/>
              <a:gdLst/>
              <a:ahLst/>
              <a:cxnLst/>
              <a:rect l="0" t="0" r="0" b="0"/>
              <a:pathLst>
                <a:path w="3166" h="10">
                  <a:moveTo>
                    <a:pt x="0" y="5"/>
                  </a:moveTo>
                  <a:lnTo>
                    <a:pt x="3166" y="5"/>
                  </a:lnTo>
                </a:path>
              </a:pathLst>
            </a:custGeom>
            <a:noFill/>
            <a:ln w="6350" cap="flat">
              <a:solidFill>
                <a:srgbClr val="D9D9D9"/>
              </a:solidFill>
              <a:prstDash val="solid"/>
              <a:miter lim="800000"/>
            </a:ln>
          </p:spPr>
          <p:txBody>
            <a:bodyPr rtlCol="0"/>
            <a:lstStyle/>
            <a:p>
              <a:pPr algn="ctr"/>
              <a:endParaRPr lang="zh-CN" altLang="en-US"/>
            </a:p>
          </p:txBody>
        </p:sp>
      </p:grpSp>
      <p:sp>
        <p:nvSpPr>
          <p:cNvPr id="280" name="textbox 280"/>
          <p:cNvSpPr/>
          <p:nvPr/>
        </p:nvSpPr>
        <p:spPr>
          <a:xfrm>
            <a:off x="545527" y="401828"/>
            <a:ext cx="11199494" cy="440690"/>
          </a:xfrm>
          <a:prstGeom prst="rect">
            <a:avLst/>
          </a:prstGeom>
          <a:noFill/>
          <a:ln w="0" cap="flat">
            <a:noFill/>
            <a:prstDash val="solid"/>
            <a:miter lim="0"/>
          </a:ln>
        </p:spPr>
        <p:txBody>
          <a:bodyPr vert="horz" wrap="square" lIns="0" tIns="0" rIns="0" bIns="0"/>
          <a:lstStyle/>
          <a:p>
            <a:pPr algn="l" rtl="0" eaLnBrk="0">
              <a:lnSpc>
                <a:spcPct val="120000"/>
              </a:lnSpc>
              <a:tabLst/>
            </a:pPr>
            <a:endParaRPr sz="400" dirty="0">
              <a:latin typeface="Arial"/>
              <a:ea typeface="Arial"/>
              <a:cs typeface="Arial"/>
            </a:endParaRPr>
          </a:p>
          <a:p>
            <a:pPr marL="12700" algn="l" rtl="0" eaLnBrk="0">
              <a:lnSpc>
                <a:spcPct val="86000"/>
              </a:lnSpc>
              <a:spcBef>
                <a:spcPts val="4"/>
              </a:spcBef>
              <a:tabLst/>
            </a:pPr>
            <a:r>
              <a:rPr sz="2700" b="1" kern="0" spc="60" dirty="0">
                <a:solidFill>
                  <a:srgbClr val="BF756D">
                    <a:alpha val="100000"/>
                  </a:srgbClr>
                </a:solidFill>
                <a:latin typeface="KaiTi"/>
                <a:ea typeface="KaiTi"/>
                <a:cs typeface="KaiTi"/>
              </a:rPr>
              <a:t>世界模型发展关键节点与产业布局</a:t>
            </a:r>
            <a:r>
              <a:rPr sz="2700" kern="0" spc="60" dirty="0">
                <a:solidFill>
                  <a:srgbClr val="BF756D">
                    <a:alpha val="100000"/>
                  </a:srgbClr>
                </a:solidFill>
                <a:latin typeface="KaiTi"/>
                <a:ea typeface="KaiTi"/>
                <a:cs typeface="KaiTi"/>
              </a:rPr>
              <a:t> </a:t>
            </a:r>
            <a:r>
              <a:rPr sz="2700" kern="0" spc="50" dirty="0">
                <a:solidFill>
                  <a:srgbClr val="BF756D">
                    <a:alpha val="100000"/>
                  </a:srgbClr>
                </a:solidFill>
                <a:latin typeface="KaiTi"/>
                <a:ea typeface="KaiTi"/>
                <a:cs typeface="KaiTi"/>
              </a:rPr>
              <a:t>                       </a:t>
            </a:r>
            <a:endParaRPr sz="2700" dirty="0">
              <a:latin typeface="KaiTi"/>
              <a:ea typeface="KaiTi"/>
              <a:cs typeface="KaiTi"/>
            </a:endParaRPr>
          </a:p>
        </p:txBody>
      </p:sp>
      <p:pic>
        <p:nvPicPr>
          <p:cNvPr id="282" name="picture 282"/>
          <p:cNvPicPr>
            <a:picLocks noChangeAspect="1"/>
          </p:cNvPicPr>
          <p:nvPr/>
        </p:nvPicPr>
        <p:blipFill>
          <a:blip r:embed="rId4"/>
          <a:stretch>
            <a:fillRect/>
          </a:stretch>
        </p:blipFill>
        <p:spPr>
          <a:xfrm rot="21600000">
            <a:off x="10030021" y="414528"/>
            <a:ext cx="1616964" cy="365759"/>
          </a:xfrm>
          <a:prstGeom prst="rect">
            <a:avLst/>
          </a:prstGeom>
        </p:spPr>
      </p:pic>
      <p:sp>
        <p:nvSpPr>
          <p:cNvPr id="284" name="path 284"/>
          <p:cNvSpPr/>
          <p:nvPr/>
        </p:nvSpPr>
        <p:spPr>
          <a:xfrm>
            <a:off x="9040367" y="4002023"/>
            <a:ext cx="457200" cy="458724"/>
          </a:xfrm>
          <a:custGeom>
            <a:avLst/>
            <a:gdLst/>
            <a:ahLst/>
            <a:cxnLst/>
            <a:rect l="0" t="0" r="0" b="0"/>
            <a:pathLst>
              <a:path w="720" h="722">
                <a:moveTo>
                  <a:pt x="510" y="239"/>
                </a:moveTo>
                <a:lnTo>
                  <a:pt x="532" y="293"/>
                </a:lnTo>
                <a:lnTo>
                  <a:pt x="503" y="296"/>
                </a:lnTo>
                <a:lnTo>
                  <a:pt x="499" y="257"/>
                </a:lnTo>
                <a:lnTo>
                  <a:pt x="488" y="284"/>
                </a:lnTo>
                <a:lnTo>
                  <a:pt x="445" y="266"/>
                </a:lnTo>
                <a:lnTo>
                  <a:pt x="442" y="220"/>
                </a:lnTo>
                <a:cubicBezTo>
                  <a:pt x="442" y="220"/>
                  <a:pt x="475" y="218"/>
                  <a:pt x="475" y="222"/>
                </a:cubicBezTo>
                <a:cubicBezTo>
                  <a:pt x="475" y="223"/>
                  <a:pt x="479" y="269"/>
                  <a:pt x="479" y="269"/>
                </a:cubicBezTo>
                <a:lnTo>
                  <a:pt x="491" y="230"/>
                </a:lnTo>
                <a:lnTo>
                  <a:pt x="510" y="239"/>
                </a:lnTo>
                <a:close/>
                <a:moveTo>
                  <a:pt x="437" y="256"/>
                </a:moveTo>
                <a:lnTo>
                  <a:pt x="433" y="222"/>
                </a:lnTo>
                <a:lnTo>
                  <a:pt x="403" y="274"/>
                </a:lnTo>
                <a:lnTo>
                  <a:pt x="413" y="300"/>
                </a:lnTo>
                <a:lnTo>
                  <a:pt x="437" y="256"/>
                </a:lnTo>
                <a:close/>
                <a:moveTo>
                  <a:pt x="459" y="423"/>
                </a:moveTo>
                <a:lnTo>
                  <a:pt x="433" y="385"/>
                </a:lnTo>
                <a:lnTo>
                  <a:pt x="432" y="337"/>
                </a:lnTo>
                <a:lnTo>
                  <a:pt x="413" y="337"/>
                </a:lnTo>
                <a:lnTo>
                  <a:pt x="404" y="369"/>
                </a:lnTo>
                <a:lnTo>
                  <a:pt x="394" y="368"/>
                </a:lnTo>
                <a:lnTo>
                  <a:pt x="399" y="342"/>
                </a:lnTo>
                <a:lnTo>
                  <a:pt x="410" y="303"/>
                </a:lnTo>
                <a:lnTo>
                  <a:pt x="401" y="288"/>
                </a:lnTo>
                <a:lnTo>
                  <a:pt x="377" y="290"/>
                </a:lnTo>
                <a:lnTo>
                  <a:pt x="365" y="315"/>
                </a:lnTo>
                <a:lnTo>
                  <a:pt x="362" y="359"/>
                </a:lnTo>
                <a:lnTo>
                  <a:pt x="364" y="373"/>
                </a:lnTo>
                <a:lnTo>
                  <a:pt x="369" y="390"/>
                </a:lnTo>
                <a:lnTo>
                  <a:pt x="372" y="391"/>
                </a:lnTo>
                <a:lnTo>
                  <a:pt x="399" y="401"/>
                </a:lnTo>
                <a:lnTo>
                  <a:pt x="416" y="385"/>
                </a:lnTo>
                <a:lnTo>
                  <a:pt x="418" y="429"/>
                </a:lnTo>
                <a:lnTo>
                  <a:pt x="399" y="410"/>
                </a:lnTo>
                <a:lnTo>
                  <a:pt x="401" y="434"/>
                </a:lnTo>
                <a:lnTo>
                  <a:pt x="413" y="463"/>
                </a:lnTo>
                <a:lnTo>
                  <a:pt x="399" y="485"/>
                </a:lnTo>
                <a:lnTo>
                  <a:pt x="403" y="530"/>
                </a:lnTo>
                <a:lnTo>
                  <a:pt x="442" y="530"/>
                </a:lnTo>
                <a:lnTo>
                  <a:pt x="435" y="481"/>
                </a:lnTo>
                <a:lnTo>
                  <a:pt x="425" y="478"/>
                </a:lnTo>
                <a:lnTo>
                  <a:pt x="418" y="496"/>
                </a:lnTo>
                <a:lnTo>
                  <a:pt x="420" y="471"/>
                </a:lnTo>
                <a:lnTo>
                  <a:pt x="442" y="478"/>
                </a:lnTo>
                <a:lnTo>
                  <a:pt x="449" y="534"/>
                </a:lnTo>
                <a:lnTo>
                  <a:pt x="482" y="507"/>
                </a:lnTo>
                <a:lnTo>
                  <a:pt x="450" y="466"/>
                </a:lnTo>
                <a:lnTo>
                  <a:pt x="459" y="423"/>
                </a:lnTo>
                <a:close/>
                <a:moveTo>
                  <a:pt x="372" y="403"/>
                </a:moveTo>
                <a:lnTo>
                  <a:pt x="364" y="418"/>
                </a:lnTo>
                <a:lnTo>
                  <a:pt x="371" y="480"/>
                </a:lnTo>
                <a:lnTo>
                  <a:pt x="398" y="478"/>
                </a:lnTo>
                <a:lnTo>
                  <a:pt x="393" y="410"/>
                </a:lnTo>
                <a:lnTo>
                  <a:pt x="372" y="403"/>
                </a:lnTo>
                <a:close/>
                <a:moveTo>
                  <a:pt x="499" y="408"/>
                </a:moveTo>
                <a:lnTo>
                  <a:pt x="469" y="410"/>
                </a:lnTo>
                <a:lnTo>
                  <a:pt x="465" y="423"/>
                </a:lnTo>
                <a:lnTo>
                  <a:pt x="493" y="441"/>
                </a:lnTo>
                <a:lnTo>
                  <a:pt x="543" y="437"/>
                </a:lnTo>
                <a:lnTo>
                  <a:pt x="547" y="398"/>
                </a:lnTo>
                <a:lnTo>
                  <a:pt x="506" y="373"/>
                </a:lnTo>
                <a:lnTo>
                  <a:pt x="499" y="408"/>
                </a:lnTo>
                <a:close/>
                <a:moveTo>
                  <a:pt x="496" y="456"/>
                </a:moveTo>
                <a:lnTo>
                  <a:pt x="481" y="444"/>
                </a:lnTo>
                <a:lnTo>
                  <a:pt x="464" y="446"/>
                </a:lnTo>
                <a:lnTo>
                  <a:pt x="465" y="468"/>
                </a:lnTo>
                <a:lnTo>
                  <a:pt x="496" y="503"/>
                </a:lnTo>
                <a:lnTo>
                  <a:pt x="530" y="461"/>
                </a:lnTo>
                <a:lnTo>
                  <a:pt x="520" y="451"/>
                </a:lnTo>
                <a:lnTo>
                  <a:pt x="496" y="456"/>
                </a:lnTo>
                <a:close/>
                <a:moveTo>
                  <a:pt x="443" y="344"/>
                </a:moveTo>
                <a:lnTo>
                  <a:pt x="450" y="391"/>
                </a:lnTo>
                <a:lnTo>
                  <a:pt x="471" y="398"/>
                </a:lnTo>
                <a:lnTo>
                  <a:pt x="491" y="395"/>
                </a:lnTo>
                <a:lnTo>
                  <a:pt x="499" y="357"/>
                </a:lnTo>
                <a:lnTo>
                  <a:pt x="515" y="368"/>
                </a:lnTo>
                <a:lnTo>
                  <a:pt x="537" y="381"/>
                </a:lnTo>
                <a:lnTo>
                  <a:pt x="545" y="356"/>
                </a:lnTo>
                <a:lnTo>
                  <a:pt x="540" y="307"/>
                </a:lnTo>
                <a:lnTo>
                  <a:pt x="499" y="310"/>
                </a:lnTo>
                <a:lnTo>
                  <a:pt x="481" y="352"/>
                </a:lnTo>
                <a:lnTo>
                  <a:pt x="475" y="340"/>
                </a:lnTo>
                <a:lnTo>
                  <a:pt x="484" y="298"/>
                </a:lnTo>
                <a:lnTo>
                  <a:pt x="472" y="293"/>
                </a:lnTo>
                <a:lnTo>
                  <a:pt x="465" y="303"/>
                </a:lnTo>
                <a:lnTo>
                  <a:pt x="455" y="301"/>
                </a:lnTo>
                <a:lnTo>
                  <a:pt x="459" y="281"/>
                </a:lnTo>
                <a:lnTo>
                  <a:pt x="437" y="271"/>
                </a:lnTo>
                <a:lnTo>
                  <a:pt x="420" y="305"/>
                </a:lnTo>
                <a:lnTo>
                  <a:pt x="430" y="327"/>
                </a:lnTo>
                <a:lnTo>
                  <a:pt x="454" y="333"/>
                </a:lnTo>
                <a:lnTo>
                  <a:pt x="452" y="342"/>
                </a:lnTo>
                <a:lnTo>
                  <a:pt x="443" y="344"/>
                </a:lnTo>
                <a:close/>
                <a:moveTo>
                  <a:pt x="208" y="300"/>
                </a:moveTo>
                <a:lnTo>
                  <a:pt x="211" y="261"/>
                </a:lnTo>
                <a:lnTo>
                  <a:pt x="223" y="288"/>
                </a:lnTo>
                <a:lnTo>
                  <a:pt x="265" y="269"/>
                </a:lnTo>
                <a:lnTo>
                  <a:pt x="271" y="223"/>
                </a:lnTo>
                <a:cubicBezTo>
                  <a:pt x="271" y="223"/>
                  <a:pt x="235" y="222"/>
                  <a:pt x="235" y="225"/>
                </a:cubicBezTo>
                <a:cubicBezTo>
                  <a:pt x="235" y="227"/>
                  <a:pt x="232" y="273"/>
                  <a:pt x="232" y="273"/>
                </a:cubicBezTo>
                <a:lnTo>
                  <a:pt x="220" y="233"/>
                </a:lnTo>
                <a:lnTo>
                  <a:pt x="203" y="244"/>
                </a:lnTo>
                <a:lnTo>
                  <a:pt x="179" y="296"/>
                </a:lnTo>
                <a:lnTo>
                  <a:pt x="208" y="300"/>
                </a:lnTo>
                <a:close/>
                <a:moveTo>
                  <a:pt x="327" y="213"/>
                </a:moveTo>
                <a:lnTo>
                  <a:pt x="342" y="178"/>
                </a:lnTo>
                <a:lnTo>
                  <a:pt x="344" y="208"/>
                </a:lnTo>
                <a:lnTo>
                  <a:pt x="391" y="203"/>
                </a:lnTo>
                <a:lnTo>
                  <a:pt x="410" y="162"/>
                </a:lnTo>
                <a:cubicBezTo>
                  <a:pt x="410" y="162"/>
                  <a:pt x="377" y="149"/>
                  <a:pt x="377" y="151"/>
                </a:cubicBezTo>
                <a:cubicBezTo>
                  <a:pt x="375" y="154"/>
                  <a:pt x="357" y="195"/>
                  <a:pt x="357" y="195"/>
                </a:cubicBezTo>
                <a:lnTo>
                  <a:pt x="360" y="154"/>
                </a:lnTo>
                <a:lnTo>
                  <a:pt x="340" y="157"/>
                </a:lnTo>
                <a:lnTo>
                  <a:pt x="299" y="200"/>
                </a:lnTo>
                <a:lnTo>
                  <a:pt x="327" y="213"/>
                </a:lnTo>
                <a:close/>
                <a:moveTo>
                  <a:pt x="310" y="278"/>
                </a:moveTo>
                <a:lnTo>
                  <a:pt x="279" y="225"/>
                </a:lnTo>
                <a:lnTo>
                  <a:pt x="276" y="259"/>
                </a:lnTo>
                <a:lnTo>
                  <a:pt x="298" y="305"/>
                </a:lnTo>
                <a:lnTo>
                  <a:pt x="310" y="278"/>
                </a:lnTo>
                <a:close/>
                <a:moveTo>
                  <a:pt x="267" y="215"/>
                </a:moveTo>
                <a:lnTo>
                  <a:pt x="306" y="183"/>
                </a:lnTo>
                <a:lnTo>
                  <a:pt x="279" y="184"/>
                </a:lnTo>
                <a:lnTo>
                  <a:pt x="245" y="208"/>
                </a:lnTo>
                <a:lnTo>
                  <a:pt x="267" y="215"/>
                </a:lnTo>
                <a:close/>
                <a:moveTo>
                  <a:pt x="445" y="215"/>
                </a:moveTo>
                <a:lnTo>
                  <a:pt x="467" y="208"/>
                </a:lnTo>
                <a:lnTo>
                  <a:pt x="432" y="184"/>
                </a:lnTo>
                <a:lnTo>
                  <a:pt x="404" y="183"/>
                </a:lnTo>
                <a:lnTo>
                  <a:pt x="445" y="215"/>
                </a:lnTo>
                <a:close/>
                <a:moveTo>
                  <a:pt x="276" y="485"/>
                </a:moveTo>
                <a:lnTo>
                  <a:pt x="271" y="534"/>
                </a:lnTo>
                <a:lnTo>
                  <a:pt x="310" y="534"/>
                </a:lnTo>
                <a:lnTo>
                  <a:pt x="313" y="488"/>
                </a:lnTo>
                <a:lnTo>
                  <a:pt x="299" y="466"/>
                </a:lnTo>
                <a:lnTo>
                  <a:pt x="311" y="437"/>
                </a:lnTo>
                <a:lnTo>
                  <a:pt x="311" y="413"/>
                </a:lnTo>
                <a:lnTo>
                  <a:pt x="294" y="432"/>
                </a:lnTo>
                <a:lnTo>
                  <a:pt x="296" y="388"/>
                </a:lnTo>
                <a:lnTo>
                  <a:pt x="311" y="405"/>
                </a:lnTo>
                <a:lnTo>
                  <a:pt x="340" y="395"/>
                </a:lnTo>
                <a:lnTo>
                  <a:pt x="338" y="395"/>
                </a:lnTo>
                <a:lnTo>
                  <a:pt x="349" y="381"/>
                </a:lnTo>
                <a:lnTo>
                  <a:pt x="352" y="362"/>
                </a:lnTo>
                <a:lnTo>
                  <a:pt x="349" y="318"/>
                </a:lnTo>
                <a:lnTo>
                  <a:pt x="333" y="293"/>
                </a:lnTo>
                <a:lnTo>
                  <a:pt x="311" y="291"/>
                </a:lnTo>
                <a:lnTo>
                  <a:pt x="301" y="307"/>
                </a:lnTo>
                <a:lnTo>
                  <a:pt x="313" y="347"/>
                </a:lnTo>
                <a:lnTo>
                  <a:pt x="318" y="371"/>
                </a:lnTo>
                <a:lnTo>
                  <a:pt x="308" y="373"/>
                </a:lnTo>
                <a:lnTo>
                  <a:pt x="299" y="340"/>
                </a:lnTo>
                <a:lnTo>
                  <a:pt x="281" y="342"/>
                </a:lnTo>
                <a:lnTo>
                  <a:pt x="277" y="388"/>
                </a:lnTo>
                <a:lnTo>
                  <a:pt x="254" y="427"/>
                </a:lnTo>
                <a:lnTo>
                  <a:pt x="262" y="469"/>
                </a:lnTo>
                <a:lnTo>
                  <a:pt x="230" y="510"/>
                </a:lnTo>
                <a:lnTo>
                  <a:pt x="262" y="537"/>
                </a:lnTo>
                <a:lnTo>
                  <a:pt x="271" y="481"/>
                </a:lnTo>
                <a:lnTo>
                  <a:pt x="293" y="474"/>
                </a:lnTo>
                <a:lnTo>
                  <a:pt x="293" y="500"/>
                </a:lnTo>
                <a:lnTo>
                  <a:pt x="288" y="481"/>
                </a:lnTo>
                <a:lnTo>
                  <a:pt x="276" y="485"/>
                </a:lnTo>
                <a:close/>
                <a:moveTo>
                  <a:pt x="338" y="407"/>
                </a:moveTo>
                <a:lnTo>
                  <a:pt x="320" y="413"/>
                </a:lnTo>
                <a:lnTo>
                  <a:pt x="315" y="481"/>
                </a:lnTo>
                <a:lnTo>
                  <a:pt x="340" y="483"/>
                </a:lnTo>
                <a:lnTo>
                  <a:pt x="352" y="415"/>
                </a:lnTo>
                <a:lnTo>
                  <a:pt x="338" y="407"/>
                </a:lnTo>
                <a:close/>
                <a:moveTo>
                  <a:pt x="247" y="427"/>
                </a:moveTo>
                <a:lnTo>
                  <a:pt x="244" y="413"/>
                </a:lnTo>
                <a:lnTo>
                  <a:pt x="213" y="412"/>
                </a:lnTo>
                <a:lnTo>
                  <a:pt x="206" y="376"/>
                </a:lnTo>
                <a:lnTo>
                  <a:pt x="165" y="401"/>
                </a:lnTo>
                <a:lnTo>
                  <a:pt x="167" y="441"/>
                </a:lnTo>
                <a:lnTo>
                  <a:pt x="218" y="444"/>
                </a:lnTo>
                <a:lnTo>
                  <a:pt x="247" y="427"/>
                </a:lnTo>
                <a:close/>
                <a:moveTo>
                  <a:pt x="327" y="261"/>
                </a:moveTo>
                <a:lnTo>
                  <a:pt x="340" y="290"/>
                </a:lnTo>
                <a:lnTo>
                  <a:pt x="349" y="279"/>
                </a:lnTo>
                <a:lnTo>
                  <a:pt x="344" y="220"/>
                </a:lnTo>
                <a:lnTo>
                  <a:pt x="303" y="212"/>
                </a:lnTo>
                <a:lnTo>
                  <a:pt x="293" y="227"/>
                </a:lnTo>
                <a:lnTo>
                  <a:pt x="315" y="274"/>
                </a:lnTo>
                <a:lnTo>
                  <a:pt x="327" y="261"/>
                </a:lnTo>
                <a:close/>
                <a:moveTo>
                  <a:pt x="367" y="218"/>
                </a:moveTo>
                <a:lnTo>
                  <a:pt x="360" y="278"/>
                </a:lnTo>
                <a:lnTo>
                  <a:pt x="371" y="288"/>
                </a:lnTo>
                <a:lnTo>
                  <a:pt x="384" y="259"/>
                </a:lnTo>
                <a:lnTo>
                  <a:pt x="394" y="273"/>
                </a:lnTo>
                <a:lnTo>
                  <a:pt x="416" y="225"/>
                </a:lnTo>
                <a:lnTo>
                  <a:pt x="406" y="210"/>
                </a:lnTo>
                <a:lnTo>
                  <a:pt x="367" y="218"/>
                </a:lnTo>
                <a:close/>
                <a:moveTo>
                  <a:pt x="249" y="449"/>
                </a:moveTo>
                <a:lnTo>
                  <a:pt x="230" y="447"/>
                </a:lnTo>
                <a:lnTo>
                  <a:pt x="215" y="459"/>
                </a:lnTo>
                <a:lnTo>
                  <a:pt x="193" y="454"/>
                </a:lnTo>
                <a:lnTo>
                  <a:pt x="183" y="464"/>
                </a:lnTo>
                <a:lnTo>
                  <a:pt x="215" y="507"/>
                </a:lnTo>
                <a:lnTo>
                  <a:pt x="247" y="471"/>
                </a:lnTo>
                <a:lnTo>
                  <a:pt x="249" y="449"/>
                </a:lnTo>
                <a:close/>
                <a:moveTo>
                  <a:pt x="320" y="519"/>
                </a:moveTo>
                <a:lnTo>
                  <a:pt x="316" y="539"/>
                </a:lnTo>
                <a:lnTo>
                  <a:pt x="298" y="556"/>
                </a:lnTo>
                <a:lnTo>
                  <a:pt x="298" y="569"/>
                </a:lnTo>
                <a:lnTo>
                  <a:pt x="349" y="571"/>
                </a:lnTo>
                <a:lnTo>
                  <a:pt x="345" y="520"/>
                </a:lnTo>
                <a:lnTo>
                  <a:pt x="333" y="503"/>
                </a:lnTo>
                <a:lnTo>
                  <a:pt x="320" y="519"/>
                </a:lnTo>
                <a:close/>
                <a:moveTo>
                  <a:pt x="379" y="503"/>
                </a:moveTo>
                <a:lnTo>
                  <a:pt x="365" y="520"/>
                </a:lnTo>
                <a:lnTo>
                  <a:pt x="364" y="571"/>
                </a:lnTo>
                <a:lnTo>
                  <a:pt x="413" y="569"/>
                </a:lnTo>
                <a:lnTo>
                  <a:pt x="413" y="556"/>
                </a:lnTo>
                <a:lnTo>
                  <a:pt x="396" y="539"/>
                </a:lnTo>
                <a:lnTo>
                  <a:pt x="393" y="519"/>
                </a:lnTo>
                <a:lnTo>
                  <a:pt x="379" y="503"/>
                </a:lnTo>
                <a:close/>
                <a:moveTo>
                  <a:pt x="293" y="308"/>
                </a:moveTo>
                <a:lnTo>
                  <a:pt x="274" y="274"/>
                </a:lnTo>
                <a:lnTo>
                  <a:pt x="252" y="284"/>
                </a:lnTo>
                <a:lnTo>
                  <a:pt x="257" y="305"/>
                </a:lnTo>
                <a:lnTo>
                  <a:pt x="247" y="308"/>
                </a:lnTo>
                <a:lnTo>
                  <a:pt x="240" y="296"/>
                </a:lnTo>
                <a:lnTo>
                  <a:pt x="228" y="303"/>
                </a:lnTo>
                <a:lnTo>
                  <a:pt x="237" y="344"/>
                </a:lnTo>
                <a:lnTo>
                  <a:pt x="230" y="356"/>
                </a:lnTo>
                <a:lnTo>
                  <a:pt x="213" y="313"/>
                </a:lnTo>
                <a:lnTo>
                  <a:pt x="171" y="310"/>
                </a:lnTo>
                <a:lnTo>
                  <a:pt x="167" y="359"/>
                </a:lnTo>
                <a:lnTo>
                  <a:pt x="174" y="385"/>
                </a:lnTo>
                <a:lnTo>
                  <a:pt x="196" y="371"/>
                </a:lnTo>
                <a:lnTo>
                  <a:pt x="213" y="361"/>
                </a:lnTo>
                <a:lnTo>
                  <a:pt x="220" y="398"/>
                </a:lnTo>
                <a:lnTo>
                  <a:pt x="242" y="401"/>
                </a:lnTo>
                <a:lnTo>
                  <a:pt x="260" y="395"/>
                </a:lnTo>
                <a:lnTo>
                  <a:pt x="267" y="347"/>
                </a:lnTo>
                <a:lnTo>
                  <a:pt x="260" y="347"/>
                </a:lnTo>
                <a:lnTo>
                  <a:pt x="257" y="337"/>
                </a:lnTo>
                <a:lnTo>
                  <a:pt x="283" y="330"/>
                </a:lnTo>
                <a:lnTo>
                  <a:pt x="293" y="308"/>
                </a:lnTo>
                <a:close/>
                <a:moveTo>
                  <a:pt x="398" y="598"/>
                </a:moveTo>
                <a:lnTo>
                  <a:pt x="398" y="598"/>
                </a:lnTo>
                <a:cubicBezTo>
                  <a:pt x="394" y="600"/>
                  <a:pt x="391" y="600"/>
                  <a:pt x="384" y="600"/>
                </a:cubicBezTo>
                <a:lnTo>
                  <a:pt x="382" y="600"/>
                </a:lnTo>
                <a:lnTo>
                  <a:pt x="386" y="581"/>
                </a:lnTo>
                <a:lnTo>
                  <a:pt x="372" y="581"/>
                </a:lnTo>
                <a:lnTo>
                  <a:pt x="371" y="600"/>
                </a:lnTo>
                <a:lnTo>
                  <a:pt x="354" y="602"/>
                </a:lnTo>
                <a:lnTo>
                  <a:pt x="349" y="603"/>
                </a:lnTo>
                <a:lnTo>
                  <a:pt x="345" y="581"/>
                </a:lnTo>
                <a:lnTo>
                  <a:pt x="332" y="581"/>
                </a:lnTo>
                <a:lnTo>
                  <a:pt x="337" y="603"/>
                </a:lnTo>
                <a:lnTo>
                  <a:pt x="321" y="605"/>
                </a:lnTo>
                <a:cubicBezTo>
                  <a:pt x="318" y="605"/>
                  <a:pt x="316" y="605"/>
                  <a:pt x="315" y="605"/>
                </a:cubicBezTo>
                <a:lnTo>
                  <a:pt x="315" y="581"/>
                </a:lnTo>
                <a:lnTo>
                  <a:pt x="289" y="581"/>
                </a:lnTo>
                <a:lnTo>
                  <a:pt x="289" y="608"/>
                </a:lnTo>
                <a:cubicBezTo>
                  <a:pt x="289" y="619"/>
                  <a:pt x="293" y="623"/>
                  <a:pt x="296" y="627"/>
                </a:cubicBezTo>
                <a:lnTo>
                  <a:pt x="296" y="646"/>
                </a:lnTo>
                <a:lnTo>
                  <a:pt x="418" y="632"/>
                </a:lnTo>
                <a:lnTo>
                  <a:pt x="418" y="619"/>
                </a:lnTo>
                <a:lnTo>
                  <a:pt x="423" y="615"/>
                </a:lnTo>
                <a:lnTo>
                  <a:pt x="423" y="581"/>
                </a:lnTo>
                <a:lnTo>
                  <a:pt x="398" y="581"/>
                </a:lnTo>
                <a:lnTo>
                  <a:pt x="398" y="598"/>
                </a:lnTo>
                <a:close/>
                <a:moveTo>
                  <a:pt x="298" y="666"/>
                </a:moveTo>
                <a:lnTo>
                  <a:pt x="298" y="666"/>
                </a:lnTo>
                <a:cubicBezTo>
                  <a:pt x="296" y="669"/>
                  <a:pt x="298" y="676"/>
                  <a:pt x="298" y="680"/>
                </a:cubicBezTo>
                <a:lnTo>
                  <a:pt x="299" y="685"/>
                </a:lnTo>
                <a:lnTo>
                  <a:pt x="413" y="673"/>
                </a:lnTo>
                <a:lnTo>
                  <a:pt x="418" y="671"/>
                </a:lnTo>
                <a:lnTo>
                  <a:pt x="418" y="666"/>
                </a:lnTo>
                <a:cubicBezTo>
                  <a:pt x="418" y="664"/>
                  <a:pt x="418" y="659"/>
                  <a:pt x="418" y="649"/>
                </a:cubicBezTo>
                <a:lnTo>
                  <a:pt x="418" y="642"/>
                </a:lnTo>
                <a:lnTo>
                  <a:pt x="298" y="656"/>
                </a:lnTo>
                <a:lnTo>
                  <a:pt x="298" y="666"/>
                </a:lnTo>
                <a:lnTo>
                  <a:pt x="298" y="666"/>
                </a:lnTo>
                <a:close/>
                <a:moveTo>
                  <a:pt x="308" y="705"/>
                </a:moveTo>
                <a:cubicBezTo>
                  <a:pt x="320" y="717"/>
                  <a:pt x="337" y="722"/>
                  <a:pt x="359" y="722"/>
                </a:cubicBezTo>
                <a:lnTo>
                  <a:pt x="359" y="722"/>
                </a:lnTo>
                <a:cubicBezTo>
                  <a:pt x="398" y="722"/>
                  <a:pt x="411" y="705"/>
                  <a:pt x="416" y="691"/>
                </a:cubicBezTo>
                <a:lnTo>
                  <a:pt x="418" y="681"/>
                </a:lnTo>
                <a:lnTo>
                  <a:pt x="299" y="695"/>
                </a:lnTo>
                <a:lnTo>
                  <a:pt x="308" y="705"/>
                </a:lnTo>
                <a:close/>
                <a:moveTo>
                  <a:pt x="369" y="0"/>
                </a:moveTo>
                <a:lnTo>
                  <a:pt x="345" y="0"/>
                </a:lnTo>
                <a:lnTo>
                  <a:pt x="345" y="125"/>
                </a:lnTo>
                <a:lnTo>
                  <a:pt x="369" y="125"/>
                </a:lnTo>
                <a:lnTo>
                  <a:pt x="369" y="0"/>
                </a:lnTo>
                <a:close/>
                <a:moveTo>
                  <a:pt x="511" y="22"/>
                </a:moveTo>
                <a:lnTo>
                  <a:pt x="489" y="13"/>
                </a:lnTo>
                <a:lnTo>
                  <a:pt x="442" y="128"/>
                </a:lnTo>
                <a:lnTo>
                  <a:pt x="464" y="139"/>
                </a:lnTo>
                <a:lnTo>
                  <a:pt x="511" y="22"/>
                </a:lnTo>
                <a:close/>
                <a:moveTo>
                  <a:pt x="618" y="86"/>
                </a:moveTo>
                <a:lnTo>
                  <a:pt x="530" y="174"/>
                </a:lnTo>
                <a:lnTo>
                  <a:pt x="547" y="191"/>
                </a:lnTo>
                <a:lnTo>
                  <a:pt x="635" y="101"/>
                </a:lnTo>
                <a:lnTo>
                  <a:pt x="618" y="86"/>
                </a:lnTo>
                <a:close/>
                <a:moveTo>
                  <a:pt x="699" y="201"/>
                </a:moveTo>
                <a:lnTo>
                  <a:pt x="582" y="245"/>
                </a:lnTo>
                <a:lnTo>
                  <a:pt x="591" y="268"/>
                </a:lnTo>
                <a:lnTo>
                  <a:pt x="708" y="223"/>
                </a:lnTo>
                <a:lnTo>
                  <a:pt x="699" y="201"/>
                </a:lnTo>
                <a:close/>
                <a:moveTo>
                  <a:pt x="596" y="332"/>
                </a:moveTo>
                <a:lnTo>
                  <a:pt x="593" y="354"/>
                </a:lnTo>
                <a:lnTo>
                  <a:pt x="715" y="379"/>
                </a:lnTo>
                <a:lnTo>
                  <a:pt x="720" y="356"/>
                </a:lnTo>
                <a:lnTo>
                  <a:pt x="596" y="332"/>
                </a:lnTo>
                <a:close/>
                <a:moveTo>
                  <a:pt x="276" y="139"/>
                </a:moveTo>
                <a:lnTo>
                  <a:pt x="228" y="22"/>
                </a:lnTo>
                <a:lnTo>
                  <a:pt x="206" y="32"/>
                </a:lnTo>
                <a:lnTo>
                  <a:pt x="254" y="147"/>
                </a:lnTo>
                <a:lnTo>
                  <a:pt x="276" y="139"/>
                </a:lnTo>
                <a:close/>
                <a:moveTo>
                  <a:pt x="188" y="183"/>
                </a:moveTo>
                <a:lnTo>
                  <a:pt x="100" y="95"/>
                </a:lnTo>
                <a:lnTo>
                  <a:pt x="83" y="112"/>
                </a:lnTo>
                <a:lnTo>
                  <a:pt x="171" y="200"/>
                </a:lnTo>
                <a:lnTo>
                  <a:pt x="188" y="183"/>
                </a:lnTo>
                <a:close/>
                <a:moveTo>
                  <a:pt x="10" y="232"/>
                </a:moveTo>
                <a:lnTo>
                  <a:pt x="127" y="276"/>
                </a:lnTo>
                <a:lnTo>
                  <a:pt x="135" y="254"/>
                </a:lnTo>
                <a:lnTo>
                  <a:pt x="18" y="210"/>
                </a:lnTo>
                <a:lnTo>
                  <a:pt x="10" y="232"/>
                </a:lnTo>
                <a:close/>
                <a:moveTo>
                  <a:pt x="0" y="364"/>
                </a:moveTo>
                <a:lnTo>
                  <a:pt x="5" y="388"/>
                </a:lnTo>
                <a:lnTo>
                  <a:pt x="127" y="362"/>
                </a:lnTo>
                <a:lnTo>
                  <a:pt x="122" y="340"/>
                </a:lnTo>
                <a:lnTo>
                  <a:pt x="0" y="364"/>
                </a:lnTo>
                <a:close/>
              </a:path>
            </a:pathLst>
          </a:custGeom>
          <a:solidFill>
            <a:srgbClr val="BF756D">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 name="picture 286"/>
          <p:cNvPicPr>
            <a:picLocks noChangeAspect="1"/>
          </p:cNvPicPr>
          <p:nvPr/>
        </p:nvPicPr>
        <p:blipFill>
          <a:blip r:embed="rId2"/>
          <a:stretch>
            <a:fillRect/>
          </a:stretch>
        </p:blipFill>
        <p:spPr>
          <a:xfrm rot="21600000">
            <a:off x="768858" y="1776984"/>
            <a:ext cx="6660515" cy="38100"/>
          </a:xfrm>
          <a:prstGeom prst="rect">
            <a:avLst/>
          </a:prstGeom>
        </p:spPr>
      </p:pic>
      <p:pic>
        <p:nvPicPr>
          <p:cNvPr id="288" name="picture 288"/>
          <p:cNvPicPr>
            <a:picLocks noChangeAspect="1"/>
          </p:cNvPicPr>
          <p:nvPr/>
        </p:nvPicPr>
        <p:blipFill>
          <a:blip r:embed="rId3"/>
          <a:stretch>
            <a:fillRect/>
          </a:stretch>
        </p:blipFill>
        <p:spPr>
          <a:xfrm rot="21600000">
            <a:off x="6204203" y="1600200"/>
            <a:ext cx="5987796" cy="4767071"/>
          </a:xfrm>
          <a:prstGeom prst="rect">
            <a:avLst/>
          </a:prstGeom>
        </p:spPr>
      </p:pic>
      <p:grpSp>
        <p:nvGrpSpPr>
          <p:cNvPr id="14" name="group 14"/>
          <p:cNvGrpSpPr/>
          <p:nvPr/>
        </p:nvGrpSpPr>
        <p:grpSpPr>
          <a:xfrm rot="21600000">
            <a:off x="857958" y="1956816"/>
            <a:ext cx="5326487" cy="3311800"/>
            <a:chOff x="0" y="0"/>
            <a:chExt cx="5326487" cy="3311800"/>
          </a:xfrm>
        </p:grpSpPr>
        <p:sp>
          <p:nvSpPr>
            <p:cNvPr id="290" name="rect 290"/>
            <p:cNvSpPr/>
            <p:nvPr/>
          </p:nvSpPr>
          <p:spPr>
            <a:xfrm>
              <a:off x="0" y="22711"/>
              <a:ext cx="5326487" cy="3289089"/>
            </a:xfrm>
            <a:prstGeom prst="rect">
              <a:avLst/>
            </a:prstGeom>
            <a:solidFill>
              <a:srgbClr val="000000">
                <a:alpha val="39215"/>
              </a:srgbClr>
            </a:solidFill>
            <a:ln w="0" cap="flat">
              <a:noFill/>
              <a:prstDash val="solid"/>
              <a:miter lim="0"/>
            </a:ln>
          </p:spPr>
          <p:txBody>
            <a:bodyPr rtlCol="0"/>
            <a:lstStyle/>
            <a:p>
              <a:pPr algn="ctr"/>
              <a:endParaRPr lang="zh-CN" altLang="en-US"/>
            </a:p>
          </p:txBody>
        </p:sp>
        <p:sp>
          <p:nvSpPr>
            <p:cNvPr id="292" name="rect 292"/>
            <p:cNvSpPr/>
            <p:nvPr/>
          </p:nvSpPr>
          <p:spPr>
            <a:xfrm>
              <a:off x="15293" y="0"/>
              <a:ext cx="5300471" cy="3262883"/>
            </a:xfrm>
            <a:prstGeom prst="rect">
              <a:avLst/>
            </a:prstGeom>
            <a:solidFill>
              <a:srgbClr val="FFFFFF">
                <a:alpha val="100000"/>
              </a:srgbClr>
            </a:solidFill>
            <a:ln w="0" cap="flat">
              <a:noFill/>
              <a:prstDash val="solid"/>
              <a:miter lim="0"/>
            </a:ln>
          </p:spPr>
          <p:txBody>
            <a:bodyPr rtlCol="0"/>
            <a:lstStyle/>
            <a:p>
              <a:pPr algn="ctr"/>
              <a:endParaRPr lang="zh-CN" altLang="en-US"/>
            </a:p>
          </p:txBody>
        </p:sp>
        <p:pic>
          <p:nvPicPr>
            <p:cNvPr id="294" name="picture 294"/>
            <p:cNvPicPr>
              <a:picLocks noChangeAspect="1"/>
            </p:cNvPicPr>
            <p:nvPr/>
          </p:nvPicPr>
          <p:blipFill>
            <a:blip r:embed="rId4"/>
            <a:stretch>
              <a:fillRect/>
            </a:stretch>
          </p:blipFill>
          <p:spPr>
            <a:xfrm rot="21600000">
              <a:off x="615749" y="391667"/>
              <a:ext cx="2833115" cy="2517647"/>
            </a:xfrm>
            <a:prstGeom prst="rect">
              <a:avLst/>
            </a:prstGeom>
          </p:spPr>
        </p:pic>
        <p:pic>
          <p:nvPicPr>
            <p:cNvPr id="296" name="picture 296"/>
            <p:cNvPicPr>
              <a:picLocks noChangeAspect="1"/>
            </p:cNvPicPr>
            <p:nvPr/>
          </p:nvPicPr>
          <p:blipFill>
            <a:blip r:embed="rId5"/>
            <a:stretch>
              <a:fillRect/>
            </a:stretch>
          </p:blipFill>
          <p:spPr>
            <a:xfrm rot="21600000">
              <a:off x="619686" y="598170"/>
              <a:ext cx="1981199" cy="1578355"/>
            </a:xfrm>
            <a:prstGeom prst="rect">
              <a:avLst/>
            </a:prstGeom>
          </p:spPr>
        </p:pic>
        <p:sp>
          <p:nvSpPr>
            <p:cNvPr id="298" name="path 298"/>
            <p:cNvSpPr/>
            <p:nvPr/>
          </p:nvSpPr>
          <p:spPr>
            <a:xfrm>
              <a:off x="1083998" y="2167508"/>
              <a:ext cx="1896617" cy="692658"/>
            </a:xfrm>
            <a:custGeom>
              <a:avLst/>
              <a:gdLst/>
              <a:ahLst/>
              <a:cxnLst/>
              <a:rect l="0" t="0" r="0" b="0"/>
              <a:pathLst>
                <a:path w="2986" h="1090">
                  <a:moveTo>
                    <a:pt x="15" y="1075"/>
                  </a:moveTo>
                  <a:lnTo>
                    <a:pt x="2971" y="15"/>
                  </a:lnTo>
                </a:path>
              </a:pathLst>
            </a:custGeom>
            <a:noFill/>
            <a:ln w="19050" cap="rnd">
              <a:solidFill>
                <a:srgbClr val="DDDDDD"/>
              </a:solidFill>
              <a:prstDash val="dash"/>
              <a:round/>
            </a:ln>
          </p:spPr>
          <p:txBody>
            <a:bodyPr rtlCol="0"/>
            <a:lstStyle/>
            <a:p>
              <a:pPr algn="ctr"/>
              <a:endParaRPr lang="zh-CN" altLang="en-US"/>
            </a:p>
          </p:txBody>
        </p:sp>
        <p:sp>
          <p:nvSpPr>
            <p:cNvPr id="300" name="textbox 300"/>
            <p:cNvSpPr/>
            <p:nvPr/>
          </p:nvSpPr>
          <p:spPr>
            <a:xfrm>
              <a:off x="256644" y="219240"/>
              <a:ext cx="4954270" cy="2898775"/>
            </a:xfrm>
            <a:prstGeom prst="rect">
              <a:avLst/>
            </a:prstGeom>
            <a:noFill/>
            <a:ln w="0" cap="flat">
              <a:noFill/>
              <a:prstDash val="solid"/>
              <a:miter lim="0"/>
            </a:ln>
          </p:spPr>
          <p:txBody>
            <a:bodyPr vert="horz" wrap="square" lIns="0" tIns="0" rIns="0" bIns="0"/>
            <a:lstStyle/>
            <a:p>
              <a:pPr algn="l" rtl="0" eaLnBrk="0">
                <a:lnSpc>
                  <a:spcPct val="81156"/>
                </a:lnSpc>
                <a:tabLst/>
              </a:pPr>
              <a:endParaRPr sz="100" dirty="0">
                <a:latin typeface="Arial"/>
                <a:ea typeface="Arial"/>
                <a:cs typeface="Arial"/>
              </a:endParaRPr>
            </a:p>
            <a:p>
              <a:pPr marL="2879725" algn="l" rtl="0" eaLnBrk="0">
                <a:lnSpc>
                  <a:spcPct val="76000"/>
                </a:lnSpc>
                <a:tabLst/>
              </a:pPr>
              <a:r>
                <a:rPr sz="900" kern="0" spc="-20" dirty="0">
                  <a:solidFill>
                    <a:srgbClr val="404040">
                      <a:alpha val="100000"/>
                    </a:srgbClr>
                  </a:solidFill>
                  <a:latin typeface="Times New Roman"/>
                  <a:ea typeface="Times New Roman"/>
                  <a:cs typeface="Times New Roman"/>
                </a:rPr>
                <a:t>1717</a:t>
              </a:r>
              <a:endParaRPr sz="900" dirty="0">
                <a:latin typeface="Times New Roman"/>
                <a:ea typeface="Times New Roman"/>
                <a:cs typeface="Times New Roman"/>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12700" algn="l" rtl="0" eaLnBrk="0">
                <a:lnSpc>
                  <a:spcPct val="84000"/>
                </a:lnSpc>
                <a:spcBef>
                  <a:spcPts val="362"/>
                </a:spcBef>
                <a:tabLst/>
              </a:pPr>
              <a:r>
                <a:rPr sz="1200" b="1" kern="0" spc="-20" dirty="0">
                  <a:solidFill>
                    <a:srgbClr val="000000">
                      <a:alpha val="100000"/>
                    </a:srgbClr>
                  </a:solidFill>
                  <a:latin typeface="KaiTi"/>
                  <a:ea typeface="KaiTi"/>
                  <a:cs typeface="KaiTi"/>
                </a:rPr>
                <a:t>世界模型</a:t>
              </a:r>
              <a:endParaRPr sz="1200" dirty="0">
                <a:latin typeface="KaiTi"/>
                <a:ea typeface="KaiTi"/>
                <a:cs typeface="KaiTi"/>
              </a:endParaRPr>
            </a:p>
            <a:p>
              <a:pPr marL="3937634" algn="l" rtl="0" eaLnBrk="0">
                <a:lnSpc>
                  <a:spcPct val="88000"/>
                </a:lnSpc>
                <a:spcBef>
                  <a:spcPts val="357"/>
                </a:spcBef>
                <a:tabLst/>
              </a:pPr>
              <a:r>
                <a:rPr sz="1000" kern="0" spc="40" dirty="0">
                  <a:solidFill>
                    <a:srgbClr val="595959">
                      <a:alpha val="100000"/>
                    </a:srgbClr>
                  </a:solidFill>
                  <a:latin typeface="KaiTi"/>
                  <a:ea typeface="KaiTi"/>
                  <a:cs typeface="KaiTi"/>
                </a:rPr>
                <a:t>世界模型</a:t>
              </a:r>
              <a:endParaRPr sz="1000" dirty="0">
                <a:latin typeface="KaiTi"/>
                <a:ea typeface="KaiTi"/>
                <a:cs typeface="KaiTi"/>
              </a:endParaRPr>
            </a:p>
            <a:p>
              <a:pPr marL="3950334" algn="l" rtl="0" eaLnBrk="0">
                <a:lnSpc>
                  <a:spcPct val="88000"/>
                </a:lnSpc>
                <a:spcBef>
                  <a:spcPts val="564"/>
                </a:spcBef>
                <a:tabLst/>
              </a:pPr>
              <a:r>
                <a:rPr sz="1000" kern="0" spc="0" dirty="0">
                  <a:solidFill>
                    <a:srgbClr val="595959">
                      <a:alpha val="100000"/>
                    </a:srgbClr>
                  </a:solidFill>
                  <a:latin typeface="KaiTi"/>
                  <a:ea typeface="KaiTi"/>
                  <a:cs typeface="KaiTi"/>
                </a:rPr>
                <a:t>大模型</a:t>
              </a:r>
              <a:endParaRPr sz="1000" dirty="0">
                <a:latin typeface="KaiTi"/>
                <a:ea typeface="KaiTi"/>
                <a:cs typeface="KaiTi"/>
              </a:endParaRPr>
            </a:p>
            <a:p>
              <a:pPr algn="r" rtl="0" eaLnBrk="0">
                <a:lnSpc>
                  <a:spcPct val="95000"/>
                </a:lnSpc>
                <a:spcBef>
                  <a:spcPts val="559"/>
                </a:spcBef>
                <a:tabLst/>
              </a:pPr>
              <a:r>
                <a:rPr sz="1000" kern="0" spc="0" dirty="0">
                  <a:solidFill>
                    <a:srgbClr val="595959">
                      <a:alpha val="100000"/>
                    </a:srgbClr>
                  </a:solidFill>
                  <a:latin typeface="Times New Roman"/>
                  <a:ea typeface="Times New Roman"/>
                  <a:cs typeface="Times New Roman"/>
                </a:rPr>
                <a:t>Linear</a:t>
              </a:r>
              <a:r>
                <a:rPr sz="1000" kern="0" spc="40" dirty="0">
                  <a:solidFill>
                    <a:srgbClr val="595959">
                      <a:alpha val="100000"/>
                    </a:srgbClr>
                  </a:solidFill>
                  <a:latin typeface="Times New Roman"/>
                  <a:ea typeface="Times New Roman"/>
                  <a:cs typeface="Times New Roman"/>
                </a:rPr>
                <a:t> (</a:t>
              </a:r>
              <a:r>
                <a:rPr sz="1000" kern="0" spc="40" dirty="0">
                  <a:solidFill>
                    <a:srgbClr val="595959">
                      <a:alpha val="100000"/>
                    </a:srgbClr>
                  </a:solidFill>
                  <a:latin typeface="KaiTi"/>
                  <a:ea typeface="KaiTi"/>
                  <a:cs typeface="KaiTi"/>
                </a:rPr>
                <a:t>世界模型</a:t>
              </a:r>
              <a:r>
                <a:rPr sz="1000" kern="0" spc="40" dirty="0">
                  <a:solidFill>
                    <a:srgbClr val="595959">
                      <a:alpha val="100000"/>
                    </a:srgbClr>
                  </a:solidFill>
                  <a:latin typeface="Times New Roman"/>
                  <a:ea typeface="Times New Roman"/>
                  <a:cs typeface="Times New Roman"/>
                </a:rPr>
                <a:t>)</a:t>
              </a:r>
              <a:endParaRPr sz="1000" dirty="0">
                <a:latin typeface="Times New Roman"/>
                <a:ea typeface="Times New Roman"/>
                <a:cs typeface="Times New Roman"/>
              </a:endParaRPr>
            </a:p>
            <a:p>
              <a:pPr algn="l" rtl="0" eaLnBrk="0">
                <a:lnSpc>
                  <a:spcPct val="124000"/>
                </a:lnSpc>
                <a:tabLst/>
              </a:pPr>
              <a:endParaRPr sz="1000" dirty="0">
                <a:latin typeface="Arial"/>
                <a:ea typeface="Arial"/>
                <a:cs typeface="Arial"/>
              </a:endParaRPr>
            </a:p>
            <a:p>
              <a:pPr marL="2366010" algn="l" rtl="0" eaLnBrk="0">
                <a:lnSpc>
                  <a:spcPct val="76000"/>
                </a:lnSpc>
                <a:spcBef>
                  <a:spcPts val="279"/>
                </a:spcBef>
                <a:tabLst/>
              </a:pPr>
              <a:r>
                <a:rPr sz="900" kern="0" spc="-20" dirty="0">
                  <a:solidFill>
                    <a:srgbClr val="404040">
                      <a:alpha val="100000"/>
                    </a:srgbClr>
                  </a:solidFill>
                  <a:latin typeface="Times New Roman"/>
                  <a:ea typeface="Times New Roman"/>
                  <a:cs typeface="Times New Roman"/>
                </a:rPr>
                <a:t>500</a:t>
              </a:r>
              <a:endParaRPr sz="900" dirty="0">
                <a:latin typeface="Times New Roman"/>
                <a:ea typeface="Times New Roman"/>
                <a:cs typeface="Times New Roman"/>
              </a:endParaRPr>
            </a:p>
            <a:p>
              <a:pPr marL="1022350" algn="l" rtl="0" eaLnBrk="0">
                <a:lnSpc>
                  <a:spcPct val="76000"/>
                </a:lnSpc>
                <a:spcBef>
                  <a:spcPts val="725"/>
                </a:spcBef>
                <a:tabLst/>
              </a:pPr>
              <a:r>
                <a:rPr sz="900" kern="0" spc="-10" dirty="0">
                  <a:solidFill>
                    <a:srgbClr val="404040">
                      <a:alpha val="100000"/>
                    </a:srgbClr>
                  </a:solidFill>
                  <a:latin typeface="Times New Roman"/>
                  <a:ea typeface="Times New Roman"/>
                  <a:cs typeface="Times New Roman"/>
                </a:rPr>
                <a:t>366</a:t>
              </a:r>
              <a:endParaRPr sz="900" dirty="0">
                <a:latin typeface="Times New Roman"/>
                <a:ea typeface="Times New Roman"/>
                <a:cs typeface="Times New Roman"/>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513715" algn="l" rtl="0" eaLnBrk="0">
                <a:lnSpc>
                  <a:spcPct val="76000"/>
                </a:lnSpc>
                <a:spcBef>
                  <a:spcPts val="279"/>
                </a:spcBef>
                <a:tabLst/>
              </a:pPr>
              <a:r>
                <a:rPr sz="900" kern="0" spc="-10" dirty="0">
                  <a:solidFill>
                    <a:srgbClr val="404040">
                      <a:alpha val="100000"/>
                    </a:srgbClr>
                  </a:solidFill>
                  <a:latin typeface="Times New Roman"/>
                  <a:ea typeface="Times New Roman"/>
                  <a:cs typeface="Times New Roman"/>
                </a:rPr>
                <a:t>40</a:t>
              </a:r>
              <a:endParaRPr sz="900" dirty="0">
                <a:latin typeface="Times New Roman"/>
                <a:ea typeface="Times New Roman"/>
                <a:cs typeface="Times New Roman"/>
              </a:endParaRPr>
            </a:p>
            <a:p>
              <a:pPr algn="l" rtl="0" eaLnBrk="0">
                <a:lnSpc>
                  <a:spcPct val="112000"/>
                </a:lnSpc>
                <a:tabLst/>
              </a:pPr>
              <a:endParaRPr sz="1000" dirty="0">
                <a:latin typeface="Arial"/>
                <a:ea typeface="Arial"/>
                <a:cs typeface="Arial"/>
              </a:endParaRPr>
            </a:p>
            <a:p>
              <a:pPr algn="l" rtl="0" eaLnBrk="0">
                <a:lnSpc>
                  <a:spcPct val="116000"/>
                </a:lnSpc>
                <a:tabLst/>
              </a:pPr>
              <a:endParaRPr sz="200" dirty="0">
                <a:latin typeface="Arial"/>
                <a:ea typeface="Arial"/>
                <a:cs typeface="Arial"/>
              </a:endParaRPr>
            </a:p>
            <a:p>
              <a:pPr marL="725169" algn="l" rtl="0" eaLnBrk="0">
                <a:lnSpc>
                  <a:spcPct val="76000"/>
                </a:lnSpc>
                <a:spcBef>
                  <a:spcPts val="2"/>
                </a:spcBef>
                <a:tabLst/>
              </a:pPr>
              <a:r>
                <a:rPr sz="900" kern="0" spc="-10" dirty="0">
                  <a:solidFill>
                    <a:srgbClr val="595959">
                      <a:alpha val="100000"/>
                    </a:srgbClr>
                  </a:solidFill>
                  <a:latin typeface="Times New Roman"/>
                  <a:ea typeface="Times New Roman"/>
                  <a:cs typeface="Times New Roman"/>
                </a:rPr>
                <a:t>2025</a:t>
              </a:r>
              <a:r>
                <a:rPr sz="900" kern="0" spc="10" dirty="0">
                  <a:solidFill>
                    <a:srgbClr val="595959">
                      <a:alpha val="100000"/>
                    </a:srgbClr>
                  </a:solidFill>
                  <a:latin typeface="Times New Roman"/>
                  <a:ea typeface="Times New Roman"/>
                  <a:cs typeface="Times New Roman"/>
                </a:rPr>
                <a:t>                 </a:t>
              </a:r>
              <a:r>
                <a:rPr sz="900" kern="0" spc="0" dirty="0">
                  <a:solidFill>
                    <a:srgbClr val="595959">
                      <a:alpha val="100000"/>
                    </a:srgbClr>
                  </a:solidFill>
                  <a:latin typeface="Times New Roman"/>
                  <a:ea typeface="Times New Roman"/>
                  <a:cs typeface="Times New Roman"/>
                </a:rPr>
                <a:t>                                       </a:t>
              </a:r>
              <a:r>
                <a:rPr sz="900" kern="0" spc="-10" dirty="0">
                  <a:solidFill>
                    <a:srgbClr val="595959">
                      <a:alpha val="100000"/>
                    </a:srgbClr>
                  </a:solidFill>
                  <a:latin typeface="Times New Roman"/>
                  <a:ea typeface="Times New Roman"/>
                  <a:cs typeface="Times New Roman"/>
                </a:rPr>
                <a:t>2030E</a:t>
              </a:r>
              <a:endParaRPr sz="900" dirty="0">
                <a:latin typeface="Times New Roman"/>
                <a:ea typeface="Times New Roman"/>
                <a:cs typeface="Times New Roman"/>
              </a:endParaRPr>
            </a:p>
          </p:txBody>
        </p:sp>
        <p:sp>
          <p:nvSpPr>
            <p:cNvPr id="302" name="path 302"/>
            <p:cNvSpPr/>
            <p:nvPr/>
          </p:nvSpPr>
          <p:spPr>
            <a:xfrm>
              <a:off x="150739" y="2904553"/>
              <a:ext cx="3764660" cy="38290"/>
            </a:xfrm>
            <a:custGeom>
              <a:avLst/>
              <a:gdLst/>
              <a:ahLst/>
              <a:cxnLst/>
              <a:rect l="0" t="0" r="0" b="0"/>
              <a:pathLst>
                <a:path w="5928" h="60">
                  <a:moveTo>
                    <a:pt x="7" y="7"/>
                  </a:moveTo>
                  <a:lnTo>
                    <a:pt x="5921" y="7"/>
                  </a:lnTo>
                  <a:moveTo>
                    <a:pt x="7" y="7"/>
                  </a:moveTo>
                  <a:lnTo>
                    <a:pt x="7" y="60"/>
                  </a:lnTo>
                  <a:moveTo>
                    <a:pt x="2964" y="7"/>
                  </a:moveTo>
                  <a:lnTo>
                    <a:pt x="2964" y="60"/>
                  </a:lnTo>
                  <a:moveTo>
                    <a:pt x="5921" y="7"/>
                  </a:moveTo>
                  <a:lnTo>
                    <a:pt x="5921" y="60"/>
                  </a:lnTo>
                </a:path>
              </a:pathLst>
            </a:custGeom>
            <a:noFill/>
            <a:ln w="9525" cap="flat">
              <a:solidFill>
                <a:srgbClr val="D9D9D9"/>
              </a:solidFill>
              <a:prstDash val="solid"/>
              <a:round/>
            </a:ln>
          </p:spPr>
          <p:txBody>
            <a:bodyPr rtlCol="0"/>
            <a:lstStyle/>
            <a:p>
              <a:pPr algn="ctr"/>
              <a:endParaRPr lang="zh-CN" altLang="en-US"/>
            </a:p>
          </p:txBody>
        </p:sp>
        <p:sp>
          <p:nvSpPr>
            <p:cNvPr id="304" name="rect 304"/>
            <p:cNvSpPr/>
            <p:nvPr/>
          </p:nvSpPr>
          <p:spPr>
            <a:xfrm>
              <a:off x="3835961" y="1478279"/>
              <a:ext cx="320040" cy="67055"/>
            </a:xfrm>
            <a:prstGeom prst="rect">
              <a:avLst/>
            </a:prstGeom>
            <a:solidFill>
              <a:srgbClr val="DFA87F">
                <a:alpha val="100000"/>
              </a:srgbClr>
            </a:solidFill>
            <a:ln w="0" cap="flat">
              <a:noFill/>
              <a:prstDash val="solid"/>
              <a:miter lim="0"/>
            </a:ln>
          </p:spPr>
          <p:txBody>
            <a:bodyPr rtlCol="0"/>
            <a:lstStyle/>
            <a:p>
              <a:pPr algn="ctr"/>
              <a:endParaRPr lang="zh-CN" altLang="en-US"/>
            </a:p>
          </p:txBody>
        </p:sp>
        <p:sp>
          <p:nvSpPr>
            <p:cNvPr id="306" name="rect 306"/>
            <p:cNvSpPr/>
            <p:nvPr/>
          </p:nvSpPr>
          <p:spPr>
            <a:xfrm>
              <a:off x="3835961" y="1274063"/>
              <a:ext cx="320040" cy="65532"/>
            </a:xfrm>
            <a:prstGeom prst="rect">
              <a:avLst/>
            </a:prstGeom>
            <a:solidFill>
              <a:srgbClr val="DDDDDD">
                <a:alpha val="100000"/>
              </a:srgbClr>
            </a:solidFill>
            <a:ln w="0" cap="flat">
              <a:noFill/>
              <a:prstDash val="solid"/>
              <a:miter lim="0"/>
            </a:ln>
          </p:spPr>
          <p:txBody>
            <a:bodyPr rtlCol="0"/>
            <a:lstStyle/>
            <a:p>
              <a:pPr algn="ctr"/>
              <a:endParaRPr lang="zh-CN" altLang="en-US"/>
            </a:p>
          </p:txBody>
        </p:sp>
        <p:pic>
          <p:nvPicPr>
            <p:cNvPr id="308" name="picture 308"/>
            <p:cNvPicPr>
              <a:picLocks noChangeAspect="1"/>
            </p:cNvPicPr>
            <p:nvPr/>
          </p:nvPicPr>
          <p:blipFill>
            <a:blip r:embed="rId6"/>
            <a:stretch>
              <a:fillRect/>
            </a:stretch>
          </p:blipFill>
          <p:spPr>
            <a:xfrm rot="21600000">
              <a:off x="625655" y="1262633"/>
              <a:ext cx="105917" cy="158115"/>
            </a:xfrm>
            <a:prstGeom prst="rect">
              <a:avLst/>
            </a:prstGeom>
          </p:spPr>
        </p:pic>
        <p:sp>
          <p:nvSpPr>
            <p:cNvPr id="310" name="path 310"/>
            <p:cNvSpPr/>
            <p:nvPr/>
          </p:nvSpPr>
          <p:spPr>
            <a:xfrm>
              <a:off x="3825675" y="1708784"/>
              <a:ext cx="339090" cy="19050"/>
            </a:xfrm>
            <a:custGeom>
              <a:avLst/>
              <a:gdLst/>
              <a:ahLst/>
              <a:cxnLst/>
              <a:rect l="0" t="0" r="0" b="0"/>
              <a:pathLst>
                <a:path w="534" h="30">
                  <a:moveTo>
                    <a:pt x="15" y="15"/>
                  </a:moveTo>
                  <a:lnTo>
                    <a:pt x="519" y="15"/>
                  </a:lnTo>
                </a:path>
              </a:pathLst>
            </a:custGeom>
            <a:noFill/>
            <a:ln w="19050" cap="rnd">
              <a:solidFill>
                <a:srgbClr val="DDDDDD"/>
              </a:solidFill>
              <a:prstDash val="dash"/>
              <a:round/>
            </a:ln>
          </p:spPr>
          <p:txBody>
            <a:bodyPr rtlCol="0"/>
            <a:lstStyle/>
            <a:p>
              <a:pPr algn="ctr"/>
              <a:endParaRPr lang="zh-CN" altLang="en-US"/>
            </a:p>
          </p:txBody>
        </p:sp>
      </p:grpSp>
      <p:sp>
        <p:nvSpPr>
          <p:cNvPr id="312" name="textbox 312"/>
          <p:cNvSpPr/>
          <p:nvPr/>
        </p:nvSpPr>
        <p:spPr>
          <a:xfrm>
            <a:off x="787739" y="401828"/>
            <a:ext cx="10956925" cy="1275080"/>
          </a:xfrm>
          <a:prstGeom prst="rect">
            <a:avLst/>
          </a:prstGeom>
          <a:noFill/>
          <a:ln w="0" cap="flat">
            <a:noFill/>
            <a:prstDash val="solid"/>
            <a:miter lim="0"/>
          </a:ln>
        </p:spPr>
        <p:txBody>
          <a:bodyPr vert="horz" wrap="square" lIns="0" tIns="0" rIns="0" bIns="0"/>
          <a:lstStyle/>
          <a:p>
            <a:pPr algn="l" rtl="0" eaLnBrk="0">
              <a:lnSpc>
                <a:spcPct val="87697"/>
              </a:lnSpc>
              <a:tabLst/>
            </a:pPr>
            <a:endParaRPr sz="100" dirty="0">
              <a:latin typeface="Arial"/>
              <a:ea typeface="Arial"/>
              <a:cs typeface="Arial"/>
            </a:endParaRPr>
          </a:p>
          <a:p>
            <a:pPr marL="12700" algn="l" rtl="0" eaLnBrk="0">
              <a:lnSpc>
                <a:spcPct val="87000"/>
              </a:lnSpc>
              <a:tabLst/>
            </a:pPr>
            <a:r>
              <a:rPr sz="2700" b="1" kern="0" spc="40" dirty="0">
                <a:solidFill>
                  <a:srgbClr val="BF756D">
                    <a:alpha val="100000"/>
                  </a:srgbClr>
                </a:solidFill>
                <a:latin typeface="KaiTi"/>
                <a:ea typeface="KaiTi"/>
                <a:cs typeface="KaiTi"/>
              </a:rPr>
              <a:t>从</a:t>
            </a:r>
            <a:r>
              <a:rPr sz="2700" kern="0" spc="40" dirty="0">
                <a:solidFill>
                  <a:srgbClr val="BF756D">
                    <a:alpha val="100000"/>
                  </a:srgbClr>
                </a:solidFill>
                <a:latin typeface="KaiTi"/>
                <a:ea typeface="KaiTi"/>
                <a:cs typeface="KaiTi"/>
              </a:rPr>
              <a:t> </a:t>
            </a:r>
            <a:r>
              <a:rPr sz="2700" b="1" kern="0" spc="40" dirty="0">
                <a:solidFill>
                  <a:srgbClr val="BF756D">
                    <a:alpha val="100000"/>
                  </a:srgbClr>
                </a:solidFill>
                <a:latin typeface="KaiTi"/>
                <a:ea typeface="KaiTi"/>
                <a:cs typeface="KaiTi"/>
              </a:rPr>
              <a:t>“概念”</a:t>
            </a:r>
            <a:r>
              <a:rPr sz="2700" kern="0" spc="40" dirty="0">
                <a:solidFill>
                  <a:srgbClr val="BF756D">
                    <a:alpha val="100000"/>
                  </a:srgbClr>
                </a:solidFill>
                <a:latin typeface="KaiTi"/>
                <a:ea typeface="KaiTi"/>
                <a:cs typeface="KaiTi"/>
              </a:rPr>
              <a:t> </a:t>
            </a:r>
            <a:r>
              <a:rPr sz="2700" b="1" kern="0" spc="40" dirty="0">
                <a:solidFill>
                  <a:srgbClr val="BF756D">
                    <a:alpha val="100000"/>
                  </a:srgbClr>
                </a:solidFill>
                <a:latin typeface="KaiTi"/>
                <a:ea typeface="KaiTi"/>
                <a:cs typeface="KaiTi"/>
              </a:rPr>
              <a:t>到</a:t>
            </a:r>
            <a:r>
              <a:rPr sz="2700" kern="0" spc="170" dirty="0">
                <a:solidFill>
                  <a:srgbClr val="BF756D">
                    <a:alpha val="100000"/>
                  </a:srgbClr>
                </a:solidFill>
                <a:latin typeface="KaiTi"/>
                <a:ea typeface="KaiTi"/>
                <a:cs typeface="KaiTi"/>
              </a:rPr>
              <a:t> </a:t>
            </a:r>
            <a:r>
              <a:rPr sz="2700" b="1" kern="0" spc="40" dirty="0">
                <a:solidFill>
                  <a:srgbClr val="BF756D">
                    <a:alpha val="100000"/>
                  </a:srgbClr>
                </a:solidFill>
                <a:latin typeface="KaiTi"/>
                <a:ea typeface="KaiTi"/>
                <a:cs typeface="KaiTi"/>
              </a:rPr>
              <a:t>“百亿赛道”的爆发节点</a:t>
            </a:r>
            <a:r>
              <a:rPr sz="2700" kern="0" spc="40" dirty="0">
                <a:solidFill>
                  <a:srgbClr val="BF756D">
                    <a:alpha val="100000"/>
                  </a:srgbClr>
                </a:solidFill>
                <a:latin typeface="KaiTi"/>
                <a:ea typeface="KaiTi"/>
                <a:cs typeface="KaiTi"/>
              </a:rPr>
              <a:t>           </a:t>
            </a:r>
            <a:r>
              <a:rPr sz="2700" kern="0" spc="30" dirty="0">
                <a:solidFill>
                  <a:srgbClr val="BF756D">
                    <a:alpha val="100000"/>
                  </a:srgbClr>
                </a:solidFill>
                <a:latin typeface="KaiTi"/>
                <a:ea typeface="KaiTi"/>
                <a:cs typeface="KaiTi"/>
              </a:rPr>
              <a:t>     </a:t>
            </a:r>
            <a:endParaRPr sz="2700" dirty="0">
              <a:latin typeface="KaiTi"/>
              <a:ea typeface="KaiTi"/>
              <a:cs typeface="KaiTi"/>
            </a:endParaRPr>
          </a:p>
          <a:p>
            <a:pPr algn="l" rtl="0" eaLnBrk="0">
              <a:lnSpc>
                <a:spcPct val="121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6000"/>
              </a:lnSpc>
              <a:tabLst/>
            </a:pPr>
            <a:endParaRPr sz="300" dirty="0">
              <a:latin typeface="Arial"/>
              <a:ea typeface="Arial"/>
              <a:cs typeface="Arial"/>
            </a:endParaRPr>
          </a:p>
          <a:p>
            <a:pPr marL="694690" algn="l" rtl="0" eaLnBrk="0">
              <a:lnSpc>
                <a:spcPct val="89000"/>
              </a:lnSpc>
              <a:spcBef>
                <a:spcPts val="2"/>
              </a:spcBef>
              <a:tabLst>
                <a:tab pos="888364" algn="l"/>
              </a:tabLst>
            </a:pPr>
            <a:r>
              <a:rPr sz="1500" kern="0" spc="0" dirty="0">
                <a:solidFill>
                  <a:srgbClr val="000000">
                    <a:alpha val="100000"/>
                  </a:srgbClr>
                </a:solidFill>
                <a:latin typeface="KaiTi"/>
                <a:ea typeface="KaiTi"/>
                <a:cs typeface="KaiTi"/>
              </a:rPr>
              <a:t>	</a:t>
            </a:r>
            <a:r>
              <a:rPr sz="1500" b="1" kern="0" spc="90" dirty="0">
                <a:solidFill>
                  <a:srgbClr val="000000">
                    <a:alpha val="100000"/>
                  </a:srgbClr>
                </a:solidFill>
                <a:latin typeface="KaiTi"/>
                <a:ea typeface="KaiTi"/>
                <a:cs typeface="KaiTi"/>
              </a:rPr>
              <a:t>世界模型市场规模预计在20</a:t>
            </a:r>
            <a:r>
              <a:rPr sz="1500" b="1" kern="0" spc="80" dirty="0">
                <a:solidFill>
                  <a:srgbClr val="000000">
                    <a:alpha val="100000"/>
                  </a:srgbClr>
                </a:solidFill>
                <a:latin typeface="KaiTi"/>
                <a:ea typeface="KaiTi"/>
                <a:cs typeface="KaiTi"/>
              </a:rPr>
              <a:t>30年突破500亿美元</a:t>
            </a:r>
            <a:endParaRPr sz="1500" dirty="0">
              <a:latin typeface="KaiTi"/>
              <a:ea typeface="KaiTi"/>
              <a:cs typeface="KaiTi"/>
            </a:endParaRPr>
          </a:p>
        </p:txBody>
      </p:sp>
      <p:sp>
        <p:nvSpPr>
          <p:cNvPr id="314" name="path 314"/>
          <p:cNvSpPr/>
          <p:nvPr/>
        </p:nvSpPr>
        <p:spPr>
          <a:xfrm>
            <a:off x="873251" y="1187196"/>
            <a:ext cx="609600" cy="477011"/>
          </a:xfrm>
          <a:custGeom>
            <a:avLst/>
            <a:gdLst/>
            <a:ahLst/>
            <a:cxnLst/>
            <a:rect l="0" t="0" r="0" b="0"/>
            <a:pathLst>
              <a:path w="960" h="751">
                <a:moveTo>
                  <a:pt x="679" y="596"/>
                </a:moveTo>
                <a:cubicBezTo>
                  <a:pt x="706" y="600"/>
                  <a:pt x="737" y="602"/>
                  <a:pt x="770" y="602"/>
                </a:cubicBezTo>
                <a:cubicBezTo>
                  <a:pt x="875" y="602"/>
                  <a:pt x="960" y="581"/>
                  <a:pt x="960" y="555"/>
                </a:cubicBezTo>
                <a:lnTo>
                  <a:pt x="960" y="508"/>
                </a:lnTo>
                <a:cubicBezTo>
                  <a:pt x="960" y="505"/>
                  <a:pt x="959" y="503"/>
                  <a:pt x="957" y="500"/>
                </a:cubicBezTo>
                <a:cubicBezTo>
                  <a:pt x="943" y="523"/>
                  <a:pt x="865" y="540"/>
                  <a:pt x="770" y="540"/>
                </a:cubicBezTo>
                <a:cubicBezTo>
                  <a:pt x="737" y="540"/>
                  <a:pt x="706" y="538"/>
                  <a:pt x="679" y="534"/>
                </a:cubicBezTo>
                <a:lnTo>
                  <a:pt x="679" y="575"/>
                </a:lnTo>
                <a:lnTo>
                  <a:pt x="679" y="596"/>
                </a:lnTo>
                <a:close/>
                <a:moveTo>
                  <a:pt x="770" y="521"/>
                </a:moveTo>
                <a:cubicBezTo>
                  <a:pt x="875" y="521"/>
                  <a:pt x="960" y="500"/>
                  <a:pt x="960" y="474"/>
                </a:cubicBezTo>
                <a:lnTo>
                  <a:pt x="960" y="427"/>
                </a:lnTo>
                <a:cubicBezTo>
                  <a:pt x="960" y="425"/>
                  <a:pt x="959" y="423"/>
                  <a:pt x="958" y="421"/>
                </a:cubicBezTo>
                <a:cubicBezTo>
                  <a:pt x="945" y="444"/>
                  <a:pt x="866" y="461"/>
                  <a:pt x="770" y="461"/>
                </a:cubicBezTo>
                <a:cubicBezTo>
                  <a:pt x="737" y="461"/>
                  <a:pt x="706" y="459"/>
                  <a:pt x="679" y="455"/>
                </a:cubicBezTo>
                <a:lnTo>
                  <a:pt x="679" y="515"/>
                </a:lnTo>
                <a:cubicBezTo>
                  <a:pt x="706" y="519"/>
                  <a:pt x="737" y="521"/>
                  <a:pt x="770" y="521"/>
                </a:cubicBezTo>
                <a:moveTo>
                  <a:pt x="770" y="441"/>
                </a:moveTo>
                <a:cubicBezTo>
                  <a:pt x="875" y="441"/>
                  <a:pt x="960" y="420"/>
                  <a:pt x="960" y="394"/>
                </a:cubicBezTo>
                <a:lnTo>
                  <a:pt x="960" y="348"/>
                </a:lnTo>
                <a:cubicBezTo>
                  <a:pt x="960" y="346"/>
                  <a:pt x="959" y="344"/>
                  <a:pt x="958" y="342"/>
                </a:cubicBezTo>
                <a:cubicBezTo>
                  <a:pt x="947" y="365"/>
                  <a:pt x="867" y="383"/>
                  <a:pt x="770" y="383"/>
                </a:cubicBezTo>
                <a:cubicBezTo>
                  <a:pt x="737" y="383"/>
                  <a:pt x="706" y="381"/>
                  <a:pt x="679" y="377"/>
                </a:cubicBezTo>
                <a:lnTo>
                  <a:pt x="679" y="435"/>
                </a:lnTo>
                <a:cubicBezTo>
                  <a:pt x="706" y="439"/>
                  <a:pt x="737" y="441"/>
                  <a:pt x="770" y="441"/>
                </a:cubicBezTo>
                <a:moveTo>
                  <a:pt x="770" y="364"/>
                </a:moveTo>
                <a:cubicBezTo>
                  <a:pt x="875" y="364"/>
                  <a:pt x="960" y="343"/>
                  <a:pt x="960" y="317"/>
                </a:cubicBezTo>
                <a:lnTo>
                  <a:pt x="960" y="270"/>
                </a:lnTo>
                <a:cubicBezTo>
                  <a:pt x="960" y="270"/>
                  <a:pt x="959" y="269"/>
                  <a:pt x="959" y="268"/>
                </a:cubicBezTo>
                <a:cubicBezTo>
                  <a:pt x="955" y="293"/>
                  <a:pt x="872" y="313"/>
                  <a:pt x="770" y="313"/>
                </a:cubicBezTo>
                <a:cubicBezTo>
                  <a:pt x="737" y="313"/>
                  <a:pt x="706" y="311"/>
                  <a:pt x="679" y="307"/>
                </a:cubicBezTo>
                <a:lnTo>
                  <a:pt x="679" y="358"/>
                </a:lnTo>
                <a:cubicBezTo>
                  <a:pt x="706" y="362"/>
                  <a:pt x="737" y="364"/>
                  <a:pt x="770" y="364"/>
                </a:cubicBezTo>
                <a:moveTo>
                  <a:pt x="770" y="238"/>
                </a:moveTo>
                <a:cubicBezTo>
                  <a:pt x="671" y="238"/>
                  <a:pt x="590" y="220"/>
                  <a:pt x="582" y="195"/>
                </a:cubicBezTo>
                <a:cubicBezTo>
                  <a:pt x="581" y="197"/>
                  <a:pt x="581" y="198"/>
                  <a:pt x="581" y="200"/>
                </a:cubicBezTo>
                <a:lnTo>
                  <a:pt x="581" y="226"/>
                </a:lnTo>
                <a:cubicBezTo>
                  <a:pt x="640" y="234"/>
                  <a:pt x="679" y="249"/>
                  <a:pt x="679" y="267"/>
                </a:cubicBezTo>
                <a:lnTo>
                  <a:pt x="679" y="287"/>
                </a:lnTo>
                <a:lnTo>
                  <a:pt x="679" y="287"/>
                </a:lnTo>
                <a:cubicBezTo>
                  <a:pt x="706" y="291"/>
                  <a:pt x="737" y="293"/>
                  <a:pt x="770" y="293"/>
                </a:cubicBezTo>
                <a:cubicBezTo>
                  <a:pt x="875" y="293"/>
                  <a:pt x="960" y="272"/>
                  <a:pt x="960" y="246"/>
                </a:cubicBezTo>
                <a:lnTo>
                  <a:pt x="960" y="200"/>
                </a:lnTo>
                <a:cubicBezTo>
                  <a:pt x="960" y="198"/>
                  <a:pt x="959" y="197"/>
                  <a:pt x="959" y="195"/>
                </a:cubicBezTo>
                <a:cubicBezTo>
                  <a:pt x="951" y="220"/>
                  <a:pt x="870" y="238"/>
                  <a:pt x="770" y="238"/>
                </a:cubicBezTo>
                <a:moveTo>
                  <a:pt x="770" y="160"/>
                </a:moveTo>
                <a:cubicBezTo>
                  <a:pt x="675" y="160"/>
                  <a:pt x="596" y="142"/>
                  <a:pt x="583" y="119"/>
                </a:cubicBezTo>
                <a:cubicBezTo>
                  <a:pt x="582" y="121"/>
                  <a:pt x="581" y="124"/>
                  <a:pt x="581" y="126"/>
                </a:cubicBezTo>
                <a:lnTo>
                  <a:pt x="581" y="172"/>
                </a:lnTo>
                <a:cubicBezTo>
                  <a:pt x="581" y="198"/>
                  <a:pt x="666" y="219"/>
                  <a:pt x="770" y="219"/>
                </a:cubicBezTo>
                <a:cubicBezTo>
                  <a:pt x="875" y="219"/>
                  <a:pt x="960" y="198"/>
                  <a:pt x="960" y="172"/>
                </a:cubicBezTo>
                <a:lnTo>
                  <a:pt x="960" y="126"/>
                </a:lnTo>
                <a:cubicBezTo>
                  <a:pt x="960" y="124"/>
                  <a:pt x="959" y="121"/>
                  <a:pt x="958" y="119"/>
                </a:cubicBezTo>
                <a:cubicBezTo>
                  <a:pt x="945" y="142"/>
                  <a:pt x="866" y="160"/>
                  <a:pt x="770" y="160"/>
                </a:cubicBezTo>
                <a:moveTo>
                  <a:pt x="770" y="0"/>
                </a:moveTo>
                <a:cubicBezTo>
                  <a:pt x="666" y="0"/>
                  <a:pt x="581" y="20"/>
                  <a:pt x="581" y="46"/>
                </a:cubicBezTo>
                <a:lnTo>
                  <a:pt x="581" y="93"/>
                </a:lnTo>
                <a:cubicBezTo>
                  <a:pt x="581" y="119"/>
                  <a:pt x="666" y="140"/>
                  <a:pt x="770" y="140"/>
                </a:cubicBezTo>
                <a:cubicBezTo>
                  <a:pt x="875" y="140"/>
                  <a:pt x="960" y="119"/>
                  <a:pt x="960" y="93"/>
                </a:cubicBezTo>
                <a:lnTo>
                  <a:pt x="960" y="46"/>
                </a:lnTo>
                <a:cubicBezTo>
                  <a:pt x="960" y="20"/>
                  <a:pt x="875" y="0"/>
                  <a:pt x="770" y="0"/>
                </a:cubicBezTo>
                <a:moveTo>
                  <a:pt x="401" y="690"/>
                </a:moveTo>
                <a:cubicBezTo>
                  <a:pt x="422" y="691"/>
                  <a:pt x="444" y="692"/>
                  <a:pt x="467" y="692"/>
                </a:cubicBezTo>
                <a:cubicBezTo>
                  <a:pt x="571" y="692"/>
                  <a:pt x="656" y="672"/>
                  <a:pt x="656" y="645"/>
                </a:cubicBezTo>
                <a:lnTo>
                  <a:pt x="656" y="599"/>
                </a:lnTo>
                <a:cubicBezTo>
                  <a:pt x="656" y="596"/>
                  <a:pt x="655" y="594"/>
                  <a:pt x="654" y="591"/>
                </a:cubicBezTo>
                <a:cubicBezTo>
                  <a:pt x="639" y="614"/>
                  <a:pt x="561" y="631"/>
                  <a:pt x="467" y="631"/>
                </a:cubicBezTo>
                <a:cubicBezTo>
                  <a:pt x="444" y="631"/>
                  <a:pt x="422" y="630"/>
                  <a:pt x="401" y="628"/>
                </a:cubicBezTo>
                <a:lnTo>
                  <a:pt x="401" y="643"/>
                </a:lnTo>
                <a:lnTo>
                  <a:pt x="401" y="690"/>
                </a:lnTo>
                <a:close/>
                <a:moveTo>
                  <a:pt x="401" y="579"/>
                </a:moveTo>
                <a:lnTo>
                  <a:pt x="401" y="608"/>
                </a:lnTo>
                <a:lnTo>
                  <a:pt x="401" y="609"/>
                </a:lnTo>
                <a:cubicBezTo>
                  <a:pt x="422" y="610"/>
                  <a:pt x="444" y="612"/>
                  <a:pt x="467" y="612"/>
                </a:cubicBezTo>
                <a:cubicBezTo>
                  <a:pt x="571" y="612"/>
                  <a:pt x="656" y="591"/>
                  <a:pt x="656" y="565"/>
                </a:cubicBezTo>
                <a:lnTo>
                  <a:pt x="656" y="518"/>
                </a:lnTo>
                <a:cubicBezTo>
                  <a:pt x="656" y="516"/>
                  <a:pt x="655" y="514"/>
                  <a:pt x="654" y="512"/>
                </a:cubicBezTo>
                <a:cubicBezTo>
                  <a:pt x="642" y="534"/>
                  <a:pt x="562" y="552"/>
                  <a:pt x="467" y="552"/>
                </a:cubicBezTo>
                <a:cubicBezTo>
                  <a:pt x="444" y="552"/>
                  <a:pt x="422" y="551"/>
                  <a:pt x="401" y="549"/>
                </a:cubicBezTo>
                <a:lnTo>
                  <a:pt x="401" y="559"/>
                </a:lnTo>
                <a:lnTo>
                  <a:pt x="401" y="579"/>
                </a:lnTo>
                <a:close/>
                <a:moveTo>
                  <a:pt x="401" y="496"/>
                </a:moveTo>
                <a:lnTo>
                  <a:pt x="401" y="524"/>
                </a:lnTo>
                <a:lnTo>
                  <a:pt x="401" y="529"/>
                </a:lnTo>
                <a:cubicBezTo>
                  <a:pt x="422" y="531"/>
                  <a:pt x="444" y="532"/>
                  <a:pt x="467" y="532"/>
                </a:cubicBezTo>
                <a:cubicBezTo>
                  <a:pt x="571" y="532"/>
                  <a:pt x="656" y="511"/>
                  <a:pt x="656" y="485"/>
                </a:cubicBezTo>
                <a:lnTo>
                  <a:pt x="656" y="438"/>
                </a:lnTo>
                <a:cubicBezTo>
                  <a:pt x="656" y="437"/>
                  <a:pt x="655" y="435"/>
                  <a:pt x="655" y="433"/>
                </a:cubicBezTo>
                <a:cubicBezTo>
                  <a:pt x="643" y="456"/>
                  <a:pt x="563" y="474"/>
                  <a:pt x="467" y="474"/>
                </a:cubicBezTo>
                <a:cubicBezTo>
                  <a:pt x="443" y="474"/>
                  <a:pt x="421" y="473"/>
                  <a:pt x="400" y="471"/>
                </a:cubicBezTo>
                <a:cubicBezTo>
                  <a:pt x="401" y="472"/>
                  <a:pt x="401" y="474"/>
                  <a:pt x="401" y="475"/>
                </a:cubicBezTo>
                <a:lnTo>
                  <a:pt x="401" y="496"/>
                </a:lnTo>
                <a:close/>
                <a:moveTo>
                  <a:pt x="467" y="404"/>
                </a:moveTo>
                <a:cubicBezTo>
                  <a:pt x="365" y="404"/>
                  <a:pt x="282" y="384"/>
                  <a:pt x="278" y="359"/>
                </a:cubicBezTo>
                <a:cubicBezTo>
                  <a:pt x="278" y="360"/>
                  <a:pt x="278" y="360"/>
                  <a:pt x="278" y="361"/>
                </a:cubicBezTo>
                <a:lnTo>
                  <a:pt x="278" y="408"/>
                </a:lnTo>
                <a:cubicBezTo>
                  <a:pt x="278" y="417"/>
                  <a:pt x="288" y="426"/>
                  <a:pt x="307" y="433"/>
                </a:cubicBezTo>
                <a:cubicBezTo>
                  <a:pt x="332" y="437"/>
                  <a:pt x="353" y="442"/>
                  <a:pt x="369" y="448"/>
                </a:cubicBezTo>
                <a:cubicBezTo>
                  <a:pt x="398" y="452"/>
                  <a:pt x="431" y="455"/>
                  <a:pt x="467" y="455"/>
                </a:cubicBezTo>
                <a:cubicBezTo>
                  <a:pt x="571" y="455"/>
                  <a:pt x="656" y="434"/>
                  <a:pt x="656" y="408"/>
                </a:cubicBezTo>
                <a:lnTo>
                  <a:pt x="656" y="361"/>
                </a:lnTo>
                <a:cubicBezTo>
                  <a:pt x="656" y="360"/>
                  <a:pt x="656" y="360"/>
                  <a:pt x="656" y="359"/>
                </a:cubicBezTo>
                <a:cubicBezTo>
                  <a:pt x="651" y="384"/>
                  <a:pt x="568" y="404"/>
                  <a:pt x="467" y="404"/>
                </a:cubicBezTo>
                <a:moveTo>
                  <a:pt x="467" y="244"/>
                </a:moveTo>
                <a:cubicBezTo>
                  <a:pt x="362" y="244"/>
                  <a:pt x="278" y="264"/>
                  <a:pt x="278" y="290"/>
                </a:cubicBezTo>
                <a:lnTo>
                  <a:pt x="278" y="337"/>
                </a:lnTo>
                <a:cubicBezTo>
                  <a:pt x="278" y="363"/>
                  <a:pt x="362" y="384"/>
                  <a:pt x="467" y="384"/>
                </a:cubicBezTo>
                <a:cubicBezTo>
                  <a:pt x="571" y="384"/>
                  <a:pt x="656" y="363"/>
                  <a:pt x="656" y="337"/>
                </a:cubicBezTo>
                <a:lnTo>
                  <a:pt x="656" y="290"/>
                </a:lnTo>
                <a:cubicBezTo>
                  <a:pt x="656" y="264"/>
                  <a:pt x="571" y="244"/>
                  <a:pt x="467" y="244"/>
                </a:cubicBezTo>
                <a:moveTo>
                  <a:pt x="189" y="689"/>
                </a:moveTo>
                <a:cubicBezTo>
                  <a:pt x="94" y="689"/>
                  <a:pt x="16" y="672"/>
                  <a:pt x="2" y="650"/>
                </a:cubicBezTo>
                <a:cubicBezTo>
                  <a:pt x="0" y="652"/>
                  <a:pt x="0" y="654"/>
                  <a:pt x="0" y="657"/>
                </a:cubicBezTo>
                <a:lnTo>
                  <a:pt x="0" y="704"/>
                </a:lnTo>
                <a:cubicBezTo>
                  <a:pt x="0" y="730"/>
                  <a:pt x="84" y="751"/>
                  <a:pt x="189" y="751"/>
                </a:cubicBezTo>
                <a:cubicBezTo>
                  <a:pt x="293" y="751"/>
                  <a:pt x="378" y="730"/>
                  <a:pt x="378" y="704"/>
                </a:cubicBezTo>
                <a:lnTo>
                  <a:pt x="378" y="657"/>
                </a:lnTo>
                <a:cubicBezTo>
                  <a:pt x="378" y="654"/>
                  <a:pt x="377" y="652"/>
                  <a:pt x="375" y="650"/>
                </a:cubicBezTo>
                <a:cubicBezTo>
                  <a:pt x="361" y="672"/>
                  <a:pt x="283" y="689"/>
                  <a:pt x="189" y="689"/>
                </a:cubicBezTo>
                <a:moveTo>
                  <a:pt x="189" y="610"/>
                </a:moveTo>
                <a:cubicBezTo>
                  <a:pt x="93" y="610"/>
                  <a:pt x="14" y="593"/>
                  <a:pt x="1" y="570"/>
                </a:cubicBezTo>
                <a:cubicBezTo>
                  <a:pt x="0" y="572"/>
                  <a:pt x="0" y="574"/>
                  <a:pt x="0" y="576"/>
                </a:cubicBezTo>
                <a:lnTo>
                  <a:pt x="0" y="623"/>
                </a:lnTo>
                <a:cubicBezTo>
                  <a:pt x="0" y="649"/>
                  <a:pt x="84" y="670"/>
                  <a:pt x="189" y="670"/>
                </a:cubicBezTo>
                <a:cubicBezTo>
                  <a:pt x="293" y="670"/>
                  <a:pt x="378" y="649"/>
                  <a:pt x="378" y="623"/>
                </a:cubicBezTo>
                <a:lnTo>
                  <a:pt x="378" y="576"/>
                </a:lnTo>
                <a:cubicBezTo>
                  <a:pt x="378" y="574"/>
                  <a:pt x="377" y="572"/>
                  <a:pt x="376" y="570"/>
                </a:cubicBezTo>
                <a:cubicBezTo>
                  <a:pt x="363" y="593"/>
                  <a:pt x="284" y="610"/>
                  <a:pt x="189" y="610"/>
                </a:cubicBezTo>
                <a:moveTo>
                  <a:pt x="0" y="544"/>
                </a:moveTo>
                <a:cubicBezTo>
                  <a:pt x="0" y="570"/>
                  <a:pt x="84" y="590"/>
                  <a:pt x="189" y="590"/>
                </a:cubicBezTo>
                <a:cubicBezTo>
                  <a:pt x="293" y="590"/>
                  <a:pt x="378" y="570"/>
                  <a:pt x="378" y="544"/>
                </a:cubicBezTo>
                <a:lnTo>
                  <a:pt x="378" y="497"/>
                </a:lnTo>
                <a:cubicBezTo>
                  <a:pt x="378" y="471"/>
                  <a:pt x="293" y="450"/>
                  <a:pt x="189" y="450"/>
                </a:cubicBezTo>
                <a:cubicBezTo>
                  <a:pt x="84" y="450"/>
                  <a:pt x="0" y="471"/>
                  <a:pt x="0" y="497"/>
                </a:cubicBezTo>
                <a:lnTo>
                  <a:pt x="0" y="544"/>
                </a:lnTo>
                <a:close/>
              </a:path>
            </a:pathLst>
          </a:custGeom>
          <a:solidFill>
            <a:srgbClr val="DFA87F">
              <a:alpha val="100000"/>
            </a:srgbClr>
          </a:solidFill>
          <a:ln w="0" cap="flat">
            <a:noFill/>
            <a:prstDash val="solid"/>
            <a:miter lim="0"/>
          </a:ln>
        </p:spPr>
        <p:txBody>
          <a:bodyPr rtlCol="0"/>
          <a:lstStyle/>
          <a:p>
            <a:pPr algn="ctr"/>
            <a:endParaRPr lang="zh-CN" altLang="en-US"/>
          </a:p>
        </p:txBody>
      </p:sp>
      <p:pic>
        <p:nvPicPr>
          <p:cNvPr id="316" name="picture 316"/>
          <p:cNvPicPr>
            <a:picLocks noChangeAspect="1"/>
          </p:cNvPicPr>
          <p:nvPr/>
        </p:nvPicPr>
        <p:blipFill>
          <a:blip r:embed="rId7"/>
          <a:stretch>
            <a:fillRect/>
          </a:stretch>
        </p:blipFill>
        <p:spPr>
          <a:xfrm rot="21600000">
            <a:off x="9983070" y="414528"/>
            <a:ext cx="1616964" cy="365759"/>
          </a:xfrm>
          <a:prstGeom prst="rect">
            <a:avLst/>
          </a:prstGeom>
        </p:spPr>
      </p:pic>
      <p:graphicFrame>
        <p:nvGraphicFramePr>
          <p:cNvPr id="318" name="table 318"/>
          <p:cNvGraphicFramePr>
            <a:graphicFrameLocks noGrp="1"/>
          </p:cNvGraphicFramePr>
          <p:nvPr/>
        </p:nvGraphicFramePr>
        <p:xfrm>
          <a:off x="864488" y="5468492"/>
          <a:ext cx="5319394" cy="1027430"/>
        </p:xfrm>
        <a:graphic>
          <a:graphicData uri="http://schemas.openxmlformats.org/drawingml/2006/table">
            <a:tbl>
              <a:tblPr/>
              <a:tblGrid>
                <a:gridCol w="2567939"/>
                <a:gridCol w="2751454"/>
              </a:tblGrid>
              <a:tr h="1027430">
                <a:tc>
                  <a:txBody>
                    <a:bodyPr/>
                    <a:lstStyle/>
                    <a:p>
                      <a:pPr algn="l" rtl="0" eaLnBrk="0">
                        <a:lnSpc>
                          <a:spcPct val="104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marL="854075" algn="l" rtl="0" eaLnBrk="0">
                        <a:lnSpc>
                          <a:spcPct val="88000"/>
                        </a:lnSpc>
                        <a:spcBef>
                          <a:spcPts val="3"/>
                        </a:spcBef>
                        <a:tabLst/>
                      </a:pPr>
                      <a:r>
                        <a:rPr sz="1000" kern="0" spc="20" dirty="0">
                          <a:solidFill>
                            <a:srgbClr val="BF756D">
                              <a:alpha val="100000"/>
                            </a:srgbClr>
                          </a:solidFill>
                          <a:latin typeface="KaiTi"/>
                          <a:ea typeface="KaiTi"/>
                          <a:cs typeface="KaiTi"/>
                        </a:rPr>
                        <a:t>技术</a:t>
                      </a:r>
                      <a:endParaRPr sz="1000" dirty="0">
                        <a:latin typeface="KaiTi"/>
                        <a:ea typeface="KaiTi"/>
                        <a:cs typeface="KaiTi"/>
                      </a:endParaRPr>
                    </a:p>
                  </a:txBody>
                  <a:tcPr marL="0" marR="0" marT="0" marB="0" vert="horz">
                    <a:lnL w="19050" cap="flat" cmpd="sng" algn="ctr">
                      <a:solidFill>
                        <a:srgbClr val="BFBFBF"/>
                      </a:solidFill>
                      <a:prstDash val="solid"/>
                      <a:round/>
                      <a:headEnd type="none" w="med" len="med"/>
                      <a:tailEnd type="none" w="med" len="med"/>
                    </a:lnL>
                    <a:lnR>
                      <a:noFill/>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tcPr>
                </a:tc>
                <a:tc>
                  <a:txBody>
                    <a:bodyPr/>
                    <a:lstStyle/>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6455"/>
                        </a:lnSpc>
                        <a:tabLst/>
                      </a:pPr>
                      <a:endParaRPr sz="100" dirty="0">
                        <a:latin typeface="Arial"/>
                        <a:ea typeface="Arial"/>
                        <a:cs typeface="Arial"/>
                      </a:endParaRPr>
                    </a:p>
                    <a:p>
                      <a:pPr marL="1296669" algn="l" rtl="0" eaLnBrk="0">
                        <a:lnSpc>
                          <a:spcPct val="88000"/>
                        </a:lnSpc>
                        <a:tabLst/>
                      </a:pPr>
                      <a:r>
                        <a:rPr sz="1000" kern="0" spc="30" dirty="0">
                          <a:solidFill>
                            <a:srgbClr val="BF756D">
                              <a:alpha val="100000"/>
                            </a:srgbClr>
                          </a:solidFill>
                          <a:latin typeface="KaiTi"/>
                          <a:ea typeface="KaiTi"/>
                          <a:cs typeface="KaiTi"/>
                        </a:rPr>
                        <a:t>场景放量</a:t>
                      </a:r>
                      <a:endParaRPr sz="1000" dirty="0">
                        <a:latin typeface="KaiTi"/>
                        <a:ea typeface="KaiTi"/>
                        <a:cs typeface="KaiTi"/>
                      </a:endParaRPr>
                    </a:p>
                  </a:txBody>
                  <a:tcPr marL="0" marR="0" marT="0" marB="0" vert="horz">
                    <a:lnL>
                      <a:noFill/>
                    </a:lnL>
                    <a:lnR w="19050" cap="flat" cmpd="sng" algn="ctr">
                      <a:solidFill>
                        <a:srgbClr val="BFBFBF"/>
                      </a:solidFill>
                      <a:prstDash val="solid"/>
                      <a:round/>
                      <a:headEnd type="none" w="med" len="med"/>
                      <a:tailEnd type="none" w="med" len="med"/>
                    </a:lnR>
                    <a:lnT w="19050" cap="flat" cmpd="sng" algn="ctr">
                      <a:solidFill>
                        <a:srgbClr val="BFBFBF"/>
                      </a:solidFill>
                      <a:prstDash val="solid"/>
                      <a:round/>
                      <a:headEnd type="none" w="med" len="med"/>
                      <a:tailEnd type="none" w="med" len="med"/>
                    </a:lnT>
                    <a:lnB w="19050" cap="flat" cmpd="sng" algn="ctr">
                      <a:solidFill>
                        <a:srgbClr val="BFBFBF"/>
                      </a:solidFill>
                      <a:prstDash val="solid"/>
                      <a:round/>
                      <a:headEnd type="none" w="med" len="med"/>
                      <a:tailEnd type="none" w="med" len="med"/>
                    </a:lnB>
                  </a:tcPr>
                </a:tc>
              </a:tr>
            </a:tbl>
          </a:graphicData>
        </a:graphic>
      </p:graphicFrame>
      <p:sp>
        <p:nvSpPr>
          <p:cNvPr id="320" name="path 320"/>
          <p:cNvSpPr/>
          <p:nvPr/>
        </p:nvSpPr>
        <p:spPr>
          <a:xfrm>
            <a:off x="3092195" y="5579364"/>
            <a:ext cx="579119" cy="797051"/>
          </a:xfrm>
          <a:custGeom>
            <a:avLst/>
            <a:gdLst/>
            <a:ahLst/>
            <a:cxnLst/>
            <a:rect l="0" t="0" r="0" b="0"/>
            <a:pathLst>
              <a:path w="911" h="1255">
                <a:moveTo>
                  <a:pt x="121" y="1154"/>
                </a:moveTo>
                <a:cubicBezTo>
                  <a:pt x="145" y="1154"/>
                  <a:pt x="155" y="1161"/>
                  <a:pt x="155" y="1171"/>
                </a:cubicBezTo>
                <a:cubicBezTo>
                  <a:pt x="155" y="1175"/>
                  <a:pt x="155" y="1178"/>
                  <a:pt x="152" y="1182"/>
                </a:cubicBezTo>
                <a:lnTo>
                  <a:pt x="169" y="1196"/>
                </a:lnTo>
                <a:lnTo>
                  <a:pt x="169" y="1201"/>
                </a:lnTo>
                <a:lnTo>
                  <a:pt x="166" y="1203"/>
                </a:lnTo>
                <a:lnTo>
                  <a:pt x="128" y="1203"/>
                </a:lnTo>
                <a:lnTo>
                  <a:pt x="135" y="1196"/>
                </a:lnTo>
                <a:lnTo>
                  <a:pt x="131" y="1196"/>
                </a:lnTo>
                <a:cubicBezTo>
                  <a:pt x="128" y="1196"/>
                  <a:pt x="124" y="1192"/>
                  <a:pt x="124" y="1189"/>
                </a:cubicBezTo>
                <a:cubicBezTo>
                  <a:pt x="128" y="1168"/>
                  <a:pt x="124" y="1161"/>
                  <a:pt x="121" y="1154"/>
                </a:cubicBezTo>
                <a:moveTo>
                  <a:pt x="599" y="1092"/>
                </a:moveTo>
                <a:lnTo>
                  <a:pt x="599" y="1095"/>
                </a:lnTo>
                <a:cubicBezTo>
                  <a:pt x="596" y="1109"/>
                  <a:pt x="589" y="1119"/>
                  <a:pt x="585" y="1123"/>
                </a:cubicBezTo>
                <a:cubicBezTo>
                  <a:pt x="593" y="1140"/>
                  <a:pt x="599" y="1154"/>
                  <a:pt x="606" y="1168"/>
                </a:cubicBezTo>
                <a:cubicBezTo>
                  <a:pt x="617" y="1147"/>
                  <a:pt x="623" y="1123"/>
                  <a:pt x="627" y="1092"/>
                </a:cubicBezTo>
                <a:lnTo>
                  <a:pt x="599" y="1092"/>
                </a:lnTo>
                <a:close/>
                <a:moveTo>
                  <a:pt x="138" y="1081"/>
                </a:moveTo>
                <a:lnTo>
                  <a:pt x="159" y="1095"/>
                </a:lnTo>
                <a:lnTo>
                  <a:pt x="159" y="1099"/>
                </a:lnTo>
                <a:cubicBezTo>
                  <a:pt x="159" y="1102"/>
                  <a:pt x="155" y="1102"/>
                  <a:pt x="152" y="1102"/>
                </a:cubicBezTo>
                <a:lnTo>
                  <a:pt x="103" y="1102"/>
                </a:lnTo>
                <a:lnTo>
                  <a:pt x="103" y="1144"/>
                </a:lnTo>
                <a:lnTo>
                  <a:pt x="121" y="1144"/>
                </a:lnTo>
                <a:lnTo>
                  <a:pt x="131" y="1130"/>
                </a:lnTo>
                <a:lnTo>
                  <a:pt x="148" y="1144"/>
                </a:lnTo>
                <a:lnTo>
                  <a:pt x="152" y="1147"/>
                </a:lnTo>
                <a:cubicBezTo>
                  <a:pt x="152" y="1147"/>
                  <a:pt x="148" y="1151"/>
                  <a:pt x="145" y="1151"/>
                </a:cubicBezTo>
                <a:lnTo>
                  <a:pt x="103" y="1151"/>
                </a:lnTo>
                <a:lnTo>
                  <a:pt x="103" y="1203"/>
                </a:lnTo>
                <a:lnTo>
                  <a:pt x="41" y="1203"/>
                </a:lnTo>
                <a:lnTo>
                  <a:pt x="41" y="1199"/>
                </a:lnTo>
                <a:lnTo>
                  <a:pt x="90" y="1199"/>
                </a:lnTo>
                <a:lnTo>
                  <a:pt x="90" y="1147"/>
                </a:lnTo>
                <a:lnTo>
                  <a:pt x="48" y="1147"/>
                </a:lnTo>
                <a:lnTo>
                  <a:pt x="48" y="1144"/>
                </a:lnTo>
                <a:lnTo>
                  <a:pt x="86" y="1144"/>
                </a:lnTo>
                <a:lnTo>
                  <a:pt x="86" y="1102"/>
                </a:lnTo>
                <a:lnTo>
                  <a:pt x="38" y="1102"/>
                </a:lnTo>
                <a:lnTo>
                  <a:pt x="38" y="1095"/>
                </a:lnTo>
                <a:lnTo>
                  <a:pt x="128" y="1095"/>
                </a:lnTo>
                <a:lnTo>
                  <a:pt x="138" y="1081"/>
                </a:lnTo>
                <a:close/>
                <a:moveTo>
                  <a:pt x="308" y="1043"/>
                </a:moveTo>
                <a:cubicBezTo>
                  <a:pt x="336" y="1043"/>
                  <a:pt x="346" y="1047"/>
                  <a:pt x="346" y="1060"/>
                </a:cubicBezTo>
                <a:cubicBezTo>
                  <a:pt x="346" y="1067"/>
                  <a:pt x="343" y="1071"/>
                  <a:pt x="336" y="1074"/>
                </a:cubicBezTo>
                <a:lnTo>
                  <a:pt x="405" y="1074"/>
                </a:lnTo>
                <a:lnTo>
                  <a:pt x="405" y="1071"/>
                </a:lnTo>
                <a:lnTo>
                  <a:pt x="416" y="1057"/>
                </a:lnTo>
                <a:lnTo>
                  <a:pt x="440" y="1074"/>
                </a:lnTo>
                <a:cubicBezTo>
                  <a:pt x="443" y="1074"/>
                  <a:pt x="443" y="1078"/>
                  <a:pt x="443" y="1078"/>
                </a:cubicBezTo>
                <a:cubicBezTo>
                  <a:pt x="443" y="1081"/>
                  <a:pt x="440" y="1085"/>
                  <a:pt x="433" y="1085"/>
                </a:cubicBezTo>
                <a:cubicBezTo>
                  <a:pt x="426" y="1088"/>
                  <a:pt x="416" y="1095"/>
                  <a:pt x="408" y="1095"/>
                </a:cubicBezTo>
                <a:lnTo>
                  <a:pt x="416" y="1099"/>
                </a:lnTo>
                <a:lnTo>
                  <a:pt x="416" y="1106"/>
                </a:lnTo>
                <a:cubicBezTo>
                  <a:pt x="416" y="1109"/>
                  <a:pt x="412" y="1109"/>
                  <a:pt x="408" y="1109"/>
                </a:cubicBezTo>
                <a:lnTo>
                  <a:pt x="346" y="1109"/>
                </a:lnTo>
                <a:cubicBezTo>
                  <a:pt x="339" y="1116"/>
                  <a:pt x="329" y="1123"/>
                  <a:pt x="318" y="1126"/>
                </a:cubicBezTo>
                <a:cubicBezTo>
                  <a:pt x="336" y="1137"/>
                  <a:pt x="346" y="1147"/>
                  <a:pt x="353" y="1161"/>
                </a:cubicBezTo>
                <a:cubicBezTo>
                  <a:pt x="370" y="1147"/>
                  <a:pt x="388" y="1133"/>
                  <a:pt x="402" y="1116"/>
                </a:cubicBezTo>
                <a:lnTo>
                  <a:pt x="426" y="1137"/>
                </a:lnTo>
                <a:cubicBezTo>
                  <a:pt x="429" y="1137"/>
                  <a:pt x="429" y="1140"/>
                  <a:pt x="429" y="1140"/>
                </a:cubicBezTo>
                <a:cubicBezTo>
                  <a:pt x="429" y="1140"/>
                  <a:pt x="426" y="1144"/>
                  <a:pt x="423" y="1144"/>
                </a:cubicBezTo>
                <a:cubicBezTo>
                  <a:pt x="419" y="1144"/>
                  <a:pt x="416" y="1144"/>
                  <a:pt x="416" y="1140"/>
                </a:cubicBezTo>
                <a:cubicBezTo>
                  <a:pt x="398" y="1151"/>
                  <a:pt x="384" y="1154"/>
                  <a:pt x="377" y="1158"/>
                </a:cubicBezTo>
                <a:cubicBezTo>
                  <a:pt x="391" y="1182"/>
                  <a:pt x="412" y="1199"/>
                  <a:pt x="443" y="1206"/>
                </a:cubicBezTo>
                <a:lnTo>
                  <a:pt x="440" y="1213"/>
                </a:lnTo>
                <a:cubicBezTo>
                  <a:pt x="426" y="1217"/>
                  <a:pt x="419" y="1223"/>
                  <a:pt x="412" y="1237"/>
                </a:cubicBezTo>
                <a:cubicBezTo>
                  <a:pt x="388" y="1223"/>
                  <a:pt x="374" y="1196"/>
                  <a:pt x="367" y="1161"/>
                </a:cubicBezTo>
                <a:cubicBezTo>
                  <a:pt x="363" y="1161"/>
                  <a:pt x="363" y="1161"/>
                  <a:pt x="360" y="1164"/>
                </a:cubicBezTo>
                <a:cubicBezTo>
                  <a:pt x="356" y="1164"/>
                  <a:pt x="353" y="1168"/>
                  <a:pt x="350" y="1168"/>
                </a:cubicBezTo>
                <a:cubicBezTo>
                  <a:pt x="353" y="1178"/>
                  <a:pt x="353" y="1189"/>
                  <a:pt x="353" y="1199"/>
                </a:cubicBezTo>
                <a:cubicBezTo>
                  <a:pt x="353" y="1230"/>
                  <a:pt x="339" y="1248"/>
                  <a:pt x="305" y="1251"/>
                </a:cubicBezTo>
                <a:cubicBezTo>
                  <a:pt x="305" y="1241"/>
                  <a:pt x="298" y="1230"/>
                  <a:pt x="277" y="1230"/>
                </a:cubicBezTo>
                <a:lnTo>
                  <a:pt x="277" y="1227"/>
                </a:lnTo>
                <a:lnTo>
                  <a:pt x="301" y="1227"/>
                </a:lnTo>
                <a:cubicBezTo>
                  <a:pt x="318" y="1227"/>
                  <a:pt x="325" y="1220"/>
                  <a:pt x="325" y="1203"/>
                </a:cubicBezTo>
                <a:lnTo>
                  <a:pt x="325" y="1189"/>
                </a:lnTo>
                <a:cubicBezTo>
                  <a:pt x="298" y="1210"/>
                  <a:pt x="263" y="1223"/>
                  <a:pt x="221" y="1234"/>
                </a:cubicBezTo>
                <a:lnTo>
                  <a:pt x="218" y="1230"/>
                </a:lnTo>
                <a:cubicBezTo>
                  <a:pt x="259" y="1210"/>
                  <a:pt x="294" y="1189"/>
                  <a:pt x="318" y="1161"/>
                </a:cubicBezTo>
                <a:cubicBezTo>
                  <a:pt x="318" y="1158"/>
                  <a:pt x="318" y="1158"/>
                  <a:pt x="315" y="1154"/>
                </a:cubicBezTo>
                <a:cubicBezTo>
                  <a:pt x="287" y="1175"/>
                  <a:pt x="256" y="1189"/>
                  <a:pt x="218" y="1199"/>
                </a:cubicBezTo>
                <a:lnTo>
                  <a:pt x="214" y="1196"/>
                </a:lnTo>
                <a:cubicBezTo>
                  <a:pt x="249" y="1175"/>
                  <a:pt x="277" y="1154"/>
                  <a:pt x="301" y="1133"/>
                </a:cubicBezTo>
                <a:cubicBezTo>
                  <a:pt x="301" y="1133"/>
                  <a:pt x="301" y="1130"/>
                  <a:pt x="298" y="1130"/>
                </a:cubicBezTo>
                <a:cubicBezTo>
                  <a:pt x="277" y="1144"/>
                  <a:pt x="249" y="1151"/>
                  <a:pt x="218" y="1158"/>
                </a:cubicBezTo>
                <a:lnTo>
                  <a:pt x="214" y="1154"/>
                </a:lnTo>
                <a:cubicBezTo>
                  <a:pt x="249" y="1137"/>
                  <a:pt x="273" y="1119"/>
                  <a:pt x="287" y="1109"/>
                </a:cubicBezTo>
                <a:lnTo>
                  <a:pt x="253" y="1109"/>
                </a:lnTo>
                <a:lnTo>
                  <a:pt x="253" y="1102"/>
                </a:lnTo>
                <a:lnTo>
                  <a:pt x="367" y="1102"/>
                </a:lnTo>
                <a:lnTo>
                  <a:pt x="381" y="1085"/>
                </a:lnTo>
                <a:lnTo>
                  <a:pt x="391" y="1092"/>
                </a:lnTo>
                <a:lnTo>
                  <a:pt x="398" y="1078"/>
                </a:lnTo>
                <a:lnTo>
                  <a:pt x="256" y="1078"/>
                </a:lnTo>
                <a:lnTo>
                  <a:pt x="256" y="1088"/>
                </a:lnTo>
                <a:cubicBezTo>
                  <a:pt x="256" y="1102"/>
                  <a:pt x="249" y="1112"/>
                  <a:pt x="235" y="1112"/>
                </a:cubicBezTo>
                <a:cubicBezTo>
                  <a:pt x="228" y="1112"/>
                  <a:pt x="221" y="1106"/>
                  <a:pt x="221" y="1099"/>
                </a:cubicBezTo>
                <a:cubicBezTo>
                  <a:pt x="221" y="1092"/>
                  <a:pt x="225" y="1088"/>
                  <a:pt x="228" y="1088"/>
                </a:cubicBezTo>
                <a:cubicBezTo>
                  <a:pt x="235" y="1081"/>
                  <a:pt x="242" y="1074"/>
                  <a:pt x="249" y="1064"/>
                </a:cubicBezTo>
                <a:lnTo>
                  <a:pt x="253" y="1064"/>
                </a:lnTo>
                <a:lnTo>
                  <a:pt x="253" y="1067"/>
                </a:lnTo>
                <a:cubicBezTo>
                  <a:pt x="253" y="1071"/>
                  <a:pt x="256" y="1074"/>
                  <a:pt x="256" y="1074"/>
                </a:cubicBezTo>
                <a:lnTo>
                  <a:pt x="322" y="1074"/>
                </a:lnTo>
                <a:lnTo>
                  <a:pt x="315" y="1067"/>
                </a:lnTo>
                <a:cubicBezTo>
                  <a:pt x="315" y="1060"/>
                  <a:pt x="311" y="1053"/>
                  <a:pt x="305" y="1047"/>
                </a:cubicBezTo>
                <a:lnTo>
                  <a:pt x="308" y="1043"/>
                </a:lnTo>
                <a:close/>
                <a:moveTo>
                  <a:pt x="811" y="1040"/>
                </a:moveTo>
                <a:lnTo>
                  <a:pt x="839" y="1047"/>
                </a:lnTo>
                <a:cubicBezTo>
                  <a:pt x="842" y="1047"/>
                  <a:pt x="842" y="1050"/>
                  <a:pt x="842" y="1050"/>
                </a:cubicBezTo>
                <a:cubicBezTo>
                  <a:pt x="842" y="1053"/>
                  <a:pt x="839" y="1053"/>
                  <a:pt x="832" y="1057"/>
                </a:cubicBezTo>
                <a:cubicBezTo>
                  <a:pt x="828" y="1060"/>
                  <a:pt x="825" y="1067"/>
                  <a:pt x="821" y="1071"/>
                </a:cubicBezTo>
                <a:lnTo>
                  <a:pt x="863" y="1071"/>
                </a:lnTo>
                <a:lnTo>
                  <a:pt x="877" y="1053"/>
                </a:lnTo>
                <a:lnTo>
                  <a:pt x="901" y="1071"/>
                </a:lnTo>
                <a:lnTo>
                  <a:pt x="901" y="1074"/>
                </a:lnTo>
                <a:cubicBezTo>
                  <a:pt x="901" y="1078"/>
                  <a:pt x="898" y="1078"/>
                  <a:pt x="894" y="1078"/>
                </a:cubicBezTo>
                <a:lnTo>
                  <a:pt x="846" y="1078"/>
                </a:lnTo>
                <a:cubicBezTo>
                  <a:pt x="863" y="1081"/>
                  <a:pt x="870" y="1088"/>
                  <a:pt x="870" y="1095"/>
                </a:cubicBezTo>
                <a:cubicBezTo>
                  <a:pt x="870" y="1102"/>
                  <a:pt x="866" y="1106"/>
                  <a:pt x="856" y="1109"/>
                </a:cubicBezTo>
                <a:cubicBezTo>
                  <a:pt x="849" y="1106"/>
                  <a:pt x="846" y="1102"/>
                  <a:pt x="846" y="1099"/>
                </a:cubicBezTo>
                <a:cubicBezTo>
                  <a:pt x="846" y="1092"/>
                  <a:pt x="842" y="1081"/>
                  <a:pt x="835" y="1074"/>
                </a:cubicBezTo>
                <a:lnTo>
                  <a:pt x="825" y="1074"/>
                </a:lnTo>
                <a:lnTo>
                  <a:pt x="804" y="1095"/>
                </a:lnTo>
                <a:lnTo>
                  <a:pt x="814" y="1095"/>
                </a:lnTo>
                <a:cubicBezTo>
                  <a:pt x="818" y="1095"/>
                  <a:pt x="818" y="1095"/>
                  <a:pt x="818" y="1099"/>
                </a:cubicBezTo>
                <a:cubicBezTo>
                  <a:pt x="818" y="1102"/>
                  <a:pt x="814" y="1106"/>
                  <a:pt x="811" y="1106"/>
                </a:cubicBezTo>
                <a:lnTo>
                  <a:pt x="811" y="1112"/>
                </a:lnTo>
                <a:lnTo>
                  <a:pt x="870" y="1112"/>
                </a:lnTo>
                <a:lnTo>
                  <a:pt x="884" y="1095"/>
                </a:lnTo>
                <a:lnTo>
                  <a:pt x="908" y="1112"/>
                </a:lnTo>
                <a:lnTo>
                  <a:pt x="911" y="1116"/>
                </a:lnTo>
                <a:cubicBezTo>
                  <a:pt x="911" y="1116"/>
                  <a:pt x="908" y="1119"/>
                  <a:pt x="905" y="1119"/>
                </a:cubicBezTo>
                <a:lnTo>
                  <a:pt x="811" y="1119"/>
                </a:lnTo>
                <a:lnTo>
                  <a:pt x="811" y="1140"/>
                </a:lnTo>
                <a:lnTo>
                  <a:pt x="846" y="1140"/>
                </a:lnTo>
                <a:lnTo>
                  <a:pt x="853" y="1126"/>
                </a:lnTo>
                <a:lnTo>
                  <a:pt x="877" y="1137"/>
                </a:lnTo>
                <a:cubicBezTo>
                  <a:pt x="880" y="1137"/>
                  <a:pt x="880" y="1140"/>
                  <a:pt x="880" y="1140"/>
                </a:cubicBezTo>
                <a:cubicBezTo>
                  <a:pt x="880" y="1144"/>
                  <a:pt x="877" y="1147"/>
                  <a:pt x="873" y="1151"/>
                </a:cubicBezTo>
                <a:lnTo>
                  <a:pt x="873" y="1168"/>
                </a:lnTo>
                <a:lnTo>
                  <a:pt x="855" y="1184"/>
                </a:lnTo>
                <a:lnTo>
                  <a:pt x="830" y="1171"/>
                </a:lnTo>
                <a:lnTo>
                  <a:pt x="839" y="1171"/>
                </a:lnTo>
                <a:cubicBezTo>
                  <a:pt x="846" y="1171"/>
                  <a:pt x="849" y="1171"/>
                  <a:pt x="849" y="1164"/>
                </a:cubicBezTo>
                <a:lnTo>
                  <a:pt x="849" y="1144"/>
                </a:lnTo>
                <a:lnTo>
                  <a:pt x="811" y="1144"/>
                </a:lnTo>
                <a:lnTo>
                  <a:pt x="811" y="1161"/>
                </a:lnTo>
                <a:lnTo>
                  <a:pt x="830" y="1171"/>
                </a:lnTo>
                <a:lnTo>
                  <a:pt x="828" y="1171"/>
                </a:lnTo>
                <a:lnTo>
                  <a:pt x="828" y="1175"/>
                </a:lnTo>
                <a:cubicBezTo>
                  <a:pt x="842" y="1178"/>
                  <a:pt x="846" y="1185"/>
                  <a:pt x="846" y="1192"/>
                </a:cubicBezTo>
                <a:lnTo>
                  <a:pt x="855" y="1184"/>
                </a:lnTo>
                <a:lnTo>
                  <a:pt x="908" y="1213"/>
                </a:lnTo>
                <a:lnTo>
                  <a:pt x="908" y="1220"/>
                </a:lnTo>
                <a:cubicBezTo>
                  <a:pt x="898" y="1223"/>
                  <a:pt x="887" y="1230"/>
                  <a:pt x="884" y="1244"/>
                </a:cubicBezTo>
                <a:cubicBezTo>
                  <a:pt x="849" y="1230"/>
                  <a:pt x="825" y="1210"/>
                  <a:pt x="811" y="1175"/>
                </a:cubicBezTo>
                <a:lnTo>
                  <a:pt x="811" y="1244"/>
                </a:lnTo>
                <a:cubicBezTo>
                  <a:pt x="811" y="1248"/>
                  <a:pt x="807" y="1251"/>
                  <a:pt x="804" y="1251"/>
                </a:cubicBezTo>
                <a:cubicBezTo>
                  <a:pt x="797" y="1255"/>
                  <a:pt x="790" y="1255"/>
                  <a:pt x="783" y="1255"/>
                </a:cubicBezTo>
                <a:lnTo>
                  <a:pt x="783" y="1227"/>
                </a:lnTo>
                <a:lnTo>
                  <a:pt x="783" y="1196"/>
                </a:lnTo>
                <a:cubicBezTo>
                  <a:pt x="759" y="1220"/>
                  <a:pt x="728" y="1237"/>
                  <a:pt x="689" y="1248"/>
                </a:cubicBezTo>
                <a:lnTo>
                  <a:pt x="686" y="1244"/>
                </a:lnTo>
                <a:cubicBezTo>
                  <a:pt x="728" y="1220"/>
                  <a:pt x="759" y="1192"/>
                  <a:pt x="783" y="1158"/>
                </a:cubicBezTo>
                <a:lnTo>
                  <a:pt x="783" y="1151"/>
                </a:lnTo>
                <a:lnTo>
                  <a:pt x="742" y="1151"/>
                </a:lnTo>
                <a:lnTo>
                  <a:pt x="742" y="1192"/>
                </a:lnTo>
                <a:cubicBezTo>
                  <a:pt x="742" y="1196"/>
                  <a:pt x="738" y="1199"/>
                  <a:pt x="735" y="1199"/>
                </a:cubicBezTo>
                <a:cubicBezTo>
                  <a:pt x="728" y="1203"/>
                  <a:pt x="721" y="1203"/>
                  <a:pt x="714" y="1203"/>
                </a:cubicBezTo>
                <a:lnTo>
                  <a:pt x="714" y="1161"/>
                </a:lnTo>
                <a:lnTo>
                  <a:pt x="714" y="1137"/>
                </a:lnTo>
                <a:lnTo>
                  <a:pt x="745" y="1144"/>
                </a:lnTo>
                <a:lnTo>
                  <a:pt x="780" y="1144"/>
                </a:lnTo>
                <a:lnTo>
                  <a:pt x="780" y="1126"/>
                </a:lnTo>
                <a:lnTo>
                  <a:pt x="696" y="1126"/>
                </a:lnTo>
                <a:lnTo>
                  <a:pt x="696" y="1119"/>
                </a:lnTo>
                <a:lnTo>
                  <a:pt x="700" y="1123"/>
                </a:lnTo>
                <a:lnTo>
                  <a:pt x="710" y="1112"/>
                </a:lnTo>
                <a:lnTo>
                  <a:pt x="762" y="1112"/>
                </a:lnTo>
                <a:lnTo>
                  <a:pt x="780" y="1112"/>
                </a:lnTo>
                <a:lnTo>
                  <a:pt x="780" y="1092"/>
                </a:lnTo>
                <a:lnTo>
                  <a:pt x="790" y="1092"/>
                </a:lnTo>
                <a:lnTo>
                  <a:pt x="796" y="1078"/>
                </a:lnTo>
                <a:lnTo>
                  <a:pt x="801" y="1078"/>
                </a:lnTo>
                <a:cubicBezTo>
                  <a:pt x="804" y="1078"/>
                  <a:pt x="807" y="1074"/>
                  <a:pt x="807" y="1074"/>
                </a:cubicBezTo>
                <a:lnTo>
                  <a:pt x="804" y="1071"/>
                </a:lnTo>
                <a:lnTo>
                  <a:pt x="800" y="1068"/>
                </a:lnTo>
                <a:lnTo>
                  <a:pt x="811" y="1040"/>
                </a:lnTo>
                <a:close/>
                <a:moveTo>
                  <a:pt x="724" y="1040"/>
                </a:moveTo>
                <a:lnTo>
                  <a:pt x="756" y="1047"/>
                </a:lnTo>
                <a:cubicBezTo>
                  <a:pt x="759" y="1047"/>
                  <a:pt x="759" y="1047"/>
                  <a:pt x="759" y="1050"/>
                </a:cubicBezTo>
                <a:cubicBezTo>
                  <a:pt x="759" y="1053"/>
                  <a:pt x="756" y="1057"/>
                  <a:pt x="752" y="1057"/>
                </a:cubicBezTo>
                <a:cubicBezTo>
                  <a:pt x="748" y="1060"/>
                  <a:pt x="745" y="1067"/>
                  <a:pt x="742" y="1071"/>
                </a:cubicBezTo>
                <a:lnTo>
                  <a:pt x="773" y="1071"/>
                </a:lnTo>
                <a:lnTo>
                  <a:pt x="783" y="1057"/>
                </a:lnTo>
                <a:lnTo>
                  <a:pt x="800" y="1068"/>
                </a:lnTo>
                <a:lnTo>
                  <a:pt x="796" y="1078"/>
                </a:lnTo>
                <a:lnTo>
                  <a:pt x="752" y="1078"/>
                </a:lnTo>
                <a:cubicBezTo>
                  <a:pt x="766" y="1081"/>
                  <a:pt x="776" y="1088"/>
                  <a:pt x="776" y="1099"/>
                </a:cubicBezTo>
                <a:cubicBezTo>
                  <a:pt x="776" y="1106"/>
                  <a:pt x="769" y="1112"/>
                  <a:pt x="762" y="1112"/>
                </a:cubicBezTo>
                <a:cubicBezTo>
                  <a:pt x="759" y="1112"/>
                  <a:pt x="756" y="1109"/>
                  <a:pt x="756" y="1106"/>
                </a:cubicBezTo>
                <a:cubicBezTo>
                  <a:pt x="756" y="1095"/>
                  <a:pt x="752" y="1088"/>
                  <a:pt x="748" y="1081"/>
                </a:cubicBezTo>
                <a:lnTo>
                  <a:pt x="742" y="1081"/>
                </a:lnTo>
                <a:lnTo>
                  <a:pt x="710" y="1112"/>
                </a:lnTo>
                <a:lnTo>
                  <a:pt x="696" y="1112"/>
                </a:lnTo>
                <a:lnTo>
                  <a:pt x="696" y="1119"/>
                </a:lnTo>
                <a:lnTo>
                  <a:pt x="689" y="1112"/>
                </a:lnTo>
                <a:cubicBezTo>
                  <a:pt x="710" y="1085"/>
                  <a:pt x="721" y="1064"/>
                  <a:pt x="724" y="1040"/>
                </a:cubicBezTo>
                <a:moveTo>
                  <a:pt x="593" y="1040"/>
                </a:moveTo>
                <a:lnTo>
                  <a:pt x="627" y="1047"/>
                </a:lnTo>
                <a:cubicBezTo>
                  <a:pt x="631" y="1047"/>
                  <a:pt x="631" y="1050"/>
                  <a:pt x="631" y="1050"/>
                </a:cubicBezTo>
                <a:cubicBezTo>
                  <a:pt x="631" y="1053"/>
                  <a:pt x="627" y="1057"/>
                  <a:pt x="620" y="1057"/>
                </a:cubicBezTo>
                <a:lnTo>
                  <a:pt x="610" y="1088"/>
                </a:lnTo>
                <a:lnTo>
                  <a:pt x="637" y="1088"/>
                </a:lnTo>
                <a:lnTo>
                  <a:pt x="651" y="1067"/>
                </a:lnTo>
                <a:lnTo>
                  <a:pt x="676" y="1085"/>
                </a:lnTo>
                <a:cubicBezTo>
                  <a:pt x="676" y="1085"/>
                  <a:pt x="679" y="1085"/>
                  <a:pt x="679" y="1088"/>
                </a:cubicBezTo>
                <a:cubicBezTo>
                  <a:pt x="679" y="1092"/>
                  <a:pt x="676" y="1092"/>
                  <a:pt x="672" y="1092"/>
                </a:cubicBezTo>
                <a:lnTo>
                  <a:pt x="658" y="1092"/>
                </a:lnTo>
                <a:cubicBezTo>
                  <a:pt x="651" y="1137"/>
                  <a:pt x="641" y="1168"/>
                  <a:pt x="627" y="1189"/>
                </a:cubicBezTo>
                <a:cubicBezTo>
                  <a:pt x="641" y="1203"/>
                  <a:pt x="662" y="1213"/>
                  <a:pt x="683" y="1220"/>
                </a:cubicBezTo>
                <a:lnTo>
                  <a:pt x="683" y="1223"/>
                </a:lnTo>
                <a:cubicBezTo>
                  <a:pt x="672" y="1227"/>
                  <a:pt x="665" y="1234"/>
                  <a:pt x="658" y="1244"/>
                </a:cubicBezTo>
                <a:cubicBezTo>
                  <a:pt x="637" y="1230"/>
                  <a:pt x="623" y="1217"/>
                  <a:pt x="613" y="1206"/>
                </a:cubicBezTo>
                <a:cubicBezTo>
                  <a:pt x="596" y="1220"/>
                  <a:pt x="571" y="1234"/>
                  <a:pt x="533" y="1248"/>
                </a:cubicBezTo>
                <a:lnTo>
                  <a:pt x="530" y="1244"/>
                </a:lnTo>
                <a:cubicBezTo>
                  <a:pt x="565" y="1227"/>
                  <a:pt x="589" y="1206"/>
                  <a:pt x="599" y="1189"/>
                </a:cubicBezTo>
                <a:cubicBezTo>
                  <a:pt x="593" y="1171"/>
                  <a:pt x="589" y="1154"/>
                  <a:pt x="585" y="1133"/>
                </a:cubicBezTo>
                <a:cubicBezTo>
                  <a:pt x="578" y="1144"/>
                  <a:pt x="571" y="1158"/>
                  <a:pt x="561" y="1168"/>
                </a:cubicBezTo>
                <a:lnTo>
                  <a:pt x="558" y="1164"/>
                </a:lnTo>
                <a:cubicBezTo>
                  <a:pt x="561" y="1158"/>
                  <a:pt x="561" y="1151"/>
                  <a:pt x="565" y="1140"/>
                </a:cubicBezTo>
                <a:cubicBezTo>
                  <a:pt x="568" y="1137"/>
                  <a:pt x="568" y="1133"/>
                  <a:pt x="568" y="1130"/>
                </a:cubicBezTo>
                <a:lnTo>
                  <a:pt x="541" y="1130"/>
                </a:lnTo>
                <a:lnTo>
                  <a:pt x="541" y="1189"/>
                </a:lnTo>
                <a:cubicBezTo>
                  <a:pt x="551" y="1185"/>
                  <a:pt x="561" y="1182"/>
                  <a:pt x="571" y="1182"/>
                </a:cubicBezTo>
                <a:lnTo>
                  <a:pt x="575" y="1185"/>
                </a:lnTo>
                <a:cubicBezTo>
                  <a:pt x="547" y="1199"/>
                  <a:pt x="513" y="1213"/>
                  <a:pt x="478" y="1227"/>
                </a:cubicBezTo>
                <a:cubicBezTo>
                  <a:pt x="478" y="1230"/>
                  <a:pt x="475" y="1234"/>
                  <a:pt x="471" y="1234"/>
                </a:cubicBezTo>
                <a:cubicBezTo>
                  <a:pt x="467" y="1234"/>
                  <a:pt x="467" y="1234"/>
                  <a:pt x="467" y="1230"/>
                </a:cubicBezTo>
                <a:lnTo>
                  <a:pt x="457" y="1203"/>
                </a:lnTo>
                <a:cubicBezTo>
                  <a:pt x="461" y="1203"/>
                  <a:pt x="464" y="1203"/>
                  <a:pt x="471" y="1199"/>
                </a:cubicBezTo>
                <a:lnTo>
                  <a:pt x="475" y="1199"/>
                </a:lnTo>
                <a:lnTo>
                  <a:pt x="475" y="1137"/>
                </a:lnTo>
                <a:lnTo>
                  <a:pt x="475" y="1099"/>
                </a:lnTo>
                <a:lnTo>
                  <a:pt x="506" y="1102"/>
                </a:lnTo>
                <a:cubicBezTo>
                  <a:pt x="509" y="1102"/>
                  <a:pt x="509" y="1102"/>
                  <a:pt x="509" y="1106"/>
                </a:cubicBezTo>
                <a:cubicBezTo>
                  <a:pt x="509" y="1109"/>
                  <a:pt x="506" y="1112"/>
                  <a:pt x="499" y="1112"/>
                </a:cubicBezTo>
                <a:lnTo>
                  <a:pt x="499" y="1196"/>
                </a:lnTo>
                <a:cubicBezTo>
                  <a:pt x="506" y="1196"/>
                  <a:pt x="513" y="1192"/>
                  <a:pt x="519" y="1192"/>
                </a:cubicBezTo>
                <a:lnTo>
                  <a:pt x="519" y="1071"/>
                </a:lnTo>
                <a:lnTo>
                  <a:pt x="467" y="1071"/>
                </a:lnTo>
                <a:lnTo>
                  <a:pt x="467" y="1064"/>
                </a:lnTo>
                <a:lnTo>
                  <a:pt x="544" y="1064"/>
                </a:lnTo>
                <a:lnTo>
                  <a:pt x="558" y="1047"/>
                </a:lnTo>
                <a:lnTo>
                  <a:pt x="582" y="1064"/>
                </a:lnTo>
                <a:cubicBezTo>
                  <a:pt x="582" y="1064"/>
                  <a:pt x="585" y="1064"/>
                  <a:pt x="585" y="1067"/>
                </a:cubicBezTo>
                <a:cubicBezTo>
                  <a:pt x="585" y="1071"/>
                  <a:pt x="582" y="1071"/>
                  <a:pt x="578" y="1071"/>
                </a:cubicBezTo>
                <a:lnTo>
                  <a:pt x="547" y="1071"/>
                </a:lnTo>
                <a:lnTo>
                  <a:pt x="547" y="1123"/>
                </a:lnTo>
                <a:lnTo>
                  <a:pt x="551" y="1123"/>
                </a:lnTo>
                <a:lnTo>
                  <a:pt x="561" y="1109"/>
                </a:lnTo>
                <a:lnTo>
                  <a:pt x="578" y="1123"/>
                </a:lnTo>
                <a:cubicBezTo>
                  <a:pt x="589" y="1092"/>
                  <a:pt x="593" y="1067"/>
                  <a:pt x="593" y="1040"/>
                </a:cubicBezTo>
                <a:moveTo>
                  <a:pt x="169" y="1040"/>
                </a:moveTo>
                <a:lnTo>
                  <a:pt x="194" y="1050"/>
                </a:lnTo>
                <a:cubicBezTo>
                  <a:pt x="197" y="1050"/>
                  <a:pt x="197" y="1053"/>
                  <a:pt x="197" y="1053"/>
                </a:cubicBezTo>
                <a:cubicBezTo>
                  <a:pt x="197" y="1057"/>
                  <a:pt x="194" y="1060"/>
                  <a:pt x="187" y="1064"/>
                </a:cubicBezTo>
                <a:lnTo>
                  <a:pt x="187" y="1189"/>
                </a:lnTo>
                <a:cubicBezTo>
                  <a:pt x="187" y="1206"/>
                  <a:pt x="187" y="1220"/>
                  <a:pt x="190" y="1234"/>
                </a:cubicBezTo>
                <a:cubicBezTo>
                  <a:pt x="190" y="1237"/>
                  <a:pt x="187" y="1241"/>
                  <a:pt x="183" y="1241"/>
                </a:cubicBezTo>
                <a:cubicBezTo>
                  <a:pt x="187" y="1248"/>
                  <a:pt x="180" y="1248"/>
                  <a:pt x="169" y="1248"/>
                </a:cubicBezTo>
                <a:lnTo>
                  <a:pt x="169" y="1227"/>
                </a:lnTo>
                <a:lnTo>
                  <a:pt x="169" y="1201"/>
                </a:lnTo>
                <a:lnTo>
                  <a:pt x="173" y="1199"/>
                </a:lnTo>
                <a:cubicBezTo>
                  <a:pt x="173" y="1196"/>
                  <a:pt x="173" y="1196"/>
                  <a:pt x="169" y="1196"/>
                </a:cubicBezTo>
                <a:lnTo>
                  <a:pt x="169" y="1064"/>
                </a:lnTo>
                <a:lnTo>
                  <a:pt x="31" y="1064"/>
                </a:lnTo>
                <a:lnTo>
                  <a:pt x="31" y="1227"/>
                </a:lnTo>
                <a:lnTo>
                  <a:pt x="31" y="1237"/>
                </a:lnTo>
                <a:cubicBezTo>
                  <a:pt x="31" y="1241"/>
                  <a:pt x="27" y="1244"/>
                  <a:pt x="24" y="1244"/>
                </a:cubicBezTo>
                <a:lnTo>
                  <a:pt x="20" y="1244"/>
                </a:lnTo>
                <a:cubicBezTo>
                  <a:pt x="13" y="1244"/>
                  <a:pt x="10" y="1248"/>
                  <a:pt x="3" y="1248"/>
                </a:cubicBezTo>
                <a:lnTo>
                  <a:pt x="3" y="1099"/>
                </a:lnTo>
                <a:lnTo>
                  <a:pt x="3" y="1047"/>
                </a:lnTo>
                <a:lnTo>
                  <a:pt x="34" y="1053"/>
                </a:lnTo>
                <a:lnTo>
                  <a:pt x="162" y="1053"/>
                </a:lnTo>
                <a:lnTo>
                  <a:pt x="169" y="1040"/>
                </a:lnTo>
                <a:close/>
                <a:moveTo>
                  <a:pt x="568" y="721"/>
                </a:moveTo>
                <a:lnTo>
                  <a:pt x="568" y="728"/>
                </a:lnTo>
                <a:lnTo>
                  <a:pt x="596" y="728"/>
                </a:lnTo>
                <a:lnTo>
                  <a:pt x="593" y="721"/>
                </a:lnTo>
                <a:lnTo>
                  <a:pt x="568" y="721"/>
                </a:lnTo>
                <a:close/>
                <a:moveTo>
                  <a:pt x="502" y="721"/>
                </a:moveTo>
                <a:lnTo>
                  <a:pt x="502" y="724"/>
                </a:lnTo>
                <a:lnTo>
                  <a:pt x="530" y="724"/>
                </a:lnTo>
                <a:lnTo>
                  <a:pt x="530" y="721"/>
                </a:lnTo>
                <a:lnTo>
                  <a:pt x="502" y="721"/>
                </a:lnTo>
                <a:close/>
                <a:moveTo>
                  <a:pt x="658" y="720"/>
                </a:moveTo>
                <a:lnTo>
                  <a:pt x="658" y="720"/>
                </a:lnTo>
                <a:lnTo>
                  <a:pt x="658" y="721"/>
                </a:lnTo>
                <a:lnTo>
                  <a:pt x="658" y="720"/>
                </a:lnTo>
                <a:close/>
                <a:moveTo>
                  <a:pt x="450" y="719"/>
                </a:moveTo>
                <a:lnTo>
                  <a:pt x="453" y="719"/>
                </a:lnTo>
                <a:lnTo>
                  <a:pt x="453" y="721"/>
                </a:lnTo>
                <a:lnTo>
                  <a:pt x="450" y="721"/>
                </a:lnTo>
                <a:lnTo>
                  <a:pt x="450" y="719"/>
                </a:lnTo>
                <a:close/>
                <a:moveTo>
                  <a:pt x="440" y="719"/>
                </a:moveTo>
                <a:lnTo>
                  <a:pt x="443" y="719"/>
                </a:lnTo>
                <a:lnTo>
                  <a:pt x="443" y="721"/>
                </a:lnTo>
                <a:lnTo>
                  <a:pt x="440" y="721"/>
                </a:lnTo>
                <a:lnTo>
                  <a:pt x="440" y="719"/>
                </a:lnTo>
                <a:close/>
                <a:moveTo>
                  <a:pt x="436" y="719"/>
                </a:moveTo>
                <a:lnTo>
                  <a:pt x="438" y="719"/>
                </a:lnTo>
                <a:lnTo>
                  <a:pt x="436" y="721"/>
                </a:lnTo>
                <a:lnTo>
                  <a:pt x="436" y="719"/>
                </a:lnTo>
                <a:close/>
                <a:moveTo>
                  <a:pt x="347" y="718"/>
                </a:moveTo>
                <a:lnTo>
                  <a:pt x="360" y="718"/>
                </a:lnTo>
                <a:lnTo>
                  <a:pt x="360" y="721"/>
                </a:lnTo>
                <a:lnTo>
                  <a:pt x="357" y="724"/>
                </a:lnTo>
                <a:lnTo>
                  <a:pt x="357" y="721"/>
                </a:lnTo>
                <a:lnTo>
                  <a:pt x="350" y="721"/>
                </a:lnTo>
                <a:lnTo>
                  <a:pt x="347" y="718"/>
                </a:lnTo>
                <a:close/>
                <a:moveTo>
                  <a:pt x="325" y="718"/>
                </a:moveTo>
                <a:lnTo>
                  <a:pt x="332" y="718"/>
                </a:lnTo>
                <a:lnTo>
                  <a:pt x="332" y="721"/>
                </a:lnTo>
                <a:lnTo>
                  <a:pt x="325" y="721"/>
                </a:lnTo>
                <a:lnTo>
                  <a:pt x="325" y="721"/>
                </a:lnTo>
                <a:lnTo>
                  <a:pt x="325" y="718"/>
                </a:lnTo>
                <a:close/>
                <a:moveTo>
                  <a:pt x="323" y="718"/>
                </a:moveTo>
                <a:lnTo>
                  <a:pt x="323" y="718"/>
                </a:lnTo>
                <a:lnTo>
                  <a:pt x="325" y="721"/>
                </a:lnTo>
                <a:lnTo>
                  <a:pt x="325" y="721"/>
                </a:lnTo>
                <a:lnTo>
                  <a:pt x="323" y="718"/>
                </a:lnTo>
                <a:close/>
                <a:moveTo>
                  <a:pt x="301" y="717"/>
                </a:moveTo>
                <a:lnTo>
                  <a:pt x="322" y="717"/>
                </a:lnTo>
                <a:lnTo>
                  <a:pt x="323" y="718"/>
                </a:lnTo>
                <a:lnTo>
                  <a:pt x="301" y="718"/>
                </a:lnTo>
                <a:lnTo>
                  <a:pt x="301" y="717"/>
                </a:lnTo>
                <a:close/>
                <a:moveTo>
                  <a:pt x="440" y="717"/>
                </a:moveTo>
                <a:lnTo>
                  <a:pt x="440" y="719"/>
                </a:lnTo>
                <a:lnTo>
                  <a:pt x="438" y="719"/>
                </a:lnTo>
                <a:lnTo>
                  <a:pt x="440" y="717"/>
                </a:lnTo>
                <a:close/>
                <a:moveTo>
                  <a:pt x="433" y="717"/>
                </a:moveTo>
                <a:lnTo>
                  <a:pt x="436" y="717"/>
                </a:lnTo>
                <a:lnTo>
                  <a:pt x="436" y="719"/>
                </a:lnTo>
                <a:lnTo>
                  <a:pt x="431" y="719"/>
                </a:lnTo>
                <a:lnTo>
                  <a:pt x="433" y="717"/>
                </a:lnTo>
                <a:close/>
                <a:moveTo>
                  <a:pt x="360" y="717"/>
                </a:moveTo>
                <a:lnTo>
                  <a:pt x="384" y="717"/>
                </a:lnTo>
                <a:lnTo>
                  <a:pt x="384" y="718"/>
                </a:lnTo>
                <a:lnTo>
                  <a:pt x="360" y="718"/>
                </a:lnTo>
                <a:lnTo>
                  <a:pt x="360" y="717"/>
                </a:lnTo>
                <a:close/>
                <a:moveTo>
                  <a:pt x="481" y="717"/>
                </a:moveTo>
                <a:lnTo>
                  <a:pt x="485" y="717"/>
                </a:lnTo>
                <a:lnTo>
                  <a:pt x="485" y="719"/>
                </a:lnTo>
                <a:lnTo>
                  <a:pt x="481" y="719"/>
                </a:lnTo>
                <a:lnTo>
                  <a:pt x="481" y="717"/>
                </a:lnTo>
                <a:close/>
                <a:moveTo>
                  <a:pt x="467" y="717"/>
                </a:moveTo>
                <a:lnTo>
                  <a:pt x="469" y="719"/>
                </a:lnTo>
                <a:lnTo>
                  <a:pt x="467" y="719"/>
                </a:lnTo>
                <a:lnTo>
                  <a:pt x="467" y="717"/>
                </a:lnTo>
                <a:close/>
                <a:moveTo>
                  <a:pt x="256" y="714"/>
                </a:moveTo>
                <a:lnTo>
                  <a:pt x="256" y="717"/>
                </a:lnTo>
                <a:lnTo>
                  <a:pt x="263" y="717"/>
                </a:lnTo>
                <a:lnTo>
                  <a:pt x="256" y="714"/>
                </a:lnTo>
                <a:close/>
                <a:moveTo>
                  <a:pt x="232" y="714"/>
                </a:moveTo>
                <a:lnTo>
                  <a:pt x="232" y="717"/>
                </a:lnTo>
                <a:lnTo>
                  <a:pt x="239" y="717"/>
                </a:lnTo>
                <a:lnTo>
                  <a:pt x="232" y="714"/>
                </a:lnTo>
                <a:close/>
                <a:moveTo>
                  <a:pt x="211" y="714"/>
                </a:moveTo>
                <a:lnTo>
                  <a:pt x="214" y="715"/>
                </a:lnTo>
                <a:lnTo>
                  <a:pt x="214" y="717"/>
                </a:lnTo>
                <a:lnTo>
                  <a:pt x="218" y="717"/>
                </a:lnTo>
                <a:lnTo>
                  <a:pt x="218" y="717"/>
                </a:lnTo>
                <a:lnTo>
                  <a:pt x="211" y="717"/>
                </a:lnTo>
                <a:lnTo>
                  <a:pt x="211" y="714"/>
                </a:lnTo>
                <a:close/>
                <a:moveTo>
                  <a:pt x="679" y="714"/>
                </a:moveTo>
                <a:lnTo>
                  <a:pt x="717" y="714"/>
                </a:lnTo>
                <a:lnTo>
                  <a:pt x="717" y="718"/>
                </a:lnTo>
                <a:lnTo>
                  <a:pt x="716" y="719"/>
                </a:lnTo>
                <a:lnTo>
                  <a:pt x="684" y="741"/>
                </a:lnTo>
                <a:lnTo>
                  <a:pt x="215" y="735"/>
                </a:lnTo>
                <a:lnTo>
                  <a:pt x="192" y="719"/>
                </a:lnTo>
                <a:lnTo>
                  <a:pt x="188" y="714"/>
                </a:lnTo>
                <a:lnTo>
                  <a:pt x="208" y="714"/>
                </a:lnTo>
                <a:lnTo>
                  <a:pt x="208" y="724"/>
                </a:lnTo>
                <a:lnTo>
                  <a:pt x="287" y="724"/>
                </a:lnTo>
                <a:lnTo>
                  <a:pt x="290" y="718"/>
                </a:lnTo>
                <a:lnTo>
                  <a:pt x="301" y="718"/>
                </a:lnTo>
                <a:lnTo>
                  <a:pt x="301" y="721"/>
                </a:lnTo>
                <a:lnTo>
                  <a:pt x="298" y="728"/>
                </a:lnTo>
                <a:lnTo>
                  <a:pt x="357" y="728"/>
                </a:lnTo>
                <a:lnTo>
                  <a:pt x="357" y="724"/>
                </a:lnTo>
                <a:lnTo>
                  <a:pt x="388" y="724"/>
                </a:lnTo>
                <a:lnTo>
                  <a:pt x="388" y="721"/>
                </a:lnTo>
                <a:lnTo>
                  <a:pt x="384" y="721"/>
                </a:lnTo>
                <a:lnTo>
                  <a:pt x="384" y="718"/>
                </a:lnTo>
                <a:lnTo>
                  <a:pt x="431" y="719"/>
                </a:lnTo>
                <a:lnTo>
                  <a:pt x="429" y="721"/>
                </a:lnTo>
                <a:lnTo>
                  <a:pt x="429" y="724"/>
                </a:lnTo>
                <a:lnTo>
                  <a:pt x="461" y="724"/>
                </a:lnTo>
                <a:lnTo>
                  <a:pt x="457" y="721"/>
                </a:lnTo>
                <a:lnTo>
                  <a:pt x="457" y="719"/>
                </a:lnTo>
                <a:lnTo>
                  <a:pt x="467" y="719"/>
                </a:lnTo>
                <a:lnTo>
                  <a:pt x="467" y="721"/>
                </a:lnTo>
                <a:lnTo>
                  <a:pt x="471" y="721"/>
                </a:lnTo>
                <a:lnTo>
                  <a:pt x="469" y="719"/>
                </a:lnTo>
                <a:lnTo>
                  <a:pt x="471" y="719"/>
                </a:lnTo>
                <a:lnTo>
                  <a:pt x="481" y="719"/>
                </a:lnTo>
                <a:lnTo>
                  <a:pt x="481" y="721"/>
                </a:lnTo>
                <a:lnTo>
                  <a:pt x="485" y="721"/>
                </a:lnTo>
                <a:lnTo>
                  <a:pt x="485" y="719"/>
                </a:lnTo>
                <a:lnTo>
                  <a:pt x="487" y="719"/>
                </a:lnTo>
                <a:lnTo>
                  <a:pt x="545" y="720"/>
                </a:lnTo>
                <a:lnTo>
                  <a:pt x="544" y="721"/>
                </a:lnTo>
                <a:lnTo>
                  <a:pt x="537" y="721"/>
                </a:lnTo>
                <a:lnTo>
                  <a:pt x="537" y="728"/>
                </a:lnTo>
                <a:lnTo>
                  <a:pt x="565" y="728"/>
                </a:lnTo>
                <a:lnTo>
                  <a:pt x="565" y="724"/>
                </a:lnTo>
                <a:lnTo>
                  <a:pt x="558" y="724"/>
                </a:lnTo>
                <a:lnTo>
                  <a:pt x="558" y="721"/>
                </a:lnTo>
                <a:lnTo>
                  <a:pt x="554" y="721"/>
                </a:lnTo>
                <a:lnTo>
                  <a:pt x="554" y="720"/>
                </a:lnTo>
                <a:lnTo>
                  <a:pt x="599" y="720"/>
                </a:lnTo>
                <a:lnTo>
                  <a:pt x="599" y="721"/>
                </a:lnTo>
                <a:lnTo>
                  <a:pt x="606" y="721"/>
                </a:lnTo>
                <a:lnTo>
                  <a:pt x="613" y="721"/>
                </a:lnTo>
                <a:lnTo>
                  <a:pt x="613" y="724"/>
                </a:lnTo>
                <a:lnTo>
                  <a:pt x="620" y="724"/>
                </a:lnTo>
                <a:cubicBezTo>
                  <a:pt x="620" y="721"/>
                  <a:pt x="620" y="717"/>
                  <a:pt x="617" y="721"/>
                </a:cubicBezTo>
                <a:lnTo>
                  <a:pt x="623" y="721"/>
                </a:lnTo>
                <a:lnTo>
                  <a:pt x="623" y="724"/>
                </a:lnTo>
                <a:lnTo>
                  <a:pt x="631" y="724"/>
                </a:lnTo>
                <a:lnTo>
                  <a:pt x="631" y="721"/>
                </a:lnTo>
                <a:lnTo>
                  <a:pt x="648" y="721"/>
                </a:lnTo>
                <a:lnTo>
                  <a:pt x="648" y="724"/>
                </a:lnTo>
                <a:lnTo>
                  <a:pt x="651" y="724"/>
                </a:lnTo>
                <a:lnTo>
                  <a:pt x="658" y="721"/>
                </a:lnTo>
                <a:lnTo>
                  <a:pt x="665" y="721"/>
                </a:lnTo>
                <a:lnTo>
                  <a:pt x="676" y="721"/>
                </a:lnTo>
                <a:lnTo>
                  <a:pt x="676" y="724"/>
                </a:lnTo>
                <a:lnTo>
                  <a:pt x="679" y="724"/>
                </a:lnTo>
                <a:lnTo>
                  <a:pt x="676" y="721"/>
                </a:lnTo>
                <a:lnTo>
                  <a:pt x="679" y="721"/>
                </a:lnTo>
                <a:lnTo>
                  <a:pt x="679" y="714"/>
                </a:lnTo>
                <a:close/>
                <a:moveTo>
                  <a:pt x="401" y="714"/>
                </a:moveTo>
                <a:lnTo>
                  <a:pt x="405" y="717"/>
                </a:lnTo>
                <a:lnTo>
                  <a:pt x="401" y="717"/>
                </a:lnTo>
                <a:lnTo>
                  <a:pt x="401" y="714"/>
                </a:lnTo>
                <a:close/>
                <a:moveTo>
                  <a:pt x="273" y="710"/>
                </a:moveTo>
                <a:lnTo>
                  <a:pt x="273" y="714"/>
                </a:lnTo>
                <a:lnTo>
                  <a:pt x="273" y="717"/>
                </a:lnTo>
                <a:lnTo>
                  <a:pt x="277" y="717"/>
                </a:lnTo>
                <a:lnTo>
                  <a:pt x="277" y="710"/>
                </a:lnTo>
                <a:lnTo>
                  <a:pt x="273" y="710"/>
                </a:lnTo>
                <a:close/>
                <a:moveTo>
                  <a:pt x="246" y="710"/>
                </a:moveTo>
                <a:lnTo>
                  <a:pt x="246" y="717"/>
                </a:lnTo>
                <a:lnTo>
                  <a:pt x="253" y="717"/>
                </a:lnTo>
                <a:lnTo>
                  <a:pt x="249" y="714"/>
                </a:lnTo>
                <a:lnTo>
                  <a:pt x="249" y="710"/>
                </a:lnTo>
                <a:lnTo>
                  <a:pt x="246" y="710"/>
                </a:lnTo>
                <a:close/>
                <a:moveTo>
                  <a:pt x="169" y="707"/>
                </a:moveTo>
                <a:lnTo>
                  <a:pt x="183" y="707"/>
                </a:lnTo>
                <a:lnTo>
                  <a:pt x="188" y="714"/>
                </a:lnTo>
                <a:lnTo>
                  <a:pt x="166" y="714"/>
                </a:lnTo>
                <a:lnTo>
                  <a:pt x="166" y="714"/>
                </a:lnTo>
                <a:lnTo>
                  <a:pt x="169" y="714"/>
                </a:lnTo>
                <a:lnTo>
                  <a:pt x="169" y="707"/>
                </a:lnTo>
                <a:close/>
                <a:moveTo>
                  <a:pt x="582" y="697"/>
                </a:moveTo>
                <a:lnTo>
                  <a:pt x="589" y="703"/>
                </a:lnTo>
                <a:lnTo>
                  <a:pt x="589" y="707"/>
                </a:lnTo>
                <a:lnTo>
                  <a:pt x="589" y="707"/>
                </a:lnTo>
                <a:lnTo>
                  <a:pt x="589" y="717"/>
                </a:lnTo>
                <a:lnTo>
                  <a:pt x="575" y="717"/>
                </a:lnTo>
                <a:lnTo>
                  <a:pt x="575" y="703"/>
                </a:lnTo>
                <a:cubicBezTo>
                  <a:pt x="575" y="703"/>
                  <a:pt x="575" y="697"/>
                  <a:pt x="582" y="697"/>
                </a:cubicBezTo>
                <a:moveTo>
                  <a:pt x="516" y="696"/>
                </a:moveTo>
                <a:lnTo>
                  <a:pt x="523" y="700"/>
                </a:lnTo>
                <a:lnTo>
                  <a:pt x="523" y="703"/>
                </a:lnTo>
                <a:lnTo>
                  <a:pt x="523" y="703"/>
                </a:lnTo>
                <a:lnTo>
                  <a:pt x="523" y="717"/>
                </a:lnTo>
                <a:lnTo>
                  <a:pt x="509" y="717"/>
                </a:lnTo>
                <a:lnTo>
                  <a:pt x="509" y="703"/>
                </a:lnTo>
                <a:cubicBezTo>
                  <a:pt x="509" y="703"/>
                  <a:pt x="509" y="696"/>
                  <a:pt x="516" y="696"/>
                </a:cubicBezTo>
                <a:moveTo>
                  <a:pt x="306" y="694"/>
                </a:moveTo>
                <a:lnTo>
                  <a:pt x="315" y="700"/>
                </a:lnTo>
                <a:lnTo>
                  <a:pt x="315" y="714"/>
                </a:lnTo>
                <a:lnTo>
                  <a:pt x="301" y="714"/>
                </a:lnTo>
                <a:lnTo>
                  <a:pt x="301" y="700"/>
                </a:lnTo>
                <a:lnTo>
                  <a:pt x="306" y="694"/>
                </a:lnTo>
                <a:close/>
                <a:moveTo>
                  <a:pt x="443" y="693"/>
                </a:moveTo>
                <a:cubicBezTo>
                  <a:pt x="450" y="693"/>
                  <a:pt x="450" y="700"/>
                  <a:pt x="450" y="700"/>
                </a:cubicBezTo>
                <a:lnTo>
                  <a:pt x="453" y="717"/>
                </a:lnTo>
                <a:lnTo>
                  <a:pt x="457" y="717"/>
                </a:lnTo>
                <a:lnTo>
                  <a:pt x="457" y="719"/>
                </a:lnTo>
                <a:lnTo>
                  <a:pt x="453" y="719"/>
                </a:lnTo>
                <a:lnTo>
                  <a:pt x="453" y="717"/>
                </a:lnTo>
                <a:lnTo>
                  <a:pt x="450" y="717"/>
                </a:lnTo>
                <a:lnTo>
                  <a:pt x="450" y="719"/>
                </a:lnTo>
                <a:lnTo>
                  <a:pt x="446" y="719"/>
                </a:lnTo>
                <a:lnTo>
                  <a:pt x="443" y="719"/>
                </a:lnTo>
                <a:lnTo>
                  <a:pt x="443" y="717"/>
                </a:lnTo>
                <a:lnTo>
                  <a:pt x="440" y="717"/>
                </a:lnTo>
                <a:lnTo>
                  <a:pt x="436" y="717"/>
                </a:lnTo>
                <a:lnTo>
                  <a:pt x="436" y="700"/>
                </a:lnTo>
                <a:cubicBezTo>
                  <a:pt x="436" y="700"/>
                  <a:pt x="436" y="693"/>
                  <a:pt x="443" y="693"/>
                </a:cubicBezTo>
                <a:moveTo>
                  <a:pt x="370" y="693"/>
                </a:moveTo>
                <a:cubicBezTo>
                  <a:pt x="377" y="693"/>
                  <a:pt x="377" y="700"/>
                  <a:pt x="377" y="700"/>
                </a:cubicBezTo>
                <a:lnTo>
                  <a:pt x="377" y="714"/>
                </a:lnTo>
                <a:lnTo>
                  <a:pt x="363" y="714"/>
                </a:lnTo>
                <a:lnTo>
                  <a:pt x="363" y="700"/>
                </a:lnTo>
                <a:cubicBezTo>
                  <a:pt x="363" y="700"/>
                  <a:pt x="367" y="693"/>
                  <a:pt x="370" y="693"/>
                </a:cubicBezTo>
                <a:moveTo>
                  <a:pt x="561" y="676"/>
                </a:moveTo>
                <a:lnTo>
                  <a:pt x="565" y="676"/>
                </a:lnTo>
                <a:lnTo>
                  <a:pt x="561" y="679"/>
                </a:lnTo>
                <a:lnTo>
                  <a:pt x="558" y="679"/>
                </a:lnTo>
                <a:lnTo>
                  <a:pt x="561" y="676"/>
                </a:lnTo>
                <a:close/>
                <a:moveTo>
                  <a:pt x="547" y="672"/>
                </a:moveTo>
                <a:lnTo>
                  <a:pt x="554" y="672"/>
                </a:lnTo>
                <a:lnTo>
                  <a:pt x="554" y="679"/>
                </a:lnTo>
                <a:lnTo>
                  <a:pt x="558" y="679"/>
                </a:lnTo>
                <a:lnTo>
                  <a:pt x="558" y="679"/>
                </a:lnTo>
                <a:lnTo>
                  <a:pt x="558" y="679"/>
                </a:lnTo>
                <a:lnTo>
                  <a:pt x="558" y="679"/>
                </a:lnTo>
                <a:lnTo>
                  <a:pt x="554" y="683"/>
                </a:lnTo>
                <a:lnTo>
                  <a:pt x="554" y="720"/>
                </a:lnTo>
                <a:lnTo>
                  <a:pt x="545" y="720"/>
                </a:lnTo>
                <a:lnTo>
                  <a:pt x="547" y="717"/>
                </a:lnTo>
                <a:lnTo>
                  <a:pt x="547" y="683"/>
                </a:lnTo>
                <a:lnTo>
                  <a:pt x="544" y="683"/>
                </a:lnTo>
                <a:lnTo>
                  <a:pt x="541" y="679"/>
                </a:lnTo>
                <a:lnTo>
                  <a:pt x="537" y="679"/>
                </a:lnTo>
                <a:lnTo>
                  <a:pt x="537" y="676"/>
                </a:lnTo>
                <a:lnTo>
                  <a:pt x="541" y="676"/>
                </a:lnTo>
                <a:lnTo>
                  <a:pt x="544" y="679"/>
                </a:lnTo>
                <a:lnTo>
                  <a:pt x="547" y="679"/>
                </a:lnTo>
                <a:lnTo>
                  <a:pt x="547" y="672"/>
                </a:lnTo>
                <a:close/>
                <a:moveTo>
                  <a:pt x="339" y="669"/>
                </a:moveTo>
                <a:lnTo>
                  <a:pt x="343" y="669"/>
                </a:lnTo>
                <a:lnTo>
                  <a:pt x="346" y="679"/>
                </a:lnTo>
                <a:lnTo>
                  <a:pt x="346" y="682"/>
                </a:lnTo>
                <a:lnTo>
                  <a:pt x="346" y="682"/>
                </a:lnTo>
                <a:lnTo>
                  <a:pt x="343" y="682"/>
                </a:lnTo>
                <a:lnTo>
                  <a:pt x="343" y="714"/>
                </a:lnTo>
                <a:lnTo>
                  <a:pt x="346" y="710"/>
                </a:lnTo>
                <a:lnTo>
                  <a:pt x="346" y="710"/>
                </a:lnTo>
                <a:lnTo>
                  <a:pt x="346" y="717"/>
                </a:lnTo>
                <a:lnTo>
                  <a:pt x="347" y="718"/>
                </a:lnTo>
                <a:lnTo>
                  <a:pt x="332" y="718"/>
                </a:lnTo>
                <a:lnTo>
                  <a:pt x="332" y="714"/>
                </a:lnTo>
                <a:lnTo>
                  <a:pt x="339" y="714"/>
                </a:lnTo>
                <a:lnTo>
                  <a:pt x="339" y="676"/>
                </a:lnTo>
                <a:lnTo>
                  <a:pt x="339" y="669"/>
                </a:lnTo>
                <a:close/>
                <a:moveTo>
                  <a:pt x="751" y="667"/>
                </a:moveTo>
                <a:lnTo>
                  <a:pt x="752" y="669"/>
                </a:lnTo>
                <a:lnTo>
                  <a:pt x="749" y="672"/>
                </a:lnTo>
                <a:lnTo>
                  <a:pt x="748" y="672"/>
                </a:lnTo>
                <a:lnTo>
                  <a:pt x="751" y="667"/>
                </a:lnTo>
                <a:close/>
                <a:moveTo>
                  <a:pt x="565" y="665"/>
                </a:moveTo>
                <a:lnTo>
                  <a:pt x="748" y="672"/>
                </a:lnTo>
                <a:lnTo>
                  <a:pt x="742" y="681"/>
                </a:lnTo>
                <a:lnTo>
                  <a:pt x="717" y="710"/>
                </a:lnTo>
                <a:lnTo>
                  <a:pt x="679" y="710"/>
                </a:lnTo>
                <a:lnTo>
                  <a:pt x="679" y="714"/>
                </a:lnTo>
                <a:lnTo>
                  <a:pt x="676" y="714"/>
                </a:lnTo>
                <a:lnTo>
                  <a:pt x="676" y="721"/>
                </a:lnTo>
                <a:lnTo>
                  <a:pt x="658" y="720"/>
                </a:lnTo>
                <a:lnTo>
                  <a:pt x="655" y="714"/>
                </a:lnTo>
                <a:lnTo>
                  <a:pt x="655" y="717"/>
                </a:lnTo>
                <a:lnTo>
                  <a:pt x="658" y="720"/>
                </a:lnTo>
                <a:lnTo>
                  <a:pt x="606" y="720"/>
                </a:lnTo>
                <a:lnTo>
                  <a:pt x="599" y="720"/>
                </a:lnTo>
                <a:lnTo>
                  <a:pt x="599" y="717"/>
                </a:lnTo>
                <a:lnTo>
                  <a:pt x="596" y="714"/>
                </a:lnTo>
                <a:lnTo>
                  <a:pt x="596" y="710"/>
                </a:lnTo>
                <a:lnTo>
                  <a:pt x="592" y="710"/>
                </a:lnTo>
                <a:lnTo>
                  <a:pt x="592" y="707"/>
                </a:lnTo>
                <a:lnTo>
                  <a:pt x="589" y="707"/>
                </a:lnTo>
                <a:lnTo>
                  <a:pt x="589" y="703"/>
                </a:lnTo>
                <a:lnTo>
                  <a:pt x="589" y="703"/>
                </a:lnTo>
                <a:lnTo>
                  <a:pt x="589" y="693"/>
                </a:lnTo>
                <a:cubicBezTo>
                  <a:pt x="589" y="693"/>
                  <a:pt x="585" y="686"/>
                  <a:pt x="578" y="686"/>
                </a:cubicBezTo>
                <a:cubicBezTo>
                  <a:pt x="571" y="686"/>
                  <a:pt x="568" y="693"/>
                  <a:pt x="568" y="693"/>
                </a:cubicBezTo>
                <a:lnTo>
                  <a:pt x="568" y="710"/>
                </a:lnTo>
                <a:lnTo>
                  <a:pt x="565" y="710"/>
                </a:lnTo>
                <a:lnTo>
                  <a:pt x="558" y="710"/>
                </a:lnTo>
                <a:lnTo>
                  <a:pt x="558" y="679"/>
                </a:lnTo>
                <a:lnTo>
                  <a:pt x="558" y="679"/>
                </a:lnTo>
                <a:lnTo>
                  <a:pt x="565" y="679"/>
                </a:lnTo>
                <a:lnTo>
                  <a:pt x="568" y="676"/>
                </a:lnTo>
                <a:lnTo>
                  <a:pt x="568" y="669"/>
                </a:lnTo>
                <a:lnTo>
                  <a:pt x="565" y="665"/>
                </a:lnTo>
                <a:close/>
                <a:moveTo>
                  <a:pt x="565" y="665"/>
                </a:moveTo>
                <a:lnTo>
                  <a:pt x="565" y="665"/>
                </a:lnTo>
                <a:lnTo>
                  <a:pt x="565" y="665"/>
                </a:lnTo>
                <a:lnTo>
                  <a:pt x="565" y="665"/>
                </a:lnTo>
                <a:close/>
                <a:moveTo>
                  <a:pt x="547" y="665"/>
                </a:moveTo>
                <a:lnTo>
                  <a:pt x="551" y="669"/>
                </a:lnTo>
                <a:lnTo>
                  <a:pt x="547" y="669"/>
                </a:lnTo>
                <a:lnTo>
                  <a:pt x="547" y="665"/>
                </a:lnTo>
                <a:close/>
                <a:moveTo>
                  <a:pt x="339" y="665"/>
                </a:moveTo>
                <a:lnTo>
                  <a:pt x="339" y="669"/>
                </a:lnTo>
                <a:lnTo>
                  <a:pt x="336" y="669"/>
                </a:lnTo>
                <a:cubicBezTo>
                  <a:pt x="336" y="665"/>
                  <a:pt x="339" y="665"/>
                  <a:pt x="339" y="665"/>
                </a:cubicBezTo>
                <a:moveTo>
                  <a:pt x="559" y="665"/>
                </a:moveTo>
                <a:lnTo>
                  <a:pt x="565" y="665"/>
                </a:lnTo>
                <a:lnTo>
                  <a:pt x="558" y="672"/>
                </a:lnTo>
                <a:lnTo>
                  <a:pt x="558" y="665"/>
                </a:lnTo>
                <a:lnTo>
                  <a:pt x="559" y="665"/>
                </a:lnTo>
                <a:close/>
                <a:moveTo>
                  <a:pt x="349" y="665"/>
                </a:moveTo>
                <a:lnTo>
                  <a:pt x="540" y="665"/>
                </a:lnTo>
                <a:lnTo>
                  <a:pt x="540" y="672"/>
                </a:lnTo>
                <a:lnTo>
                  <a:pt x="537" y="669"/>
                </a:lnTo>
                <a:lnTo>
                  <a:pt x="533" y="672"/>
                </a:lnTo>
                <a:lnTo>
                  <a:pt x="533" y="675"/>
                </a:lnTo>
                <a:lnTo>
                  <a:pt x="537" y="682"/>
                </a:lnTo>
                <a:lnTo>
                  <a:pt x="537" y="703"/>
                </a:lnTo>
                <a:lnTo>
                  <a:pt x="533" y="703"/>
                </a:lnTo>
                <a:lnTo>
                  <a:pt x="533" y="700"/>
                </a:lnTo>
                <a:lnTo>
                  <a:pt x="530" y="700"/>
                </a:lnTo>
                <a:lnTo>
                  <a:pt x="530" y="707"/>
                </a:lnTo>
                <a:lnTo>
                  <a:pt x="523" y="703"/>
                </a:lnTo>
                <a:lnTo>
                  <a:pt x="523" y="700"/>
                </a:lnTo>
                <a:lnTo>
                  <a:pt x="523" y="700"/>
                </a:lnTo>
                <a:lnTo>
                  <a:pt x="523" y="686"/>
                </a:lnTo>
                <a:cubicBezTo>
                  <a:pt x="523" y="686"/>
                  <a:pt x="519" y="679"/>
                  <a:pt x="513" y="679"/>
                </a:cubicBezTo>
                <a:cubicBezTo>
                  <a:pt x="506" y="679"/>
                  <a:pt x="502" y="686"/>
                  <a:pt x="502" y="686"/>
                </a:cubicBezTo>
                <a:lnTo>
                  <a:pt x="502" y="703"/>
                </a:lnTo>
                <a:lnTo>
                  <a:pt x="499" y="703"/>
                </a:lnTo>
                <a:lnTo>
                  <a:pt x="495" y="710"/>
                </a:lnTo>
                <a:lnTo>
                  <a:pt x="461" y="710"/>
                </a:lnTo>
                <a:lnTo>
                  <a:pt x="457" y="703"/>
                </a:lnTo>
                <a:lnTo>
                  <a:pt x="453" y="703"/>
                </a:lnTo>
                <a:lnTo>
                  <a:pt x="453" y="700"/>
                </a:lnTo>
                <a:lnTo>
                  <a:pt x="450" y="700"/>
                </a:lnTo>
                <a:lnTo>
                  <a:pt x="450" y="686"/>
                </a:lnTo>
                <a:cubicBezTo>
                  <a:pt x="450" y="686"/>
                  <a:pt x="450" y="675"/>
                  <a:pt x="440" y="675"/>
                </a:cubicBezTo>
                <a:cubicBezTo>
                  <a:pt x="429" y="675"/>
                  <a:pt x="429" y="686"/>
                  <a:pt x="429" y="686"/>
                </a:cubicBezTo>
                <a:lnTo>
                  <a:pt x="429" y="703"/>
                </a:lnTo>
                <a:lnTo>
                  <a:pt x="426" y="703"/>
                </a:lnTo>
                <a:lnTo>
                  <a:pt x="426" y="707"/>
                </a:lnTo>
                <a:lnTo>
                  <a:pt x="422" y="707"/>
                </a:lnTo>
                <a:lnTo>
                  <a:pt x="422" y="710"/>
                </a:lnTo>
                <a:lnTo>
                  <a:pt x="419" y="714"/>
                </a:lnTo>
                <a:lnTo>
                  <a:pt x="415" y="714"/>
                </a:lnTo>
                <a:lnTo>
                  <a:pt x="405" y="714"/>
                </a:lnTo>
                <a:lnTo>
                  <a:pt x="401" y="714"/>
                </a:lnTo>
                <a:lnTo>
                  <a:pt x="384" y="714"/>
                </a:lnTo>
                <a:lnTo>
                  <a:pt x="384" y="707"/>
                </a:lnTo>
                <a:lnTo>
                  <a:pt x="381" y="707"/>
                </a:lnTo>
                <a:lnTo>
                  <a:pt x="381" y="689"/>
                </a:lnTo>
                <a:cubicBezTo>
                  <a:pt x="381" y="689"/>
                  <a:pt x="381" y="682"/>
                  <a:pt x="370" y="682"/>
                </a:cubicBezTo>
                <a:cubicBezTo>
                  <a:pt x="363" y="682"/>
                  <a:pt x="360" y="693"/>
                  <a:pt x="360" y="693"/>
                </a:cubicBezTo>
                <a:lnTo>
                  <a:pt x="360" y="707"/>
                </a:lnTo>
                <a:lnTo>
                  <a:pt x="360" y="710"/>
                </a:lnTo>
                <a:lnTo>
                  <a:pt x="346" y="710"/>
                </a:lnTo>
                <a:lnTo>
                  <a:pt x="346" y="682"/>
                </a:lnTo>
                <a:lnTo>
                  <a:pt x="349" y="682"/>
                </a:lnTo>
                <a:lnTo>
                  <a:pt x="353" y="679"/>
                </a:lnTo>
                <a:lnTo>
                  <a:pt x="353" y="669"/>
                </a:lnTo>
                <a:lnTo>
                  <a:pt x="349" y="665"/>
                </a:lnTo>
                <a:close/>
                <a:moveTo>
                  <a:pt x="346" y="665"/>
                </a:moveTo>
                <a:lnTo>
                  <a:pt x="349" y="665"/>
                </a:lnTo>
                <a:lnTo>
                  <a:pt x="349" y="665"/>
                </a:lnTo>
                <a:lnTo>
                  <a:pt x="346" y="665"/>
                </a:lnTo>
                <a:lnTo>
                  <a:pt x="346" y="665"/>
                </a:lnTo>
                <a:close/>
                <a:moveTo>
                  <a:pt x="346" y="664"/>
                </a:moveTo>
                <a:lnTo>
                  <a:pt x="346" y="665"/>
                </a:lnTo>
                <a:lnTo>
                  <a:pt x="346" y="665"/>
                </a:lnTo>
                <a:lnTo>
                  <a:pt x="346" y="664"/>
                </a:lnTo>
                <a:close/>
                <a:moveTo>
                  <a:pt x="237" y="663"/>
                </a:moveTo>
                <a:lnTo>
                  <a:pt x="332" y="665"/>
                </a:lnTo>
                <a:lnTo>
                  <a:pt x="332" y="669"/>
                </a:lnTo>
                <a:lnTo>
                  <a:pt x="329" y="669"/>
                </a:lnTo>
                <a:lnTo>
                  <a:pt x="325" y="665"/>
                </a:lnTo>
                <a:cubicBezTo>
                  <a:pt x="325" y="665"/>
                  <a:pt x="322" y="665"/>
                  <a:pt x="322" y="672"/>
                </a:cubicBezTo>
                <a:cubicBezTo>
                  <a:pt x="322" y="675"/>
                  <a:pt x="325" y="679"/>
                  <a:pt x="325" y="679"/>
                </a:cubicBezTo>
                <a:lnTo>
                  <a:pt x="332" y="679"/>
                </a:lnTo>
                <a:lnTo>
                  <a:pt x="332" y="710"/>
                </a:lnTo>
                <a:lnTo>
                  <a:pt x="325" y="710"/>
                </a:lnTo>
                <a:lnTo>
                  <a:pt x="325" y="714"/>
                </a:lnTo>
                <a:lnTo>
                  <a:pt x="325" y="717"/>
                </a:lnTo>
                <a:lnTo>
                  <a:pt x="325" y="718"/>
                </a:lnTo>
                <a:lnTo>
                  <a:pt x="323" y="718"/>
                </a:lnTo>
                <a:lnTo>
                  <a:pt x="322" y="717"/>
                </a:lnTo>
                <a:lnTo>
                  <a:pt x="322" y="717"/>
                </a:lnTo>
                <a:lnTo>
                  <a:pt x="322" y="717"/>
                </a:lnTo>
                <a:lnTo>
                  <a:pt x="322" y="714"/>
                </a:lnTo>
                <a:lnTo>
                  <a:pt x="315" y="714"/>
                </a:lnTo>
                <a:lnTo>
                  <a:pt x="315" y="714"/>
                </a:lnTo>
                <a:lnTo>
                  <a:pt x="318" y="714"/>
                </a:lnTo>
                <a:lnTo>
                  <a:pt x="318" y="696"/>
                </a:lnTo>
                <a:cubicBezTo>
                  <a:pt x="315" y="700"/>
                  <a:pt x="311" y="696"/>
                  <a:pt x="308" y="693"/>
                </a:cubicBezTo>
                <a:lnTo>
                  <a:pt x="306" y="694"/>
                </a:lnTo>
                <a:lnTo>
                  <a:pt x="305" y="693"/>
                </a:lnTo>
                <a:cubicBezTo>
                  <a:pt x="297" y="693"/>
                  <a:pt x="294" y="700"/>
                  <a:pt x="294" y="700"/>
                </a:cubicBezTo>
                <a:lnTo>
                  <a:pt x="294" y="714"/>
                </a:lnTo>
                <a:lnTo>
                  <a:pt x="291" y="714"/>
                </a:lnTo>
                <a:lnTo>
                  <a:pt x="291" y="717"/>
                </a:lnTo>
                <a:lnTo>
                  <a:pt x="283" y="714"/>
                </a:lnTo>
                <a:lnTo>
                  <a:pt x="280" y="714"/>
                </a:lnTo>
                <a:lnTo>
                  <a:pt x="280" y="717"/>
                </a:lnTo>
                <a:lnTo>
                  <a:pt x="291" y="717"/>
                </a:lnTo>
                <a:lnTo>
                  <a:pt x="290" y="718"/>
                </a:lnTo>
                <a:lnTo>
                  <a:pt x="223" y="717"/>
                </a:lnTo>
                <a:lnTo>
                  <a:pt x="221" y="717"/>
                </a:lnTo>
                <a:lnTo>
                  <a:pt x="218" y="717"/>
                </a:lnTo>
                <a:lnTo>
                  <a:pt x="218" y="717"/>
                </a:lnTo>
                <a:lnTo>
                  <a:pt x="214" y="715"/>
                </a:lnTo>
                <a:lnTo>
                  <a:pt x="214" y="707"/>
                </a:lnTo>
                <a:lnTo>
                  <a:pt x="183" y="707"/>
                </a:lnTo>
                <a:lnTo>
                  <a:pt x="155" y="665"/>
                </a:lnTo>
                <a:lnTo>
                  <a:pt x="237" y="663"/>
                </a:lnTo>
                <a:close/>
                <a:moveTo>
                  <a:pt x="135" y="662"/>
                </a:moveTo>
                <a:lnTo>
                  <a:pt x="153" y="662"/>
                </a:lnTo>
                <a:lnTo>
                  <a:pt x="155" y="665"/>
                </a:lnTo>
                <a:lnTo>
                  <a:pt x="138" y="665"/>
                </a:lnTo>
                <a:lnTo>
                  <a:pt x="135" y="662"/>
                </a:lnTo>
                <a:lnTo>
                  <a:pt x="135" y="662"/>
                </a:lnTo>
                <a:lnTo>
                  <a:pt x="135" y="662"/>
                </a:lnTo>
                <a:close/>
                <a:moveTo>
                  <a:pt x="143" y="648"/>
                </a:moveTo>
                <a:lnTo>
                  <a:pt x="315" y="651"/>
                </a:lnTo>
                <a:lnTo>
                  <a:pt x="315" y="651"/>
                </a:lnTo>
                <a:lnTo>
                  <a:pt x="322" y="651"/>
                </a:lnTo>
                <a:lnTo>
                  <a:pt x="322" y="651"/>
                </a:lnTo>
                <a:lnTo>
                  <a:pt x="325" y="651"/>
                </a:lnTo>
                <a:lnTo>
                  <a:pt x="325" y="651"/>
                </a:lnTo>
                <a:lnTo>
                  <a:pt x="329" y="651"/>
                </a:lnTo>
                <a:lnTo>
                  <a:pt x="329" y="651"/>
                </a:lnTo>
                <a:lnTo>
                  <a:pt x="346" y="651"/>
                </a:lnTo>
                <a:lnTo>
                  <a:pt x="346" y="651"/>
                </a:lnTo>
                <a:lnTo>
                  <a:pt x="347" y="651"/>
                </a:lnTo>
                <a:lnTo>
                  <a:pt x="457" y="653"/>
                </a:lnTo>
                <a:lnTo>
                  <a:pt x="457" y="655"/>
                </a:lnTo>
                <a:lnTo>
                  <a:pt x="549" y="655"/>
                </a:lnTo>
                <a:lnTo>
                  <a:pt x="757" y="658"/>
                </a:lnTo>
                <a:lnTo>
                  <a:pt x="751" y="667"/>
                </a:lnTo>
                <a:lnTo>
                  <a:pt x="748" y="658"/>
                </a:lnTo>
                <a:lnTo>
                  <a:pt x="559" y="665"/>
                </a:lnTo>
                <a:lnTo>
                  <a:pt x="558" y="665"/>
                </a:lnTo>
                <a:lnTo>
                  <a:pt x="554" y="658"/>
                </a:lnTo>
                <a:lnTo>
                  <a:pt x="547" y="658"/>
                </a:lnTo>
                <a:lnTo>
                  <a:pt x="544" y="665"/>
                </a:lnTo>
                <a:lnTo>
                  <a:pt x="540" y="665"/>
                </a:lnTo>
                <a:lnTo>
                  <a:pt x="540" y="665"/>
                </a:lnTo>
                <a:lnTo>
                  <a:pt x="346" y="662"/>
                </a:lnTo>
                <a:lnTo>
                  <a:pt x="346" y="664"/>
                </a:lnTo>
                <a:lnTo>
                  <a:pt x="343" y="655"/>
                </a:lnTo>
                <a:lnTo>
                  <a:pt x="336" y="655"/>
                </a:lnTo>
                <a:lnTo>
                  <a:pt x="332" y="662"/>
                </a:lnTo>
                <a:lnTo>
                  <a:pt x="237" y="663"/>
                </a:lnTo>
                <a:lnTo>
                  <a:pt x="153" y="662"/>
                </a:lnTo>
                <a:lnTo>
                  <a:pt x="143" y="648"/>
                </a:lnTo>
                <a:close/>
                <a:moveTo>
                  <a:pt x="325" y="648"/>
                </a:moveTo>
                <a:lnTo>
                  <a:pt x="329" y="648"/>
                </a:lnTo>
                <a:lnTo>
                  <a:pt x="329" y="651"/>
                </a:lnTo>
                <a:lnTo>
                  <a:pt x="325" y="651"/>
                </a:lnTo>
                <a:lnTo>
                  <a:pt x="325" y="648"/>
                </a:lnTo>
                <a:close/>
                <a:moveTo>
                  <a:pt x="516" y="648"/>
                </a:moveTo>
                <a:lnTo>
                  <a:pt x="516" y="648"/>
                </a:lnTo>
                <a:lnTo>
                  <a:pt x="516" y="648"/>
                </a:lnTo>
                <a:lnTo>
                  <a:pt x="516" y="648"/>
                </a:lnTo>
                <a:close/>
                <a:moveTo>
                  <a:pt x="565" y="644"/>
                </a:moveTo>
                <a:lnTo>
                  <a:pt x="565" y="648"/>
                </a:lnTo>
                <a:lnTo>
                  <a:pt x="571" y="648"/>
                </a:lnTo>
                <a:lnTo>
                  <a:pt x="571" y="644"/>
                </a:lnTo>
                <a:lnTo>
                  <a:pt x="568" y="644"/>
                </a:lnTo>
                <a:lnTo>
                  <a:pt x="565" y="644"/>
                </a:lnTo>
                <a:close/>
                <a:moveTo>
                  <a:pt x="537" y="644"/>
                </a:moveTo>
                <a:lnTo>
                  <a:pt x="537" y="648"/>
                </a:lnTo>
                <a:lnTo>
                  <a:pt x="541" y="648"/>
                </a:lnTo>
                <a:lnTo>
                  <a:pt x="541" y="644"/>
                </a:lnTo>
                <a:lnTo>
                  <a:pt x="537" y="644"/>
                </a:lnTo>
                <a:close/>
                <a:moveTo>
                  <a:pt x="589" y="644"/>
                </a:moveTo>
                <a:lnTo>
                  <a:pt x="593" y="644"/>
                </a:lnTo>
                <a:lnTo>
                  <a:pt x="593" y="648"/>
                </a:lnTo>
                <a:lnTo>
                  <a:pt x="589" y="648"/>
                </a:lnTo>
                <a:lnTo>
                  <a:pt x="589" y="644"/>
                </a:lnTo>
                <a:close/>
                <a:moveTo>
                  <a:pt x="339" y="641"/>
                </a:moveTo>
                <a:lnTo>
                  <a:pt x="336" y="644"/>
                </a:lnTo>
                <a:lnTo>
                  <a:pt x="339" y="644"/>
                </a:lnTo>
                <a:lnTo>
                  <a:pt x="339" y="641"/>
                </a:lnTo>
                <a:close/>
                <a:moveTo>
                  <a:pt x="308" y="641"/>
                </a:moveTo>
                <a:lnTo>
                  <a:pt x="308" y="644"/>
                </a:lnTo>
                <a:lnTo>
                  <a:pt x="315" y="644"/>
                </a:lnTo>
                <a:lnTo>
                  <a:pt x="311" y="641"/>
                </a:lnTo>
                <a:lnTo>
                  <a:pt x="308" y="641"/>
                </a:lnTo>
                <a:close/>
                <a:moveTo>
                  <a:pt x="298" y="641"/>
                </a:moveTo>
                <a:lnTo>
                  <a:pt x="298" y="644"/>
                </a:lnTo>
                <a:lnTo>
                  <a:pt x="301" y="644"/>
                </a:lnTo>
                <a:lnTo>
                  <a:pt x="298" y="641"/>
                </a:lnTo>
                <a:close/>
                <a:moveTo>
                  <a:pt x="388" y="630"/>
                </a:moveTo>
                <a:lnTo>
                  <a:pt x="391" y="630"/>
                </a:lnTo>
                <a:lnTo>
                  <a:pt x="391" y="648"/>
                </a:lnTo>
                <a:lnTo>
                  <a:pt x="388" y="648"/>
                </a:lnTo>
                <a:lnTo>
                  <a:pt x="388" y="630"/>
                </a:lnTo>
                <a:close/>
                <a:moveTo>
                  <a:pt x="336" y="630"/>
                </a:moveTo>
                <a:lnTo>
                  <a:pt x="346" y="630"/>
                </a:lnTo>
                <a:lnTo>
                  <a:pt x="353" y="634"/>
                </a:lnTo>
                <a:lnTo>
                  <a:pt x="353" y="630"/>
                </a:lnTo>
                <a:lnTo>
                  <a:pt x="360" y="630"/>
                </a:lnTo>
                <a:lnTo>
                  <a:pt x="360" y="648"/>
                </a:lnTo>
                <a:lnTo>
                  <a:pt x="353" y="648"/>
                </a:lnTo>
                <a:lnTo>
                  <a:pt x="350" y="648"/>
                </a:lnTo>
                <a:lnTo>
                  <a:pt x="353" y="651"/>
                </a:lnTo>
                <a:lnTo>
                  <a:pt x="347" y="651"/>
                </a:lnTo>
                <a:lnTo>
                  <a:pt x="346" y="651"/>
                </a:lnTo>
                <a:lnTo>
                  <a:pt x="346" y="648"/>
                </a:lnTo>
                <a:lnTo>
                  <a:pt x="329" y="648"/>
                </a:lnTo>
                <a:lnTo>
                  <a:pt x="329" y="638"/>
                </a:lnTo>
                <a:lnTo>
                  <a:pt x="332" y="634"/>
                </a:lnTo>
                <a:lnTo>
                  <a:pt x="336" y="630"/>
                </a:lnTo>
                <a:close/>
                <a:moveTo>
                  <a:pt x="416" y="627"/>
                </a:moveTo>
                <a:lnTo>
                  <a:pt x="419" y="627"/>
                </a:lnTo>
                <a:lnTo>
                  <a:pt x="419" y="648"/>
                </a:lnTo>
                <a:lnTo>
                  <a:pt x="416" y="648"/>
                </a:lnTo>
                <a:lnTo>
                  <a:pt x="416" y="627"/>
                </a:lnTo>
                <a:close/>
                <a:moveTo>
                  <a:pt x="370" y="627"/>
                </a:moveTo>
                <a:lnTo>
                  <a:pt x="381" y="627"/>
                </a:lnTo>
                <a:lnTo>
                  <a:pt x="381" y="630"/>
                </a:lnTo>
                <a:lnTo>
                  <a:pt x="384" y="634"/>
                </a:lnTo>
                <a:lnTo>
                  <a:pt x="384" y="648"/>
                </a:lnTo>
                <a:lnTo>
                  <a:pt x="388" y="648"/>
                </a:lnTo>
                <a:lnTo>
                  <a:pt x="388" y="651"/>
                </a:lnTo>
                <a:lnTo>
                  <a:pt x="381" y="651"/>
                </a:lnTo>
                <a:lnTo>
                  <a:pt x="381" y="648"/>
                </a:lnTo>
                <a:lnTo>
                  <a:pt x="367" y="648"/>
                </a:lnTo>
                <a:lnTo>
                  <a:pt x="367" y="651"/>
                </a:lnTo>
                <a:lnTo>
                  <a:pt x="360" y="651"/>
                </a:lnTo>
                <a:lnTo>
                  <a:pt x="360" y="648"/>
                </a:lnTo>
                <a:lnTo>
                  <a:pt x="363" y="648"/>
                </a:lnTo>
                <a:lnTo>
                  <a:pt x="363" y="634"/>
                </a:lnTo>
                <a:lnTo>
                  <a:pt x="367" y="630"/>
                </a:lnTo>
                <a:lnTo>
                  <a:pt x="370" y="627"/>
                </a:lnTo>
                <a:close/>
                <a:moveTo>
                  <a:pt x="467" y="624"/>
                </a:moveTo>
                <a:lnTo>
                  <a:pt x="475" y="624"/>
                </a:lnTo>
                <a:lnTo>
                  <a:pt x="475" y="644"/>
                </a:lnTo>
                <a:lnTo>
                  <a:pt x="478" y="644"/>
                </a:lnTo>
                <a:lnTo>
                  <a:pt x="478" y="627"/>
                </a:lnTo>
                <a:lnTo>
                  <a:pt x="485" y="627"/>
                </a:lnTo>
                <a:lnTo>
                  <a:pt x="485" y="624"/>
                </a:lnTo>
                <a:lnTo>
                  <a:pt x="502" y="624"/>
                </a:lnTo>
                <a:lnTo>
                  <a:pt x="502" y="627"/>
                </a:lnTo>
                <a:lnTo>
                  <a:pt x="502" y="641"/>
                </a:lnTo>
                <a:lnTo>
                  <a:pt x="499" y="641"/>
                </a:lnTo>
                <a:lnTo>
                  <a:pt x="499" y="644"/>
                </a:lnTo>
                <a:lnTo>
                  <a:pt x="506" y="644"/>
                </a:lnTo>
                <a:lnTo>
                  <a:pt x="506" y="627"/>
                </a:lnTo>
                <a:lnTo>
                  <a:pt x="513" y="627"/>
                </a:lnTo>
                <a:lnTo>
                  <a:pt x="513" y="631"/>
                </a:lnTo>
                <a:lnTo>
                  <a:pt x="509" y="631"/>
                </a:lnTo>
                <a:lnTo>
                  <a:pt x="509" y="651"/>
                </a:lnTo>
                <a:lnTo>
                  <a:pt x="516" y="651"/>
                </a:lnTo>
                <a:lnTo>
                  <a:pt x="516" y="648"/>
                </a:lnTo>
                <a:lnTo>
                  <a:pt x="523" y="648"/>
                </a:lnTo>
                <a:lnTo>
                  <a:pt x="523" y="644"/>
                </a:lnTo>
                <a:lnTo>
                  <a:pt x="516" y="644"/>
                </a:lnTo>
                <a:lnTo>
                  <a:pt x="516" y="648"/>
                </a:lnTo>
                <a:lnTo>
                  <a:pt x="513" y="648"/>
                </a:lnTo>
                <a:lnTo>
                  <a:pt x="513" y="634"/>
                </a:lnTo>
                <a:lnTo>
                  <a:pt x="516" y="631"/>
                </a:lnTo>
                <a:lnTo>
                  <a:pt x="526" y="631"/>
                </a:lnTo>
                <a:lnTo>
                  <a:pt x="530" y="634"/>
                </a:lnTo>
                <a:lnTo>
                  <a:pt x="533" y="634"/>
                </a:lnTo>
                <a:lnTo>
                  <a:pt x="533" y="627"/>
                </a:lnTo>
                <a:lnTo>
                  <a:pt x="537" y="627"/>
                </a:lnTo>
                <a:lnTo>
                  <a:pt x="537" y="634"/>
                </a:lnTo>
                <a:lnTo>
                  <a:pt x="541" y="631"/>
                </a:lnTo>
                <a:cubicBezTo>
                  <a:pt x="541" y="631"/>
                  <a:pt x="544" y="631"/>
                  <a:pt x="544" y="627"/>
                </a:cubicBezTo>
                <a:lnTo>
                  <a:pt x="554" y="627"/>
                </a:lnTo>
                <a:lnTo>
                  <a:pt x="558" y="631"/>
                </a:lnTo>
                <a:lnTo>
                  <a:pt x="558" y="648"/>
                </a:lnTo>
                <a:lnTo>
                  <a:pt x="561" y="648"/>
                </a:lnTo>
                <a:lnTo>
                  <a:pt x="561" y="627"/>
                </a:lnTo>
                <a:lnTo>
                  <a:pt x="565" y="627"/>
                </a:lnTo>
                <a:lnTo>
                  <a:pt x="565" y="631"/>
                </a:lnTo>
                <a:lnTo>
                  <a:pt x="568" y="631"/>
                </a:lnTo>
                <a:cubicBezTo>
                  <a:pt x="568" y="631"/>
                  <a:pt x="568" y="627"/>
                  <a:pt x="571" y="627"/>
                </a:cubicBezTo>
                <a:lnTo>
                  <a:pt x="575" y="627"/>
                </a:lnTo>
                <a:cubicBezTo>
                  <a:pt x="575" y="627"/>
                  <a:pt x="578" y="627"/>
                  <a:pt x="578" y="631"/>
                </a:cubicBezTo>
                <a:lnTo>
                  <a:pt x="582" y="634"/>
                </a:lnTo>
                <a:lnTo>
                  <a:pt x="582" y="631"/>
                </a:lnTo>
                <a:lnTo>
                  <a:pt x="582" y="627"/>
                </a:lnTo>
                <a:lnTo>
                  <a:pt x="586" y="627"/>
                </a:lnTo>
                <a:lnTo>
                  <a:pt x="586" y="651"/>
                </a:lnTo>
                <a:lnTo>
                  <a:pt x="596" y="651"/>
                </a:lnTo>
                <a:lnTo>
                  <a:pt x="596" y="655"/>
                </a:lnTo>
                <a:lnTo>
                  <a:pt x="549" y="655"/>
                </a:lnTo>
                <a:lnTo>
                  <a:pt x="457" y="653"/>
                </a:lnTo>
                <a:lnTo>
                  <a:pt x="457" y="644"/>
                </a:lnTo>
                <a:lnTo>
                  <a:pt x="464" y="644"/>
                </a:lnTo>
                <a:lnTo>
                  <a:pt x="464" y="641"/>
                </a:lnTo>
                <a:lnTo>
                  <a:pt x="471" y="641"/>
                </a:lnTo>
                <a:lnTo>
                  <a:pt x="471" y="627"/>
                </a:lnTo>
                <a:lnTo>
                  <a:pt x="464" y="627"/>
                </a:lnTo>
                <a:lnTo>
                  <a:pt x="467" y="624"/>
                </a:lnTo>
                <a:close/>
                <a:moveTo>
                  <a:pt x="398" y="624"/>
                </a:moveTo>
                <a:lnTo>
                  <a:pt x="405" y="624"/>
                </a:lnTo>
                <a:lnTo>
                  <a:pt x="408" y="627"/>
                </a:lnTo>
                <a:lnTo>
                  <a:pt x="412" y="627"/>
                </a:lnTo>
                <a:lnTo>
                  <a:pt x="412" y="645"/>
                </a:lnTo>
                <a:lnTo>
                  <a:pt x="408" y="645"/>
                </a:lnTo>
                <a:lnTo>
                  <a:pt x="408" y="648"/>
                </a:lnTo>
                <a:lnTo>
                  <a:pt x="398" y="648"/>
                </a:lnTo>
                <a:lnTo>
                  <a:pt x="398" y="645"/>
                </a:lnTo>
                <a:lnTo>
                  <a:pt x="395" y="645"/>
                </a:lnTo>
                <a:lnTo>
                  <a:pt x="395" y="630"/>
                </a:lnTo>
                <a:lnTo>
                  <a:pt x="395" y="627"/>
                </a:lnTo>
                <a:lnTo>
                  <a:pt x="398" y="624"/>
                </a:lnTo>
                <a:close/>
                <a:moveTo>
                  <a:pt x="429" y="624"/>
                </a:moveTo>
                <a:lnTo>
                  <a:pt x="464" y="624"/>
                </a:lnTo>
                <a:lnTo>
                  <a:pt x="464" y="627"/>
                </a:lnTo>
                <a:lnTo>
                  <a:pt x="464" y="627"/>
                </a:lnTo>
                <a:lnTo>
                  <a:pt x="457" y="634"/>
                </a:lnTo>
                <a:lnTo>
                  <a:pt x="457" y="644"/>
                </a:lnTo>
                <a:lnTo>
                  <a:pt x="436" y="644"/>
                </a:lnTo>
                <a:lnTo>
                  <a:pt x="436" y="641"/>
                </a:lnTo>
                <a:lnTo>
                  <a:pt x="426" y="641"/>
                </a:lnTo>
                <a:lnTo>
                  <a:pt x="426" y="627"/>
                </a:lnTo>
                <a:lnTo>
                  <a:pt x="429" y="624"/>
                </a:lnTo>
                <a:close/>
                <a:moveTo>
                  <a:pt x="294" y="620"/>
                </a:moveTo>
                <a:lnTo>
                  <a:pt x="301" y="620"/>
                </a:lnTo>
                <a:lnTo>
                  <a:pt x="298" y="624"/>
                </a:lnTo>
                <a:lnTo>
                  <a:pt x="298" y="627"/>
                </a:lnTo>
                <a:lnTo>
                  <a:pt x="301" y="624"/>
                </a:lnTo>
                <a:lnTo>
                  <a:pt x="315" y="624"/>
                </a:lnTo>
                <a:lnTo>
                  <a:pt x="318" y="627"/>
                </a:lnTo>
                <a:lnTo>
                  <a:pt x="322" y="630"/>
                </a:lnTo>
                <a:lnTo>
                  <a:pt x="325" y="630"/>
                </a:lnTo>
                <a:lnTo>
                  <a:pt x="325" y="648"/>
                </a:lnTo>
                <a:lnTo>
                  <a:pt x="322" y="648"/>
                </a:lnTo>
                <a:lnTo>
                  <a:pt x="322" y="651"/>
                </a:lnTo>
                <a:lnTo>
                  <a:pt x="315" y="651"/>
                </a:lnTo>
                <a:lnTo>
                  <a:pt x="315" y="648"/>
                </a:lnTo>
                <a:lnTo>
                  <a:pt x="284" y="648"/>
                </a:lnTo>
                <a:lnTo>
                  <a:pt x="284" y="641"/>
                </a:lnTo>
                <a:lnTo>
                  <a:pt x="287" y="641"/>
                </a:lnTo>
                <a:lnTo>
                  <a:pt x="287" y="645"/>
                </a:lnTo>
                <a:lnTo>
                  <a:pt x="294" y="645"/>
                </a:lnTo>
                <a:lnTo>
                  <a:pt x="294" y="620"/>
                </a:lnTo>
                <a:close/>
                <a:moveTo>
                  <a:pt x="287" y="613"/>
                </a:moveTo>
                <a:lnTo>
                  <a:pt x="603" y="617"/>
                </a:lnTo>
                <a:lnTo>
                  <a:pt x="599" y="620"/>
                </a:lnTo>
                <a:lnTo>
                  <a:pt x="294" y="617"/>
                </a:lnTo>
                <a:lnTo>
                  <a:pt x="287" y="613"/>
                </a:lnTo>
                <a:close/>
                <a:moveTo>
                  <a:pt x="291" y="596"/>
                </a:moveTo>
                <a:lnTo>
                  <a:pt x="291" y="603"/>
                </a:lnTo>
                <a:lnTo>
                  <a:pt x="297" y="596"/>
                </a:lnTo>
                <a:lnTo>
                  <a:pt x="301" y="596"/>
                </a:lnTo>
                <a:lnTo>
                  <a:pt x="301" y="596"/>
                </a:lnTo>
                <a:lnTo>
                  <a:pt x="306" y="596"/>
                </a:lnTo>
                <a:lnTo>
                  <a:pt x="589" y="603"/>
                </a:lnTo>
                <a:lnTo>
                  <a:pt x="599" y="606"/>
                </a:lnTo>
                <a:lnTo>
                  <a:pt x="599" y="599"/>
                </a:lnTo>
                <a:lnTo>
                  <a:pt x="603" y="599"/>
                </a:lnTo>
                <a:lnTo>
                  <a:pt x="603" y="606"/>
                </a:lnTo>
                <a:lnTo>
                  <a:pt x="606" y="610"/>
                </a:lnTo>
                <a:lnTo>
                  <a:pt x="613" y="610"/>
                </a:lnTo>
                <a:lnTo>
                  <a:pt x="610" y="613"/>
                </a:lnTo>
                <a:lnTo>
                  <a:pt x="280" y="610"/>
                </a:lnTo>
                <a:lnTo>
                  <a:pt x="280" y="606"/>
                </a:lnTo>
                <a:lnTo>
                  <a:pt x="283" y="606"/>
                </a:lnTo>
                <a:lnTo>
                  <a:pt x="287" y="603"/>
                </a:lnTo>
                <a:lnTo>
                  <a:pt x="287" y="599"/>
                </a:lnTo>
                <a:lnTo>
                  <a:pt x="291" y="596"/>
                </a:lnTo>
                <a:close/>
                <a:moveTo>
                  <a:pt x="298" y="593"/>
                </a:moveTo>
                <a:lnTo>
                  <a:pt x="592" y="593"/>
                </a:lnTo>
                <a:lnTo>
                  <a:pt x="589" y="599"/>
                </a:lnTo>
                <a:lnTo>
                  <a:pt x="306" y="596"/>
                </a:lnTo>
                <a:lnTo>
                  <a:pt x="301" y="596"/>
                </a:lnTo>
                <a:lnTo>
                  <a:pt x="298" y="593"/>
                </a:lnTo>
                <a:close/>
                <a:moveTo>
                  <a:pt x="322" y="547"/>
                </a:moveTo>
                <a:lnTo>
                  <a:pt x="571" y="551"/>
                </a:lnTo>
                <a:lnTo>
                  <a:pt x="571" y="582"/>
                </a:lnTo>
                <a:lnTo>
                  <a:pt x="578" y="582"/>
                </a:lnTo>
                <a:lnTo>
                  <a:pt x="578" y="579"/>
                </a:lnTo>
                <a:lnTo>
                  <a:pt x="589" y="579"/>
                </a:lnTo>
                <a:lnTo>
                  <a:pt x="589" y="575"/>
                </a:lnTo>
                <a:lnTo>
                  <a:pt x="592" y="575"/>
                </a:lnTo>
                <a:lnTo>
                  <a:pt x="592" y="582"/>
                </a:lnTo>
                <a:lnTo>
                  <a:pt x="596" y="582"/>
                </a:lnTo>
                <a:lnTo>
                  <a:pt x="596" y="585"/>
                </a:lnTo>
                <a:lnTo>
                  <a:pt x="599" y="585"/>
                </a:lnTo>
                <a:lnTo>
                  <a:pt x="596" y="589"/>
                </a:lnTo>
                <a:lnTo>
                  <a:pt x="571" y="589"/>
                </a:lnTo>
                <a:lnTo>
                  <a:pt x="294" y="585"/>
                </a:lnTo>
                <a:lnTo>
                  <a:pt x="291" y="582"/>
                </a:lnTo>
                <a:lnTo>
                  <a:pt x="298" y="582"/>
                </a:lnTo>
                <a:lnTo>
                  <a:pt x="298" y="572"/>
                </a:lnTo>
                <a:lnTo>
                  <a:pt x="305" y="572"/>
                </a:lnTo>
                <a:lnTo>
                  <a:pt x="301" y="575"/>
                </a:lnTo>
                <a:lnTo>
                  <a:pt x="311" y="575"/>
                </a:lnTo>
                <a:lnTo>
                  <a:pt x="315" y="579"/>
                </a:lnTo>
                <a:lnTo>
                  <a:pt x="322" y="579"/>
                </a:lnTo>
                <a:lnTo>
                  <a:pt x="322" y="547"/>
                </a:lnTo>
                <a:close/>
                <a:moveTo>
                  <a:pt x="308" y="533"/>
                </a:moveTo>
                <a:cubicBezTo>
                  <a:pt x="315" y="537"/>
                  <a:pt x="318" y="537"/>
                  <a:pt x="318" y="533"/>
                </a:cubicBezTo>
                <a:lnTo>
                  <a:pt x="322" y="537"/>
                </a:lnTo>
                <a:lnTo>
                  <a:pt x="571" y="540"/>
                </a:lnTo>
                <a:lnTo>
                  <a:pt x="571" y="537"/>
                </a:lnTo>
                <a:lnTo>
                  <a:pt x="568" y="537"/>
                </a:lnTo>
                <a:lnTo>
                  <a:pt x="568" y="533"/>
                </a:lnTo>
                <a:lnTo>
                  <a:pt x="575" y="533"/>
                </a:lnTo>
                <a:lnTo>
                  <a:pt x="575" y="537"/>
                </a:lnTo>
                <a:lnTo>
                  <a:pt x="582" y="540"/>
                </a:lnTo>
                <a:lnTo>
                  <a:pt x="582" y="575"/>
                </a:lnTo>
                <a:lnTo>
                  <a:pt x="578" y="575"/>
                </a:lnTo>
                <a:lnTo>
                  <a:pt x="578" y="547"/>
                </a:lnTo>
                <a:lnTo>
                  <a:pt x="575" y="547"/>
                </a:lnTo>
                <a:lnTo>
                  <a:pt x="575" y="579"/>
                </a:lnTo>
                <a:lnTo>
                  <a:pt x="571" y="579"/>
                </a:lnTo>
                <a:lnTo>
                  <a:pt x="571" y="547"/>
                </a:lnTo>
                <a:lnTo>
                  <a:pt x="315" y="544"/>
                </a:lnTo>
                <a:lnTo>
                  <a:pt x="315" y="575"/>
                </a:lnTo>
                <a:lnTo>
                  <a:pt x="311" y="575"/>
                </a:lnTo>
                <a:lnTo>
                  <a:pt x="311" y="540"/>
                </a:lnTo>
                <a:lnTo>
                  <a:pt x="308" y="540"/>
                </a:lnTo>
                <a:lnTo>
                  <a:pt x="308" y="537"/>
                </a:lnTo>
                <a:lnTo>
                  <a:pt x="308" y="533"/>
                </a:lnTo>
                <a:close/>
                <a:moveTo>
                  <a:pt x="318" y="526"/>
                </a:moveTo>
                <a:lnTo>
                  <a:pt x="322" y="526"/>
                </a:lnTo>
                <a:lnTo>
                  <a:pt x="325" y="530"/>
                </a:lnTo>
                <a:lnTo>
                  <a:pt x="318" y="533"/>
                </a:lnTo>
                <a:lnTo>
                  <a:pt x="318" y="526"/>
                </a:lnTo>
                <a:close/>
                <a:moveTo>
                  <a:pt x="502" y="336"/>
                </a:moveTo>
                <a:lnTo>
                  <a:pt x="526" y="364"/>
                </a:lnTo>
                <a:lnTo>
                  <a:pt x="561" y="350"/>
                </a:lnTo>
                <a:lnTo>
                  <a:pt x="540" y="381"/>
                </a:lnTo>
                <a:lnTo>
                  <a:pt x="565" y="409"/>
                </a:lnTo>
                <a:lnTo>
                  <a:pt x="530" y="402"/>
                </a:lnTo>
                <a:lnTo>
                  <a:pt x="509" y="433"/>
                </a:lnTo>
                <a:lnTo>
                  <a:pt x="506" y="395"/>
                </a:lnTo>
                <a:lnTo>
                  <a:pt x="471" y="388"/>
                </a:lnTo>
                <a:lnTo>
                  <a:pt x="506" y="374"/>
                </a:lnTo>
                <a:lnTo>
                  <a:pt x="502" y="336"/>
                </a:lnTo>
                <a:close/>
                <a:moveTo>
                  <a:pt x="405" y="336"/>
                </a:moveTo>
                <a:lnTo>
                  <a:pt x="402" y="374"/>
                </a:lnTo>
                <a:lnTo>
                  <a:pt x="436" y="388"/>
                </a:lnTo>
                <a:lnTo>
                  <a:pt x="402" y="395"/>
                </a:lnTo>
                <a:lnTo>
                  <a:pt x="398" y="433"/>
                </a:lnTo>
                <a:lnTo>
                  <a:pt x="377" y="402"/>
                </a:lnTo>
                <a:lnTo>
                  <a:pt x="343" y="409"/>
                </a:lnTo>
                <a:lnTo>
                  <a:pt x="367" y="381"/>
                </a:lnTo>
                <a:lnTo>
                  <a:pt x="346" y="350"/>
                </a:lnTo>
                <a:lnTo>
                  <a:pt x="381" y="364"/>
                </a:lnTo>
                <a:lnTo>
                  <a:pt x="405" y="336"/>
                </a:lnTo>
                <a:close/>
                <a:moveTo>
                  <a:pt x="623" y="235"/>
                </a:moveTo>
                <a:lnTo>
                  <a:pt x="634" y="273"/>
                </a:lnTo>
                <a:lnTo>
                  <a:pt x="669" y="277"/>
                </a:lnTo>
                <a:lnTo>
                  <a:pt x="637" y="294"/>
                </a:lnTo>
                <a:lnTo>
                  <a:pt x="648" y="332"/>
                </a:lnTo>
                <a:lnTo>
                  <a:pt x="616" y="308"/>
                </a:lnTo>
                <a:lnTo>
                  <a:pt x="585" y="325"/>
                </a:lnTo>
                <a:lnTo>
                  <a:pt x="599" y="291"/>
                </a:lnTo>
                <a:lnTo>
                  <a:pt x="571" y="266"/>
                </a:lnTo>
                <a:lnTo>
                  <a:pt x="610" y="270"/>
                </a:lnTo>
                <a:lnTo>
                  <a:pt x="623" y="235"/>
                </a:lnTo>
                <a:close/>
                <a:moveTo>
                  <a:pt x="280" y="232"/>
                </a:moveTo>
                <a:lnTo>
                  <a:pt x="294" y="266"/>
                </a:lnTo>
                <a:lnTo>
                  <a:pt x="332" y="263"/>
                </a:lnTo>
                <a:lnTo>
                  <a:pt x="305" y="287"/>
                </a:lnTo>
                <a:lnTo>
                  <a:pt x="318" y="322"/>
                </a:lnTo>
                <a:lnTo>
                  <a:pt x="287" y="305"/>
                </a:lnTo>
                <a:lnTo>
                  <a:pt x="256" y="329"/>
                </a:lnTo>
                <a:lnTo>
                  <a:pt x="266" y="291"/>
                </a:lnTo>
                <a:lnTo>
                  <a:pt x="235" y="273"/>
                </a:lnTo>
                <a:lnTo>
                  <a:pt x="270" y="270"/>
                </a:lnTo>
                <a:lnTo>
                  <a:pt x="280" y="232"/>
                </a:lnTo>
                <a:close/>
                <a:moveTo>
                  <a:pt x="454" y="110"/>
                </a:moveTo>
                <a:lnTo>
                  <a:pt x="474" y="183"/>
                </a:lnTo>
                <a:lnTo>
                  <a:pt x="551" y="183"/>
                </a:lnTo>
                <a:lnTo>
                  <a:pt x="488" y="228"/>
                </a:lnTo>
                <a:lnTo>
                  <a:pt x="513" y="298"/>
                </a:lnTo>
                <a:lnTo>
                  <a:pt x="454" y="256"/>
                </a:lnTo>
                <a:lnTo>
                  <a:pt x="391" y="298"/>
                </a:lnTo>
                <a:lnTo>
                  <a:pt x="416" y="228"/>
                </a:lnTo>
                <a:lnTo>
                  <a:pt x="353" y="183"/>
                </a:lnTo>
                <a:lnTo>
                  <a:pt x="429" y="183"/>
                </a:lnTo>
                <a:lnTo>
                  <a:pt x="454" y="110"/>
                </a:lnTo>
                <a:close/>
                <a:moveTo>
                  <a:pt x="454" y="86"/>
                </a:moveTo>
                <a:cubicBezTo>
                  <a:pt x="249" y="86"/>
                  <a:pt x="83" y="253"/>
                  <a:pt x="83" y="457"/>
                </a:cubicBezTo>
                <a:cubicBezTo>
                  <a:pt x="83" y="508"/>
                  <a:pt x="93" y="557"/>
                  <a:pt x="112" y="602"/>
                </a:cubicBezTo>
                <a:lnTo>
                  <a:pt x="143" y="648"/>
                </a:lnTo>
                <a:lnTo>
                  <a:pt x="124" y="648"/>
                </a:lnTo>
                <a:lnTo>
                  <a:pt x="135" y="662"/>
                </a:lnTo>
                <a:lnTo>
                  <a:pt x="131" y="675"/>
                </a:lnTo>
                <a:lnTo>
                  <a:pt x="166" y="714"/>
                </a:lnTo>
                <a:lnTo>
                  <a:pt x="148" y="714"/>
                </a:lnTo>
                <a:lnTo>
                  <a:pt x="173" y="734"/>
                </a:lnTo>
                <a:lnTo>
                  <a:pt x="215" y="735"/>
                </a:lnTo>
                <a:lnTo>
                  <a:pt x="309" y="799"/>
                </a:lnTo>
                <a:cubicBezTo>
                  <a:pt x="354" y="818"/>
                  <a:pt x="403" y="828"/>
                  <a:pt x="454" y="828"/>
                </a:cubicBezTo>
                <a:cubicBezTo>
                  <a:pt x="505" y="828"/>
                  <a:pt x="553" y="818"/>
                  <a:pt x="598" y="799"/>
                </a:cubicBezTo>
                <a:lnTo>
                  <a:pt x="684" y="741"/>
                </a:lnTo>
                <a:lnTo>
                  <a:pt x="710" y="741"/>
                </a:lnTo>
                <a:lnTo>
                  <a:pt x="714" y="741"/>
                </a:lnTo>
                <a:lnTo>
                  <a:pt x="738" y="721"/>
                </a:lnTo>
                <a:lnTo>
                  <a:pt x="717" y="721"/>
                </a:lnTo>
                <a:lnTo>
                  <a:pt x="717" y="718"/>
                </a:lnTo>
                <a:lnTo>
                  <a:pt x="742" y="681"/>
                </a:lnTo>
                <a:lnTo>
                  <a:pt x="749" y="672"/>
                </a:lnTo>
                <a:lnTo>
                  <a:pt x="756" y="672"/>
                </a:lnTo>
                <a:lnTo>
                  <a:pt x="766" y="658"/>
                </a:lnTo>
                <a:lnTo>
                  <a:pt x="757" y="658"/>
                </a:lnTo>
                <a:lnTo>
                  <a:pt x="796" y="602"/>
                </a:lnTo>
                <a:cubicBezTo>
                  <a:pt x="814" y="557"/>
                  <a:pt x="825" y="508"/>
                  <a:pt x="825" y="457"/>
                </a:cubicBezTo>
                <a:cubicBezTo>
                  <a:pt x="825" y="253"/>
                  <a:pt x="658" y="86"/>
                  <a:pt x="454" y="86"/>
                </a:cubicBezTo>
                <a:moveTo>
                  <a:pt x="454" y="0"/>
                </a:moveTo>
                <a:cubicBezTo>
                  <a:pt x="703" y="0"/>
                  <a:pt x="908" y="204"/>
                  <a:pt x="908" y="454"/>
                </a:cubicBezTo>
                <a:cubicBezTo>
                  <a:pt x="908" y="703"/>
                  <a:pt x="703" y="908"/>
                  <a:pt x="454" y="908"/>
                </a:cubicBezTo>
                <a:cubicBezTo>
                  <a:pt x="204" y="908"/>
                  <a:pt x="0" y="703"/>
                  <a:pt x="0" y="454"/>
                </a:cubicBezTo>
                <a:cubicBezTo>
                  <a:pt x="0" y="204"/>
                  <a:pt x="204" y="0"/>
                  <a:pt x="454" y="0"/>
                </a:cubicBezTo>
              </a:path>
            </a:pathLst>
          </a:custGeom>
          <a:solidFill>
            <a:srgbClr val="BF756D">
              <a:alpha val="100000"/>
            </a:srgbClr>
          </a:solidFill>
          <a:ln w="0" cap="flat">
            <a:noFill/>
            <a:prstDash val="solid"/>
            <a:miter lim="0"/>
          </a:ln>
        </p:spPr>
        <p:txBody>
          <a:bodyPr rtlCol="0"/>
          <a:lstStyle/>
          <a:p>
            <a:pPr algn="ctr"/>
            <a:endParaRPr lang="zh-CN" altLang="en-US"/>
          </a:p>
        </p:txBody>
      </p:sp>
      <p:sp>
        <p:nvSpPr>
          <p:cNvPr id="322" name="path 322"/>
          <p:cNvSpPr/>
          <p:nvPr/>
        </p:nvSpPr>
        <p:spPr>
          <a:xfrm>
            <a:off x="1539239" y="5580888"/>
            <a:ext cx="595884" cy="609599"/>
          </a:xfrm>
          <a:custGeom>
            <a:avLst/>
            <a:gdLst/>
            <a:ahLst/>
            <a:cxnLst/>
            <a:rect l="0" t="0" r="0" b="0"/>
            <a:pathLst>
              <a:path w="938" h="959">
                <a:moveTo>
                  <a:pt x="781" y="193"/>
                </a:moveTo>
                <a:lnTo>
                  <a:pt x="781" y="0"/>
                </a:lnTo>
                <a:lnTo>
                  <a:pt x="239" y="0"/>
                </a:lnTo>
                <a:lnTo>
                  <a:pt x="239" y="193"/>
                </a:lnTo>
                <a:lnTo>
                  <a:pt x="0" y="193"/>
                </a:lnTo>
                <a:lnTo>
                  <a:pt x="0" y="729"/>
                </a:lnTo>
                <a:lnTo>
                  <a:pt x="239" y="729"/>
                </a:lnTo>
                <a:lnTo>
                  <a:pt x="239" y="959"/>
                </a:lnTo>
                <a:lnTo>
                  <a:pt x="648" y="959"/>
                </a:lnTo>
                <a:lnTo>
                  <a:pt x="781" y="823"/>
                </a:lnTo>
                <a:lnTo>
                  <a:pt x="781" y="729"/>
                </a:lnTo>
                <a:lnTo>
                  <a:pt x="938" y="729"/>
                </a:lnTo>
                <a:lnTo>
                  <a:pt x="938" y="193"/>
                </a:lnTo>
                <a:lnTo>
                  <a:pt x="781" y="193"/>
                </a:lnTo>
                <a:close/>
                <a:moveTo>
                  <a:pt x="186" y="502"/>
                </a:moveTo>
                <a:lnTo>
                  <a:pt x="66" y="502"/>
                </a:lnTo>
                <a:lnTo>
                  <a:pt x="66" y="424"/>
                </a:lnTo>
                <a:lnTo>
                  <a:pt x="186" y="424"/>
                </a:lnTo>
                <a:lnTo>
                  <a:pt x="186" y="502"/>
                </a:lnTo>
                <a:close/>
                <a:moveTo>
                  <a:pt x="186" y="370"/>
                </a:moveTo>
                <a:lnTo>
                  <a:pt x="66" y="370"/>
                </a:lnTo>
                <a:lnTo>
                  <a:pt x="66" y="292"/>
                </a:lnTo>
                <a:lnTo>
                  <a:pt x="186" y="292"/>
                </a:lnTo>
                <a:lnTo>
                  <a:pt x="186" y="370"/>
                </a:lnTo>
                <a:close/>
                <a:moveTo>
                  <a:pt x="698" y="789"/>
                </a:moveTo>
                <a:lnTo>
                  <a:pt x="613" y="877"/>
                </a:lnTo>
                <a:lnTo>
                  <a:pt x="322" y="877"/>
                </a:lnTo>
                <a:lnTo>
                  <a:pt x="322" y="560"/>
                </a:lnTo>
                <a:lnTo>
                  <a:pt x="698" y="560"/>
                </a:lnTo>
                <a:lnTo>
                  <a:pt x="698" y="789"/>
                </a:lnTo>
                <a:close/>
                <a:moveTo>
                  <a:pt x="698" y="362"/>
                </a:moveTo>
                <a:lnTo>
                  <a:pt x="322" y="362"/>
                </a:lnTo>
                <a:lnTo>
                  <a:pt x="322" y="82"/>
                </a:lnTo>
                <a:lnTo>
                  <a:pt x="698" y="82"/>
                </a:lnTo>
                <a:lnTo>
                  <a:pt x="698" y="362"/>
                </a:lnTo>
                <a:close/>
              </a:path>
            </a:pathLst>
          </a:custGeom>
          <a:solidFill>
            <a:srgbClr val="BF756D">
              <a:alpha val="100000"/>
            </a:srgbClr>
          </a:solidFill>
          <a:ln w="0" cap="flat">
            <a:noFill/>
            <a:prstDash val="solid"/>
            <a:miter lim="0"/>
          </a:ln>
        </p:spPr>
        <p:txBody>
          <a:bodyPr rtlCol="0"/>
          <a:lstStyle/>
          <a:p>
            <a:pPr algn="ctr"/>
            <a:endParaRPr lang="zh-CN" altLang="en-US"/>
          </a:p>
        </p:txBody>
      </p:sp>
      <p:grpSp>
        <p:nvGrpSpPr>
          <p:cNvPr id="16" name="group 16"/>
          <p:cNvGrpSpPr/>
          <p:nvPr/>
        </p:nvGrpSpPr>
        <p:grpSpPr>
          <a:xfrm rot="21600000">
            <a:off x="4843653" y="5564504"/>
            <a:ext cx="358901" cy="628650"/>
            <a:chOff x="0" y="0"/>
            <a:chExt cx="358901" cy="628650"/>
          </a:xfrm>
        </p:grpSpPr>
        <p:sp>
          <p:nvSpPr>
            <p:cNvPr id="324" name="path 324"/>
            <p:cNvSpPr/>
            <p:nvPr/>
          </p:nvSpPr>
          <p:spPr>
            <a:xfrm>
              <a:off x="9525" y="9525"/>
              <a:ext cx="339851" cy="609600"/>
            </a:xfrm>
            <a:custGeom>
              <a:avLst/>
              <a:gdLst/>
              <a:ahLst/>
              <a:cxnLst/>
              <a:rect l="0" t="0" r="0" b="0"/>
              <a:pathLst>
                <a:path w="535" h="960">
                  <a:moveTo>
                    <a:pt x="294" y="913"/>
                  </a:moveTo>
                  <a:lnTo>
                    <a:pt x="294" y="936"/>
                  </a:lnTo>
                  <a:lnTo>
                    <a:pt x="415" y="936"/>
                  </a:lnTo>
                  <a:lnTo>
                    <a:pt x="415" y="913"/>
                  </a:lnTo>
                  <a:lnTo>
                    <a:pt x="294" y="913"/>
                  </a:lnTo>
                  <a:close/>
                  <a:moveTo>
                    <a:pt x="118" y="913"/>
                  </a:moveTo>
                  <a:lnTo>
                    <a:pt x="118" y="936"/>
                  </a:lnTo>
                  <a:lnTo>
                    <a:pt x="239" y="936"/>
                  </a:lnTo>
                  <a:lnTo>
                    <a:pt x="239" y="913"/>
                  </a:lnTo>
                  <a:lnTo>
                    <a:pt x="118" y="913"/>
                  </a:lnTo>
                  <a:close/>
                  <a:moveTo>
                    <a:pt x="294" y="637"/>
                  </a:moveTo>
                  <a:lnTo>
                    <a:pt x="294" y="888"/>
                  </a:lnTo>
                  <a:lnTo>
                    <a:pt x="415" y="888"/>
                  </a:lnTo>
                  <a:lnTo>
                    <a:pt x="415" y="637"/>
                  </a:lnTo>
                  <a:lnTo>
                    <a:pt x="294" y="637"/>
                  </a:lnTo>
                  <a:close/>
                  <a:moveTo>
                    <a:pt x="263" y="637"/>
                  </a:moveTo>
                  <a:lnTo>
                    <a:pt x="263" y="888"/>
                  </a:lnTo>
                  <a:lnTo>
                    <a:pt x="270" y="888"/>
                  </a:lnTo>
                  <a:lnTo>
                    <a:pt x="270" y="637"/>
                  </a:lnTo>
                  <a:lnTo>
                    <a:pt x="263" y="637"/>
                  </a:lnTo>
                  <a:close/>
                  <a:moveTo>
                    <a:pt x="118" y="637"/>
                  </a:moveTo>
                  <a:lnTo>
                    <a:pt x="118" y="888"/>
                  </a:lnTo>
                  <a:lnTo>
                    <a:pt x="239" y="888"/>
                  </a:lnTo>
                  <a:lnTo>
                    <a:pt x="239" y="637"/>
                  </a:lnTo>
                  <a:lnTo>
                    <a:pt x="118" y="637"/>
                  </a:lnTo>
                  <a:close/>
                  <a:moveTo>
                    <a:pt x="381" y="339"/>
                  </a:moveTo>
                  <a:cubicBezTo>
                    <a:pt x="387" y="339"/>
                    <a:pt x="393" y="345"/>
                    <a:pt x="393" y="351"/>
                  </a:cubicBezTo>
                  <a:lnTo>
                    <a:pt x="393" y="517"/>
                  </a:lnTo>
                  <a:cubicBezTo>
                    <a:pt x="393" y="523"/>
                    <a:pt x="387" y="529"/>
                    <a:pt x="381" y="529"/>
                  </a:cubicBezTo>
                  <a:cubicBezTo>
                    <a:pt x="374" y="529"/>
                    <a:pt x="368" y="523"/>
                    <a:pt x="368" y="517"/>
                  </a:cubicBezTo>
                  <a:lnTo>
                    <a:pt x="368" y="351"/>
                  </a:lnTo>
                  <a:cubicBezTo>
                    <a:pt x="368" y="345"/>
                    <a:pt x="374" y="339"/>
                    <a:pt x="381" y="339"/>
                  </a:cubicBezTo>
                  <a:moveTo>
                    <a:pt x="440" y="315"/>
                  </a:moveTo>
                  <a:lnTo>
                    <a:pt x="440" y="551"/>
                  </a:lnTo>
                  <a:lnTo>
                    <a:pt x="492" y="551"/>
                  </a:lnTo>
                  <a:lnTo>
                    <a:pt x="492" y="315"/>
                  </a:lnTo>
                  <a:lnTo>
                    <a:pt x="440" y="315"/>
                  </a:lnTo>
                  <a:close/>
                  <a:moveTo>
                    <a:pt x="118" y="315"/>
                  </a:moveTo>
                  <a:lnTo>
                    <a:pt x="118" y="564"/>
                  </a:lnTo>
                  <a:cubicBezTo>
                    <a:pt x="118" y="564"/>
                    <a:pt x="118" y="565"/>
                    <a:pt x="118" y="565"/>
                  </a:cubicBezTo>
                  <a:lnTo>
                    <a:pt x="118" y="613"/>
                  </a:lnTo>
                  <a:lnTo>
                    <a:pt x="251" y="613"/>
                  </a:lnTo>
                  <a:lnTo>
                    <a:pt x="282" y="613"/>
                  </a:lnTo>
                  <a:lnTo>
                    <a:pt x="415" y="613"/>
                  </a:lnTo>
                  <a:lnTo>
                    <a:pt x="415" y="564"/>
                  </a:lnTo>
                  <a:lnTo>
                    <a:pt x="415" y="315"/>
                  </a:lnTo>
                  <a:lnTo>
                    <a:pt x="326" y="315"/>
                  </a:lnTo>
                  <a:lnTo>
                    <a:pt x="208" y="315"/>
                  </a:lnTo>
                  <a:lnTo>
                    <a:pt x="118" y="315"/>
                  </a:lnTo>
                  <a:close/>
                  <a:moveTo>
                    <a:pt x="42" y="315"/>
                  </a:moveTo>
                  <a:lnTo>
                    <a:pt x="42" y="551"/>
                  </a:lnTo>
                  <a:lnTo>
                    <a:pt x="93" y="551"/>
                  </a:lnTo>
                  <a:lnTo>
                    <a:pt x="93" y="315"/>
                  </a:lnTo>
                  <a:lnTo>
                    <a:pt x="42" y="315"/>
                  </a:lnTo>
                  <a:close/>
                  <a:moveTo>
                    <a:pt x="221" y="261"/>
                  </a:moveTo>
                  <a:lnTo>
                    <a:pt x="221" y="290"/>
                  </a:lnTo>
                  <a:lnTo>
                    <a:pt x="313" y="290"/>
                  </a:lnTo>
                  <a:lnTo>
                    <a:pt x="313" y="261"/>
                  </a:lnTo>
                  <a:lnTo>
                    <a:pt x="221" y="261"/>
                  </a:lnTo>
                  <a:close/>
                  <a:moveTo>
                    <a:pt x="345" y="101"/>
                  </a:moveTo>
                  <a:cubicBezTo>
                    <a:pt x="351" y="101"/>
                    <a:pt x="357" y="106"/>
                    <a:pt x="357" y="113"/>
                  </a:cubicBezTo>
                  <a:lnTo>
                    <a:pt x="357" y="168"/>
                  </a:lnTo>
                  <a:cubicBezTo>
                    <a:pt x="357" y="175"/>
                    <a:pt x="351" y="179"/>
                    <a:pt x="345" y="179"/>
                  </a:cubicBezTo>
                  <a:cubicBezTo>
                    <a:pt x="338" y="179"/>
                    <a:pt x="333" y="175"/>
                    <a:pt x="333" y="168"/>
                  </a:cubicBezTo>
                  <a:lnTo>
                    <a:pt x="333" y="113"/>
                  </a:lnTo>
                  <a:cubicBezTo>
                    <a:pt x="333" y="106"/>
                    <a:pt x="338" y="101"/>
                    <a:pt x="345" y="101"/>
                  </a:cubicBezTo>
                  <a:moveTo>
                    <a:pt x="173" y="75"/>
                  </a:moveTo>
                  <a:cubicBezTo>
                    <a:pt x="161" y="75"/>
                    <a:pt x="151" y="85"/>
                    <a:pt x="151" y="98"/>
                  </a:cubicBezTo>
                  <a:lnTo>
                    <a:pt x="151" y="215"/>
                  </a:lnTo>
                  <a:cubicBezTo>
                    <a:pt x="151" y="227"/>
                    <a:pt x="161" y="237"/>
                    <a:pt x="173" y="237"/>
                  </a:cubicBezTo>
                  <a:lnTo>
                    <a:pt x="209" y="237"/>
                  </a:lnTo>
                  <a:lnTo>
                    <a:pt x="326" y="237"/>
                  </a:lnTo>
                  <a:lnTo>
                    <a:pt x="360" y="237"/>
                  </a:lnTo>
                  <a:cubicBezTo>
                    <a:pt x="372" y="237"/>
                    <a:pt x="382" y="227"/>
                    <a:pt x="382" y="215"/>
                  </a:cubicBezTo>
                  <a:lnTo>
                    <a:pt x="382" y="98"/>
                  </a:lnTo>
                  <a:cubicBezTo>
                    <a:pt x="382" y="85"/>
                    <a:pt x="372" y="75"/>
                    <a:pt x="360" y="75"/>
                  </a:cubicBezTo>
                  <a:lnTo>
                    <a:pt x="330" y="75"/>
                  </a:lnTo>
                  <a:cubicBezTo>
                    <a:pt x="328" y="76"/>
                    <a:pt x="327" y="76"/>
                    <a:pt x="325" y="76"/>
                  </a:cubicBezTo>
                  <a:lnTo>
                    <a:pt x="208" y="76"/>
                  </a:lnTo>
                  <a:cubicBezTo>
                    <a:pt x="206" y="76"/>
                    <a:pt x="205" y="76"/>
                    <a:pt x="204" y="75"/>
                  </a:cubicBezTo>
                  <a:lnTo>
                    <a:pt x="173" y="75"/>
                  </a:lnTo>
                  <a:close/>
                  <a:moveTo>
                    <a:pt x="220" y="24"/>
                  </a:moveTo>
                  <a:lnTo>
                    <a:pt x="220" y="52"/>
                  </a:lnTo>
                  <a:lnTo>
                    <a:pt x="313" y="52"/>
                  </a:lnTo>
                  <a:lnTo>
                    <a:pt x="313" y="24"/>
                  </a:lnTo>
                  <a:lnTo>
                    <a:pt x="220" y="24"/>
                  </a:lnTo>
                  <a:close/>
                  <a:moveTo>
                    <a:pt x="208" y="0"/>
                  </a:moveTo>
                  <a:lnTo>
                    <a:pt x="325" y="0"/>
                  </a:lnTo>
                  <a:cubicBezTo>
                    <a:pt x="332" y="0"/>
                    <a:pt x="337" y="5"/>
                    <a:pt x="337" y="11"/>
                  </a:cubicBezTo>
                  <a:lnTo>
                    <a:pt x="337" y="52"/>
                  </a:lnTo>
                  <a:lnTo>
                    <a:pt x="360" y="52"/>
                  </a:lnTo>
                  <a:cubicBezTo>
                    <a:pt x="385" y="52"/>
                    <a:pt x="406" y="72"/>
                    <a:pt x="406" y="98"/>
                  </a:cubicBezTo>
                  <a:lnTo>
                    <a:pt x="406" y="215"/>
                  </a:lnTo>
                  <a:cubicBezTo>
                    <a:pt x="406" y="241"/>
                    <a:pt x="385" y="261"/>
                    <a:pt x="360" y="261"/>
                  </a:cubicBezTo>
                  <a:lnTo>
                    <a:pt x="338" y="261"/>
                  </a:lnTo>
                  <a:lnTo>
                    <a:pt x="338" y="290"/>
                  </a:lnTo>
                  <a:lnTo>
                    <a:pt x="428" y="290"/>
                  </a:lnTo>
                  <a:lnTo>
                    <a:pt x="504" y="290"/>
                  </a:lnTo>
                  <a:cubicBezTo>
                    <a:pt x="511" y="290"/>
                    <a:pt x="517" y="296"/>
                    <a:pt x="517" y="302"/>
                  </a:cubicBezTo>
                  <a:lnTo>
                    <a:pt x="517" y="564"/>
                  </a:lnTo>
                  <a:cubicBezTo>
                    <a:pt x="517" y="570"/>
                    <a:pt x="511" y="576"/>
                    <a:pt x="504" y="576"/>
                  </a:cubicBezTo>
                  <a:lnTo>
                    <a:pt x="440" y="576"/>
                  </a:lnTo>
                  <a:lnTo>
                    <a:pt x="440" y="604"/>
                  </a:lnTo>
                  <a:cubicBezTo>
                    <a:pt x="450" y="594"/>
                    <a:pt x="463" y="587"/>
                    <a:pt x="479" y="587"/>
                  </a:cubicBezTo>
                  <a:cubicBezTo>
                    <a:pt x="509" y="587"/>
                    <a:pt x="535" y="613"/>
                    <a:pt x="535" y="643"/>
                  </a:cubicBezTo>
                  <a:cubicBezTo>
                    <a:pt x="535" y="660"/>
                    <a:pt x="527" y="675"/>
                    <a:pt x="514" y="686"/>
                  </a:cubicBezTo>
                  <a:cubicBezTo>
                    <a:pt x="509" y="690"/>
                    <a:pt x="501" y="689"/>
                    <a:pt x="498" y="684"/>
                  </a:cubicBezTo>
                  <a:cubicBezTo>
                    <a:pt x="493" y="679"/>
                    <a:pt x="494" y="671"/>
                    <a:pt x="500" y="667"/>
                  </a:cubicBezTo>
                  <a:cubicBezTo>
                    <a:pt x="507" y="661"/>
                    <a:pt x="510" y="652"/>
                    <a:pt x="510" y="643"/>
                  </a:cubicBezTo>
                  <a:cubicBezTo>
                    <a:pt x="510" y="625"/>
                    <a:pt x="497" y="612"/>
                    <a:pt x="479" y="612"/>
                  </a:cubicBezTo>
                  <a:cubicBezTo>
                    <a:pt x="462" y="612"/>
                    <a:pt x="448" y="625"/>
                    <a:pt x="448" y="643"/>
                  </a:cubicBezTo>
                  <a:cubicBezTo>
                    <a:pt x="448" y="654"/>
                    <a:pt x="453" y="665"/>
                    <a:pt x="463" y="670"/>
                  </a:cubicBezTo>
                  <a:cubicBezTo>
                    <a:pt x="470" y="673"/>
                    <a:pt x="472" y="681"/>
                    <a:pt x="468" y="687"/>
                  </a:cubicBezTo>
                  <a:cubicBezTo>
                    <a:pt x="466" y="690"/>
                    <a:pt x="462" y="693"/>
                    <a:pt x="458" y="693"/>
                  </a:cubicBezTo>
                  <a:cubicBezTo>
                    <a:pt x="455" y="693"/>
                    <a:pt x="453" y="692"/>
                    <a:pt x="452" y="691"/>
                  </a:cubicBezTo>
                  <a:cubicBezTo>
                    <a:pt x="447" y="689"/>
                    <a:pt x="443" y="686"/>
                    <a:pt x="440" y="682"/>
                  </a:cubicBezTo>
                  <a:lnTo>
                    <a:pt x="440" y="948"/>
                  </a:lnTo>
                  <a:cubicBezTo>
                    <a:pt x="440" y="954"/>
                    <a:pt x="434" y="960"/>
                    <a:pt x="428" y="960"/>
                  </a:cubicBezTo>
                  <a:lnTo>
                    <a:pt x="282" y="960"/>
                  </a:lnTo>
                  <a:cubicBezTo>
                    <a:pt x="275" y="960"/>
                    <a:pt x="270" y="954"/>
                    <a:pt x="270" y="948"/>
                  </a:cubicBezTo>
                  <a:lnTo>
                    <a:pt x="270" y="913"/>
                  </a:lnTo>
                  <a:lnTo>
                    <a:pt x="263" y="913"/>
                  </a:lnTo>
                  <a:lnTo>
                    <a:pt x="263" y="948"/>
                  </a:lnTo>
                  <a:cubicBezTo>
                    <a:pt x="263" y="954"/>
                    <a:pt x="258" y="960"/>
                    <a:pt x="251" y="960"/>
                  </a:cubicBezTo>
                  <a:lnTo>
                    <a:pt x="105" y="960"/>
                  </a:lnTo>
                  <a:cubicBezTo>
                    <a:pt x="99" y="960"/>
                    <a:pt x="93" y="954"/>
                    <a:pt x="93" y="948"/>
                  </a:cubicBezTo>
                  <a:lnTo>
                    <a:pt x="93" y="682"/>
                  </a:lnTo>
                  <a:cubicBezTo>
                    <a:pt x="90" y="686"/>
                    <a:pt x="86" y="689"/>
                    <a:pt x="82" y="691"/>
                  </a:cubicBezTo>
                  <a:cubicBezTo>
                    <a:pt x="80" y="692"/>
                    <a:pt x="78" y="693"/>
                    <a:pt x="76" y="693"/>
                  </a:cubicBezTo>
                  <a:cubicBezTo>
                    <a:pt x="72" y="693"/>
                    <a:pt x="68" y="690"/>
                    <a:pt x="65" y="687"/>
                  </a:cubicBezTo>
                  <a:cubicBezTo>
                    <a:pt x="62" y="681"/>
                    <a:pt x="64" y="673"/>
                    <a:pt x="70" y="670"/>
                  </a:cubicBezTo>
                  <a:cubicBezTo>
                    <a:pt x="80" y="664"/>
                    <a:pt x="86" y="654"/>
                    <a:pt x="86" y="643"/>
                  </a:cubicBezTo>
                  <a:cubicBezTo>
                    <a:pt x="86" y="625"/>
                    <a:pt x="72" y="612"/>
                    <a:pt x="55" y="612"/>
                  </a:cubicBezTo>
                  <a:cubicBezTo>
                    <a:pt x="37" y="612"/>
                    <a:pt x="23" y="625"/>
                    <a:pt x="23" y="643"/>
                  </a:cubicBezTo>
                  <a:cubicBezTo>
                    <a:pt x="23" y="652"/>
                    <a:pt x="27" y="661"/>
                    <a:pt x="35" y="667"/>
                  </a:cubicBezTo>
                  <a:cubicBezTo>
                    <a:pt x="40" y="671"/>
                    <a:pt x="40" y="679"/>
                    <a:pt x="36" y="684"/>
                  </a:cubicBezTo>
                  <a:cubicBezTo>
                    <a:pt x="32" y="689"/>
                    <a:pt x="25" y="690"/>
                    <a:pt x="19" y="686"/>
                  </a:cubicBezTo>
                  <a:cubicBezTo>
                    <a:pt x="7" y="675"/>
                    <a:pt x="0" y="660"/>
                    <a:pt x="0" y="643"/>
                  </a:cubicBezTo>
                  <a:cubicBezTo>
                    <a:pt x="0" y="613"/>
                    <a:pt x="24" y="587"/>
                    <a:pt x="55" y="587"/>
                  </a:cubicBezTo>
                  <a:cubicBezTo>
                    <a:pt x="70" y="587"/>
                    <a:pt x="83" y="594"/>
                    <a:pt x="93" y="604"/>
                  </a:cubicBezTo>
                  <a:lnTo>
                    <a:pt x="93" y="576"/>
                  </a:lnTo>
                  <a:lnTo>
                    <a:pt x="29" y="576"/>
                  </a:lnTo>
                  <a:cubicBezTo>
                    <a:pt x="23" y="576"/>
                    <a:pt x="17" y="570"/>
                    <a:pt x="17" y="564"/>
                  </a:cubicBezTo>
                  <a:lnTo>
                    <a:pt x="17" y="302"/>
                  </a:lnTo>
                  <a:cubicBezTo>
                    <a:pt x="17" y="296"/>
                    <a:pt x="23" y="290"/>
                    <a:pt x="29" y="290"/>
                  </a:cubicBezTo>
                  <a:lnTo>
                    <a:pt x="105" y="290"/>
                  </a:lnTo>
                  <a:lnTo>
                    <a:pt x="106" y="290"/>
                  </a:lnTo>
                  <a:lnTo>
                    <a:pt x="196" y="290"/>
                  </a:lnTo>
                  <a:lnTo>
                    <a:pt x="196" y="261"/>
                  </a:lnTo>
                  <a:lnTo>
                    <a:pt x="173" y="261"/>
                  </a:lnTo>
                  <a:cubicBezTo>
                    <a:pt x="148" y="261"/>
                    <a:pt x="127" y="241"/>
                    <a:pt x="127" y="215"/>
                  </a:cubicBezTo>
                  <a:lnTo>
                    <a:pt x="127" y="98"/>
                  </a:lnTo>
                  <a:cubicBezTo>
                    <a:pt x="127" y="72"/>
                    <a:pt x="148" y="52"/>
                    <a:pt x="173" y="52"/>
                  </a:cubicBezTo>
                  <a:lnTo>
                    <a:pt x="196" y="52"/>
                  </a:lnTo>
                  <a:lnTo>
                    <a:pt x="196" y="11"/>
                  </a:lnTo>
                  <a:cubicBezTo>
                    <a:pt x="196" y="5"/>
                    <a:pt x="201" y="0"/>
                    <a:pt x="208" y="0"/>
                  </a:cubicBezTo>
                </a:path>
              </a:pathLst>
            </a:custGeom>
            <a:solidFill>
              <a:srgbClr val="BF756D">
                <a:alpha val="100000"/>
              </a:srgbClr>
            </a:solidFill>
            <a:ln w="0" cap="flat">
              <a:noFill/>
              <a:prstDash val="solid"/>
              <a:miter lim="0"/>
            </a:ln>
          </p:spPr>
          <p:txBody>
            <a:bodyPr rtlCol="0"/>
            <a:lstStyle/>
            <a:p>
              <a:pPr algn="ctr"/>
              <a:endParaRPr lang="zh-CN" altLang="en-US"/>
            </a:p>
          </p:txBody>
        </p:sp>
        <p:sp>
          <p:nvSpPr>
            <p:cNvPr id="326" name="path 326"/>
            <p:cNvSpPr/>
            <p:nvPr/>
          </p:nvSpPr>
          <p:spPr>
            <a:xfrm>
              <a:off x="0" y="0"/>
              <a:ext cx="358901" cy="628650"/>
            </a:xfrm>
            <a:custGeom>
              <a:avLst/>
              <a:gdLst/>
              <a:ahLst/>
              <a:cxnLst/>
              <a:rect l="0" t="0" r="0" b="0"/>
              <a:pathLst>
                <a:path w="565" h="990">
                  <a:moveTo>
                    <a:pt x="309" y="928"/>
                  </a:moveTo>
                  <a:lnTo>
                    <a:pt x="309" y="951"/>
                  </a:lnTo>
                  <a:lnTo>
                    <a:pt x="430" y="951"/>
                  </a:lnTo>
                  <a:lnTo>
                    <a:pt x="430" y="928"/>
                  </a:lnTo>
                  <a:lnTo>
                    <a:pt x="309" y="928"/>
                  </a:lnTo>
                  <a:close/>
                  <a:moveTo>
                    <a:pt x="133" y="928"/>
                  </a:moveTo>
                  <a:lnTo>
                    <a:pt x="133" y="951"/>
                  </a:lnTo>
                  <a:lnTo>
                    <a:pt x="254" y="951"/>
                  </a:lnTo>
                  <a:lnTo>
                    <a:pt x="254" y="928"/>
                  </a:lnTo>
                  <a:lnTo>
                    <a:pt x="133" y="928"/>
                  </a:lnTo>
                  <a:close/>
                  <a:moveTo>
                    <a:pt x="309" y="652"/>
                  </a:moveTo>
                  <a:lnTo>
                    <a:pt x="309" y="903"/>
                  </a:lnTo>
                  <a:lnTo>
                    <a:pt x="430" y="903"/>
                  </a:lnTo>
                  <a:lnTo>
                    <a:pt x="430" y="652"/>
                  </a:lnTo>
                  <a:lnTo>
                    <a:pt x="309" y="652"/>
                  </a:lnTo>
                  <a:close/>
                  <a:moveTo>
                    <a:pt x="278" y="652"/>
                  </a:moveTo>
                  <a:lnTo>
                    <a:pt x="278" y="903"/>
                  </a:lnTo>
                  <a:lnTo>
                    <a:pt x="285" y="903"/>
                  </a:lnTo>
                  <a:lnTo>
                    <a:pt x="285" y="652"/>
                  </a:lnTo>
                  <a:lnTo>
                    <a:pt x="278" y="652"/>
                  </a:lnTo>
                  <a:close/>
                  <a:moveTo>
                    <a:pt x="133" y="652"/>
                  </a:moveTo>
                  <a:lnTo>
                    <a:pt x="133" y="903"/>
                  </a:lnTo>
                  <a:lnTo>
                    <a:pt x="254" y="903"/>
                  </a:lnTo>
                  <a:lnTo>
                    <a:pt x="254" y="652"/>
                  </a:lnTo>
                  <a:lnTo>
                    <a:pt x="133" y="652"/>
                  </a:lnTo>
                  <a:close/>
                  <a:moveTo>
                    <a:pt x="396" y="354"/>
                  </a:moveTo>
                  <a:cubicBezTo>
                    <a:pt x="402" y="354"/>
                    <a:pt x="408" y="360"/>
                    <a:pt x="408" y="366"/>
                  </a:cubicBezTo>
                  <a:lnTo>
                    <a:pt x="408" y="532"/>
                  </a:lnTo>
                  <a:cubicBezTo>
                    <a:pt x="408" y="538"/>
                    <a:pt x="402" y="544"/>
                    <a:pt x="396" y="544"/>
                  </a:cubicBezTo>
                  <a:cubicBezTo>
                    <a:pt x="389" y="544"/>
                    <a:pt x="383" y="538"/>
                    <a:pt x="383" y="532"/>
                  </a:cubicBezTo>
                  <a:lnTo>
                    <a:pt x="383" y="366"/>
                  </a:lnTo>
                  <a:cubicBezTo>
                    <a:pt x="383" y="360"/>
                    <a:pt x="389" y="354"/>
                    <a:pt x="396" y="354"/>
                  </a:cubicBezTo>
                  <a:moveTo>
                    <a:pt x="455" y="330"/>
                  </a:moveTo>
                  <a:lnTo>
                    <a:pt x="455" y="566"/>
                  </a:lnTo>
                  <a:lnTo>
                    <a:pt x="507" y="566"/>
                  </a:lnTo>
                  <a:lnTo>
                    <a:pt x="507" y="330"/>
                  </a:lnTo>
                  <a:lnTo>
                    <a:pt x="455" y="330"/>
                  </a:lnTo>
                  <a:close/>
                  <a:moveTo>
                    <a:pt x="133" y="330"/>
                  </a:moveTo>
                  <a:lnTo>
                    <a:pt x="133" y="579"/>
                  </a:lnTo>
                  <a:cubicBezTo>
                    <a:pt x="133" y="579"/>
                    <a:pt x="133" y="580"/>
                    <a:pt x="133" y="580"/>
                  </a:cubicBezTo>
                  <a:lnTo>
                    <a:pt x="133" y="628"/>
                  </a:lnTo>
                  <a:lnTo>
                    <a:pt x="266" y="628"/>
                  </a:lnTo>
                  <a:lnTo>
                    <a:pt x="297" y="628"/>
                  </a:lnTo>
                  <a:lnTo>
                    <a:pt x="430" y="628"/>
                  </a:lnTo>
                  <a:lnTo>
                    <a:pt x="430" y="579"/>
                  </a:lnTo>
                  <a:lnTo>
                    <a:pt x="430" y="330"/>
                  </a:lnTo>
                  <a:lnTo>
                    <a:pt x="341" y="330"/>
                  </a:lnTo>
                  <a:lnTo>
                    <a:pt x="223" y="330"/>
                  </a:lnTo>
                  <a:lnTo>
                    <a:pt x="133" y="330"/>
                  </a:lnTo>
                  <a:close/>
                  <a:moveTo>
                    <a:pt x="57" y="330"/>
                  </a:moveTo>
                  <a:lnTo>
                    <a:pt x="57" y="566"/>
                  </a:lnTo>
                  <a:lnTo>
                    <a:pt x="108" y="566"/>
                  </a:lnTo>
                  <a:lnTo>
                    <a:pt x="108" y="330"/>
                  </a:lnTo>
                  <a:lnTo>
                    <a:pt x="57" y="330"/>
                  </a:lnTo>
                  <a:close/>
                  <a:moveTo>
                    <a:pt x="236" y="276"/>
                  </a:moveTo>
                  <a:lnTo>
                    <a:pt x="236" y="305"/>
                  </a:lnTo>
                  <a:lnTo>
                    <a:pt x="328" y="305"/>
                  </a:lnTo>
                  <a:lnTo>
                    <a:pt x="328" y="276"/>
                  </a:lnTo>
                  <a:lnTo>
                    <a:pt x="236" y="276"/>
                  </a:lnTo>
                  <a:close/>
                  <a:moveTo>
                    <a:pt x="360" y="116"/>
                  </a:moveTo>
                  <a:cubicBezTo>
                    <a:pt x="366" y="116"/>
                    <a:pt x="372" y="121"/>
                    <a:pt x="372" y="128"/>
                  </a:cubicBezTo>
                  <a:lnTo>
                    <a:pt x="372" y="183"/>
                  </a:lnTo>
                  <a:cubicBezTo>
                    <a:pt x="372" y="190"/>
                    <a:pt x="366" y="194"/>
                    <a:pt x="360" y="194"/>
                  </a:cubicBezTo>
                  <a:cubicBezTo>
                    <a:pt x="353" y="194"/>
                    <a:pt x="348" y="190"/>
                    <a:pt x="348" y="183"/>
                  </a:cubicBezTo>
                  <a:lnTo>
                    <a:pt x="348" y="128"/>
                  </a:lnTo>
                  <a:cubicBezTo>
                    <a:pt x="348" y="121"/>
                    <a:pt x="353" y="116"/>
                    <a:pt x="360" y="116"/>
                  </a:cubicBezTo>
                  <a:moveTo>
                    <a:pt x="188" y="90"/>
                  </a:moveTo>
                  <a:cubicBezTo>
                    <a:pt x="176" y="90"/>
                    <a:pt x="166" y="100"/>
                    <a:pt x="166" y="113"/>
                  </a:cubicBezTo>
                  <a:lnTo>
                    <a:pt x="166" y="230"/>
                  </a:lnTo>
                  <a:cubicBezTo>
                    <a:pt x="166" y="242"/>
                    <a:pt x="176" y="252"/>
                    <a:pt x="188" y="252"/>
                  </a:cubicBezTo>
                  <a:lnTo>
                    <a:pt x="224" y="252"/>
                  </a:lnTo>
                  <a:lnTo>
                    <a:pt x="341" y="252"/>
                  </a:lnTo>
                  <a:lnTo>
                    <a:pt x="375" y="252"/>
                  </a:lnTo>
                  <a:cubicBezTo>
                    <a:pt x="387" y="252"/>
                    <a:pt x="397" y="242"/>
                    <a:pt x="397" y="230"/>
                  </a:cubicBezTo>
                  <a:lnTo>
                    <a:pt x="397" y="113"/>
                  </a:lnTo>
                  <a:cubicBezTo>
                    <a:pt x="397" y="100"/>
                    <a:pt x="387" y="90"/>
                    <a:pt x="375" y="90"/>
                  </a:cubicBezTo>
                  <a:lnTo>
                    <a:pt x="345" y="90"/>
                  </a:lnTo>
                  <a:cubicBezTo>
                    <a:pt x="343" y="91"/>
                    <a:pt x="342" y="91"/>
                    <a:pt x="340" y="91"/>
                  </a:cubicBezTo>
                  <a:lnTo>
                    <a:pt x="223" y="91"/>
                  </a:lnTo>
                  <a:cubicBezTo>
                    <a:pt x="221" y="91"/>
                    <a:pt x="220" y="91"/>
                    <a:pt x="219" y="90"/>
                  </a:cubicBezTo>
                  <a:lnTo>
                    <a:pt x="188" y="90"/>
                  </a:lnTo>
                  <a:close/>
                  <a:moveTo>
                    <a:pt x="235" y="39"/>
                  </a:moveTo>
                  <a:lnTo>
                    <a:pt x="235" y="67"/>
                  </a:lnTo>
                  <a:lnTo>
                    <a:pt x="328" y="67"/>
                  </a:lnTo>
                  <a:lnTo>
                    <a:pt x="328" y="39"/>
                  </a:lnTo>
                  <a:lnTo>
                    <a:pt x="235" y="39"/>
                  </a:lnTo>
                  <a:close/>
                  <a:moveTo>
                    <a:pt x="223" y="15"/>
                  </a:moveTo>
                  <a:lnTo>
                    <a:pt x="340" y="15"/>
                  </a:lnTo>
                  <a:cubicBezTo>
                    <a:pt x="347" y="15"/>
                    <a:pt x="352" y="20"/>
                    <a:pt x="352" y="26"/>
                  </a:cubicBezTo>
                  <a:lnTo>
                    <a:pt x="352" y="67"/>
                  </a:lnTo>
                  <a:lnTo>
                    <a:pt x="375" y="67"/>
                  </a:lnTo>
                  <a:cubicBezTo>
                    <a:pt x="400" y="67"/>
                    <a:pt x="421" y="87"/>
                    <a:pt x="421" y="113"/>
                  </a:cubicBezTo>
                  <a:lnTo>
                    <a:pt x="421" y="230"/>
                  </a:lnTo>
                  <a:cubicBezTo>
                    <a:pt x="421" y="256"/>
                    <a:pt x="400" y="276"/>
                    <a:pt x="375" y="276"/>
                  </a:cubicBezTo>
                  <a:lnTo>
                    <a:pt x="353" y="276"/>
                  </a:lnTo>
                  <a:lnTo>
                    <a:pt x="353" y="305"/>
                  </a:lnTo>
                  <a:lnTo>
                    <a:pt x="443" y="305"/>
                  </a:lnTo>
                  <a:lnTo>
                    <a:pt x="519" y="305"/>
                  </a:lnTo>
                  <a:cubicBezTo>
                    <a:pt x="526" y="305"/>
                    <a:pt x="532" y="311"/>
                    <a:pt x="532" y="317"/>
                  </a:cubicBezTo>
                  <a:lnTo>
                    <a:pt x="532" y="579"/>
                  </a:lnTo>
                  <a:cubicBezTo>
                    <a:pt x="532" y="585"/>
                    <a:pt x="526" y="591"/>
                    <a:pt x="519" y="591"/>
                  </a:cubicBezTo>
                  <a:lnTo>
                    <a:pt x="455" y="591"/>
                  </a:lnTo>
                  <a:lnTo>
                    <a:pt x="455" y="619"/>
                  </a:lnTo>
                  <a:cubicBezTo>
                    <a:pt x="465" y="609"/>
                    <a:pt x="478" y="602"/>
                    <a:pt x="494" y="602"/>
                  </a:cubicBezTo>
                  <a:cubicBezTo>
                    <a:pt x="524" y="602"/>
                    <a:pt x="550" y="628"/>
                    <a:pt x="550" y="658"/>
                  </a:cubicBezTo>
                  <a:cubicBezTo>
                    <a:pt x="550" y="675"/>
                    <a:pt x="542" y="690"/>
                    <a:pt x="529" y="701"/>
                  </a:cubicBezTo>
                  <a:cubicBezTo>
                    <a:pt x="524" y="705"/>
                    <a:pt x="516" y="704"/>
                    <a:pt x="513" y="699"/>
                  </a:cubicBezTo>
                  <a:cubicBezTo>
                    <a:pt x="508" y="694"/>
                    <a:pt x="509" y="686"/>
                    <a:pt x="515" y="682"/>
                  </a:cubicBezTo>
                  <a:cubicBezTo>
                    <a:pt x="522" y="676"/>
                    <a:pt x="525" y="667"/>
                    <a:pt x="525" y="658"/>
                  </a:cubicBezTo>
                  <a:cubicBezTo>
                    <a:pt x="525" y="640"/>
                    <a:pt x="512" y="627"/>
                    <a:pt x="494" y="627"/>
                  </a:cubicBezTo>
                  <a:cubicBezTo>
                    <a:pt x="477" y="627"/>
                    <a:pt x="463" y="640"/>
                    <a:pt x="463" y="658"/>
                  </a:cubicBezTo>
                  <a:cubicBezTo>
                    <a:pt x="463" y="669"/>
                    <a:pt x="468" y="680"/>
                    <a:pt x="478" y="685"/>
                  </a:cubicBezTo>
                  <a:cubicBezTo>
                    <a:pt x="485" y="688"/>
                    <a:pt x="487" y="696"/>
                    <a:pt x="483" y="702"/>
                  </a:cubicBezTo>
                  <a:cubicBezTo>
                    <a:pt x="481" y="705"/>
                    <a:pt x="477" y="708"/>
                    <a:pt x="473" y="708"/>
                  </a:cubicBezTo>
                  <a:cubicBezTo>
                    <a:pt x="470" y="708"/>
                    <a:pt x="468" y="707"/>
                    <a:pt x="467" y="706"/>
                  </a:cubicBezTo>
                  <a:cubicBezTo>
                    <a:pt x="462" y="704"/>
                    <a:pt x="458" y="701"/>
                    <a:pt x="455" y="697"/>
                  </a:cubicBezTo>
                  <a:lnTo>
                    <a:pt x="455" y="963"/>
                  </a:lnTo>
                  <a:cubicBezTo>
                    <a:pt x="455" y="969"/>
                    <a:pt x="449" y="975"/>
                    <a:pt x="443" y="975"/>
                  </a:cubicBezTo>
                  <a:lnTo>
                    <a:pt x="297" y="975"/>
                  </a:lnTo>
                  <a:cubicBezTo>
                    <a:pt x="290" y="975"/>
                    <a:pt x="285" y="969"/>
                    <a:pt x="285" y="963"/>
                  </a:cubicBezTo>
                  <a:lnTo>
                    <a:pt x="285" y="928"/>
                  </a:lnTo>
                  <a:lnTo>
                    <a:pt x="278" y="928"/>
                  </a:lnTo>
                  <a:lnTo>
                    <a:pt x="278" y="963"/>
                  </a:lnTo>
                  <a:cubicBezTo>
                    <a:pt x="278" y="969"/>
                    <a:pt x="273" y="975"/>
                    <a:pt x="266" y="975"/>
                  </a:cubicBezTo>
                  <a:lnTo>
                    <a:pt x="120" y="975"/>
                  </a:lnTo>
                  <a:cubicBezTo>
                    <a:pt x="114" y="975"/>
                    <a:pt x="108" y="969"/>
                    <a:pt x="108" y="963"/>
                  </a:cubicBezTo>
                  <a:lnTo>
                    <a:pt x="108" y="697"/>
                  </a:lnTo>
                  <a:cubicBezTo>
                    <a:pt x="105" y="701"/>
                    <a:pt x="101" y="704"/>
                    <a:pt x="97" y="706"/>
                  </a:cubicBezTo>
                  <a:cubicBezTo>
                    <a:pt x="95" y="707"/>
                    <a:pt x="93" y="708"/>
                    <a:pt x="91" y="708"/>
                  </a:cubicBezTo>
                  <a:cubicBezTo>
                    <a:pt x="87" y="708"/>
                    <a:pt x="83" y="705"/>
                    <a:pt x="80" y="702"/>
                  </a:cubicBezTo>
                  <a:cubicBezTo>
                    <a:pt x="77" y="696"/>
                    <a:pt x="79" y="688"/>
                    <a:pt x="85" y="685"/>
                  </a:cubicBezTo>
                  <a:cubicBezTo>
                    <a:pt x="95" y="679"/>
                    <a:pt x="101" y="669"/>
                    <a:pt x="101" y="658"/>
                  </a:cubicBezTo>
                  <a:cubicBezTo>
                    <a:pt x="101" y="640"/>
                    <a:pt x="87" y="627"/>
                    <a:pt x="70" y="627"/>
                  </a:cubicBezTo>
                  <a:cubicBezTo>
                    <a:pt x="52" y="627"/>
                    <a:pt x="38" y="640"/>
                    <a:pt x="38" y="658"/>
                  </a:cubicBezTo>
                  <a:cubicBezTo>
                    <a:pt x="38" y="667"/>
                    <a:pt x="42" y="676"/>
                    <a:pt x="50" y="682"/>
                  </a:cubicBezTo>
                  <a:cubicBezTo>
                    <a:pt x="55" y="686"/>
                    <a:pt x="55" y="694"/>
                    <a:pt x="51" y="699"/>
                  </a:cubicBezTo>
                  <a:cubicBezTo>
                    <a:pt x="47" y="704"/>
                    <a:pt x="40" y="705"/>
                    <a:pt x="34" y="701"/>
                  </a:cubicBezTo>
                  <a:cubicBezTo>
                    <a:pt x="22" y="690"/>
                    <a:pt x="15" y="675"/>
                    <a:pt x="15" y="658"/>
                  </a:cubicBezTo>
                  <a:cubicBezTo>
                    <a:pt x="15" y="628"/>
                    <a:pt x="39" y="602"/>
                    <a:pt x="70" y="602"/>
                  </a:cubicBezTo>
                  <a:cubicBezTo>
                    <a:pt x="85" y="602"/>
                    <a:pt x="98" y="609"/>
                    <a:pt x="108" y="619"/>
                  </a:cubicBezTo>
                  <a:lnTo>
                    <a:pt x="108" y="591"/>
                  </a:lnTo>
                  <a:lnTo>
                    <a:pt x="44" y="591"/>
                  </a:lnTo>
                  <a:cubicBezTo>
                    <a:pt x="38" y="591"/>
                    <a:pt x="32" y="585"/>
                    <a:pt x="32" y="579"/>
                  </a:cubicBezTo>
                  <a:lnTo>
                    <a:pt x="32" y="317"/>
                  </a:lnTo>
                  <a:cubicBezTo>
                    <a:pt x="32" y="311"/>
                    <a:pt x="38" y="305"/>
                    <a:pt x="44" y="305"/>
                  </a:cubicBezTo>
                  <a:lnTo>
                    <a:pt x="120" y="305"/>
                  </a:lnTo>
                  <a:lnTo>
                    <a:pt x="121" y="305"/>
                  </a:lnTo>
                  <a:lnTo>
                    <a:pt x="211" y="305"/>
                  </a:lnTo>
                  <a:lnTo>
                    <a:pt x="211" y="276"/>
                  </a:lnTo>
                  <a:lnTo>
                    <a:pt x="188" y="276"/>
                  </a:lnTo>
                  <a:cubicBezTo>
                    <a:pt x="163" y="276"/>
                    <a:pt x="142" y="256"/>
                    <a:pt x="142" y="230"/>
                  </a:cubicBezTo>
                  <a:lnTo>
                    <a:pt x="142" y="113"/>
                  </a:lnTo>
                  <a:cubicBezTo>
                    <a:pt x="142" y="87"/>
                    <a:pt x="163" y="67"/>
                    <a:pt x="188" y="67"/>
                  </a:cubicBezTo>
                  <a:lnTo>
                    <a:pt x="211" y="67"/>
                  </a:lnTo>
                  <a:lnTo>
                    <a:pt x="211" y="26"/>
                  </a:lnTo>
                  <a:cubicBezTo>
                    <a:pt x="211" y="20"/>
                    <a:pt x="216" y="15"/>
                    <a:pt x="223" y="15"/>
                  </a:cubicBezTo>
                </a:path>
              </a:pathLst>
            </a:custGeom>
            <a:noFill/>
            <a:ln w="19050" cap="flat">
              <a:solidFill>
                <a:srgbClr val="BF756D"/>
              </a:solidFill>
              <a:prstDash val="solid"/>
              <a:miter lim="1000000"/>
            </a:ln>
          </p:spPr>
          <p:txBody>
            <a:bodyPr rtlCol="0"/>
            <a:lstStyle/>
            <a:p>
              <a:pPr algn="ctr"/>
              <a:endParaRPr lang="zh-CN" altLang="en-US"/>
            </a:p>
          </p:txBody>
        </p:sp>
      </p:grpSp>
      <p:sp>
        <p:nvSpPr>
          <p:cNvPr id="328" name="textbox 328"/>
          <p:cNvSpPr/>
          <p:nvPr/>
        </p:nvSpPr>
        <p:spPr>
          <a:xfrm>
            <a:off x="2196388" y="3227781"/>
            <a:ext cx="490219" cy="344804"/>
          </a:xfrm>
          <a:prstGeom prst="rect">
            <a:avLst/>
          </a:prstGeom>
          <a:noFill/>
          <a:ln w="0" cap="flat">
            <a:noFill/>
            <a:prstDash val="solid"/>
            <a:miter lim="0"/>
          </a:ln>
        </p:spPr>
        <p:txBody>
          <a:bodyPr vert="horz" wrap="square" lIns="0" tIns="0" rIns="0" bIns="0"/>
          <a:lstStyle/>
          <a:p>
            <a:pPr algn="l" rtl="0" eaLnBrk="0">
              <a:lnSpc>
                <a:spcPct val="84745"/>
              </a:lnSpc>
              <a:tabLst/>
            </a:pPr>
            <a:endParaRPr sz="100" dirty="0">
              <a:latin typeface="Arial"/>
              <a:ea typeface="Arial"/>
              <a:cs typeface="Arial"/>
            </a:endParaRPr>
          </a:p>
          <a:p>
            <a:pPr marL="13970" algn="l" rtl="0" eaLnBrk="0">
              <a:lnSpc>
                <a:spcPct val="69000"/>
              </a:lnSpc>
              <a:tabLst/>
            </a:pPr>
            <a:r>
              <a:rPr sz="1200" kern="0" spc="-10" dirty="0">
                <a:solidFill>
                  <a:srgbClr val="000000">
                    <a:alpha val="100000"/>
                  </a:srgbClr>
                </a:solidFill>
                <a:latin typeface="Times New Roman"/>
                <a:ea typeface="Times New Roman"/>
                <a:cs typeface="Times New Roman"/>
              </a:rPr>
              <a:t>CAGR:</a:t>
            </a:r>
            <a:endParaRPr sz="1200" dirty="0">
              <a:latin typeface="Times New Roman"/>
              <a:ea typeface="Times New Roman"/>
              <a:cs typeface="Times New Roman"/>
            </a:endParaRPr>
          </a:p>
          <a:p>
            <a:pPr algn="l" rtl="0" eaLnBrk="0">
              <a:lnSpc>
                <a:spcPct val="117000"/>
              </a:lnSpc>
              <a:tabLst/>
            </a:pPr>
            <a:endParaRPr sz="300" dirty="0">
              <a:latin typeface="Arial"/>
              <a:ea typeface="Arial"/>
              <a:cs typeface="Arial"/>
            </a:endParaRPr>
          </a:p>
          <a:p>
            <a:pPr marL="12700" algn="l" rtl="0" eaLnBrk="0">
              <a:lnSpc>
                <a:spcPct val="76000"/>
              </a:lnSpc>
              <a:spcBef>
                <a:spcPts val="1"/>
              </a:spcBef>
              <a:tabLst/>
            </a:pPr>
            <a:r>
              <a:rPr sz="1200" b="1" kern="0" spc="-10" dirty="0">
                <a:solidFill>
                  <a:srgbClr val="000000">
                    <a:alpha val="100000"/>
                  </a:srgbClr>
                </a:solidFill>
                <a:latin typeface="Times New Roman"/>
                <a:ea typeface="Times New Roman"/>
                <a:cs typeface="Times New Roman"/>
              </a:rPr>
              <a:t>65.72</a:t>
            </a:r>
            <a:r>
              <a:rPr sz="1200" kern="0" spc="-10" dirty="0">
                <a:solidFill>
                  <a:srgbClr val="000000">
                    <a:alpha val="100000"/>
                  </a:srgbClr>
                </a:solidFill>
                <a:latin typeface="Times New Roman"/>
                <a:ea typeface="Times New Roman"/>
                <a:cs typeface="Times New Roman"/>
              </a:rPr>
              <a:t>%</a:t>
            </a:r>
            <a:endParaRPr sz="1200" dirty="0">
              <a:latin typeface="Times New Roman"/>
              <a:ea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0" name="table 330"/>
          <p:cNvGraphicFramePr>
            <a:graphicFrameLocks noGrp="1"/>
          </p:cNvGraphicFramePr>
          <p:nvPr/>
        </p:nvGraphicFramePr>
        <p:xfrm>
          <a:off x="1120521" y="998220"/>
          <a:ext cx="7838440" cy="3871595"/>
        </p:xfrm>
        <a:graphic>
          <a:graphicData uri="http://schemas.openxmlformats.org/drawingml/2006/table">
            <a:tbl>
              <a:tblPr/>
              <a:tblGrid>
                <a:gridCol w="4451350"/>
                <a:gridCol w="3387090"/>
              </a:tblGrid>
              <a:tr h="3871595">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c>
                  <a:txBody>
                    <a:bodyPr/>
                    <a:lstStyle/>
                    <a:p>
                      <a:pPr algn="l" rtl="0" eaLnBrk="0">
                        <a:lnSpc>
                          <a:spcPct val="100000"/>
                        </a:lnSpc>
                        <a:tabLst/>
                      </a:pPr>
                      <a:endParaRPr sz="1000" dirty="0">
                        <a:latin typeface="Arial"/>
                        <a:ea typeface="Arial"/>
                        <a:cs typeface="Arial"/>
                      </a:endParaRPr>
                    </a:p>
                  </a:txBody>
                  <a:tcPr marL="0" marR="0" marT="0" marB="0" vert="horz">
                    <a:lnL>
                      <a:noFill/>
                    </a:lnL>
                    <a:lnR>
                      <a:noFill/>
                    </a:lnR>
                    <a:lnT>
                      <a:noFill/>
                    </a:lnT>
                    <a:lnB>
                      <a:noFill/>
                    </a:lnB>
                  </a:tcPr>
                </a:tc>
              </a:tr>
            </a:tbl>
          </a:graphicData>
        </a:graphic>
      </p:graphicFrame>
      <p:grpSp>
        <p:nvGrpSpPr>
          <p:cNvPr id="18" name="group 18"/>
          <p:cNvGrpSpPr/>
          <p:nvPr/>
        </p:nvGrpSpPr>
        <p:grpSpPr>
          <a:xfrm rot="21600000">
            <a:off x="9177527" y="893445"/>
            <a:ext cx="2502843" cy="5476982"/>
            <a:chOff x="0" y="0"/>
            <a:chExt cx="2502843" cy="5476982"/>
          </a:xfrm>
        </p:grpSpPr>
        <p:sp>
          <p:nvSpPr>
            <p:cNvPr id="332" name="rect 332"/>
            <p:cNvSpPr/>
            <p:nvPr/>
          </p:nvSpPr>
          <p:spPr>
            <a:xfrm>
              <a:off x="545592" y="176758"/>
              <a:ext cx="1957251" cy="5300224"/>
            </a:xfrm>
            <a:prstGeom prst="rect">
              <a:avLst/>
            </a:prstGeom>
            <a:solidFill>
              <a:srgbClr val="7D7D7D">
                <a:alpha val="42352"/>
              </a:srgbClr>
            </a:solidFill>
            <a:ln w="0" cap="flat">
              <a:noFill/>
              <a:prstDash val="solid"/>
              <a:miter lim="0"/>
            </a:ln>
          </p:spPr>
          <p:txBody>
            <a:bodyPr rtlCol="0"/>
            <a:lstStyle/>
            <a:p>
              <a:pPr algn="ctr"/>
              <a:endParaRPr lang="zh-CN" altLang="en-US"/>
            </a:p>
          </p:txBody>
        </p:sp>
        <p:pic>
          <p:nvPicPr>
            <p:cNvPr id="334" name="picture 334"/>
            <p:cNvPicPr>
              <a:picLocks noChangeAspect="1"/>
            </p:cNvPicPr>
            <p:nvPr/>
          </p:nvPicPr>
          <p:blipFill>
            <a:blip r:embed="rId2"/>
            <a:stretch>
              <a:fillRect/>
            </a:stretch>
          </p:blipFill>
          <p:spPr>
            <a:xfrm rot="21600000">
              <a:off x="560451" y="22479"/>
              <a:ext cx="1936241" cy="5384291"/>
            </a:xfrm>
            <a:prstGeom prst="rect">
              <a:avLst/>
            </a:prstGeom>
          </p:spPr>
        </p:pic>
        <p:sp>
          <p:nvSpPr>
            <p:cNvPr id="336" name="textbox 336"/>
            <p:cNvSpPr/>
            <p:nvPr/>
          </p:nvSpPr>
          <p:spPr>
            <a:xfrm>
              <a:off x="713666" y="88650"/>
              <a:ext cx="1687829" cy="5200015"/>
            </a:xfrm>
            <a:prstGeom prst="rect">
              <a:avLst/>
            </a:prstGeom>
            <a:noFill/>
            <a:ln w="0" cap="flat">
              <a:noFill/>
              <a:prstDash val="solid"/>
              <a:miter lim="0"/>
            </a:ln>
          </p:spPr>
          <p:txBody>
            <a:bodyPr vert="horz" wrap="square" lIns="0" tIns="0" rIns="0" bIns="0"/>
            <a:lstStyle/>
            <a:p>
              <a:pPr algn="l" rtl="0" eaLnBrk="0">
                <a:lnSpc>
                  <a:spcPct val="78467"/>
                </a:lnSpc>
                <a:tabLst/>
              </a:pPr>
              <a:endParaRPr sz="100" dirty="0">
                <a:latin typeface="Arial"/>
                <a:ea typeface="Arial"/>
                <a:cs typeface="Arial"/>
              </a:endParaRPr>
            </a:p>
            <a:p>
              <a:pPr marL="219709" algn="l" rtl="0" eaLnBrk="0">
                <a:lnSpc>
                  <a:spcPct val="89000"/>
                </a:lnSpc>
                <a:tabLst/>
              </a:pPr>
              <a:r>
                <a:rPr sz="1500" b="1" kern="0" spc="70" dirty="0">
                  <a:solidFill>
                    <a:srgbClr val="BF756D">
                      <a:alpha val="100000"/>
                    </a:srgbClr>
                  </a:solidFill>
                  <a:latin typeface="KaiTi"/>
                  <a:ea typeface="KaiTi"/>
                  <a:cs typeface="KaiTi"/>
                </a:rPr>
                <a:t>资本市场观点</a:t>
              </a:r>
              <a:endParaRPr sz="1500" dirty="0">
                <a:latin typeface="KaiTi"/>
                <a:ea typeface="KaiTi"/>
                <a:cs typeface="KaiTi"/>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marL="294640" indent="-281940" algn="l" rtl="0" eaLnBrk="0">
                <a:lnSpc>
                  <a:spcPct val="95000"/>
                </a:lnSpc>
                <a:spcBef>
                  <a:spcPts val="430"/>
                </a:spcBef>
                <a:tabLst/>
              </a:pPr>
              <a:r>
                <a:rPr sz="1400" kern="0" spc="-30" dirty="0">
                  <a:solidFill>
                    <a:srgbClr val="000000">
                      <a:alpha val="100000"/>
                    </a:srgbClr>
                  </a:solidFill>
                  <a:latin typeface="Arial"/>
                  <a:ea typeface="Arial"/>
                  <a:cs typeface="Arial"/>
                </a:rPr>
                <a:t>•</a:t>
              </a:r>
              <a:r>
                <a:rPr sz="1400" kern="0" spc="70" dirty="0">
                  <a:solidFill>
                    <a:srgbClr val="000000">
                      <a:alpha val="100000"/>
                    </a:srgbClr>
                  </a:solidFill>
                  <a:latin typeface="Arial"/>
                  <a:ea typeface="Arial"/>
                  <a:cs typeface="Arial"/>
                </a:rPr>
                <a:t>    </a:t>
              </a:r>
              <a:r>
                <a:rPr sz="1400" b="1" kern="0" spc="-30" dirty="0">
                  <a:solidFill>
                    <a:srgbClr val="000000">
                      <a:alpha val="100000"/>
                    </a:srgbClr>
                  </a:solidFill>
                  <a:latin typeface="KaiTi"/>
                  <a:ea typeface="KaiTi"/>
                  <a:cs typeface="KaiTi"/>
                </a:rPr>
                <a:t>算力已成</a:t>
              </a:r>
              <a:r>
                <a:rPr sz="1400" b="1" kern="0" spc="-30" dirty="0">
                  <a:solidFill>
                    <a:srgbClr val="FF0000">
                      <a:alpha val="100000"/>
                    </a:srgbClr>
                  </a:solidFill>
                  <a:latin typeface="KaiTi"/>
                  <a:ea typeface="KaiTi"/>
                  <a:cs typeface="KaiTi"/>
                </a:rPr>
                <a:t>绝对共</a:t>
              </a:r>
              <a:r>
                <a:rPr sz="1400" b="1" kern="0" spc="-20" dirty="0">
                  <a:solidFill>
                    <a:srgbClr val="FF0000">
                      <a:alpha val="100000"/>
                    </a:srgbClr>
                  </a:solidFill>
                  <a:latin typeface="KaiTi"/>
                  <a:ea typeface="KaiTi"/>
                  <a:cs typeface="KaiTi"/>
                </a:rPr>
                <a:t>识</a:t>
              </a:r>
              <a:r>
                <a:rPr sz="1400" b="1" kern="0" spc="-20" dirty="0">
                  <a:solidFill>
                    <a:srgbClr val="000000">
                      <a:alpha val="100000"/>
                    </a:srgbClr>
                  </a:solidFill>
                  <a:latin typeface="KaiTi"/>
                  <a:ea typeface="KaiTi"/>
                  <a:cs typeface="KaiTi"/>
                </a:rPr>
                <a:t>，国家资源倾</a:t>
              </a:r>
              <a:r>
                <a:rPr sz="1400" b="1" kern="0" spc="-90" dirty="0">
                  <a:solidFill>
                    <a:srgbClr val="000000">
                      <a:alpha val="100000"/>
                    </a:srgbClr>
                  </a:solidFill>
                  <a:latin typeface="KaiTi"/>
                  <a:ea typeface="KaiTi"/>
                  <a:cs typeface="KaiTi"/>
                </a:rPr>
                <a:t>斜；</a:t>
              </a:r>
              <a:endParaRPr sz="1400" dirty="0">
                <a:latin typeface="KaiTi"/>
                <a:ea typeface="KaiTi"/>
                <a:cs typeface="KaiTi"/>
              </a:endParaRPr>
            </a:p>
            <a:p>
              <a:pPr algn="l" rtl="0" eaLnBrk="0">
                <a:lnSpc>
                  <a:spcPct val="126000"/>
                </a:lnSpc>
                <a:tabLst/>
              </a:pPr>
              <a:endParaRPr sz="1000" dirty="0">
                <a:latin typeface="Arial"/>
                <a:ea typeface="Arial"/>
                <a:cs typeface="Arial"/>
              </a:endParaRPr>
            </a:p>
            <a:p>
              <a:pPr marL="290195" indent="-277495" algn="l" rtl="0" eaLnBrk="0">
                <a:lnSpc>
                  <a:spcPct val="95000"/>
                </a:lnSpc>
                <a:spcBef>
                  <a:spcPts val="421"/>
                </a:spcBef>
                <a:tabLst/>
              </a:pPr>
              <a:r>
                <a:rPr sz="1400" kern="0" spc="-50" dirty="0">
                  <a:solidFill>
                    <a:srgbClr val="000000">
                      <a:alpha val="100000"/>
                    </a:srgbClr>
                  </a:solidFill>
                  <a:latin typeface="Arial"/>
                  <a:ea typeface="Arial"/>
                  <a:cs typeface="Arial"/>
                </a:rPr>
                <a:t>•</a:t>
              </a:r>
              <a:r>
                <a:rPr sz="1400" kern="0" spc="70" dirty="0">
                  <a:solidFill>
                    <a:srgbClr val="000000">
                      <a:alpha val="100000"/>
                    </a:srgbClr>
                  </a:solidFill>
                  <a:latin typeface="Arial"/>
                  <a:ea typeface="Arial"/>
                  <a:cs typeface="Arial"/>
                </a:rPr>
                <a:t>    </a:t>
              </a:r>
              <a:r>
                <a:rPr sz="1400" b="1" kern="0" spc="-50" dirty="0">
                  <a:solidFill>
                    <a:srgbClr val="000000">
                      <a:alpha val="100000"/>
                    </a:srgbClr>
                  </a:solidFill>
                  <a:latin typeface="KaiTi"/>
                  <a:ea typeface="KaiTi"/>
                  <a:cs typeface="KaiTi"/>
                </a:rPr>
                <a:t>数采路径未收敛，</a:t>
              </a:r>
              <a:r>
                <a:rPr sz="1400" b="1" kern="0" spc="-10" dirty="0">
                  <a:solidFill>
                    <a:srgbClr val="000000">
                      <a:alpha val="100000"/>
                    </a:srgbClr>
                  </a:solidFill>
                  <a:latin typeface="KaiTi"/>
                  <a:ea typeface="KaiTi"/>
                  <a:cs typeface="KaiTi"/>
                </a:rPr>
                <a:t>但皆为跑通世界</a:t>
              </a:r>
              <a:r>
                <a:rPr sz="1400" b="1" kern="0" spc="-10" dirty="0">
                  <a:solidFill>
                    <a:srgbClr val="000000">
                      <a:alpha val="100000"/>
                    </a:srgbClr>
                  </a:solidFill>
                  <a:latin typeface="KaiTi"/>
                  <a:ea typeface="KaiTi"/>
                  <a:cs typeface="KaiTi"/>
                </a:rPr>
                <a:t>模型服务</a:t>
              </a:r>
              <a:endParaRPr sz="1400" dirty="0">
                <a:latin typeface="KaiTi"/>
                <a:ea typeface="KaiTi"/>
                <a:cs typeface="KaiT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301625" indent="-288925" algn="l" rtl="0" eaLnBrk="0">
                <a:lnSpc>
                  <a:spcPct val="92000"/>
                </a:lnSpc>
                <a:spcBef>
                  <a:spcPts val="431"/>
                </a:spcBef>
                <a:tabLst/>
              </a:pPr>
              <a:r>
                <a:rPr sz="1400" kern="0" spc="-30" dirty="0">
                  <a:solidFill>
                    <a:srgbClr val="000000">
                      <a:alpha val="100000"/>
                    </a:srgbClr>
                  </a:solidFill>
                  <a:latin typeface="Arial"/>
                  <a:ea typeface="Arial"/>
                  <a:cs typeface="Arial"/>
                </a:rPr>
                <a:t>•</a:t>
              </a:r>
              <a:r>
                <a:rPr sz="1400" kern="0" spc="70" dirty="0">
                  <a:solidFill>
                    <a:srgbClr val="000000">
                      <a:alpha val="100000"/>
                    </a:srgbClr>
                  </a:solidFill>
                  <a:latin typeface="Arial"/>
                  <a:ea typeface="Arial"/>
                  <a:cs typeface="Arial"/>
                </a:rPr>
                <a:t>    </a:t>
              </a:r>
              <a:r>
                <a:rPr sz="1400" b="1" kern="0" spc="-30" dirty="0">
                  <a:solidFill>
                    <a:srgbClr val="000000">
                      <a:alpha val="100000"/>
                    </a:srgbClr>
                  </a:solidFill>
                  <a:latin typeface="KaiTi"/>
                  <a:ea typeface="KaiTi"/>
                  <a:cs typeface="KaiTi"/>
                </a:rPr>
                <a:t>通用模型是</a:t>
              </a:r>
              <a:r>
                <a:rPr sz="1400" b="1" kern="0" spc="-30" dirty="0">
                  <a:solidFill>
                    <a:srgbClr val="FF0000">
                      <a:alpha val="100000"/>
                    </a:srgbClr>
                  </a:solidFill>
                  <a:latin typeface="KaiTi"/>
                  <a:ea typeface="KaiTi"/>
                  <a:cs typeface="KaiTi"/>
                </a:rPr>
                <a:t>产业</a:t>
              </a:r>
              <a:r>
                <a:rPr sz="1400" b="1" kern="0" spc="-30" dirty="0">
                  <a:solidFill>
                    <a:srgbClr val="FF0000">
                      <a:alpha val="100000"/>
                    </a:srgbClr>
                  </a:solidFill>
                  <a:latin typeface="KaiTi"/>
                  <a:ea typeface="KaiTi"/>
                  <a:cs typeface="KaiTi"/>
                </a:rPr>
                <a:t>绝对价值点</a:t>
              </a:r>
              <a:endParaRPr sz="1400" dirty="0">
                <a:latin typeface="KaiTi"/>
                <a:ea typeface="KaiTi"/>
                <a:cs typeface="KaiTi"/>
              </a:endParaRPr>
            </a:p>
            <a:p>
              <a:pPr algn="l" rtl="0" eaLnBrk="0">
                <a:lnSpc>
                  <a:spcPct val="123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311150" indent="-298450" algn="l" rtl="0" eaLnBrk="0">
                <a:lnSpc>
                  <a:spcPct val="92000"/>
                </a:lnSpc>
                <a:spcBef>
                  <a:spcPts val="423"/>
                </a:spcBef>
                <a:tabLst/>
              </a:pPr>
              <a:r>
                <a:rPr sz="1400" kern="0" spc="-30" dirty="0">
                  <a:solidFill>
                    <a:srgbClr val="000000">
                      <a:alpha val="100000"/>
                    </a:srgbClr>
                  </a:solidFill>
                  <a:latin typeface="Arial"/>
                  <a:ea typeface="Arial"/>
                  <a:cs typeface="Arial"/>
                </a:rPr>
                <a:t>•</a:t>
              </a:r>
              <a:r>
                <a:rPr sz="1400" kern="0" spc="70" dirty="0">
                  <a:solidFill>
                    <a:srgbClr val="000000">
                      <a:alpha val="100000"/>
                    </a:srgbClr>
                  </a:solidFill>
                  <a:latin typeface="Arial"/>
                  <a:ea typeface="Arial"/>
                  <a:cs typeface="Arial"/>
                </a:rPr>
                <a:t>    </a:t>
              </a:r>
              <a:r>
                <a:rPr sz="1400" b="1" kern="0" spc="-30" dirty="0">
                  <a:solidFill>
                    <a:srgbClr val="000000">
                      <a:alpha val="100000"/>
                    </a:srgbClr>
                  </a:solidFill>
                  <a:latin typeface="KaiTi"/>
                  <a:ea typeface="KaiTi"/>
                  <a:cs typeface="KaiTi"/>
                </a:rPr>
                <a:t>下游放量空间巨</a:t>
              </a:r>
              <a:r>
                <a:rPr sz="1400" b="1" kern="0" spc="-20" dirty="0">
                  <a:solidFill>
                    <a:srgbClr val="000000">
                      <a:alpha val="100000"/>
                    </a:srgbClr>
                  </a:solidFill>
                  <a:latin typeface="KaiTi"/>
                  <a:ea typeface="KaiTi"/>
                  <a:cs typeface="KaiTi"/>
                </a:rPr>
                <a:t>大</a:t>
              </a:r>
              <a:endParaRPr sz="1400" dirty="0">
                <a:latin typeface="KaiTi"/>
                <a:ea typeface="KaiTi"/>
                <a:cs typeface="KaiTi"/>
              </a:endParaRPr>
            </a:p>
            <a:p>
              <a:pPr algn="l" rtl="0" eaLnBrk="0">
                <a:lnSpc>
                  <a:spcPct val="128000"/>
                </a:lnSpc>
                <a:tabLst/>
              </a:pPr>
              <a:endParaRPr sz="1000" dirty="0">
                <a:latin typeface="Arial"/>
                <a:ea typeface="Arial"/>
                <a:cs typeface="Arial"/>
              </a:endParaRPr>
            </a:p>
            <a:p>
              <a:pPr marL="12700" algn="l" rtl="0" eaLnBrk="0">
                <a:lnSpc>
                  <a:spcPct val="89000"/>
                </a:lnSpc>
                <a:spcBef>
                  <a:spcPts val="426"/>
                </a:spcBef>
                <a:tabLst/>
              </a:pPr>
              <a:r>
                <a:rPr sz="1400" kern="0" spc="-30" dirty="0">
                  <a:solidFill>
                    <a:srgbClr val="000000">
                      <a:alpha val="100000"/>
                    </a:srgbClr>
                  </a:solidFill>
                  <a:latin typeface="Arial"/>
                  <a:ea typeface="Arial"/>
                  <a:cs typeface="Arial"/>
                </a:rPr>
                <a:t>•     </a:t>
              </a:r>
              <a:r>
                <a:rPr sz="1400" b="1" kern="0" spc="-30" dirty="0">
                  <a:solidFill>
                    <a:srgbClr val="000000">
                      <a:alpha val="100000"/>
                    </a:srgbClr>
                  </a:solidFill>
                  <a:latin typeface="KaiTi"/>
                  <a:ea typeface="KaiTi"/>
                  <a:cs typeface="KaiTi"/>
                </a:rPr>
                <a:t>中游落地对行业</a:t>
              </a:r>
              <a:endParaRPr sz="1400" dirty="0">
                <a:latin typeface="KaiTi"/>
                <a:ea typeface="KaiTi"/>
                <a:cs typeface="KaiTi"/>
              </a:endParaRPr>
            </a:p>
            <a:p>
              <a:pPr marL="292734" indent="12700" algn="l" rtl="0" eaLnBrk="0">
                <a:lnSpc>
                  <a:spcPct val="93000"/>
                </a:lnSpc>
                <a:spcBef>
                  <a:spcPts val="141"/>
                </a:spcBef>
                <a:tabLst/>
              </a:pPr>
              <a:r>
                <a:rPr sz="1400" b="1" kern="0" spc="-30" dirty="0">
                  <a:solidFill>
                    <a:srgbClr val="FF0000">
                      <a:alpha val="100000"/>
                    </a:srgbClr>
                  </a:solidFill>
                  <a:latin typeface="KaiTi"/>
                  <a:ea typeface="KaiTi"/>
                  <a:cs typeface="KaiTi"/>
                </a:rPr>
                <a:t>意味着颠覆性革</a:t>
              </a:r>
              <a:r>
                <a:rPr sz="1400" b="1" kern="0" spc="-20" dirty="0">
                  <a:solidFill>
                    <a:srgbClr val="FF0000">
                      <a:alpha val="100000"/>
                    </a:srgbClr>
                  </a:solidFill>
                  <a:latin typeface="KaiTi"/>
                  <a:ea typeface="KaiTi"/>
                  <a:cs typeface="KaiTi"/>
                </a:rPr>
                <a:t>命</a:t>
              </a:r>
              <a:endParaRPr sz="1400" dirty="0">
                <a:latin typeface="KaiTi"/>
                <a:ea typeface="KaiTi"/>
                <a:cs typeface="KaiTi"/>
              </a:endParaRPr>
            </a:p>
          </p:txBody>
        </p:sp>
        <p:sp>
          <p:nvSpPr>
            <p:cNvPr id="338" name="path 338"/>
            <p:cNvSpPr/>
            <p:nvPr/>
          </p:nvSpPr>
          <p:spPr>
            <a:xfrm>
              <a:off x="0" y="2899790"/>
              <a:ext cx="374904" cy="633984"/>
            </a:xfrm>
            <a:custGeom>
              <a:avLst/>
              <a:gdLst/>
              <a:ahLst/>
              <a:cxnLst/>
              <a:rect l="0" t="0" r="0" b="0"/>
              <a:pathLst>
                <a:path w="590" h="998">
                  <a:moveTo>
                    <a:pt x="0" y="249"/>
                  </a:moveTo>
                  <a:lnTo>
                    <a:pt x="295" y="249"/>
                  </a:lnTo>
                  <a:lnTo>
                    <a:pt x="295" y="0"/>
                  </a:lnTo>
                  <a:lnTo>
                    <a:pt x="590" y="499"/>
                  </a:lnTo>
                  <a:lnTo>
                    <a:pt x="295" y="998"/>
                  </a:lnTo>
                  <a:lnTo>
                    <a:pt x="295" y="748"/>
                  </a:lnTo>
                  <a:lnTo>
                    <a:pt x="0" y="748"/>
                  </a:lnTo>
                  <a:lnTo>
                    <a:pt x="0" y="249"/>
                  </a:lnTo>
                  <a:close/>
                </a:path>
              </a:pathLst>
            </a:custGeom>
            <a:solidFill>
              <a:srgbClr val="BF756D">
                <a:alpha val="100000"/>
              </a:srgbClr>
            </a:solidFill>
            <a:ln w="0" cap="flat">
              <a:noFill/>
              <a:prstDash val="solid"/>
              <a:miter lim="0"/>
            </a:ln>
          </p:spPr>
          <p:txBody>
            <a:bodyPr rtlCol="0"/>
            <a:lstStyle/>
            <a:p>
              <a:pPr algn="ctr"/>
              <a:endParaRPr lang="zh-CN" altLang="en-US"/>
            </a:p>
          </p:txBody>
        </p:sp>
        <p:sp>
          <p:nvSpPr>
            <p:cNvPr id="340" name="path 340"/>
            <p:cNvSpPr/>
            <p:nvPr/>
          </p:nvSpPr>
          <p:spPr>
            <a:xfrm>
              <a:off x="0" y="4563998"/>
              <a:ext cx="374904" cy="633983"/>
            </a:xfrm>
            <a:custGeom>
              <a:avLst/>
              <a:gdLst/>
              <a:ahLst/>
              <a:cxnLst/>
              <a:rect l="0" t="0" r="0" b="0"/>
              <a:pathLst>
                <a:path w="590" h="998">
                  <a:moveTo>
                    <a:pt x="0" y="249"/>
                  </a:moveTo>
                  <a:lnTo>
                    <a:pt x="295" y="249"/>
                  </a:lnTo>
                  <a:lnTo>
                    <a:pt x="295" y="0"/>
                  </a:lnTo>
                  <a:lnTo>
                    <a:pt x="590" y="499"/>
                  </a:lnTo>
                  <a:lnTo>
                    <a:pt x="295" y="998"/>
                  </a:lnTo>
                  <a:lnTo>
                    <a:pt x="295" y="748"/>
                  </a:lnTo>
                  <a:lnTo>
                    <a:pt x="0" y="748"/>
                  </a:lnTo>
                  <a:lnTo>
                    <a:pt x="0" y="249"/>
                  </a:lnTo>
                  <a:close/>
                </a:path>
              </a:pathLst>
            </a:custGeom>
            <a:solidFill>
              <a:srgbClr val="969696">
                <a:alpha val="100000"/>
              </a:srgbClr>
            </a:solidFill>
            <a:ln w="0" cap="flat">
              <a:noFill/>
              <a:prstDash val="solid"/>
              <a:miter lim="0"/>
            </a:ln>
          </p:spPr>
          <p:txBody>
            <a:bodyPr rtlCol="0"/>
            <a:lstStyle/>
            <a:p>
              <a:pPr algn="ctr"/>
              <a:endParaRPr lang="zh-CN" altLang="en-US"/>
            </a:p>
          </p:txBody>
        </p:sp>
        <p:sp>
          <p:nvSpPr>
            <p:cNvPr id="342" name="path 342"/>
            <p:cNvSpPr/>
            <p:nvPr/>
          </p:nvSpPr>
          <p:spPr>
            <a:xfrm>
              <a:off x="12192" y="1285875"/>
              <a:ext cx="373380" cy="633984"/>
            </a:xfrm>
            <a:custGeom>
              <a:avLst/>
              <a:gdLst/>
              <a:ahLst/>
              <a:cxnLst/>
              <a:rect l="0" t="0" r="0" b="0"/>
              <a:pathLst>
                <a:path w="588" h="998">
                  <a:moveTo>
                    <a:pt x="0" y="249"/>
                  </a:moveTo>
                  <a:lnTo>
                    <a:pt x="294" y="249"/>
                  </a:lnTo>
                  <a:lnTo>
                    <a:pt x="294" y="0"/>
                  </a:lnTo>
                  <a:lnTo>
                    <a:pt x="588" y="499"/>
                  </a:lnTo>
                  <a:lnTo>
                    <a:pt x="294" y="998"/>
                  </a:lnTo>
                  <a:lnTo>
                    <a:pt x="294" y="748"/>
                  </a:lnTo>
                  <a:lnTo>
                    <a:pt x="0" y="748"/>
                  </a:lnTo>
                  <a:lnTo>
                    <a:pt x="0" y="249"/>
                  </a:lnTo>
                  <a:close/>
                </a:path>
              </a:pathLst>
            </a:custGeom>
            <a:solidFill>
              <a:srgbClr val="DDDDDD">
                <a:alpha val="100000"/>
              </a:srgbClr>
            </a:solidFill>
            <a:ln w="0" cap="flat">
              <a:noFill/>
              <a:prstDash val="solid"/>
              <a:miter lim="0"/>
            </a:ln>
          </p:spPr>
          <p:txBody>
            <a:bodyPr rtlCol="0"/>
            <a:lstStyle/>
            <a:p>
              <a:pPr algn="ctr"/>
              <a:endParaRPr lang="zh-CN" altLang="en-US"/>
            </a:p>
          </p:txBody>
        </p:sp>
        <p:grpSp>
          <p:nvGrpSpPr>
            <p:cNvPr id="20" name="group 20"/>
            <p:cNvGrpSpPr/>
            <p:nvPr/>
          </p:nvGrpSpPr>
          <p:grpSpPr>
            <a:xfrm rot="21600000">
              <a:off x="405765" y="0"/>
              <a:ext cx="392430" cy="403097"/>
              <a:chOff x="0" y="0"/>
              <a:chExt cx="392430" cy="403097"/>
            </a:xfrm>
          </p:grpSpPr>
          <p:sp>
            <p:nvSpPr>
              <p:cNvPr id="344" name="path 344"/>
              <p:cNvSpPr/>
              <p:nvPr/>
            </p:nvSpPr>
            <p:spPr>
              <a:xfrm>
                <a:off x="9525" y="9525"/>
                <a:ext cx="373380" cy="384047"/>
              </a:xfrm>
              <a:custGeom>
                <a:avLst/>
                <a:gdLst/>
                <a:ahLst/>
                <a:cxnLst/>
                <a:rect l="0" t="0" r="0" b="0"/>
                <a:pathLst>
                  <a:path w="588" h="604">
                    <a:moveTo>
                      <a:pt x="0" y="302"/>
                    </a:moveTo>
                    <a:cubicBezTo>
                      <a:pt x="0" y="135"/>
                      <a:pt x="131" y="0"/>
                      <a:pt x="294" y="0"/>
                    </a:cubicBezTo>
                    <a:cubicBezTo>
                      <a:pt x="456" y="0"/>
                      <a:pt x="588" y="135"/>
                      <a:pt x="588" y="302"/>
                    </a:cubicBezTo>
                    <a:cubicBezTo>
                      <a:pt x="588" y="469"/>
                      <a:pt x="456" y="604"/>
                      <a:pt x="294" y="604"/>
                    </a:cubicBezTo>
                    <a:cubicBezTo>
                      <a:pt x="131" y="604"/>
                      <a:pt x="0" y="469"/>
                      <a:pt x="0" y="302"/>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46" name="path 346"/>
              <p:cNvSpPr/>
              <p:nvPr/>
            </p:nvSpPr>
            <p:spPr>
              <a:xfrm>
                <a:off x="0" y="0"/>
                <a:ext cx="392430" cy="403097"/>
              </a:xfrm>
              <a:custGeom>
                <a:avLst/>
                <a:gdLst/>
                <a:ahLst/>
                <a:cxnLst/>
                <a:rect l="0" t="0" r="0" b="0"/>
                <a:pathLst>
                  <a:path w="618" h="634">
                    <a:moveTo>
                      <a:pt x="15" y="317"/>
                    </a:moveTo>
                    <a:cubicBezTo>
                      <a:pt x="15" y="150"/>
                      <a:pt x="146" y="15"/>
                      <a:pt x="309" y="15"/>
                    </a:cubicBezTo>
                    <a:cubicBezTo>
                      <a:pt x="471" y="15"/>
                      <a:pt x="603" y="150"/>
                      <a:pt x="603" y="317"/>
                    </a:cubicBezTo>
                    <a:cubicBezTo>
                      <a:pt x="603" y="484"/>
                      <a:pt x="471" y="619"/>
                      <a:pt x="309" y="619"/>
                    </a:cubicBezTo>
                    <a:cubicBezTo>
                      <a:pt x="146" y="619"/>
                      <a:pt x="15" y="484"/>
                      <a:pt x="15" y="317"/>
                    </a:cubicBezTo>
                  </a:path>
                </a:pathLst>
              </a:custGeom>
              <a:noFill/>
              <a:ln w="19050" cap="flat">
                <a:solidFill>
                  <a:srgbClr val="BF756D"/>
                </a:solidFill>
                <a:prstDash val="dash"/>
                <a:miter lim="1000000"/>
              </a:ln>
            </p:spPr>
            <p:txBody>
              <a:bodyPr rtlCol="0"/>
              <a:lstStyle/>
              <a:p>
                <a:pPr algn="ctr"/>
                <a:endParaRPr lang="zh-CN" altLang="en-US"/>
              </a:p>
            </p:txBody>
          </p:sp>
          <p:sp>
            <p:nvSpPr>
              <p:cNvPr id="348" name="path 348"/>
              <p:cNvSpPr/>
              <p:nvPr/>
            </p:nvSpPr>
            <p:spPr>
              <a:xfrm>
                <a:off x="60579" y="56006"/>
                <a:ext cx="238125" cy="266700"/>
              </a:xfrm>
              <a:custGeom>
                <a:avLst/>
                <a:gdLst/>
                <a:ahLst/>
                <a:cxnLst/>
                <a:rect l="0" t="0" r="0" b="0"/>
                <a:pathLst>
                  <a:path w="375" h="420">
                    <a:moveTo>
                      <a:pt x="360" y="49"/>
                    </a:moveTo>
                    <a:cubicBezTo>
                      <a:pt x="312" y="0"/>
                      <a:pt x="234" y="0"/>
                      <a:pt x="185" y="49"/>
                    </a:cubicBezTo>
                    <a:cubicBezTo>
                      <a:pt x="152" y="84"/>
                      <a:pt x="142" y="134"/>
                      <a:pt x="156" y="178"/>
                    </a:cubicBezTo>
                    <a:lnTo>
                      <a:pt x="16" y="322"/>
                    </a:lnTo>
                    <a:cubicBezTo>
                      <a:pt x="13" y="325"/>
                      <a:pt x="11" y="329"/>
                      <a:pt x="11" y="333"/>
                    </a:cubicBezTo>
                    <a:lnTo>
                      <a:pt x="1" y="396"/>
                    </a:lnTo>
                    <a:cubicBezTo>
                      <a:pt x="0" y="403"/>
                      <a:pt x="2" y="409"/>
                      <a:pt x="6" y="413"/>
                    </a:cubicBezTo>
                    <a:cubicBezTo>
                      <a:pt x="10" y="418"/>
                      <a:pt x="16" y="420"/>
                      <a:pt x="22" y="419"/>
                    </a:cubicBezTo>
                    <a:lnTo>
                      <a:pt x="84" y="408"/>
                    </a:lnTo>
                    <a:cubicBezTo>
                      <a:pt x="88" y="408"/>
                      <a:pt x="91" y="406"/>
                      <a:pt x="94" y="403"/>
                    </a:cubicBezTo>
                    <a:lnTo>
                      <a:pt x="100" y="397"/>
                    </a:lnTo>
                    <a:lnTo>
                      <a:pt x="82" y="378"/>
                    </a:lnTo>
                    <a:cubicBezTo>
                      <a:pt x="77" y="372"/>
                      <a:pt x="77" y="363"/>
                      <a:pt x="82" y="358"/>
                    </a:cubicBezTo>
                    <a:cubicBezTo>
                      <a:pt x="88" y="352"/>
                      <a:pt x="97" y="352"/>
                      <a:pt x="102" y="358"/>
                    </a:cubicBezTo>
                    <a:lnTo>
                      <a:pt x="120" y="376"/>
                    </a:lnTo>
                    <a:lnTo>
                      <a:pt x="133" y="363"/>
                    </a:lnTo>
                    <a:lnTo>
                      <a:pt x="104" y="332"/>
                    </a:lnTo>
                    <a:cubicBezTo>
                      <a:pt x="99" y="327"/>
                      <a:pt x="99" y="318"/>
                      <a:pt x="104" y="312"/>
                    </a:cubicBezTo>
                    <a:cubicBezTo>
                      <a:pt x="110" y="306"/>
                      <a:pt x="119" y="306"/>
                      <a:pt x="124" y="312"/>
                    </a:cubicBezTo>
                    <a:lnTo>
                      <a:pt x="153" y="342"/>
                    </a:lnTo>
                    <a:lnTo>
                      <a:pt x="167" y="328"/>
                    </a:lnTo>
                    <a:lnTo>
                      <a:pt x="149" y="310"/>
                    </a:lnTo>
                    <a:cubicBezTo>
                      <a:pt x="143" y="304"/>
                      <a:pt x="143" y="295"/>
                      <a:pt x="149" y="289"/>
                    </a:cubicBezTo>
                    <a:cubicBezTo>
                      <a:pt x="154" y="284"/>
                      <a:pt x="163" y="284"/>
                      <a:pt x="168" y="289"/>
                    </a:cubicBezTo>
                    <a:lnTo>
                      <a:pt x="186" y="308"/>
                    </a:lnTo>
                    <a:lnTo>
                      <a:pt x="234" y="259"/>
                    </a:lnTo>
                    <a:cubicBezTo>
                      <a:pt x="277" y="273"/>
                      <a:pt x="325" y="263"/>
                      <a:pt x="360" y="228"/>
                    </a:cubicBezTo>
                    <a:cubicBezTo>
                      <a:pt x="408" y="179"/>
                      <a:pt x="408" y="98"/>
                      <a:pt x="360" y="49"/>
                    </a:cubicBezTo>
                    <a:moveTo>
                      <a:pt x="324" y="167"/>
                    </a:moveTo>
                    <a:cubicBezTo>
                      <a:pt x="311" y="180"/>
                      <a:pt x="291" y="180"/>
                      <a:pt x="279" y="167"/>
                    </a:cubicBezTo>
                    <a:lnTo>
                      <a:pt x="245" y="132"/>
                    </a:lnTo>
                    <a:cubicBezTo>
                      <a:pt x="232" y="120"/>
                      <a:pt x="232" y="99"/>
                      <a:pt x="245" y="86"/>
                    </a:cubicBezTo>
                    <a:cubicBezTo>
                      <a:pt x="257" y="73"/>
                      <a:pt x="277" y="73"/>
                      <a:pt x="290" y="86"/>
                    </a:cubicBezTo>
                    <a:lnTo>
                      <a:pt x="324" y="121"/>
                    </a:lnTo>
                    <a:cubicBezTo>
                      <a:pt x="336" y="134"/>
                      <a:pt x="336" y="154"/>
                      <a:pt x="324" y="167"/>
                    </a:cubicBezTo>
                  </a:path>
                </a:pathLst>
              </a:custGeom>
              <a:solidFill>
                <a:srgbClr val="BF756D">
                  <a:alpha val="100000"/>
                </a:srgbClr>
              </a:solidFill>
              <a:ln w="0" cap="flat">
                <a:noFill/>
                <a:prstDash val="solid"/>
                <a:miter lim="0"/>
              </a:ln>
            </p:spPr>
            <p:txBody>
              <a:bodyPr rtlCol="0"/>
              <a:lstStyle/>
              <a:p>
                <a:pPr algn="ctr"/>
                <a:endParaRPr lang="zh-CN" altLang="en-US"/>
              </a:p>
            </p:txBody>
          </p:sp>
        </p:grpSp>
        <p:sp>
          <p:nvSpPr>
            <p:cNvPr id="350" name="path 350"/>
            <p:cNvSpPr/>
            <p:nvPr/>
          </p:nvSpPr>
          <p:spPr>
            <a:xfrm>
              <a:off x="885444" y="2532379"/>
              <a:ext cx="1383411" cy="6350"/>
            </a:xfrm>
            <a:custGeom>
              <a:avLst/>
              <a:gdLst/>
              <a:ahLst/>
              <a:cxnLst/>
              <a:rect l="0" t="0" r="0" b="0"/>
              <a:pathLst>
                <a:path w="2178" h="10">
                  <a:moveTo>
                    <a:pt x="0" y="5"/>
                  </a:moveTo>
                  <a:lnTo>
                    <a:pt x="2178" y="5"/>
                  </a:lnTo>
                </a:path>
              </a:pathLst>
            </a:custGeom>
            <a:noFill/>
            <a:ln w="6350" cap="flat">
              <a:solidFill>
                <a:srgbClr val="D9D9D9"/>
              </a:solidFill>
              <a:prstDash val="solid"/>
              <a:miter lim="1000000"/>
            </a:ln>
          </p:spPr>
          <p:txBody>
            <a:bodyPr rtlCol="0"/>
            <a:lstStyle/>
            <a:p>
              <a:pPr algn="ctr"/>
              <a:endParaRPr lang="zh-CN" altLang="en-US"/>
            </a:p>
          </p:txBody>
        </p:sp>
        <p:sp>
          <p:nvSpPr>
            <p:cNvPr id="352" name="path 352"/>
            <p:cNvSpPr/>
            <p:nvPr/>
          </p:nvSpPr>
          <p:spPr>
            <a:xfrm>
              <a:off x="885444" y="3856735"/>
              <a:ext cx="1383411" cy="6350"/>
            </a:xfrm>
            <a:custGeom>
              <a:avLst/>
              <a:gdLst/>
              <a:ahLst/>
              <a:cxnLst/>
              <a:rect l="0" t="0" r="0" b="0"/>
              <a:pathLst>
                <a:path w="2178" h="10">
                  <a:moveTo>
                    <a:pt x="0" y="5"/>
                  </a:moveTo>
                  <a:lnTo>
                    <a:pt x="2178" y="5"/>
                  </a:lnTo>
                </a:path>
              </a:pathLst>
            </a:custGeom>
            <a:noFill/>
            <a:ln w="6350" cap="flat">
              <a:solidFill>
                <a:srgbClr val="D9D9D9"/>
              </a:solidFill>
              <a:prstDash val="solid"/>
              <a:miter lim="1000000"/>
            </a:ln>
          </p:spPr>
          <p:txBody>
            <a:bodyPr rtlCol="0"/>
            <a:lstStyle/>
            <a:p>
              <a:pPr algn="ctr"/>
              <a:endParaRPr lang="zh-CN" altLang="en-US"/>
            </a:p>
          </p:txBody>
        </p:sp>
      </p:grpSp>
      <p:sp>
        <p:nvSpPr>
          <p:cNvPr id="354" name="rect 354"/>
          <p:cNvSpPr/>
          <p:nvPr/>
        </p:nvSpPr>
        <p:spPr>
          <a:xfrm>
            <a:off x="5067236" y="5531472"/>
            <a:ext cx="3892422" cy="836434"/>
          </a:xfrm>
          <a:prstGeom prst="rect">
            <a:avLst/>
          </a:prstGeom>
          <a:solidFill>
            <a:srgbClr val="000000">
              <a:alpha val="34117"/>
            </a:srgbClr>
          </a:solidFill>
          <a:ln w="0" cap="flat">
            <a:noFill/>
            <a:prstDash val="solid"/>
            <a:miter lim="0"/>
          </a:ln>
        </p:spPr>
        <p:txBody>
          <a:bodyPr rtlCol="0"/>
          <a:lstStyle/>
          <a:p>
            <a:pPr algn="ctr"/>
            <a:endParaRPr lang="zh-CN" altLang="en-US"/>
          </a:p>
        </p:txBody>
      </p:sp>
      <p:grpSp>
        <p:nvGrpSpPr>
          <p:cNvPr id="22" name="group 22"/>
          <p:cNvGrpSpPr/>
          <p:nvPr/>
        </p:nvGrpSpPr>
        <p:grpSpPr>
          <a:xfrm rot="21600000">
            <a:off x="1132254" y="5455371"/>
            <a:ext cx="7873741" cy="920422"/>
            <a:chOff x="0" y="0"/>
            <a:chExt cx="7873741" cy="920422"/>
          </a:xfrm>
        </p:grpSpPr>
        <p:sp>
          <p:nvSpPr>
            <p:cNvPr id="356" name="rect 356"/>
            <p:cNvSpPr/>
            <p:nvPr/>
          </p:nvSpPr>
          <p:spPr>
            <a:xfrm>
              <a:off x="0" y="76100"/>
              <a:ext cx="3890927" cy="836434"/>
            </a:xfrm>
            <a:prstGeom prst="rect">
              <a:avLst/>
            </a:prstGeom>
            <a:solidFill>
              <a:srgbClr val="000000">
                <a:alpha val="34117"/>
              </a:srgbClr>
            </a:solidFill>
            <a:ln w="0" cap="flat">
              <a:noFill/>
              <a:prstDash val="solid"/>
              <a:miter lim="0"/>
            </a:ln>
          </p:spPr>
          <p:txBody>
            <a:bodyPr rtlCol="0"/>
            <a:lstStyle/>
            <a:p>
              <a:pPr algn="ctr"/>
              <a:endParaRPr lang="zh-CN" altLang="en-US"/>
            </a:p>
          </p:txBody>
        </p:sp>
        <p:pic>
          <p:nvPicPr>
            <p:cNvPr id="358" name="picture 358"/>
            <p:cNvPicPr>
              <a:picLocks noChangeAspect="1"/>
            </p:cNvPicPr>
            <p:nvPr/>
          </p:nvPicPr>
          <p:blipFill>
            <a:blip r:embed="rId3"/>
            <a:stretch>
              <a:fillRect/>
            </a:stretch>
          </p:blipFill>
          <p:spPr>
            <a:xfrm rot="21600000">
              <a:off x="3884073" y="0"/>
              <a:ext cx="3989668" cy="920422"/>
            </a:xfrm>
            <a:prstGeom prst="rect">
              <a:avLst/>
            </a:prstGeom>
          </p:spPr>
        </p:pic>
        <p:sp>
          <p:nvSpPr>
            <p:cNvPr id="360" name="rect 360"/>
            <p:cNvSpPr/>
            <p:nvPr/>
          </p:nvSpPr>
          <p:spPr>
            <a:xfrm>
              <a:off x="3950286" y="53888"/>
              <a:ext cx="3866388" cy="809244"/>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362" name="rect 362"/>
            <p:cNvSpPr/>
            <p:nvPr/>
          </p:nvSpPr>
          <p:spPr>
            <a:xfrm>
              <a:off x="15317" y="53888"/>
              <a:ext cx="3864864" cy="809244"/>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364" name="textbox 364"/>
            <p:cNvSpPr/>
            <p:nvPr/>
          </p:nvSpPr>
          <p:spPr>
            <a:xfrm>
              <a:off x="358764" y="602630"/>
              <a:ext cx="3204845" cy="168910"/>
            </a:xfrm>
            <a:prstGeom prst="rect">
              <a:avLst/>
            </a:prstGeom>
            <a:noFill/>
            <a:ln w="0" cap="flat">
              <a:noFill/>
              <a:prstDash val="solid"/>
              <a:miter lim="0"/>
            </a:ln>
          </p:spPr>
          <p:txBody>
            <a:bodyPr vert="horz" wrap="square" lIns="0" tIns="0" rIns="0" bIns="0"/>
            <a:lstStyle/>
            <a:p>
              <a:pPr algn="l" rtl="0" eaLnBrk="0">
                <a:lnSpc>
                  <a:spcPct val="78479"/>
                </a:lnSpc>
                <a:tabLst/>
              </a:pPr>
              <a:endParaRPr sz="100" dirty="0">
                <a:latin typeface="Arial"/>
                <a:ea typeface="Arial"/>
                <a:cs typeface="Arial"/>
              </a:endParaRPr>
            </a:p>
            <a:p>
              <a:pPr marL="12700" algn="l" rtl="0" eaLnBrk="0">
                <a:lnSpc>
                  <a:spcPct val="86000"/>
                </a:lnSpc>
                <a:tabLst/>
              </a:pPr>
              <a:r>
                <a:rPr sz="1100" b="1" kern="0" spc="-10" dirty="0">
                  <a:solidFill>
                    <a:srgbClr val="000000">
                      <a:alpha val="100000"/>
                    </a:srgbClr>
                  </a:solidFill>
                  <a:latin typeface="KaiTi"/>
                  <a:ea typeface="KaiTi"/>
                  <a:cs typeface="KaiTi"/>
                </a:rPr>
                <a:t>内容创作</a:t>
              </a:r>
              <a:r>
                <a:rPr sz="1100" kern="0" spc="-10" dirty="0">
                  <a:solidFill>
                    <a:srgbClr val="000000">
                      <a:alpha val="100000"/>
                    </a:srgbClr>
                  </a:solidFill>
                  <a:latin typeface="KaiTi"/>
                  <a:ea typeface="KaiTi"/>
                  <a:cs typeface="KaiTi"/>
                </a:rPr>
                <a:t>      </a:t>
              </a:r>
              <a:r>
                <a:rPr sz="1100" kern="0" spc="-20" dirty="0">
                  <a:solidFill>
                    <a:srgbClr val="000000">
                      <a:alpha val="100000"/>
                    </a:srgbClr>
                  </a:solidFill>
                  <a:latin typeface="KaiTi"/>
                  <a:ea typeface="KaiTi"/>
                  <a:cs typeface="KaiTi"/>
                </a:rPr>
                <a:t>     </a:t>
              </a:r>
              <a:r>
                <a:rPr sz="1100" b="1" kern="0" spc="-20" dirty="0">
                  <a:solidFill>
                    <a:srgbClr val="000000">
                      <a:alpha val="100000"/>
                    </a:srgbClr>
                  </a:solidFill>
                  <a:latin typeface="KaiTi"/>
                  <a:ea typeface="KaiTi"/>
                  <a:cs typeface="KaiTi"/>
                </a:rPr>
                <a:t>影音游戏</a:t>
              </a:r>
              <a:r>
                <a:rPr sz="1100" kern="0" spc="0" dirty="0">
                  <a:solidFill>
                    <a:srgbClr val="000000">
                      <a:alpha val="100000"/>
                    </a:srgbClr>
                  </a:solidFill>
                  <a:latin typeface="KaiTi"/>
                  <a:ea typeface="KaiTi"/>
                  <a:cs typeface="KaiTi"/>
                </a:rPr>
                <a:t>           </a:t>
              </a:r>
              <a:r>
                <a:rPr sz="1100" b="1" kern="0" spc="-20" dirty="0">
                  <a:solidFill>
                    <a:srgbClr val="000000">
                      <a:alpha val="100000"/>
                    </a:srgbClr>
                  </a:solidFill>
                  <a:latin typeface="KaiTi"/>
                  <a:ea typeface="KaiTi"/>
                  <a:cs typeface="KaiTi"/>
                </a:rPr>
                <a:t>办公助手</a:t>
              </a:r>
              <a:endParaRPr sz="1100" dirty="0">
                <a:latin typeface="KaiTi"/>
                <a:ea typeface="KaiTi"/>
                <a:cs typeface="KaiTi"/>
              </a:endParaRPr>
            </a:p>
          </p:txBody>
        </p:sp>
        <p:grpSp>
          <p:nvGrpSpPr>
            <p:cNvPr id="24" name="group 24"/>
            <p:cNvGrpSpPr/>
            <p:nvPr/>
          </p:nvGrpSpPr>
          <p:grpSpPr>
            <a:xfrm rot="21600000">
              <a:off x="3086177" y="111800"/>
              <a:ext cx="416051" cy="416051"/>
              <a:chOff x="0" y="0"/>
              <a:chExt cx="416051" cy="416051"/>
            </a:xfrm>
          </p:grpSpPr>
          <p:sp>
            <p:nvSpPr>
              <p:cNvPr id="366" name="path 366"/>
              <p:cNvSpPr/>
              <p:nvPr/>
            </p:nvSpPr>
            <p:spPr>
              <a:xfrm>
                <a:off x="0" y="0"/>
                <a:ext cx="416051" cy="416051"/>
              </a:xfrm>
              <a:custGeom>
                <a:avLst/>
                <a:gdLst/>
                <a:ahLst/>
                <a:cxnLst/>
                <a:rect l="0" t="0" r="0" b="0"/>
                <a:pathLst>
                  <a:path w="655" h="655">
                    <a:moveTo>
                      <a:pt x="0" y="327"/>
                    </a:moveTo>
                    <a:cubicBezTo>
                      <a:pt x="0" y="146"/>
                      <a:pt x="146" y="0"/>
                      <a:pt x="327" y="0"/>
                    </a:cubicBezTo>
                    <a:cubicBezTo>
                      <a:pt x="508" y="0"/>
                      <a:pt x="655" y="146"/>
                      <a:pt x="655" y="327"/>
                    </a:cubicBezTo>
                    <a:cubicBezTo>
                      <a:pt x="655" y="508"/>
                      <a:pt x="508" y="655"/>
                      <a:pt x="327" y="655"/>
                    </a:cubicBezTo>
                    <a:cubicBezTo>
                      <a:pt x="146" y="655"/>
                      <a:pt x="0" y="508"/>
                      <a:pt x="0" y="327"/>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368" name="path 368"/>
              <p:cNvSpPr/>
              <p:nvPr/>
            </p:nvSpPr>
            <p:spPr>
              <a:xfrm>
                <a:off x="75946" y="84708"/>
                <a:ext cx="250697" cy="245237"/>
              </a:xfrm>
              <a:custGeom>
                <a:avLst/>
                <a:gdLst/>
                <a:ahLst/>
                <a:cxnLst/>
                <a:rect l="0" t="0" r="0" b="0"/>
                <a:pathLst>
                  <a:path w="394" h="386">
                    <a:moveTo>
                      <a:pt x="66" y="309"/>
                    </a:moveTo>
                    <a:cubicBezTo>
                      <a:pt x="56" y="309"/>
                      <a:pt x="48" y="317"/>
                      <a:pt x="48" y="327"/>
                    </a:cubicBezTo>
                    <a:cubicBezTo>
                      <a:pt x="48" y="337"/>
                      <a:pt x="56" y="346"/>
                      <a:pt x="66" y="346"/>
                    </a:cubicBezTo>
                    <a:cubicBezTo>
                      <a:pt x="77" y="346"/>
                      <a:pt x="85" y="337"/>
                      <a:pt x="85" y="327"/>
                    </a:cubicBezTo>
                    <a:cubicBezTo>
                      <a:pt x="85" y="317"/>
                      <a:pt x="77" y="309"/>
                      <a:pt x="66" y="309"/>
                    </a:cubicBezTo>
                    <a:moveTo>
                      <a:pt x="66" y="302"/>
                    </a:moveTo>
                    <a:cubicBezTo>
                      <a:pt x="81" y="302"/>
                      <a:pt x="92" y="313"/>
                      <a:pt x="92" y="327"/>
                    </a:cubicBezTo>
                    <a:cubicBezTo>
                      <a:pt x="92" y="341"/>
                      <a:pt x="80" y="353"/>
                      <a:pt x="66" y="353"/>
                    </a:cubicBezTo>
                    <a:cubicBezTo>
                      <a:pt x="52" y="353"/>
                      <a:pt x="41" y="341"/>
                      <a:pt x="41" y="327"/>
                    </a:cubicBezTo>
                    <a:cubicBezTo>
                      <a:pt x="41" y="313"/>
                      <a:pt x="52" y="302"/>
                      <a:pt x="66" y="302"/>
                    </a:cubicBezTo>
                    <a:moveTo>
                      <a:pt x="257" y="225"/>
                    </a:moveTo>
                    <a:lnTo>
                      <a:pt x="335" y="281"/>
                    </a:lnTo>
                    <a:cubicBezTo>
                      <a:pt x="349" y="291"/>
                      <a:pt x="352" y="311"/>
                      <a:pt x="342" y="325"/>
                    </a:cubicBezTo>
                    <a:cubicBezTo>
                      <a:pt x="336" y="333"/>
                      <a:pt x="326" y="338"/>
                      <a:pt x="316" y="338"/>
                    </a:cubicBezTo>
                    <a:cubicBezTo>
                      <a:pt x="310" y="338"/>
                      <a:pt x="304" y="336"/>
                      <a:pt x="298" y="332"/>
                    </a:cubicBezTo>
                    <a:lnTo>
                      <a:pt x="211" y="267"/>
                    </a:lnTo>
                    <a:lnTo>
                      <a:pt x="216" y="262"/>
                    </a:lnTo>
                    <a:lnTo>
                      <a:pt x="302" y="326"/>
                    </a:lnTo>
                    <a:cubicBezTo>
                      <a:pt x="307" y="330"/>
                      <a:pt x="314" y="331"/>
                      <a:pt x="320" y="330"/>
                    </a:cubicBezTo>
                    <a:cubicBezTo>
                      <a:pt x="327" y="329"/>
                      <a:pt x="332" y="326"/>
                      <a:pt x="336" y="321"/>
                    </a:cubicBezTo>
                    <a:cubicBezTo>
                      <a:pt x="344" y="310"/>
                      <a:pt x="342" y="294"/>
                      <a:pt x="330" y="287"/>
                    </a:cubicBezTo>
                    <a:lnTo>
                      <a:pt x="247" y="227"/>
                    </a:lnTo>
                    <a:lnTo>
                      <a:pt x="248" y="225"/>
                    </a:lnTo>
                    <a:lnTo>
                      <a:pt x="257" y="225"/>
                    </a:lnTo>
                    <a:close/>
                    <a:moveTo>
                      <a:pt x="184" y="210"/>
                    </a:moveTo>
                    <a:cubicBezTo>
                      <a:pt x="185" y="209"/>
                      <a:pt x="187" y="209"/>
                      <a:pt x="189" y="210"/>
                    </a:cubicBezTo>
                    <a:cubicBezTo>
                      <a:pt x="190" y="211"/>
                      <a:pt x="190" y="212"/>
                      <a:pt x="190" y="213"/>
                    </a:cubicBezTo>
                    <a:cubicBezTo>
                      <a:pt x="190" y="214"/>
                      <a:pt x="189" y="215"/>
                      <a:pt x="189" y="215"/>
                    </a:cubicBezTo>
                    <a:cubicBezTo>
                      <a:pt x="188" y="216"/>
                      <a:pt x="187" y="216"/>
                      <a:pt x="186" y="216"/>
                    </a:cubicBezTo>
                    <a:cubicBezTo>
                      <a:pt x="185" y="216"/>
                      <a:pt x="184" y="216"/>
                      <a:pt x="184" y="215"/>
                    </a:cubicBezTo>
                    <a:cubicBezTo>
                      <a:pt x="183" y="215"/>
                      <a:pt x="183" y="214"/>
                      <a:pt x="183" y="213"/>
                    </a:cubicBezTo>
                    <a:cubicBezTo>
                      <a:pt x="183" y="212"/>
                      <a:pt x="183" y="211"/>
                      <a:pt x="184" y="210"/>
                    </a:cubicBezTo>
                    <a:moveTo>
                      <a:pt x="74" y="116"/>
                    </a:moveTo>
                    <a:lnTo>
                      <a:pt x="143" y="167"/>
                    </a:lnTo>
                    <a:lnTo>
                      <a:pt x="138" y="172"/>
                    </a:lnTo>
                    <a:lnTo>
                      <a:pt x="70" y="121"/>
                    </a:lnTo>
                    <a:lnTo>
                      <a:pt x="70" y="121"/>
                    </a:lnTo>
                    <a:lnTo>
                      <a:pt x="72" y="119"/>
                    </a:lnTo>
                    <a:lnTo>
                      <a:pt x="72" y="116"/>
                    </a:lnTo>
                    <a:lnTo>
                      <a:pt x="74" y="116"/>
                    </a:lnTo>
                    <a:close/>
                    <a:moveTo>
                      <a:pt x="38" y="74"/>
                    </a:moveTo>
                    <a:lnTo>
                      <a:pt x="16" y="101"/>
                    </a:lnTo>
                    <a:lnTo>
                      <a:pt x="42" y="122"/>
                    </a:lnTo>
                    <a:cubicBezTo>
                      <a:pt x="48" y="127"/>
                      <a:pt x="57" y="126"/>
                      <a:pt x="62" y="120"/>
                    </a:cubicBezTo>
                    <a:lnTo>
                      <a:pt x="66" y="115"/>
                    </a:lnTo>
                    <a:cubicBezTo>
                      <a:pt x="69" y="112"/>
                      <a:pt x="70" y="108"/>
                      <a:pt x="70" y="104"/>
                    </a:cubicBezTo>
                    <a:cubicBezTo>
                      <a:pt x="69" y="100"/>
                      <a:pt x="67" y="97"/>
                      <a:pt x="64" y="95"/>
                    </a:cubicBezTo>
                    <a:lnTo>
                      <a:pt x="38" y="74"/>
                    </a:lnTo>
                    <a:close/>
                    <a:moveTo>
                      <a:pt x="36" y="64"/>
                    </a:moveTo>
                    <a:lnTo>
                      <a:pt x="68" y="89"/>
                    </a:lnTo>
                    <a:cubicBezTo>
                      <a:pt x="73" y="92"/>
                      <a:pt x="75" y="97"/>
                      <a:pt x="76" y="103"/>
                    </a:cubicBezTo>
                    <a:lnTo>
                      <a:pt x="72" y="116"/>
                    </a:lnTo>
                    <a:lnTo>
                      <a:pt x="69" y="117"/>
                    </a:lnTo>
                    <a:lnTo>
                      <a:pt x="70" y="121"/>
                    </a:lnTo>
                    <a:lnTo>
                      <a:pt x="68" y="124"/>
                    </a:lnTo>
                    <a:cubicBezTo>
                      <a:pt x="63" y="129"/>
                      <a:pt x="57" y="132"/>
                      <a:pt x="51" y="132"/>
                    </a:cubicBezTo>
                    <a:cubicBezTo>
                      <a:pt x="46" y="132"/>
                      <a:pt x="42" y="131"/>
                      <a:pt x="38" y="127"/>
                    </a:cubicBezTo>
                    <a:lnTo>
                      <a:pt x="6" y="102"/>
                    </a:lnTo>
                    <a:lnTo>
                      <a:pt x="36" y="64"/>
                    </a:lnTo>
                    <a:close/>
                    <a:moveTo>
                      <a:pt x="277" y="11"/>
                    </a:moveTo>
                    <a:cubicBezTo>
                      <a:pt x="249" y="11"/>
                      <a:pt x="222" y="22"/>
                      <a:pt x="202" y="42"/>
                    </a:cubicBezTo>
                    <a:cubicBezTo>
                      <a:pt x="174" y="69"/>
                      <a:pt x="164" y="110"/>
                      <a:pt x="175" y="147"/>
                    </a:cubicBezTo>
                    <a:lnTo>
                      <a:pt x="176" y="150"/>
                    </a:lnTo>
                    <a:lnTo>
                      <a:pt x="173" y="151"/>
                    </a:lnTo>
                    <a:cubicBezTo>
                      <a:pt x="170" y="152"/>
                      <a:pt x="168" y="154"/>
                      <a:pt x="166" y="156"/>
                    </a:cubicBezTo>
                    <a:lnTo>
                      <a:pt x="35" y="276"/>
                    </a:lnTo>
                    <a:cubicBezTo>
                      <a:pt x="9" y="301"/>
                      <a:pt x="7" y="341"/>
                      <a:pt x="30" y="363"/>
                    </a:cubicBezTo>
                    <a:cubicBezTo>
                      <a:pt x="52" y="386"/>
                      <a:pt x="92" y="383"/>
                      <a:pt x="117" y="358"/>
                    </a:cubicBezTo>
                    <a:lnTo>
                      <a:pt x="238" y="228"/>
                    </a:lnTo>
                    <a:cubicBezTo>
                      <a:pt x="240" y="226"/>
                      <a:pt x="242" y="223"/>
                      <a:pt x="242" y="220"/>
                    </a:cubicBezTo>
                    <a:lnTo>
                      <a:pt x="243" y="217"/>
                    </a:lnTo>
                    <a:lnTo>
                      <a:pt x="246" y="218"/>
                    </a:lnTo>
                    <a:cubicBezTo>
                      <a:pt x="284" y="229"/>
                      <a:pt x="324" y="218"/>
                      <a:pt x="352" y="191"/>
                    </a:cubicBezTo>
                    <a:cubicBezTo>
                      <a:pt x="374" y="169"/>
                      <a:pt x="385" y="138"/>
                      <a:pt x="382" y="106"/>
                    </a:cubicBezTo>
                    <a:lnTo>
                      <a:pt x="368" y="121"/>
                    </a:lnTo>
                    <a:cubicBezTo>
                      <a:pt x="355" y="134"/>
                      <a:pt x="338" y="141"/>
                      <a:pt x="320" y="141"/>
                    </a:cubicBezTo>
                    <a:cubicBezTo>
                      <a:pt x="302" y="142"/>
                      <a:pt x="285" y="135"/>
                      <a:pt x="273" y="123"/>
                    </a:cubicBezTo>
                    <a:cubicBezTo>
                      <a:pt x="260" y="110"/>
                      <a:pt x="252" y="94"/>
                      <a:pt x="252" y="76"/>
                    </a:cubicBezTo>
                    <a:cubicBezTo>
                      <a:pt x="252" y="58"/>
                      <a:pt x="259" y="41"/>
                      <a:pt x="271" y="28"/>
                    </a:cubicBezTo>
                    <a:lnTo>
                      <a:pt x="287" y="11"/>
                    </a:lnTo>
                    <a:cubicBezTo>
                      <a:pt x="284" y="11"/>
                      <a:pt x="280" y="11"/>
                      <a:pt x="277" y="11"/>
                    </a:cubicBezTo>
                    <a:moveTo>
                      <a:pt x="296" y="6"/>
                    </a:moveTo>
                    <a:lnTo>
                      <a:pt x="302" y="7"/>
                    </a:lnTo>
                    <a:lnTo>
                      <a:pt x="277" y="33"/>
                    </a:lnTo>
                    <a:cubicBezTo>
                      <a:pt x="265" y="45"/>
                      <a:pt x="260" y="60"/>
                      <a:pt x="260" y="76"/>
                    </a:cubicBezTo>
                    <a:cubicBezTo>
                      <a:pt x="260" y="92"/>
                      <a:pt x="266" y="107"/>
                      <a:pt x="278" y="118"/>
                    </a:cubicBezTo>
                    <a:cubicBezTo>
                      <a:pt x="290" y="129"/>
                      <a:pt x="305" y="135"/>
                      <a:pt x="321" y="135"/>
                    </a:cubicBezTo>
                    <a:cubicBezTo>
                      <a:pt x="337" y="134"/>
                      <a:pt x="352" y="128"/>
                      <a:pt x="363" y="116"/>
                    </a:cubicBezTo>
                    <a:lnTo>
                      <a:pt x="387" y="91"/>
                    </a:lnTo>
                    <a:lnTo>
                      <a:pt x="388" y="98"/>
                    </a:lnTo>
                    <a:cubicBezTo>
                      <a:pt x="394" y="134"/>
                      <a:pt x="382" y="171"/>
                      <a:pt x="357" y="196"/>
                    </a:cubicBezTo>
                    <a:cubicBezTo>
                      <a:pt x="342" y="210"/>
                      <a:pt x="325" y="220"/>
                      <a:pt x="306" y="225"/>
                    </a:cubicBezTo>
                    <a:lnTo>
                      <a:pt x="257" y="225"/>
                    </a:lnTo>
                    <a:lnTo>
                      <a:pt x="250" y="220"/>
                    </a:lnTo>
                    <a:cubicBezTo>
                      <a:pt x="249" y="219"/>
                      <a:pt x="246" y="220"/>
                      <a:pt x="245" y="221"/>
                    </a:cubicBezTo>
                    <a:cubicBezTo>
                      <a:pt x="244" y="223"/>
                      <a:pt x="244" y="225"/>
                      <a:pt x="246" y="226"/>
                    </a:cubicBezTo>
                    <a:lnTo>
                      <a:pt x="247" y="227"/>
                    </a:lnTo>
                    <a:lnTo>
                      <a:pt x="243" y="232"/>
                    </a:lnTo>
                    <a:lnTo>
                      <a:pt x="216" y="262"/>
                    </a:lnTo>
                    <a:lnTo>
                      <a:pt x="213" y="259"/>
                    </a:lnTo>
                    <a:cubicBezTo>
                      <a:pt x="211" y="258"/>
                      <a:pt x="209" y="259"/>
                      <a:pt x="208" y="260"/>
                    </a:cubicBezTo>
                    <a:cubicBezTo>
                      <a:pt x="207" y="262"/>
                      <a:pt x="207" y="264"/>
                      <a:pt x="208" y="265"/>
                    </a:cubicBezTo>
                    <a:lnTo>
                      <a:pt x="211" y="267"/>
                    </a:lnTo>
                    <a:lnTo>
                      <a:pt x="122" y="363"/>
                    </a:lnTo>
                    <a:cubicBezTo>
                      <a:pt x="107" y="378"/>
                      <a:pt x="88" y="386"/>
                      <a:pt x="69" y="386"/>
                    </a:cubicBezTo>
                    <a:cubicBezTo>
                      <a:pt x="53" y="386"/>
                      <a:pt x="37" y="380"/>
                      <a:pt x="25" y="368"/>
                    </a:cubicBezTo>
                    <a:cubicBezTo>
                      <a:pt x="0" y="343"/>
                      <a:pt x="2" y="299"/>
                      <a:pt x="30" y="271"/>
                    </a:cubicBezTo>
                    <a:lnTo>
                      <a:pt x="138" y="172"/>
                    </a:lnTo>
                    <a:lnTo>
                      <a:pt x="140" y="174"/>
                    </a:lnTo>
                    <a:cubicBezTo>
                      <a:pt x="140" y="174"/>
                      <a:pt x="141" y="174"/>
                      <a:pt x="142" y="174"/>
                    </a:cubicBezTo>
                    <a:cubicBezTo>
                      <a:pt x="143" y="174"/>
                      <a:pt x="144" y="174"/>
                      <a:pt x="145" y="173"/>
                    </a:cubicBezTo>
                    <a:cubicBezTo>
                      <a:pt x="146" y="171"/>
                      <a:pt x="146" y="169"/>
                      <a:pt x="144" y="168"/>
                    </a:cubicBezTo>
                    <a:lnTo>
                      <a:pt x="143" y="167"/>
                    </a:lnTo>
                    <a:lnTo>
                      <a:pt x="161" y="151"/>
                    </a:lnTo>
                    <a:cubicBezTo>
                      <a:pt x="163" y="149"/>
                      <a:pt x="165" y="147"/>
                      <a:pt x="168" y="146"/>
                    </a:cubicBezTo>
                    <a:cubicBezTo>
                      <a:pt x="157" y="107"/>
                      <a:pt x="168" y="66"/>
                      <a:pt x="197" y="37"/>
                    </a:cubicBezTo>
                    <a:cubicBezTo>
                      <a:pt x="223" y="11"/>
                      <a:pt x="260" y="0"/>
                      <a:pt x="296" y="6"/>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370" name="path 370"/>
              <p:cNvSpPr/>
              <p:nvPr/>
            </p:nvSpPr>
            <p:spPr>
              <a:xfrm>
                <a:off x="70484" y="78122"/>
                <a:ext cx="262887" cy="261348"/>
              </a:xfrm>
              <a:custGeom>
                <a:avLst/>
                <a:gdLst/>
                <a:ahLst/>
                <a:cxnLst/>
                <a:rect l="0" t="0" r="0" b="0"/>
                <a:pathLst>
                  <a:path w="413" h="411">
                    <a:moveTo>
                      <a:pt x="75" y="319"/>
                    </a:moveTo>
                    <a:cubicBezTo>
                      <a:pt x="65" y="319"/>
                      <a:pt x="57" y="327"/>
                      <a:pt x="57" y="338"/>
                    </a:cubicBezTo>
                    <a:cubicBezTo>
                      <a:pt x="57" y="348"/>
                      <a:pt x="65" y="356"/>
                      <a:pt x="75" y="356"/>
                    </a:cubicBezTo>
                    <a:cubicBezTo>
                      <a:pt x="85" y="356"/>
                      <a:pt x="94" y="348"/>
                      <a:pt x="94" y="338"/>
                    </a:cubicBezTo>
                    <a:cubicBezTo>
                      <a:pt x="94" y="327"/>
                      <a:pt x="85" y="319"/>
                      <a:pt x="75" y="319"/>
                    </a:cubicBezTo>
                    <a:moveTo>
                      <a:pt x="75" y="312"/>
                    </a:moveTo>
                    <a:cubicBezTo>
                      <a:pt x="89" y="312"/>
                      <a:pt x="101" y="323"/>
                      <a:pt x="101" y="338"/>
                    </a:cubicBezTo>
                    <a:cubicBezTo>
                      <a:pt x="101" y="351"/>
                      <a:pt x="89" y="363"/>
                      <a:pt x="75" y="363"/>
                    </a:cubicBezTo>
                    <a:cubicBezTo>
                      <a:pt x="61" y="363"/>
                      <a:pt x="50" y="352"/>
                      <a:pt x="50" y="338"/>
                    </a:cubicBezTo>
                    <a:cubicBezTo>
                      <a:pt x="50" y="323"/>
                      <a:pt x="61" y="312"/>
                      <a:pt x="75" y="312"/>
                    </a:cubicBezTo>
                    <a:moveTo>
                      <a:pt x="266" y="236"/>
                    </a:moveTo>
                    <a:lnTo>
                      <a:pt x="343" y="292"/>
                    </a:lnTo>
                    <a:cubicBezTo>
                      <a:pt x="357" y="302"/>
                      <a:pt x="361" y="321"/>
                      <a:pt x="350" y="335"/>
                    </a:cubicBezTo>
                    <a:cubicBezTo>
                      <a:pt x="344" y="344"/>
                      <a:pt x="335" y="348"/>
                      <a:pt x="325" y="348"/>
                    </a:cubicBezTo>
                    <a:cubicBezTo>
                      <a:pt x="319" y="348"/>
                      <a:pt x="312" y="346"/>
                      <a:pt x="307" y="342"/>
                    </a:cubicBezTo>
                    <a:lnTo>
                      <a:pt x="220" y="277"/>
                    </a:lnTo>
                    <a:lnTo>
                      <a:pt x="225" y="272"/>
                    </a:lnTo>
                    <a:lnTo>
                      <a:pt x="311" y="336"/>
                    </a:lnTo>
                    <a:cubicBezTo>
                      <a:pt x="316" y="340"/>
                      <a:pt x="322" y="342"/>
                      <a:pt x="329" y="341"/>
                    </a:cubicBezTo>
                    <a:cubicBezTo>
                      <a:pt x="336" y="340"/>
                      <a:pt x="341" y="336"/>
                      <a:pt x="345" y="331"/>
                    </a:cubicBezTo>
                    <a:cubicBezTo>
                      <a:pt x="353" y="320"/>
                      <a:pt x="350" y="305"/>
                      <a:pt x="339" y="297"/>
                    </a:cubicBezTo>
                    <a:lnTo>
                      <a:pt x="256" y="237"/>
                    </a:lnTo>
                    <a:lnTo>
                      <a:pt x="257" y="236"/>
                    </a:lnTo>
                    <a:lnTo>
                      <a:pt x="266" y="236"/>
                    </a:lnTo>
                    <a:close/>
                    <a:moveTo>
                      <a:pt x="192" y="221"/>
                    </a:moveTo>
                    <a:cubicBezTo>
                      <a:pt x="194" y="219"/>
                      <a:pt x="196" y="220"/>
                      <a:pt x="197" y="221"/>
                    </a:cubicBezTo>
                    <a:cubicBezTo>
                      <a:pt x="198" y="221"/>
                      <a:pt x="198" y="222"/>
                      <a:pt x="198" y="223"/>
                    </a:cubicBezTo>
                    <a:cubicBezTo>
                      <a:pt x="198" y="224"/>
                      <a:pt x="198" y="225"/>
                      <a:pt x="197" y="226"/>
                    </a:cubicBezTo>
                    <a:cubicBezTo>
                      <a:pt x="197" y="227"/>
                      <a:pt x="196" y="227"/>
                      <a:pt x="195" y="227"/>
                    </a:cubicBezTo>
                    <a:cubicBezTo>
                      <a:pt x="194" y="227"/>
                      <a:pt x="193" y="226"/>
                      <a:pt x="192" y="226"/>
                    </a:cubicBezTo>
                    <a:cubicBezTo>
                      <a:pt x="192" y="225"/>
                      <a:pt x="192" y="224"/>
                      <a:pt x="192" y="223"/>
                    </a:cubicBezTo>
                    <a:cubicBezTo>
                      <a:pt x="192" y="222"/>
                      <a:pt x="192" y="221"/>
                      <a:pt x="192" y="221"/>
                    </a:cubicBezTo>
                    <a:moveTo>
                      <a:pt x="83" y="126"/>
                    </a:moveTo>
                    <a:lnTo>
                      <a:pt x="152" y="178"/>
                    </a:lnTo>
                    <a:lnTo>
                      <a:pt x="147" y="183"/>
                    </a:lnTo>
                    <a:lnTo>
                      <a:pt x="79" y="132"/>
                    </a:lnTo>
                    <a:lnTo>
                      <a:pt x="79" y="131"/>
                    </a:lnTo>
                    <a:lnTo>
                      <a:pt x="81" y="129"/>
                    </a:lnTo>
                    <a:lnTo>
                      <a:pt x="81" y="126"/>
                    </a:lnTo>
                    <a:lnTo>
                      <a:pt x="83" y="126"/>
                    </a:lnTo>
                    <a:close/>
                    <a:moveTo>
                      <a:pt x="47" y="84"/>
                    </a:moveTo>
                    <a:lnTo>
                      <a:pt x="25" y="112"/>
                    </a:lnTo>
                    <a:lnTo>
                      <a:pt x="51" y="132"/>
                    </a:lnTo>
                    <a:cubicBezTo>
                      <a:pt x="57" y="137"/>
                      <a:pt x="66" y="136"/>
                      <a:pt x="71" y="130"/>
                    </a:cubicBezTo>
                    <a:lnTo>
                      <a:pt x="75" y="125"/>
                    </a:lnTo>
                    <a:cubicBezTo>
                      <a:pt x="78" y="122"/>
                      <a:pt x="79" y="118"/>
                      <a:pt x="78" y="114"/>
                    </a:cubicBezTo>
                    <a:cubicBezTo>
                      <a:pt x="78" y="111"/>
                      <a:pt x="76" y="107"/>
                      <a:pt x="73" y="105"/>
                    </a:cubicBezTo>
                    <a:lnTo>
                      <a:pt x="47" y="84"/>
                    </a:lnTo>
                    <a:close/>
                    <a:moveTo>
                      <a:pt x="45" y="74"/>
                    </a:moveTo>
                    <a:lnTo>
                      <a:pt x="77" y="99"/>
                    </a:lnTo>
                    <a:cubicBezTo>
                      <a:pt x="81" y="103"/>
                      <a:pt x="84" y="108"/>
                      <a:pt x="85" y="113"/>
                    </a:cubicBezTo>
                    <a:lnTo>
                      <a:pt x="81" y="126"/>
                    </a:lnTo>
                    <a:lnTo>
                      <a:pt x="78" y="127"/>
                    </a:lnTo>
                    <a:lnTo>
                      <a:pt x="79" y="131"/>
                    </a:lnTo>
                    <a:lnTo>
                      <a:pt x="76" y="134"/>
                    </a:lnTo>
                    <a:cubicBezTo>
                      <a:pt x="72" y="140"/>
                      <a:pt x="66" y="142"/>
                      <a:pt x="60" y="142"/>
                    </a:cubicBezTo>
                    <a:cubicBezTo>
                      <a:pt x="55" y="142"/>
                      <a:pt x="50" y="141"/>
                      <a:pt x="47" y="138"/>
                    </a:cubicBezTo>
                    <a:lnTo>
                      <a:pt x="15" y="113"/>
                    </a:lnTo>
                    <a:lnTo>
                      <a:pt x="45" y="74"/>
                    </a:lnTo>
                    <a:close/>
                    <a:moveTo>
                      <a:pt x="286" y="21"/>
                    </a:moveTo>
                    <a:cubicBezTo>
                      <a:pt x="258" y="21"/>
                      <a:pt x="231" y="32"/>
                      <a:pt x="210" y="52"/>
                    </a:cubicBezTo>
                    <a:cubicBezTo>
                      <a:pt x="182" y="80"/>
                      <a:pt x="172" y="120"/>
                      <a:pt x="184" y="157"/>
                    </a:cubicBezTo>
                    <a:lnTo>
                      <a:pt x="185" y="161"/>
                    </a:lnTo>
                    <a:lnTo>
                      <a:pt x="181" y="162"/>
                    </a:lnTo>
                    <a:cubicBezTo>
                      <a:pt x="179" y="163"/>
                      <a:pt x="176" y="164"/>
                      <a:pt x="175" y="166"/>
                    </a:cubicBezTo>
                    <a:lnTo>
                      <a:pt x="44" y="286"/>
                    </a:lnTo>
                    <a:cubicBezTo>
                      <a:pt x="18" y="312"/>
                      <a:pt x="16" y="351"/>
                      <a:pt x="38" y="373"/>
                    </a:cubicBezTo>
                    <a:cubicBezTo>
                      <a:pt x="61" y="396"/>
                      <a:pt x="100" y="394"/>
                      <a:pt x="126" y="368"/>
                    </a:cubicBezTo>
                    <a:lnTo>
                      <a:pt x="246" y="238"/>
                    </a:lnTo>
                    <a:cubicBezTo>
                      <a:pt x="249" y="236"/>
                      <a:pt x="250" y="233"/>
                      <a:pt x="251" y="231"/>
                    </a:cubicBezTo>
                    <a:lnTo>
                      <a:pt x="252" y="227"/>
                    </a:lnTo>
                    <a:lnTo>
                      <a:pt x="255" y="228"/>
                    </a:lnTo>
                    <a:cubicBezTo>
                      <a:pt x="292" y="239"/>
                      <a:pt x="332" y="229"/>
                      <a:pt x="360" y="202"/>
                    </a:cubicBezTo>
                    <a:cubicBezTo>
                      <a:pt x="382" y="179"/>
                      <a:pt x="394" y="148"/>
                      <a:pt x="391" y="117"/>
                    </a:cubicBezTo>
                    <a:lnTo>
                      <a:pt x="376" y="132"/>
                    </a:lnTo>
                    <a:cubicBezTo>
                      <a:pt x="364" y="144"/>
                      <a:pt x="347" y="152"/>
                      <a:pt x="329" y="152"/>
                    </a:cubicBezTo>
                    <a:cubicBezTo>
                      <a:pt x="311" y="152"/>
                      <a:pt x="294" y="145"/>
                      <a:pt x="281" y="133"/>
                    </a:cubicBezTo>
                    <a:cubicBezTo>
                      <a:pt x="269" y="121"/>
                      <a:pt x="261" y="104"/>
                      <a:pt x="261" y="86"/>
                    </a:cubicBezTo>
                    <a:cubicBezTo>
                      <a:pt x="261" y="68"/>
                      <a:pt x="268" y="51"/>
                      <a:pt x="280" y="39"/>
                    </a:cubicBezTo>
                    <a:lnTo>
                      <a:pt x="296" y="22"/>
                    </a:lnTo>
                    <a:cubicBezTo>
                      <a:pt x="293" y="21"/>
                      <a:pt x="289" y="21"/>
                      <a:pt x="286" y="21"/>
                    </a:cubicBezTo>
                    <a:moveTo>
                      <a:pt x="305" y="16"/>
                    </a:moveTo>
                    <a:lnTo>
                      <a:pt x="311" y="17"/>
                    </a:lnTo>
                    <a:lnTo>
                      <a:pt x="285" y="44"/>
                    </a:lnTo>
                    <a:cubicBezTo>
                      <a:pt x="274" y="55"/>
                      <a:pt x="268" y="70"/>
                      <a:pt x="268" y="86"/>
                    </a:cubicBezTo>
                    <a:cubicBezTo>
                      <a:pt x="269" y="102"/>
                      <a:pt x="275" y="117"/>
                      <a:pt x="287" y="128"/>
                    </a:cubicBezTo>
                    <a:cubicBezTo>
                      <a:pt x="298" y="139"/>
                      <a:pt x="313" y="145"/>
                      <a:pt x="330" y="145"/>
                    </a:cubicBezTo>
                    <a:cubicBezTo>
                      <a:pt x="346" y="145"/>
                      <a:pt x="361" y="138"/>
                      <a:pt x="372" y="127"/>
                    </a:cubicBezTo>
                    <a:lnTo>
                      <a:pt x="396" y="102"/>
                    </a:lnTo>
                    <a:lnTo>
                      <a:pt x="397" y="109"/>
                    </a:lnTo>
                    <a:cubicBezTo>
                      <a:pt x="403" y="144"/>
                      <a:pt x="391" y="181"/>
                      <a:pt x="365" y="206"/>
                    </a:cubicBezTo>
                    <a:cubicBezTo>
                      <a:pt x="351" y="221"/>
                      <a:pt x="334" y="230"/>
                      <a:pt x="315" y="235"/>
                    </a:cubicBezTo>
                    <a:lnTo>
                      <a:pt x="266" y="236"/>
                    </a:lnTo>
                    <a:lnTo>
                      <a:pt x="259" y="231"/>
                    </a:lnTo>
                    <a:cubicBezTo>
                      <a:pt x="257" y="230"/>
                      <a:pt x="255" y="230"/>
                      <a:pt x="254" y="232"/>
                    </a:cubicBezTo>
                    <a:cubicBezTo>
                      <a:pt x="253" y="233"/>
                      <a:pt x="253" y="235"/>
                      <a:pt x="255" y="236"/>
                    </a:cubicBezTo>
                    <a:lnTo>
                      <a:pt x="256" y="237"/>
                    </a:lnTo>
                    <a:lnTo>
                      <a:pt x="252" y="243"/>
                    </a:lnTo>
                    <a:lnTo>
                      <a:pt x="225" y="272"/>
                    </a:lnTo>
                    <a:lnTo>
                      <a:pt x="221" y="270"/>
                    </a:lnTo>
                    <a:cubicBezTo>
                      <a:pt x="220" y="269"/>
                      <a:pt x="218" y="269"/>
                      <a:pt x="217" y="271"/>
                    </a:cubicBezTo>
                    <a:cubicBezTo>
                      <a:pt x="215" y="272"/>
                      <a:pt x="216" y="274"/>
                      <a:pt x="217" y="275"/>
                    </a:cubicBezTo>
                    <a:lnTo>
                      <a:pt x="220" y="277"/>
                    </a:lnTo>
                    <a:lnTo>
                      <a:pt x="131" y="373"/>
                    </a:lnTo>
                    <a:cubicBezTo>
                      <a:pt x="116" y="388"/>
                      <a:pt x="96" y="396"/>
                      <a:pt x="78" y="396"/>
                    </a:cubicBezTo>
                    <a:cubicBezTo>
                      <a:pt x="61" y="396"/>
                      <a:pt x="46" y="390"/>
                      <a:pt x="34" y="379"/>
                    </a:cubicBezTo>
                    <a:cubicBezTo>
                      <a:pt x="8" y="353"/>
                      <a:pt x="11" y="310"/>
                      <a:pt x="39" y="282"/>
                    </a:cubicBezTo>
                    <a:lnTo>
                      <a:pt x="147" y="183"/>
                    </a:lnTo>
                    <a:lnTo>
                      <a:pt x="149" y="184"/>
                    </a:lnTo>
                    <a:cubicBezTo>
                      <a:pt x="149" y="185"/>
                      <a:pt x="150" y="185"/>
                      <a:pt x="151" y="185"/>
                    </a:cubicBezTo>
                    <a:cubicBezTo>
                      <a:pt x="152" y="185"/>
                      <a:pt x="153" y="184"/>
                      <a:pt x="153" y="183"/>
                    </a:cubicBezTo>
                    <a:cubicBezTo>
                      <a:pt x="155" y="182"/>
                      <a:pt x="154" y="180"/>
                      <a:pt x="153" y="179"/>
                    </a:cubicBezTo>
                    <a:lnTo>
                      <a:pt x="152" y="178"/>
                    </a:lnTo>
                    <a:lnTo>
                      <a:pt x="170" y="161"/>
                    </a:lnTo>
                    <a:cubicBezTo>
                      <a:pt x="172" y="159"/>
                      <a:pt x="174" y="158"/>
                      <a:pt x="176" y="157"/>
                    </a:cubicBezTo>
                    <a:cubicBezTo>
                      <a:pt x="166" y="118"/>
                      <a:pt x="177" y="76"/>
                      <a:pt x="206" y="47"/>
                    </a:cubicBezTo>
                    <a:cubicBezTo>
                      <a:pt x="231" y="22"/>
                      <a:pt x="268" y="10"/>
                      <a:pt x="305" y="16"/>
                    </a:cubicBezTo>
                  </a:path>
                </a:pathLst>
              </a:custGeom>
              <a:noFill/>
              <a:ln w="19050" cap="flat">
                <a:solidFill>
                  <a:srgbClr val="FFFFFF"/>
                </a:solidFill>
                <a:prstDash val="solid"/>
                <a:miter lim="1000000"/>
              </a:ln>
            </p:spPr>
            <p:txBody>
              <a:bodyPr rtlCol="0"/>
              <a:lstStyle/>
              <a:p>
                <a:pPr algn="ctr"/>
                <a:endParaRPr lang="zh-CN" altLang="en-US"/>
              </a:p>
            </p:txBody>
          </p:sp>
        </p:grpSp>
        <p:grpSp>
          <p:nvGrpSpPr>
            <p:cNvPr id="26" name="group 26"/>
            <p:cNvGrpSpPr/>
            <p:nvPr/>
          </p:nvGrpSpPr>
          <p:grpSpPr>
            <a:xfrm rot="21600000">
              <a:off x="431369" y="111800"/>
              <a:ext cx="414527" cy="416051"/>
              <a:chOff x="0" y="0"/>
              <a:chExt cx="414527" cy="416051"/>
            </a:xfrm>
          </p:grpSpPr>
          <p:sp>
            <p:nvSpPr>
              <p:cNvPr id="372" name="path 372"/>
              <p:cNvSpPr/>
              <p:nvPr/>
            </p:nvSpPr>
            <p:spPr>
              <a:xfrm>
                <a:off x="0" y="0"/>
                <a:ext cx="414527" cy="416051"/>
              </a:xfrm>
              <a:custGeom>
                <a:avLst/>
                <a:gdLst/>
                <a:ahLst/>
                <a:cxnLst/>
                <a:rect l="0" t="0" r="0" b="0"/>
                <a:pathLst>
                  <a:path w="652" h="655">
                    <a:moveTo>
                      <a:pt x="0" y="327"/>
                    </a:moveTo>
                    <a:cubicBezTo>
                      <a:pt x="0" y="146"/>
                      <a:pt x="146" y="0"/>
                      <a:pt x="326" y="0"/>
                    </a:cubicBezTo>
                    <a:cubicBezTo>
                      <a:pt x="506" y="0"/>
                      <a:pt x="652" y="146"/>
                      <a:pt x="652" y="327"/>
                    </a:cubicBezTo>
                    <a:cubicBezTo>
                      <a:pt x="652" y="508"/>
                      <a:pt x="506" y="655"/>
                      <a:pt x="326" y="655"/>
                    </a:cubicBezTo>
                    <a:cubicBezTo>
                      <a:pt x="146" y="655"/>
                      <a:pt x="0" y="508"/>
                      <a:pt x="0" y="327"/>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374" name="path 374"/>
              <p:cNvSpPr/>
              <p:nvPr/>
            </p:nvSpPr>
            <p:spPr>
              <a:xfrm>
                <a:off x="85344" y="109727"/>
                <a:ext cx="243839" cy="196596"/>
              </a:xfrm>
              <a:custGeom>
                <a:avLst/>
                <a:gdLst/>
                <a:ahLst/>
                <a:cxnLst/>
                <a:rect l="0" t="0" r="0" b="0"/>
                <a:pathLst>
                  <a:path w="383" h="309">
                    <a:moveTo>
                      <a:pt x="0" y="232"/>
                    </a:moveTo>
                    <a:lnTo>
                      <a:pt x="0" y="77"/>
                    </a:lnTo>
                    <a:cubicBezTo>
                      <a:pt x="0" y="34"/>
                      <a:pt x="34" y="0"/>
                      <a:pt x="76" y="0"/>
                    </a:cubicBezTo>
                    <a:lnTo>
                      <a:pt x="307" y="0"/>
                    </a:lnTo>
                    <a:cubicBezTo>
                      <a:pt x="349" y="0"/>
                      <a:pt x="383" y="34"/>
                      <a:pt x="383" y="77"/>
                    </a:cubicBezTo>
                    <a:lnTo>
                      <a:pt x="383" y="232"/>
                    </a:lnTo>
                    <a:cubicBezTo>
                      <a:pt x="383" y="274"/>
                      <a:pt x="349" y="309"/>
                      <a:pt x="307" y="309"/>
                    </a:cubicBezTo>
                    <a:lnTo>
                      <a:pt x="76" y="309"/>
                    </a:lnTo>
                    <a:cubicBezTo>
                      <a:pt x="34" y="309"/>
                      <a:pt x="0" y="274"/>
                      <a:pt x="0" y="232"/>
                    </a:cubicBezTo>
                    <a:moveTo>
                      <a:pt x="38" y="232"/>
                    </a:moveTo>
                    <a:cubicBezTo>
                      <a:pt x="38" y="253"/>
                      <a:pt x="55" y="270"/>
                      <a:pt x="76" y="270"/>
                    </a:cubicBezTo>
                    <a:lnTo>
                      <a:pt x="307" y="270"/>
                    </a:lnTo>
                    <a:cubicBezTo>
                      <a:pt x="328" y="270"/>
                      <a:pt x="345" y="253"/>
                      <a:pt x="345" y="232"/>
                    </a:cubicBezTo>
                    <a:lnTo>
                      <a:pt x="345" y="77"/>
                    </a:lnTo>
                    <a:cubicBezTo>
                      <a:pt x="345" y="56"/>
                      <a:pt x="328" y="38"/>
                      <a:pt x="307" y="38"/>
                    </a:cubicBezTo>
                    <a:lnTo>
                      <a:pt x="76" y="38"/>
                    </a:lnTo>
                    <a:cubicBezTo>
                      <a:pt x="55" y="38"/>
                      <a:pt x="38" y="56"/>
                      <a:pt x="38" y="77"/>
                    </a:cubicBezTo>
                    <a:lnTo>
                      <a:pt x="38" y="232"/>
                    </a:lnTo>
                    <a:close/>
                    <a:moveTo>
                      <a:pt x="143" y="113"/>
                    </a:moveTo>
                    <a:cubicBezTo>
                      <a:pt x="134" y="108"/>
                      <a:pt x="131" y="95"/>
                      <a:pt x="136" y="86"/>
                    </a:cubicBezTo>
                    <a:cubicBezTo>
                      <a:pt x="142" y="77"/>
                      <a:pt x="154" y="74"/>
                      <a:pt x="163" y="80"/>
                    </a:cubicBezTo>
                    <a:lnTo>
                      <a:pt x="259" y="138"/>
                    </a:lnTo>
                    <a:cubicBezTo>
                      <a:pt x="271" y="145"/>
                      <a:pt x="271" y="163"/>
                      <a:pt x="259" y="171"/>
                    </a:cubicBezTo>
                    <a:lnTo>
                      <a:pt x="163" y="229"/>
                    </a:lnTo>
                    <a:cubicBezTo>
                      <a:pt x="150" y="237"/>
                      <a:pt x="134" y="227"/>
                      <a:pt x="134" y="212"/>
                    </a:cubicBezTo>
                    <a:lnTo>
                      <a:pt x="134" y="154"/>
                    </a:lnTo>
                    <a:cubicBezTo>
                      <a:pt x="134" y="144"/>
                      <a:pt x="142" y="135"/>
                      <a:pt x="153" y="135"/>
                    </a:cubicBezTo>
                    <a:cubicBezTo>
                      <a:pt x="164" y="135"/>
                      <a:pt x="172" y="144"/>
                      <a:pt x="172" y="154"/>
                    </a:cubicBezTo>
                    <a:lnTo>
                      <a:pt x="172" y="178"/>
                    </a:lnTo>
                    <a:lnTo>
                      <a:pt x="212" y="154"/>
                    </a:lnTo>
                    <a:lnTo>
                      <a:pt x="143" y="113"/>
                    </a:lnTo>
                    <a:close/>
                  </a:path>
                </a:pathLst>
              </a:custGeom>
              <a:solidFill>
                <a:srgbClr val="FFFFFF">
                  <a:alpha val="100000"/>
                </a:srgbClr>
              </a:solidFill>
              <a:ln w="0" cap="flat">
                <a:noFill/>
                <a:prstDash val="solid"/>
                <a:miter lim="0"/>
              </a:ln>
            </p:spPr>
            <p:txBody>
              <a:bodyPr rtlCol="0"/>
              <a:lstStyle/>
              <a:p>
                <a:pPr algn="ctr"/>
                <a:endParaRPr lang="zh-CN" altLang="en-US"/>
              </a:p>
            </p:txBody>
          </p:sp>
        </p:grpSp>
        <p:grpSp>
          <p:nvGrpSpPr>
            <p:cNvPr id="28" name="group 28"/>
            <p:cNvGrpSpPr/>
            <p:nvPr/>
          </p:nvGrpSpPr>
          <p:grpSpPr>
            <a:xfrm rot="21600000">
              <a:off x="1728293" y="111800"/>
              <a:ext cx="414527" cy="416051"/>
              <a:chOff x="0" y="0"/>
              <a:chExt cx="414527" cy="416051"/>
            </a:xfrm>
          </p:grpSpPr>
          <p:sp>
            <p:nvSpPr>
              <p:cNvPr id="376" name="path 376"/>
              <p:cNvSpPr/>
              <p:nvPr/>
            </p:nvSpPr>
            <p:spPr>
              <a:xfrm>
                <a:off x="0" y="0"/>
                <a:ext cx="414527" cy="416051"/>
              </a:xfrm>
              <a:custGeom>
                <a:avLst/>
                <a:gdLst/>
                <a:ahLst/>
                <a:cxnLst/>
                <a:rect l="0" t="0" r="0" b="0"/>
                <a:pathLst>
                  <a:path w="652" h="655">
                    <a:moveTo>
                      <a:pt x="0" y="327"/>
                    </a:moveTo>
                    <a:cubicBezTo>
                      <a:pt x="0" y="146"/>
                      <a:pt x="146" y="0"/>
                      <a:pt x="326" y="0"/>
                    </a:cubicBezTo>
                    <a:cubicBezTo>
                      <a:pt x="506" y="0"/>
                      <a:pt x="652" y="146"/>
                      <a:pt x="652" y="327"/>
                    </a:cubicBezTo>
                    <a:cubicBezTo>
                      <a:pt x="652" y="508"/>
                      <a:pt x="506" y="655"/>
                      <a:pt x="326" y="655"/>
                    </a:cubicBezTo>
                    <a:cubicBezTo>
                      <a:pt x="146" y="655"/>
                      <a:pt x="0" y="508"/>
                      <a:pt x="0" y="327"/>
                    </a:cubicBezTo>
                  </a:path>
                </a:pathLst>
              </a:custGeom>
              <a:solidFill>
                <a:srgbClr val="000000">
                  <a:alpha val="100000"/>
                </a:srgbClr>
              </a:solidFill>
              <a:ln w="0" cap="flat">
                <a:noFill/>
                <a:prstDash val="solid"/>
                <a:miter lim="0"/>
              </a:ln>
            </p:spPr>
            <p:txBody>
              <a:bodyPr rtlCol="0"/>
              <a:lstStyle/>
              <a:p>
                <a:pPr algn="ctr"/>
                <a:endParaRPr lang="zh-CN" altLang="en-US"/>
              </a:p>
            </p:txBody>
          </p:sp>
          <p:sp>
            <p:nvSpPr>
              <p:cNvPr id="378" name="path 378"/>
              <p:cNvSpPr/>
              <p:nvPr/>
            </p:nvSpPr>
            <p:spPr>
              <a:xfrm>
                <a:off x="85344" y="85344"/>
                <a:ext cx="250190" cy="245363"/>
              </a:xfrm>
              <a:custGeom>
                <a:avLst/>
                <a:gdLst/>
                <a:ahLst/>
                <a:cxnLst/>
                <a:rect l="0" t="0" r="0" b="0"/>
                <a:pathLst>
                  <a:path w="394" h="386">
                    <a:moveTo>
                      <a:pt x="298" y="236"/>
                    </a:moveTo>
                    <a:cubicBezTo>
                      <a:pt x="276" y="236"/>
                      <a:pt x="246" y="258"/>
                      <a:pt x="246" y="269"/>
                    </a:cubicBezTo>
                    <a:cubicBezTo>
                      <a:pt x="246" y="280"/>
                      <a:pt x="276" y="275"/>
                      <a:pt x="298" y="275"/>
                    </a:cubicBezTo>
                    <a:cubicBezTo>
                      <a:pt x="320" y="275"/>
                      <a:pt x="338" y="266"/>
                      <a:pt x="338" y="256"/>
                    </a:cubicBezTo>
                    <a:cubicBezTo>
                      <a:pt x="338" y="245"/>
                      <a:pt x="320" y="236"/>
                      <a:pt x="298" y="236"/>
                    </a:cubicBezTo>
                    <a:moveTo>
                      <a:pt x="153" y="115"/>
                    </a:moveTo>
                    <a:lnTo>
                      <a:pt x="211" y="115"/>
                    </a:lnTo>
                    <a:cubicBezTo>
                      <a:pt x="237" y="115"/>
                      <a:pt x="270" y="132"/>
                      <a:pt x="286" y="153"/>
                    </a:cubicBezTo>
                    <a:lnTo>
                      <a:pt x="317" y="195"/>
                    </a:lnTo>
                    <a:cubicBezTo>
                      <a:pt x="317" y="195"/>
                      <a:pt x="331" y="206"/>
                      <a:pt x="347" y="220"/>
                    </a:cubicBezTo>
                    <a:cubicBezTo>
                      <a:pt x="364" y="233"/>
                      <a:pt x="378" y="265"/>
                      <a:pt x="378" y="291"/>
                    </a:cubicBezTo>
                    <a:lnTo>
                      <a:pt x="378" y="305"/>
                    </a:lnTo>
                    <a:cubicBezTo>
                      <a:pt x="381" y="309"/>
                      <a:pt x="384" y="314"/>
                      <a:pt x="384" y="319"/>
                    </a:cubicBezTo>
                    <a:lnTo>
                      <a:pt x="384" y="366"/>
                    </a:lnTo>
                    <a:cubicBezTo>
                      <a:pt x="384" y="377"/>
                      <a:pt x="373" y="386"/>
                      <a:pt x="360" y="386"/>
                    </a:cubicBezTo>
                    <a:lnTo>
                      <a:pt x="328" y="386"/>
                    </a:lnTo>
                    <a:cubicBezTo>
                      <a:pt x="315" y="386"/>
                      <a:pt x="304" y="377"/>
                      <a:pt x="304" y="366"/>
                    </a:cubicBezTo>
                    <a:lnTo>
                      <a:pt x="304" y="338"/>
                    </a:lnTo>
                    <a:lnTo>
                      <a:pt x="146" y="338"/>
                    </a:lnTo>
                    <a:cubicBezTo>
                      <a:pt x="148" y="334"/>
                      <a:pt x="149" y="329"/>
                      <a:pt x="150" y="323"/>
                    </a:cubicBezTo>
                    <a:lnTo>
                      <a:pt x="252" y="323"/>
                    </a:lnTo>
                    <a:cubicBezTo>
                      <a:pt x="252" y="323"/>
                      <a:pt x="253" y="308"/>
                      <a:pt x="241" y="293"/>
                    </a:cubicBezTo>
                    <a:cubicBezTo>
                      <a:pt x="228" y="278"/>
                      <a:pt x="192" y="278"/>
                      <a:pt x="192" y="278"/>
                    </a:cubicBezTo>
                    <a:lnTo>
                      <a:pt x="152" y="278"/>
                    </a:lnTo>
                    <a:cubicBezTo>
                      <a:pt x="152" y="259"/>
                      <a:pt x="153" y="230"/>
                      <a:pt x="153" y="199"/>
                    </a:cubicBezTo>
                    <a:lnTo>
                      <a:pt x="282" y="198"/>
                    </a:lnTo>
                    <a:cubicBezTo>
                      <a:pt x="282" y="198"/>
                      <a:pt x="271" y="175"/>
                      <a:pt x="255" y="158"/>
                    </a:cubicBezTo>
                    <a:cubicBezTo>
                      <a:pt x="238" y="141"/>
                      <a:pt x="202" y="138"/>
                      <a:pt x="202" y="138"/>
                    </a:cubicBezTo>
                    <a:lnTo>
                      <a:pt x="153" y="138"/>
                    </a:lnTo>
                    <a:cubicBezTo>
                      <a:pt x="153" y="130"/>
                      <a:pt x="153" y="122"/>
                      <a:pt x="153" y="115"/>
                    </a:cubicBezTo>
                    <a:moveTo>
                      <a:pt x="113" y="0"/>
                    </a:moveTo>
                    <a:cubicBezTo>
                      <a:pt x="114" y="0"/>
                      <a:pt x="115" y="0"/>
                      <a:pt x="116" y="0"/>
                    </a:cubicBezTo>
                    <a:cubicBezTo>
                      <a:pt x="177" y="10"/>
                      <a:pt x="437" y="43"/>
                      <a:pt x="327" y="163"/>
                    </a:cubicBezTo>
                    <a:cubicBezTo>
                      <a:pt x="323" y="167"/>
                      <a:pt x="321" y="169"/>
                      <a:pt x="319" y="169"/>
                    </a:cubicBezTo>
                    <a:cubicBezTo>
                      <a:pt x="317" y="169"/>
                      <a:pt x="318" y="166"/>
                      <a:pt x="320" y="158"/>
                    </a:cubicBezTo>
                    <a:cubicBezTo>
                      <a:pt x="331" y="127"/>
                      <a:pt x="230" y="80"/>
                      <a:pt x="139" y="80"/>
                    </a:cubicBezTo>
                    <a:cubicBezTo>
                      <a:pt x="139" y="80"/>
                      <a:pt x="139" y="94"/>
                      <a:pt x="139" y="115"/>
                    </a:cubicBezTo>
                    <a:cubicBezTo>
                      <a:pt x="139" y="122"/>
                      <a:pt x="139" y="130"/>
                      <a:pt x="139" y="138"/>
                    </a:cubicBezTo>
                    <a:cubicBezTo>
                      <a:pt x="139" y="157"/>
                      <a:pt x="139" y="178"/>
                      <a:pt x="139" y="199"/>
                    </a:cubicBezTo>
                    <a:cubicBezTo>
                      <a:pt x="139" y="230"/>
                      <a:pt x="139" y="259"/>
                      <a:pt x="139" y="278"/>
                    </a:cubicBezTo>
                    <a:cubicBezTo>
                      <a:pt x="139" y="282"/>
                      <a:pt x="139" y="286"/>
                      <a:pt x="139" y="289"/>
                    </a:cubicBezTo>
                    <a:cubicBezTo>
                      <a:pt x="139" y="299"/>
                      <a:pt x="139" y="312"/>
                      <a:pt x="136" y="323"/>
                    </a:cubicBezTo>
                    <a:cubicBezTo>
                      <a:pt x="136" y="328"/>
                      <a:pt x="135" y="332"/>
                      <a:pt x="133" y="335"/>
                    </a:cubicBezTo>
                    <a:cubicBezTo>
                      <a:pt x="133" y="336"/>
                      <a:pt x="132" y="337"/>
                      <a:pt x="131" y="338"/>
                    </a:cubicBezTo>
                    <a:cubicBezTo>
                      <a:pt x="120" y="361"/>
                      <a:pt x="96" y="376"/>
                      <a:pt x="69" y="376"/>
                    </a:cubicBezTo>
                    <a:cubicBezTo>
                      <a:pt x="31" y="376"/>
                      <a:pt x="0" y="345"/>
                      <a:pt x="0" y="306"/>
                    </a:cubicBezTo>
                    <a:cubicBezTo>
                      <a:pt x="0" y="267"/>
                      <a:pt x="31" y="236"/>
                      <a:pt x="69" y="236"/>
                    </a:cubicBezTo>
                    <a:cubicBezTo>
                      <a:pt x="78" y="236"/>
                      <a:pt x="86" y="237"/>
                      <a:pt x="93" y="240"/>
                    </a:cubicBezTo>
                    <a:lnTo>
                      <a:pt x="93" y="200"/>
                    </a:lnTo>
                    <a:lnTo>
                      <a:pt x="93" y="138"/>
                    </a:lnTo>
                    <a:lnTo>
                      <a:pt x="93" y="20"/>
                    </a:lnTo>
                    <a:cubicBezTo>
                      <a:pt x="93" y="8"/>
                      <a:pt x="102" y="0"/>
                      <a:pt x="113" y="0"/>
                    </a:cubicBezTo>
                  </a:path>
                </a:pathLst>
              </a:custGeom>
              <a:solidFill>
                <a:srgbClr val="FFFFFF">
                  <a:alpha val="100000"/>
                </a:srgbClr>
              </a:solidFill>
              <a:ln w="0" cap="flat">
                <a:noFill/>
                <a:prstDash val="solid"/>
                <a:miter lim="0"/>
              </a:ln>
            </p:spPr>
            <p:txBody>
              <a:bodyPr rtlCol="0"/>
              <a:lstStyle/>
              <a:p>
                <a:pPr algn="ctr"/>
                <a:endParaRPr lang="zh-CN" altLang="en-US"/>
              </a:p>
            </p:txBody>
          </p:sp>
        </p:grpSp>
      </p:grpSp>
      <p:sp>
        <p:nvSpPr>
          <p:cNvPr id="380" name="rect 380"/>
          <p:cNvSpPr/>
          <p:nvPr/>
        </p:nvSpPr>
        <p:spPr>
          <a:xfrm>
            <a:off x="8043671" y="1427988"/>
            <a:ext cx="630935" cy="170688"/>
          </a:xfrm>
          <a:prstGeom prst="rect">
            <a:avLst/>
          </a:prstGeom>
          <a:solidFill>
            <a:srgbClr val="FFFFFF">
              <a:alpha val="100000"/>
            </a:srgbClr>
          </a:solidFill>
          <a:ln w="0" cap="flat">
            <a:noFill/>
            <a:prstDash val="solid"/>
            <a:miter lim="0"/>
          </a:ln>
        </p:spPr>
        <p:txBody>
          <a:bodyPr rtlCol="0"/>
          <a:lstStyle/>
          <a:p>
            <a:pPr algn="ctr"/>
            <a:endParaRPr lang="zh-CN" altLang="en-US"/>
          </a:p>
        </p:txBody>
      </p:sp>
      <p:graphicFrame>
        <p:nvGraphicFramePr>
          <p:cNvPr id="382" name="table 382"/>
          <p:cNvGraphicFramePr>
            <a:graphicFrameLocks noGrp="1"/>
          </p:cNvGraphicFramePr>
          <p:nvPr/>
        </p:nvGraphicFramePr>
        <p:xfrm>
          <a:off x="5663565" y="1423416"/>
          <a:ext cx="3295650" cy="2015490"/>
        </p:xfrm>
        <a:graphic>
          <a:graphicData uri="http://schemas.openxmlformats.org/drawingml/2006/table">
            <a:tbl>
              <a:tblPr/>
              <a:tblGrid>
                <a:gridCol w="1981835"/>
                <a:gridCol w="100330"/>
                <a:gridCol w="1213485"/>
              </a:tblGrid>
              <a:tr h="104139">
                <a:tc gridSpan="2">
                  <a:txBody>
                    <a:bodyPr/>
                    <a:lstStyle/>
                    <a:p>
                      <a:pPr algn="l" rtl="0" eaLnBrk="0">
                        <a:lnSpc>
                          <a:spcPts val="770"/>
                        </a:lnSpc>
                        <a:tabLst/>
                      </a:pPr>
                      <a:endParaRPr sz="600" dirty="0">
                        <a:latin typeface="Arial"/>
                        <a:ea typeface="Arial"/>
                        <a:cs typeface="Arial"/>
                      </a:endParaRPr>
                    </a:p>
                  </a:txBody>
                  <a:tcPr marL="0" marR="0" marT="0" marB="0" vert="horz">
                    <a:lnL>
                      <a:noFill/>
                    </a:lnL>
                    <a:lnR>
                      <a:noFill/>
                    </a:lnR>
                    <a:lnT>
                      <a:noFill/>
                    </a:lnT>
                    <a:lnB w="19050" cap="flat" cmpd="sng" algn="ctr">
                      <a:solidFill>
                        <a:srgbClr val="000000"/>
                      </a:solidFill>
                      <a:prstDash val="dash"/>
                      <a:round/>
                      <a:headEnd type="none" w="med" len="med"/>
                      <a:tailEnd type="none" w="med" len="med"/>
                    </a:lnB>
                  </a:tcPr>
                </a:tc>
                <a:tc hMerge="1">
                  <a:txBody>
                    <a:bodyPr/>
                    <a:lstStyle/>
                    <a:p>
                      <a:endParaRPr/>
                    </a:p>
                  </a:txBody>
                  <a:tcPr marL="0" marR="0" marT="0" marB="0" vert="horz">
                    <a:lnL>
                      <a:noFill/>
                    </a:lnL>
                    <a:lnR>
                      <a:noFill/>
                    </a:lnR>
                    <a:lnT>
                      <a:noFill/>
                    </a:lnT>
                    <a:lnB w="19050" cap="flat" cmpd="sng" algn="ctr">
                      <a:solidFill>
                        <a:srgbClr val="000000"/>
                      </a:solidFill>
                      <a:prstDash val="dash"/>
                      <a:round/>
                      <a:headEnd type="none" w="med" len="med"/>
                      <a:tailEnd type="none" w="med" len="med"/>
                    </a:lnB>
                  </a:tcPr>
                </a:tc>
                <a:tc rowSpan="2">
                  <a:txBody>
                    <a:bodyPr/>
                    <a:lstStyle/>
                    <a:p>
                      <a:pPr algn="l" rtl="0" eaLnBrk="0">
                        <a:lnSpc>
                          <a:spcPct val="194000"/>
                        </a:lnSpc>
                        <a:tabLst/>
                      </a:pPr>
                      <a:endParaRPr sz="100" dirty="0">
                        <a:latin typeface="Arial"/>
                        <a:ea typeface="Arial"/>
                        <a:cs typeface="Arial"/>
                      </a:endParaRPr>
                    </a:p>
                    <a:p>
                      <a:pPr algn="l" rtl="0" eaLnBrk="0">
                        <a:lnSpc>
                          <a:spcPct val="86000"/>
                        </a:lnSpc>
                        <a:tabLst>
                          <a:tab pos="313054" algn="l"/>
                          <a:tab pos="1203325" algn="l"/>
                        </a:tabLst>
                      </a:pPr>
                      <a:r>
                        <a:rPr sz="1200" strike="sngStrike" kern="0" spc="0" dirty="0">
                          <a:solidFill>
                            <a:srgbClr val="000000">
                              <a:alpha val="100000"/>
                            </a:srgbClr>
                          </a:solidFill>
                          <a:latin typeface="KaiTi"/>
                          <a:ea typeface="KaiTi"/>
                          <a:cs typeface="KaiTi"/>
                        </a:rPr>
                        <a:t>	</a:t>
                      </a:r>
                      <a:r>
                        <a:rPr sz="1200" b="1" strike="sngStrike" kern="0" spc="-20" dirty="0">
                          <a:solidFill>
                            <a:srgbClr val="000000">
                              <a:alpha val="100000"/>
                            </a:srgbClr>
                          </a:solidFill>
                          <a:latin typeface="KaiTi"/>
                          <a:ea typeface="KaiTi"/>
                          <a:cs typeface="KaiTi"/>
                        </a:rPr>
                        <a:t>仿真平台</a:t>
                      </a:r>
                      <a:r>
                        <a:rPr sz="1200" strike="sngStrike" kern="0" spc="0" dirty="0">
                          <a:solidFill>
                            <a:srgbClr val="000000">
                              <a:alpha val="100000"/>
                            </a:srgbClr>
                          </a:solidFill>
                          <a:latin typeface="KaiTi"/>
                          <a:ea typeface="KaiTi"/>
                          <a:cs typeface="KaiTi"/>
                        </a:rPr>
                        <a:t>	</a:t>
                      </a:r>
                      <a:endParaRPr sz="1200" dirty="0">
                        <a:latin typeface="KaiTi"/>
                        <a:ea typeface="KaiTi"/>
                        <a:cs typeface="KaiTi"/>
                      </a:endParaRPr>
                    </a:p>
                    <a:p>
                      <a:pPr algn="l" rtl="0" eaLnBrk="0">
                        <a:lnSpc>
                          <a:spcPct val="130000"/>
                        </a:lnSpc>
                        <a:tabLst/>
                      </a:pPr>
                      <a:endParaRPr sz="1000" dirty="0">
                        <a:latin typeface="Arial"/>
                        <a:ea typeface="Arial"/>
                        <a:cs typeface="Arial"/>
                      </a:endParaRPr>
                    </a:p>
                    <a:p>
                      <a:pPr algn="l" rtl="0" eaLnBrk="0">
                        <a:lnSpc>
                          <a:spcPct val="130000"/>
                        </a:lnSpc>
                        <a:tabLst/>
                      </a:pPr>
                      <a:endParaRPr sz="1000" dirty="0">
                        <a:latin typeface="Arial"/>
                        <a:ea typeface="Arial"/>
                        <a:cs typeface="Arial"/>
                      </a:endParaRPr>
                    </a:p>
                    <a:p>
                      <a:pPr algn="l" rtl="0" eaLnBrk="0">
                        <a:lnSpc>
                          <a:spcPct val="130000"/>
                        </a:lnSpc>
                        <a:tabLst/>
                      </a:pPr>
                      <a:endParaRPr sz="1000" dirty="0">
                        <a:latin typeface="Arial"/>
                        <a:ea typeface="Arial"/>
                        <a:cs typeface="Arial"/>
                      </a:endParaRPr>
                    </a:p>
                    <a:p>
                      <a:pPr algn="l" rtl="0" eaLnBrk="0">
                        <a:lnSpc>
                          <a:spcPct val="100000"/>
                        </a:lnSpc>
                        <a:tabLst/>
                      </a:pPr>
                      <a:endParaRPr sz="700" dirty="0">
                        <a:latin typeface="Arial"/>
                        <a:ea typeface="Arial"/>
                        <a:cs typeface="Arial"/>
                      </a:endParaRPr>
                    </a:p>
                    <a:p>
                      <a:pPr marL="142239" algn="l" rtl="0" eaLnBrk="0">
                        <a:lnSpc>
                          <a:spcPct val="84000"/>
                        </a:lnSpc>
                        <a:spcBef>
                          <a:spcPts val="3"/>
                        </a:spcBef>
                        <a:tabLst/>
                      </a:pPr>
                      <a:r>
                        <a:rPr sz="2800" kern="0" spc="-140" dirty="0">
                          <a:solidFill>
                            <a:srgbClr val="111111">
                              <a:alpha val="100000"/>
                            </a:srgbClr>
                          </a:solidFill>
                          <a:latin typeface="Arial"/>
                          <a:ea typeface="Arial"/>
                          <a:cs typeface="Arial"/>
                        </a:rPr>
                        <a:t>A</a:t>
                      </a:r>
                      <a:r>
                        <a:rPr sz="2800" kern="0" spc="-390" dirty="0">
                          <a:solidFill>
                            <a:srgbClr val="111111">
                              <a:alpha val="100000"/>
                            </a:srgbClr>
                          </a:solidFill>
                          <a:latin typeface="Arial"/>
                          <a:ea typeface="Arial"/>
                          <a:cs typeface="Arial"/>
                        </a:rPr>
                        <a:t> </a:t>
                      </a:r>
                      <a:r>
                        <a:rPr sz="2800" kern="0" spc="-140" dirty="0">
                          <a:solidFill>
                            <a:srgbClr val="111111">
                              <a:alpha val="100000"/>
                            </a:srgbClr>
                          </a:solidFill>
                          <a:latin typeface="Arial"/>
                          <a:ea typeface="Arial"/>
                          <a:cs typeface="Arial"/>
                        </a:rPr>
                        <a:t>unity</a:t>
                      </a:r>
                      <a:endParaRPr sz="28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a:noFill/>
                    </a:lnT>
                    <a:lnB w="19050" cap="flat" cmpd="sng" algn="ctr">
                      <a:solidFill>
                        <a:srgbClr val="A6A6A6"/>
                      </a:solidFill>
                      <a:prstDash val="dash"/>
                      <a:round/>
                      <a:headEnd type="none" w="med" len="med"/>
                      <a:tailEnd type="none" w="med" len="med"/>
                    </a:lnB>
                  </a:tcPr>
                </a:tc>
              </a:tr>
              <a:tr h="1911350">
                <a:tc>
                  <a:txBody>
                    <a:bodyPr/>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marL="1151255" algn="l" rtl="0" eaLnBrk="0">
                        <a:lnSpc>
                          <a:spcPct val="85000"/>
                        </a:lnSpc>
                        <a:spcBef>
                          <a:spcPts val="7"/>
                        </a:spcBef>
                        <a:tabLst/>
                      </a:pPr>
                      <a:r>
                        <a:rPr sz="1100" kern="0" spc="0" dirty="0">
                          <a:solidFill>
                            <a:srgbClr val="000000">
                              <a:alpha val="100000"/>
                            </a:srgbClr>
                          </a:solidFill>
                          <a:latin typeface="KaiTi"/>
                          <a:ea typeface="KaiTi"/>
                          <a:cs typeface="KaiTi"/>
                        </a:rPr>
                        <a:t>本体厂商…</a:t>
                      </a:r>
                      <a:endParaRPr sz="1100" dirty="0">
                        <a:latin typeface="KaiTi"/>
                        <a:ea typeface="KaiTi"/>
                        <a:cs typeface="KaiTi"/>
                      </a:endParaRPr>
                    </a:p>
                  </a:txBody>
                  <a:tcPr marL="0" marR="0" marT="0" marB="0" vert="horz">
                    <a:lnL w="19050" cap="flat" cmpd="sng" algn="ctr">
                      <a:solidFill>
                        <a:srgbClr val="000000"/>
                      </a:solidFill>
                      <a:prstDash val="dash"/>
                      <a:round/>
                      <a:headEnd type="none" w="med" len="med"/>
                      <a:tailEnd type="none" w="med" len="med"/>
                    </a:lnL>
                    <a:lnR w="19050"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dash"/>
                      <a:round/>
                      <a:headEnd type="none" w="med" len="med"/>
                      <a:tailEnd type="none" w="med" len="med"/>
                    </a:lnL>
                    <a:lnR w="19050" cap="flat" cmpd="sng" algn="ctr">
                      <a:solidFill>
                        <a:srgbClr val="A6A6A6"/>
                      </a:solidFill>
                      <a:prstDash val="dash"/>
                      <a:round/>
                      <a:headEnd type="none" w="med" len="med"/>
                      <a:tailEnd type="none" w="med" len="med"/>
                    </a:lnR>
                    <a:lnT>
                      <a:noFill/>
                    </a:lnT>
                    <a:lnB>
                      <a:noFill/>
                    </a:lnB>
                  </a:tcPr>
                </a:tc>
                <a:tc vMerge="1">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a:noFill/>
                    </a:lnT>
                    <a:lnB w="19050" cap="flat" cmpd="sng" algn="ctr">
                      <a:solidFill>
                        <a:srgbClr val="A6A6A6"/>
                      </a:solidFill>
                      <a:prstDash val="dash"/>
                      <a:round/>
                      <a:headEnd type="none" w="med" len="med"/>
                      <a:tailEnd type="none" w="med" len="med"/>
                    </a:lnB>
                  </a:tcPr>
                </a:tc>
              </a:tr>
            </a:tbl>
          </a:graphicData>
        </a:graphic>
      </p:graphicFrame>
      <p:sp>
        <p:nvSpPr>
          <p:cNvPr id="384" name="rect 384"/>
          <p:cNvSpPr/>
          <p:nvPr/>
        </p:nvSpPr>
        <p:spPr>
          <a:xfrm>
            <a:off x="5082540" y="5207508"/>
            <a:ext cx="3866388" cy="275843"/>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386" name="textbox 386"/>
          <p:cNvSpPr/>
          <p:nvPr/>
        </p:nvSpPr>
        <p:spPr>
          <a:xfrm>
            <a:off x="5108066" y="5261127"/>
            <a:ext cx="3804284" cy="1012825"/>
          </a:xfrm>
          <a:prstGeom prst="rect">
            <a:avLst/>
          </a:prstGeom>
          <a:noFill/>
          <a:ln w="0" cap="flat">
            <a:noFill/>
            <a:prstDash val="solid"/>
            <a:miter lim="0"/>
          </a:ln>
        </p:spPr>
        <p:txBody>
          <a:bodyPr vert="horz" wrap="square" lIns="0" tIns="0" rIns="0" bIns="0"/>
          <a:lstStyle/>
          <a:p>
            <a:pPr algn="l" rtl="0" eaLnBrk="0">
              <a:lnSpc>
                <a:spcPct val="78616"/>
              </a:lnSpc>
              <a:tabLst/>
            </a:pPr>
            <a:endParaRPr sz="100" dirty="0">
              <a:latin typeface="Arial"/>
              <a:ea typeface="Arial"/>
              <a:cs typeface="Arial"/>
            </a:endParaRPr>
          </a:p>
          <a:p>
            <a:pPr marL="1581785" algn="l" rtl="0" eaLnBrk="0">
              <a:lnSpc>
                <a:spcPct val="85000"/>
              </a:lnSpc>
              <a:tabLst/>
            </a:pPr>
            <a:r>
              <a:rPr sz="1200" b="1" kern="0" spc="-30" dirty="0">
                <a:solidFill>
                  <a:srgbClr val="FFFFFF">
                    <a:alpha val="100000"/>
                  </a:srgbClr>
                </a:solidFill>
                <a:latin typeface="Times New Roman"/>
                <a:ea typeface="Times New Roman"/>
                <a:cs typeface="Times New Roman"/>
              </a:rPr>
              <a:t>To B</a:t>
            </a:r>
            <a:r>
              <a:rPr sz="1200" b="1" kern="0" spc="110" dirty="0">
                <a:solidFill>
                  <a:srgbClr val="FFFFFF">
                    <a:alpha val="100000"/>
                  </a:srgbClr>
                </a:solidFill>
                <a:latin typeface="Times New Roman"/>
                <a:ea typeface="Times New Roman"/>
                <a:cs typeface="Times New Roman"/>
              </a:rPr>
              <a:t> </a:t>
            </a:r>
            <a:r>
              <a:rPr sz="1200" b="1" kern="0" spc="-30" dirty="0">
                <a:solidFill>
                  <a:srgbClr val="FFFFFF">
                    <a:alpha val="100000"/>
                  </a:srgbClr>
                </a:solidFill>
                <a:latin typeface="KaiTi"/>
                <a:ea typeface="KaiTi"/>
                <a:cs typeface="KaiTi"/>
              </a:rPr>
              <a:t>场景</a:t>
            </a:r>
            <a:endParaRPr sz="1200" dirty="0">
              <a:latin typeface="KaiTi"/>
              <a:ea typeface="KaiTi"/>
              <a:cs typeface="KaiTi"/>
            </a:endParaRPr>
          </a:p>
          <a:p>
            <a:pPr marL="29844" algn="l" rtl="0" eaLnBrk="0">
              <a:lnSpc>
                <a:spcPct val="85000"/>
              </a:lnSpc>
              <a:spcBef>
                <a:spcPts val="1005"/>
              </a:spcBef>
              <a:tabLst/>
            </a:pPr>
            <a:r>
              <a:rPr sz="1200" kern="0" spc="-30" dirty="0">
                <a:solidFill>
                  <a:srgbClr val="000000">
                    <a:alpha val="100000"/>
                  </a:srgbClr>
                </a:solidFill>
                <a:latin typeface="KaiTi"/>
                <a:ea typeface="KaiTi"/>
                <a:cs typeface="KaiTi"/>
              </a:rPr>
              <a:t>涵盖金融（智能风控、</a:t>
            </a:r>
            <a:r>
              <a:rPr sz="1200" kern="0" spc="-40" dirty="0">
                <a:solidFill>
                  <a:srgbClr val="000000">
                    <a:alpha val="100000"/>
                  </a:srgbClr>
                </a:solidFill>
                <a:latin typeface="KaiTi"/>
                <a:ea typeface="KaiTi"/>
                <a:cs typeface="KaiTi"/>
              </a:rPr>
              <a:t>智能投顾）、医疗（影像诊断、</a:t>
            </a:r>
            <a:endParaRPr sz="1200" dirty="0">
              <a:latin typeface="KaiTi"/>
              <a:ea typeface="KaiTi"/>
              <a:cs typeface="KaiTi"/>
            </a:endParaRPr>
          </a:p>
          <a:p>
            <a:pPr marL="17145" algn="l" rtl="0" eaLnBrk="0">
              <a:lnSpc>
                <a:spcPct val="86000"/>
              </a:lnSpc>
              <a:spcBef>
                <a:spcPts val="216"/>
              </a:spcBef>
              <a:tabLst/>
            </a:pPr>
            <a:r>
              <a:rPr sz="1200" kern="0" spc="0" dirty="0">
                <a:solidFill>
                  <a:srgbClr val="000000">
                    <a:alpha val="100000"/>
                  </a:srgbClr>
                </a:solidFill>
                <a:latin typeface="KaiTi"/>
                <a:ea typeface="KaiTi"/>
                <a:cs typeface="KaiTi"/>
              </a:rPr>
              <a:t>辅助诊疗）、教育（智能辅导、个性化学习）、制</a:t>
            </a:r>
            <a:r>
              <a:rPr sz="1200" kern="0" spc="-10" dirty="0">
                <a:solidFill>
                  <a:srgbClr val="000000">
                    <a:alpha val="100000"/>
                  </a:srgbClr>
                </a:solidFill>
                <a:latin typeface="KaiTi"/>
                <a:ea typeface="KaiTi"/>
                <a:cs typeface="KaiTi"/>
              </a:rPr>
              <a:t>造业</a:t>
            </a:r>
            <a:endParaRPr sz="1200" dirty="0">
              <a:latin typeface="KaiTi"/>
              <a:ea typeface="KaiTi"/>
              <a:cs typeface="KaiTi"/>
            </a:endParaRPr>
          </a:p>
          <a:p>
            <a:pPr marL="88900" algn="l" rtl="0" eaLnBrk="0">
              <a:lnSpc>
                <a:spcPct val="86000"/>
              </a:lnSpc>
              <a:spcBef>
                <a:spcPts val="202"/>
              </a:spcBef>
              <a:tabLst/>
            </a:pPr>
            <a:r>
              <a:rPr sz="1200" kern="0" spc="-50" dirty="0">
                <a:solidFill>
                  <a:srgbClr val="000000">
                    <a:alpha val="100000"/>
                  </a:srgbClr>
                </a:solidFill>
                <a:latin typeface="KaiTi"/>
                <a:ea typeface="KaiTi"/>
                <a:cs typeface="KaiTi"/>
              </a:rPr>
              <a:t>（智能制造、质检预</a:t>
            </a:r>
            <a:r>
              <a:rPr sz="1200" kern="0" spc="-60" dirty="0">
                <a:solidFill>
                  <a:srgbClr val="000000">
                    <a:alpha val="100000"/>
                  </a:srgbClr>
                </a:solidFill>
                <a:latin typeface="KaiTi"/>
                <a:ea typeface="KaiTi"/>
                <a:cs typeface="KaiTi"/>
              </a:rPr>
              <a:t>测）、交通（自动驾驶、交通管理）</a:t>
            </a:r>
            <a:endParaRPr sz="1200" dirty="0">
              <a:latin typeface="KaiTi"/>
              <a:ea typeface="KaiTi"/>
              <a:cs typeface="KaiTi"/>
            </a:endParaRPr>
          </a:p>
          <a:p>
            <a:pPr marL="1623694" algn="l" rtl="0" eaLnBrk="0">
              <a:lnSpc>
                <a:spcPct val="86000"/>
              </a:lnSpc>
              <a:spcBef>
                <a:spcPts val="192"/>
              </a:spcBef>
              <a:tabLst/>
            </a:pPr>
            <a:r>
              <a:rPr sz="1200" kern="0" spc="-20" dirty="0">
                <a:solidFill>
                  <a:srgbClr val="000000">
                    <a:alpha val="100000"/>
                  </a:srgbClr>
                </a:solidFill>
                <a:latin typeface="KaiTi"/>
                <a:ea typeface="KaiTi"/>
                <a:cs typeface="KaiTi"/>
              </a:rPr>
              <a:t>等领域</a:t>
            </a:r>
            <a:endParaRPr sz="1200" dirty="0">
              <a:latin typeface="KaiTi"/>
              <a:ea typeface="KaiTi"/>
              <a:cs typeface="KaiTi"/>
            </a:endParaRPr>
          </a:p>
        </p:txBody>
      </p:sp>
      <p:pic>
        <p:nvPicPr>
          <p:cNvPr id="388" name="picture 388"/>
          <p:cNvPicPr>
            <a:picLocks noChangeAspect="1"/>
          </p:cNvPicPr>
          <p:nvPr/>
        </p:nvPicPr>
        <p:blipFill>
          <a:blip r:embed="rId4"/>
          <a:stretch>
            <a:fillRect/>
          </a:stretch>
        </p:blipFill>
        <p:spPr>
          <a:xfrm rot="21600000">
            <a:off x="5696711" y="4279391"/>
            <a:ext cx="705611" cy="227076"/>
          </a:xfrm>
          <a:prstGeom prst="rect">
            <a:avLst/>
          </a:prstGeom>
        </p:spPr>
      </p:pic>
      <p:sp>
        <p:nvSpPr>
          <p:cNvPr id="390" name="rect 390"/>
          <p:cNvSpPr/>
          <p:nvPr/>
        </p:nvSpPr>
        <p:spPr>
          <a:xfrm>
            <a:off x="6079235" y="3924300"/>
            <a:ext cx="653795" cy="172211"/>
          </a:xfrm>
          <a:prstGeom prst="rect">
            <a:avLst/>
          </a:prstGeom>
          <a:solidFill>
            <a:srgbClr val="FFFFFF">
              <a:alpha val="100000"/>
            </a:srgbClr>
          </a:solidFill>
          <a:ln w="0" cap="flat">
            <a:noFill/>
            <a:prstDash val="solid"/>
            <a:miter lim="0"/>
          </a:ln>
        </p:spPr>
        <p:txBody>
          <a:bodyPr rtlCol="0"/>
          <a:lstStyle/>
          <a:p>
            <a:pPr algn="ctr"/>
            <a:endParaRPr lang="zh-CN" altLang="en-US"/>
          </a:p>
        </p:txBody>
      </p:sp>
      <p:graphicFrame>
        <p:nvGraphicFramePr>
          <p:cNvPr id="392" name="table 392"/>
          <p:cNvGraphicFramePr>
            <a:graphicFrameLocks noGrp="1"/>
          </p:cNvGraphicFramePr>
          <p:nvPr/>
        </p:nvGraphicFramePr>
        <p:xfrm>
          <a:off x="5660516" y="3924300"/>
          <a:ext cx="3298190" cy="945514"/>
        </p:xfrm>
        <a:graphic>
          <a:graphicData uri="http://schemas.openxmlformats.org/drawingml/2006/table">
            <a:tbl>
              <a:tblPr/>
              <a:tblGrid>
                <a:gridCol w="1610994"/>
                <a:gridCol w="123189"/>
                <a:gridCol w="1564005"/>
              </a:tblGrid>
              <a:tr h="945514">
                <a:tc>
                  <a:txBody>
                    <a:bodyPr/>
                    <a:lstStyle/>
                    <a:p>
                      <a:pPr algn="l" rtl="0" eaLnBrk="0">
                        <a:lnSpc>
                          <a:spcPct val="180000"/>
                        </a:lnSpc>
                        <a:tabLst/>
                      </a:pPr>
                      <a:endParaRPr sz="100" dirty="0">
                        <a:latin typeface="Arial"/>
                        <a:ea typeface="Arial"/>
                        <a:cs typeface="Arial"/>
                      </a:endParaRPr>
                    </a:p>
                    <a:p>
                      <a:pPr marL="418465" algn="l" rtl="0" eaLnBrk="0">
                        <a:lnSpc>
                          <a:spcPct val="81000"/>
                        </a:lnSpc>
                        <a:spcBef>
                          <a:spcPts val="1"/>
                        </a:spcBef>
                        <a:tabLst>
                          <a:tab pos="617219" algn="l"/>
                        </a:tabLst>
                      </a:pPr>
                      <a:r>
                        <a:rPr sz="1200" kern="0" spc="0" dirty="0">
                          <a:solidFill>
                            <a:srgbClr val="000000">
                              <a:alpha val="100000"/>
                            </a:srgbClr>
                          </a:solidFill>
                          <a:latin typeface="KaiTi"/>
                          <a:ea typeface="KaiTi"/>
                          <a:cs typeface="KaiTi"/>
                        </a:rPr>
                        <a:t>	</a:t>
                      </a:r>
                      <a:r>
                        <a:rPr sz="1200" b="1" kern="0" spc="-110" dirty="0">
                          <a:solidFill>
                            <a:srgbClr val="000000">
                              <a:alpha val="100000"/>
                            </a:srgbClr>
                          </a:solidFill>
                          <a:latin typeface="KaiTi"/>
                          <a:ea typeface="KaiTi"/>
                          <a:cs typeface="KaiTi"/>
                        </a:rPr>
                        <a:t>国内</a:t>
                      </a:r>
                      <a:r>
                        <a:rPr sz="1200" kern="0" spc="0" dirty="0">
                          <a:solidFill>
                            <a:srgbClr val="000000">
                              <a:alpha val="100000"/>
                            </a:srgbClr>
                          </a:solidFill>
                          <a:latin typeface="KaiTi"/>
                          <a:ea typeface="KaiTi"/>
                          <a:cs typeface="KaiTi"/>
                        </a:rPr>
                        <a:t>   </a:t>
                      </a:r>
                      <a:endParaRPr sz="1200" dirty="0">
                        <a:latin typeface="KaiTi"/>
                        <a:ea typeface="KaiTi"/>
                        <a:cs typeface="KaiTi"/>
                      </a:endParaRPr>
                    </a:p>
                    <a:p>
                      <a:pPr marL="610234" algn="l" rtl="0" eaLnBrk="0">
                        <a:lnSpc>
                          <a:spcPct val="82000"/>
                        </a:lnSpc>
                        <a:spcBef>
                          <a:spcPts val="16"/>
                        </a:spcBef>
                        <a:tabLst/>
                      </a:pPr>
                      <a:r>
                        <a:rPr sz="1700" kern="0" spc="220" dirty="0">
                          <a:solidFill>
                            <a:srgbClr val="DB3F31">
                              <a:alpha val="100000"/>
                            </a:srgbClr>
                          </a:solidFill>
                          <a:latin typeface="Microsoft YaHei"/>
                          <a:ea typeface="Microsoft YaHei"/>
                          <a:cs typeface="Microsoft YaHei"/>
                        </a:rPr>
                        <a:t>c真通</a:t>
                      </a:r>
                      <a:endParaRPr sz="1700" dirty="0">
                        <a:latin typeface="Microsoft YaHei"/>
                        <a:ea typeface="Microsoft YaHei"/>
                        <a:cs typeface="Microsoft YaHei"/>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w="19050" cap="flat" cmpd="sng" algn="ctr">
                      <a:solidFill>
                        <a:srgbClr val="A6A6A6"/>
                      </a:solidFill>
                      <a:prstDash val="dash"/>
                      <a:round/>
                      <a:headEnd type="none" w="med" len="med"/>
                      <a:tailEnd type="none" w="med" len="med"/>
                    </a:lnT>
                    <a:lnB w="19050" cap="flat" cmpd="sng" algn="ctr">
                      <a:solidFill>
                        <a:srgbClr val="A6A6A6"/>
                      </a:solidFill>
                      <a:prstDash val="dash"/>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000000"/>
                      </a:solidFill>
                      <a:prstDash val="dash"/>
                      <a:round/>
                      <a:headEnd type="none" w="med" len="med"/>
                      <a:tailEnd type="none" w="med" len="med"/>
                    </a:lnR>
                    <a:lnT>
                      <a:noFill/>
                    </a:lnT>
                    <a:lnB>
                      <a:noFill/>
                    </a:lnB>
                  </a:tcPr>
                </a:tc>
                <a:tc>
                  <a:txBody>
                    <a:bodyPr/>
                    <a:lstStyle/>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1284605" algn="l" rtl="0" eaLnBrk="0">
                        <a:lnSpc>
                          <a:spcPct val="84000"/>
                        </a:lnSpc>
                        <a:tabLst/>
                      </a:pPr>
                      <a:r>
                        <a:rPr sz="1100" kern="0" spc="-10" dirty="0">
                          <a:solidFill>
                            <a:srgbClr val="000000">
                              <a:alpha val="100000"/>
                            </a:srgbClr>
                          </a:solidFill>
                          <a:latin typeface="KaiTi"/>
                          <a:ea typeface="KaiTi"/>
                          <a:cs typeface="KaiTi"/>
                        </a:rPr>
                        <a:t>…</a:t>
                      </a:r>
                      <a:endParaRPr sz="1100" dirty="0">
                        <a:latin typeface="KaiTi"/>
                        <a:ea typeface="KaiTi"/>
                        <a:cs typeface="KaiTi"/>
                      </a:endParaRPr>
                    </a:p>
                  </a:txBody>
                  <a:tcPr marL="0" marR="0" marT="0" marB="0" vert="horz">
                    <a:lnL w="19050" cap="flat" cmpd="sng" algn="ctr">
                      <a:solidFill>
                        <a:srgbClr val="000000"/>
                      </a:solidFill>
                      <a:prstDash val="dash"/>
                      <a:round/>
                      <a:headEnd type="none" w="med" len="med"/>
                      <a:tailEnd type="none" w="med" len="med"/>
                    </a:lnL>
                    <a:lnR w="19050"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tcPr>
                </a:tc>
              </a:tr>
            </a:tbl>
          </a:graphicData>
        </a:graphic>
      </p:graphicFrame>
      <p:grpSp>
        <p:nvGrpSpPr>
          <p:cNvPr id="30" name="group 30"/>
          <p:cNvGrpSpPr/>
          <p:nvPr/>
        </p:nvGrpSpPr>
        <p:grpSpPr>
          <a:xfrm rot="21600000">
            <a:off x="1769205" y="1380744"/>
            <a:ext cx="3692969" cy="791251"/>
            <a:chOff x="0" y="0"/>
            <a:chExt cx="3692969" cy="791251"/>
          </a:xfrm>
        </p:grpSpPr>
        <p:sp>
          <p:nvSpPr>
            <p:cNvPr id="394" name="textbox 394"/>
            <p:cNvSpPr/>
            <p:nvPr/>
          </p:nvSpPr>
          <p:spPr>
            <a:xfrm>
              <a:off x="0" y="0"/>
              <a:ext cx="3693159" cy="791844"/>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00000"/>
                </a:lnSpc>
                <a:tabLst/>
              </a:pPr>
              <a:endParaRPr sz="700" dirty="0">
                <a:latin typeface="Arial"/>
                <a:ea typeface="Arial"/>
                <a:cs typeface="Arial"/>
              </a:endParaRPr>
            </a:p>
            <a:p>
              <a:pPr marL="1692275" algn="l" rtl="0" eaLnBrk="0">
                <a:lnSpc>
                  <a:spcPct val="85000"/>
                </a:lnSpc>
                <a:tabLst/>
              </a:pPr>
              <a:r>
                <a:rPr sz="1100" b="1" kern="0" spc="-10" dirty="0">
                  <a:solidFill>
                    <a:srgbClr val="000000">
                      <a:alpha val="100000"/>
                    </a:srgbClr>
                  </a:solidFill>
                  <a:latin typeface="KaiTi"/>
                  <a:ea typeface="KaiTi"/>
                  <a:cs typeface="KaiTi"/>
                </a:rPr>
                <a:t>超算中心</a:t>
              </a:r>
              <a:endParaRPr sz="1100" dirty="0">
                <a:latin typeface="KaiTi"/>
                <a:ea typeface="KaiTi"/>
                <a:cs typeface="KaiTi"/>
              </a:endParaRPr>
            </a:p>
            <a:p>
              <a:pPr marL="2566670" algn="l" rtl="0" eaLnBrk="0">
                <a:lnSpc>
                  <a:spcPct val="84000"/>
                </a:lnSpc>
                <a:spcBef>
                  <a:spcPts val="229"/>
                </a:spcBef>
                <a:tabLst/>
              </a:pPr>
              <a:r>
                <a:rPr sz="1100" b="1" kern="0" spc="-30" dirty="0">
                  <a:solidFill>
                    <a:srgbClr val="000000">
                      <a:alpha val="100000"/>
                    </a:srgbClr>
                  </a:solidFill>
                  <a:latin typeface="KaiTi"/>
                  <a:ea typeface="KaiTi"/>
                  <a:cs typeface="KaiTi"/>
                </a:rPr>
                <a:t>高速互联网络</a:t>
              </a:r>
              <a:endParaRPr sz="1100" dirty="0">
                <a:latin typeface="KaiTi"/>
                <a:ea typeface="KaiTi"/>
                <a:cs typeface="KaiTi"/>
              </a:endParaRPr>
            </a:p>
            <a:p>
              <a:pPr algn="l" rtl="0" eaLnBrk="0">
                <a:lnSpc>
                  <a:spcPct val="121000"/>
                </a:lnSpc>
                <a:tabLst/>
              </a:pPr>
              <a:endParaRPr sz="400" dirty="0">
                <a:latin typeface="Arial"/>
                <a:ea typeface="Arial"/>
                <a:cs typeface="Arial"/>
              </a:endParaRPr>
            </a:p>
            <a:p>
              <a:pPr marL="758825" algn="l" rtl="0" eaLnBrk="0">
                <a:lnSpc>
                  <a:spcPts val="1427"/>
                </a:lnSpc>
                <a:spcBef>
                  <a:spcPts val="2"/>
                </a:spcBef>
                <a:tabLst/>
              </a:pPr>
              <a:r>
                <a:rPr sz="1600" b="1" kern="0" spc="0" baseline="12755" dirty="0">
                  <a:solidFill>
                    <a:srgbClr val="000000">
                      <a:alpha val="100000"/>
                    </a:srgbClr>
                  </a:solidFill>
                  <a:latin typeface="KaiTi"/>
                  <a:ea typeface="KaiTi"/>
                  <a:cs typeface="KaiTi"/>
                </a:rPr>
                <a:t>AI</a:t>
              </a:r>
              <a:r>
                <a:rPr sz="1000" kern="0" spc="140" dirty="0">
                  <a:solidFill>
                    <a:srgbClr val="000000">
                      <a:alpha val="100000"/>
                    </a:srgbClr>
                  </a:solidFill>
                  <a:latin typeface="KaiTi"/>
                  <a:ea typeface="KaiTi"/>
                  <a:cs typeface="KaiTi"/>
                </a:rPr>
                <a:t> </a:t>
              </a:r>
              <a:r>
                <a:rPr sz="1600" b="1" kern="0" spc="40" baseline="12755" dirty="0">
                  <a:solidFill>
                    <a:srgbClr val="000000">
                      <a:alpha val="100000"/>
                    </a:srgbClr>
                  </a:solidFill>
                  <a:latin typeface="KaiTi"/>
                  <a:ea typeface="KaiTi"/>
                  <a:cs typeface="KaiTi"/>
                </a:rPr>
                <a:t>推理芯片</a:t>
              </a:r>
              <a:r>
                <a:rPr sz="1000" kern="0" spc="0" dirty="0">
                  <a:solidFill>
                    <a:srgbClr val="000000">
                      <a:alpha val="100000"/>
                    </a:srgbClr>
                  </a:solidFill>
                  <a:latin typeface="KaiTi"/>
                  <a:ea typeface="KaiTi"/>
                  <a:cs typeface="KaiTi"/>
                </a:rPr>
                <a:t>     </a:t>
              </a:r>
              <a:r>
                <a:rPr sz="1600" b="1" kern="0" spc="40" baseline="-3522" dirty="0">
                  <a:solidFill>
                    <a:srgbClr val="000000">
                      <a:alpha val="100000"/>
                    </a:srgbClr>
                  </a:solidFill>
                  <a:latin typeface="KaiTi"/>
                  <a:ea typeface="KaiTi"/>
                  <a:cs typeface="KaiTi"/>
                </a:rPr>
                <a:t>智算集群</a:t>
              </a:r>
              <a:endParaRPr sz="1600" baseline="-3522" dirty="0">
                <a:latin typeface="KaiTi"/>
                <a:ea typeface="KaiTi"/>
                <a:cs typeface="KaiTi"/>
              </a:endParaRPr>
            </a:p>
          </p:txBody>
        </p:sp>
        <p:sp>
          <p:nvSpPr>
            <p:cNvPr id="396" name="textbox 396"/>
            <p:cNvSpPr/>
            <p:nvPr/>
          </p:nvSpPr>
          <p:spPr>
            <a:xfrm>
              <a:off x="221152" y="208872"/>
              <a:ext cx="925194" cy="167004"/>
            </a:xfrm>
            <a:prstGeom prst="rect">
              <a:avLst/>
            </a:prstGeom>
            <a:noFill/>
            <a:ln w="0" cap="flat">
              <a:noFill/>
              <a:prstDash val="solid"/>
              <a:miter lim="0"/>
            </a:ln>
          </p:spPr>
          <p:txBody>
            <a:bodyPr vert="horz" wrap="square" lIns="0" tIns="0" rIns="0" bIns="0"/>
            <a:lstStyle/>
            <a:p>
              <a:pPr algn="l" rtl="0" eaLnBrk="0">
                <a:lnSpc>
                  <a:spcPct val="87736"/>
                </a:lnSpc>
                <a:tabLst/>
              </a:pPr>
              <a:endParaRPr sz="100" dirty="0">
                <a:latin typeface="Arial"/>
                <a:ea typeface="Arial"/>
                <a:cs typeface="Arial"/>
              </a:endParaRPr>
            </a:p>
            <a:p>
              <a:pPr marL="12700" algn="l" rtl="0" eaLnBrk="0">
                <a:lnSpc>
                  <a:spcPct val="84000"/>
                </a:lnSpc>
                <a:tabLst/>
              </a:pPr>
              <a:r>
                <a:rPr sz="1100" b="1" kern="0" spc="-30" dirty="0">
                  <a:solidFill>
                    <a:srgbClr val="000000">
                      <a:alpha val="100000"/>
                    </a:srgbClr>
                  </a:solidFill>
                  <a:latin typeface="KaiTi"/>
                  <a:ea typeface="KaiTi"/>
                  <a:cs typeface="KaiTi"/>
                </a:rPr>
                <a:t>为AI</a:t>
              </a:r>
              <a:r>
                <a:rPr sz="1100" kern="0" spc="90" dirty="0">
                  <a:solidFill>
                    <a:srgbClr val="000000">
                      <a:alpha val="100000"/>
                    </a:srgbClr>
                  </a:solidFill>
                  <a:latin typeface="KaiTi"/>
                  <a:ea typeface="KaiTi"/>
                  <a:cs typeface="KaiTi"/>
                </a:rPr>
                <a:t> </a:t>
              </a:r>
              <a:r>
                <a:rPr sz="1100" b="1" kern="0" spc="-30" dirty="0">
                  <a:solidFill>
                    <a:srgbClr val="000000">
                      <a:alpha val="100000"/>
                    </a:srgbClr>
                  </a:solidFill>
                  <a:latin typeface="KaiTi"/>
                  <a:ea typeface="KaiTi"/>
                  <a:cs typeface="KaiTi"/>
                </a:rPr>
                <a:t>训练芯片</a:t>
              </a:r>
              <a:endParaRPr sz="1100" dirty="0">
                <a:latin typeface="KaiTi"/>
                <a:ea typeface="KaiTi"/>
                <a:cs typeface="KaiTi"/>
              </a:endParaRPr>
            </a:p>
          </p:txBody>
        </p:sp>
      </p:grpSp>
      <p:graphicFrame>
        <p:nvGraphicFramePr>
          <p:cNvPr id="398" name="table 398"/>
          <p:cNvGraphicFramePr>
            <a:graphicFrameLocks noGrp="1"/>
          </p:cNvGraphicFramePr>
          <p:nvPr/>
        </p:nvGraphicFramePr>
        <p:xfrm>
          <a:off x="1791080" y="2275713"/>
          <a:ext cx="2426970" cy="1164589"/>
        </p:xfrm>
        <a:graphic>
          <a:graphicData uri="http://schemas.openxmlformats.org/drawingml/2006/table">
            <a:tbl>
              <a:tblPr/>
              <a:tblGrid>
                <a:gridCol w="2426970"/>
              </a:tblGrid>
              <a:tr h="506730">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w="19050" cap="flat" cmpd="sng" algn="ctr">
                      <a:solidFill>
                        <a:srgbClr val="A6A6A6"/>
                      </a:solidFill>
                      <a:prstDash val="dash"/>
                      <a:round/>
                      <a:headEnd type="none" w="med" len="med"/>
                      <a:tailEnd type="none" w="med" len="med"/>
                    </a:lnT>
                    <a:lnB>
                      <a:noFill/>
                    </a:lnB>
                  </a:tcPr>
                </a:tc>
              </a:tr>
              <a:tr h="657859">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a:noFill/>
                    </a:lnT>
                    <a:lnB w="19050" cap="flat" cmpd="sng" algn="ctr">
                      <a:solidFill>
                        <a:srgbClr val="A6A6A6"/>
                      </a:solidFill>
                      <a:prstDash val="dash"/>
                      <a:round/>
                      <a:headEnd type="none" w="med" len="med"/>
                      <a:tailEnd type="none" w="med" len="med"/>
                    </a:lnB>
                  </a:tcPr>
                </a:tc>
              </a:tr>
            </a:tbl>
          </a:graphicData>
        </a:graphic>
      </p:graphicFrame>
      <p:graphicFrame>
        <p:nvGraphicFramePr>
          <p:cNvPr id="400" name="table 400"/>
          <p:cNvGraphicFramePr>
            <a:graphicFrameLocks noGrp="1"/>
          </p:cNvGraphicFramePr>
          <p:nvPr/>
        </p:nvGraphicFramePr>
        <p:xfrm>
          <a:off x="3142869" y="3924300"/>
          <a:ext cx="2339975" cy="945514"/>
        </p:xfrm>
        <a:graphic>
          <a:graphicData uri="http://schemas.openxmlformats.org/drawingml/2006/table">
            <a:tbl>
              <a:tblPr/>
              <a:tblGrid>
                <a:gridCol w="2339975"/>
              </a:tblGrid>
              <a:tr h="926464">
                <a:tc>
                  <a:txBody>
                    <a:bodyPr/>
                    <a:lstStyle/>
                    <a:p>
                      <a:pPr algn="l" rtl="0" eaLnBrk="0">
                        <a:lnSpc>
                          <a:spcPct val="186000"/>
                        </a:lnSpc>
                        <a:tabLst/>
                      </a:pPr>
                      <a:endParaRPr sz="1000" dirty="0">
                        <a:latin typeface="Arial"/>
                        <a:ea typeface="Arial"/>
                        <a:cs typeface="Arial"/>
                      </a:endParaRPr>
                    </a:p>
                    <a:p>
                      <a:pPr marL="1209675" algn="l" rtl="0" eaLnBrk="0">
                        <a:lnSpc>
                          <a:spcPts val="1631"/>
                        </a:lnSpc>
                        <a:tabLst/>
                      </a:pPr>
                      <a:r>
                        <a:rPr sz="2200" kern="0" spc="230" dirty="0">
                          <a:solidFill>
                            <a:srgbClr val="0063DF">
                              <a:alpha val="100000"/>
                            </a:srgbClr>
                          </a:solidFill>
                          <a:latin typeface="Arial"/>
                          <a:ea typeface="Arial"/>
                          <a:cs typeface="Arial"/>
                        </a:rPr>
                        <a:t>C</a:t>
                      </a:r>
                      <a:r>
                        <a:rPr sz="2200" kern="0" spc="-180" dirty="0">
                          <a:solidFill>
                            <a:srgbClr val="0063DF">
                              <a:alpha val="100000"/>
                            </a:srgbClr>
                          </a:solidFill>
                          <a:latin typeface="Arial"/>
                          <a:ea typeface="Arial"/>
                          <a:cs typeface="Arial"/>
                        </a:rPr>
                        <a:t> </a:t>
                      </a:r>
                      <a:r>
                        <a:rPr sz="2200" kern="0" spc="230" dirty="0">
                          <a:solidFill>
                            <a:srgbClr val="0063DF">
                              <a:alpha val="100000"/>
                            </a:srgbClr>
                          </a:solidFill>
                          <a:latin typeface="Arial"/>
                          <a:ea typeface="Arial"/>
                          <a:cs typeface="Arial"/>
                        </a:rPr>
                        <a:t>Meta</a:t>
                      </a:r>
                      <a:endParaRPr sz="2200" dirty="0">
                        <a:latin typeface="Arial"/>
                        <a:ea typeface="Arial"/>
                        <a:cs typeface="Arial"/>
                      </a:endParaRPr>
                    </a:p>
                  </a:txBody>
                  <a:tcPr marL="0" marR="0" marT="0" marB="0" vert="horz">
                    <a:lnL w="19050" cap="flat" cmpd="sng" algn="ctr">
                      <a:solidFill>
                        <a:srgbClr val="000000"/>
                      </a:solidFill>
                      <a:prstDash val="dash"/>
                      <a:round/>
                      <a:headEnd type="none" w="med" len="med"/>
                      <a:tailEnd type="none" w="med" len="med"/>
                    </a:lnL>
                    <a:lnR w="19050"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tcPr>
                </a:tc>
              </a:tr>
            </a:tbl>
          </a:graphicData>
        </a:graphic>
      </p:graphicFrame>
      <p:grpSp>
        <p:nvGrpSpPr>
          <p:cNvPr id="32" name="group 32"/>
          <p:cNvGrpSpPr/>
          <p:nvPr/>
        </p:nvGrpSpPr>
        <p:grpSpPr>
          <a:xfrm rot="21600000">
            <a:off x="472440" y="925067"/>
            <a:ext cx="509015" cy="4062984"/>
            <a:chOff x="0" y="0"/>
            <a:chExt cx="509015" cy="4062984"/>
          </a:xfrm>
        </p:grpSpPr>
        <p:pic>
          <p:nvPicPr>
            <p:cNvPr id="402" name="picture 402"/>
            <p:cNvPicPr>
              <a:picLocks noChangeAspect="1"/>
            </p:cNvPicPr>
            <p:nvPr/>
          </p:nvPicPr>
          <p:blipFill>
            <a:blip r:embed="rId5"/>
            <a:stretch>
              <a:fillRect/>
            </a:stretch>
          </p:blipFill>
          <p:spPr>
            <a:xfrm rot="21600000">
              <a:off x="0" y="0"/>
              <a:ext cx="509015" cy="4062984"/>
            </a:xfrm>
            <a:prstGeom prst="rect">
              <a:avLst/>
            </a:prstGeom>
          </p:spPr>
        </p:pic>
        <p:sp>
          <p:nvSpPr>
            <p:cNvPr id="404" name="textbox 404"/>
            <p:cNvSpPr/>
            <p:nvPr/>
          </p:nvSpPr>
          <p:spPr>
            <a:xfrm>
              <a:off x="-12700" y="-12700"/>
              <a:ext cx="534669" cy="4090034"/>
            </a:xfrm>
            <a:prstGeom prst="rect">
              <a:avLst/>
            </a:prstGeom>
            <a:noFill/>
            <a:ln w="0" cap="flat">
              <a:noFill/>
              <a:prstDash val="solid"/>
              <a:miter lim="0"/>
            </a:ln>
          </p:spPr>
          <p:txBody>
            <a:bodyPr vert="horz" wrap="square" lIns="0" tIns="0" rIns="0" bIns="0"/>
            <a:lstStyle/>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marL="122554" algn="l" rtl="0" eaLnBrk="0">
                <a:lnSpc>
                  <a:spcPct val="84000"/>
                </a:lnSpc>
                <a:spcBef>
                  <a:spcPts val="3"/>
                </a:spcBef>
                <a:tabLst/>
              </a:pPr>
              <a:r>
                <a:rPr sz="1200" b="1" kern="0" spc="-30" dirty="0">
                  <a:solidFill>
                    <a:srgbClr val="000000">
                      <a:alpha val="100000"/>
                    </a:srgbClr>
                  </a:solidFill>
                  <a:latin typeface="KaiTi"/>
                  <a:ea typeface="KaiTi"/>
                  <a:cs typeface="KaiTi"/>
                </a:rPr>
                <a:t>上游</a:t>
              </a:r>
              <a:endParaRPr sz="1200" dirty="0">
                <a:latin typeface="KaiTi"/>
                <a:ea typeface="KaiTi"/>
                <a:cs typeface="KaiTi"/>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5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2000"/>
                </a:lnSpc>
                <a:tabLst/>
              </a:pPr>
              <a:endParaRPr sz="300" dirty="0">
                <a:latin typeface="Arial"/>
                <a:ea typeface="Arial"/>
                <a:cs typeface="Arial"/>
              </a:endParaRPr>
            </a:p>
            <a:p>
              <a:pPr marL="141604" algn="l" rtl="0" eaLnBrk="0">
                <a:lnSpc>
                  <a:spcPct val="84000"/>
                </a:lnSpc>
                <a:spcBef>
                  <a:spcPts val="1"/>
                </a:spcBef>
                <a:tabLst/>
              </a:pPr>
              <a:r>
                <a:rPr sz="1200" b="1" kern="0" spc="-60" dirty="0">
                  <a:solidFill>
                    <a:srgbClr val="FFFFFF">
                      <a:alpha val="100000"/>
                    </a:srgbClr>
                  </a:solidFill>
                  <a:latin typeface="KaiTi"/>
                  <a:ea typeface="KaiTi"/>
                  <a:cs typeface="KaiTi"/>
                </a:rPr>
                <a:t>中游</a:t>
              </a:r>
              <a:endParaRPr sz="1200" dirty="0">
                <a:latin typeface="KaiTi"/>
                <a:ea typeface="KaiTi"/>
                <a:cs typeface="KaiTi"/>
              </a:endParaRPr>
            </a:p>
          </p:txBody>
        </p:sp>
      </p:grpSp>
      <p:sp>
        <p:nvSpPr>
          <p:cNvPr id="406" name="textbox 406"/>
          <p:cNvSpPr/>
          <p:nvPr/>
        </p:nvSpPr>
        <p:spPr>
          <a:xfrm>
            <a:off x="544107" y="461293"/>
            <a:ext cx="5721984" cy="381000"/>
          </a:xfrm>
          <a:prstGeom prst="rect">
            <a:avLst/>
          </a:prstGeom>
          <a:noFill/>
          <a:ln w="0" cap="flat">
            <a:noFill/>
            <a:prstDash val="solid"/>
            <a:miter lim="0"/>
          </a:ln>
        </p:spPr>
        <p:txBody>
          <a:bodyPr vert="horz" wrap="square" lIns="0" tIns="0" rIns="0" bIns="0"/>
          <a:lstStyle/>
          <a:p>
            <a:pPr algn="l" rtl="0" eaLnBrk="0">
              <a:lnSpc>
                <a:spcPct val="91562"/>
              </a:lnSpc>
              <a:tabLst/>
            </a:pPr>
            <a:endParaRPr sz="100" dirty="0">
              <a:latin typeface="Arial"/>
              <a:ea typeface="Arial"/>
              <a:cs typeface="Arial"/>
            </a:endParaRPr>
          </a:p>
          <a:p>
            <a:pPr marL="12700" algn="l" rtl="0" eaLnBrk="0">
              <a:lnSpc>
                <a:spcPct val="86000"/>
              </a:lnSpc>
              <a:tabLst/>
            </a:pPr>
            <a:r>
              <a:rPr sz="2700" b="1" kern="0" spc="90" dirty="0">
                <a:solidFill>
                  <a:srgbClr val="BF756D">
                    <a:alpha val="100000"/>
                  </a:srgbClr>
                </a:solidFill>
                <a:latin typeface="KaiTi"/>
                <a:ea typeface="KaiTi"/>
                <a:cs typeface="KaiTi"/>
              </a:rPr>
              <a:t>产业链价值点聚焦中游通用</a:t>
            </a:r>
            <a:r>
              <a:rPr sz="2700" b="1" kern="0" spc="80" dirty="0">
                <a:solidFill>
                  <a:srgbClr val="BF756D">
                    <a:alpha val="100000"/>
                  </a:srgbClr>
                </a:solidFill>
                <a:latin typeface="KaiTi"/>
                <a:ea typeface="KaiTi"/>
                <a:cs typeface="KaiTi"/>
              </a:rPr>
              <a:t>世界模型</a:t>
            </a:r>
            <a:endParaRPr sz="2700" dirty="0">
              <a:latin typeface="KaiTi"/>
              <a:ea typeface="KaiTi"/>
              <a:cs typeface="KaiTi"/>
            </a:endParaRPr>
          </a:p>
        </p:txBody>
      </p:sp>
      <p:graphicFrame>
        <p:nvGraphicFramePr>
          <p:cNvPr id="408" name="table 408"/>
          <p:cNvGraphicFramePr>
            <a:graphicFrameLocks noGrp="1"/>
          </p:cNvGraphicFramePr>
          <p:nvPr/>
        </p:nvGraphicFramePr>
        <p:xfrm>
          <a:off x="1146428" y="3924300"/>
          <a:ext cx="1908810" cy="934720"/>
        </p:xfrm>
        <a:graphic>
          <a:graphicData uri="http://schemas.openxmlformats.org/drawingml/2006/table">
            <a:tbl>
              <a:tblPr/>
              <a:tblGrid>
                <a:gridCol w="1908810"/>
              </a:tblGrid>
              <a:tr h="278765">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w="19050" cap="flat" cmpd="sng" algn="ctr">
                      <a:solidFill>
                        <a:srgbClr val="A6A6A6"/>
                      </a:solidFill>
                      <a:prstDash val="dash"/>
                      <a:round/>
                      <a:headEnd type="none" w="med" len="med"/>
                      <a:tailEnd type="none" w="med" len="med"/>
                    </a:lnT>
                    <a:lnB>
                      <a:noFill/>
                    </a:lnB>
                  </a:tcPr>
                </a:tc>
              </a:tr>
              <a:tr h="655955">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A6A6A6"/>
                      </a:solidFill>
                      <a:prstDash val="dash"/>
                      <a:round/>
                      <a:headEnd type="none" w="med" len="med"/>
                      <a:tailEnd type="none" w="med" len="med"/>
                    </a:lnL>
                    <a:lnR w="19050" cap="flat" cmpd="sng" algn="ctr">
                      <a:solidFill>
                        <a:srgbClr val="A6A6A6"/>
                      </a:solidFill>
                      <a:prstDash val="dash"/>
                      <a:round/>
                      <a:headEnd type="none" w="med" len="med"/>
                      <a:tailEnd type="none" w="med" len="med"/>
                    </a:lnR>
                    <a:lnT>
                      <a:noFill/>
                    </a:lnT>
                    <a:lnB w="19050" cap="flat" cmpd="sng" algn="ctr">
                      <a:solidFill>
                        <a:srgbClr val="A6A6A6"/>
                      </a:solidFill>
                      <a:prstDash val="dash"/>
                      <a:round/>
                      <a:headEnd type="none" w="med" len="med"/>
                      <a:tailEnd type="none" w="med" len="med"/>
                    </a:lnB>
                  </a:tcPr>
                </a:tc>
              </a:tr>
            </a:tbl>
          </a:graphicData>
        </a:graphic>
      </p:graphicFrame>
      <p:graphicFrame>
        <p:nvGraphicFramePr>
          <p:cNvPr id="410" name="table 410"/>
          <p:cNvGraphicFramePr>
            <a:graphicFrameLocks noGrp="1"/>
          </p:cNvGraphicFramePr>
          <p:nvPr/>
        </p:nvGraphicFramePr>
        <p:xfrm>
          <a:off x="4323969" y="2275713"/>
          <a:ext cx="1158875" cy="1164590"/>
        </p:xfrm>
        <a:graphic>
          <a:graphicData uri="http://schemas.openxmlformats.org/drawingml/2006/table">
            <a:tbl>
              <a:tblPr/>
              <a:tblGrid>
                <a:gridCol w="1158875"/>
              </a:tblGrid>
              <a:tr h="1145540">
                <a:tc>
                  <a:txBody>
                    <a:bodyPr/>
                    <a:lstStyle/>
                    <a:p>
                      <a:pPr algn="l" rtl="0" eaLnBrk="0">
                        <a:lnSpc>
                          <a:spcPct val="100000"/>
                        </a:lnSpc>
                        <a:tabLst/>
                      </a:pPr>
                      <a:endParaRPr sz="1000" dirty="0">
                        <a:latin typeface="Arial"/>
                        <a:ea typeface="Arial"/>
                        <a:cs typeface="Arial"/>
                      </a:endParaRPr>
                    </a:p>
                  </a:txBody>
                  <a:tcPr marL="0" marR="0" marT="0" marB="0" vert="horz">
                    <a:lnL w="19050" cap="flat" cmpd="sng" algn="ctr">
                      <a:solidFill>
                        <a:srgbClr val="000000"/>
                      </a:solidFill>
                      <a:prstDash val="dash"/>
                      <a:round/>
                      <a:headEnd type="none" w="med" len="med"/>
                      <a:tailEnd type="none" w="med" len="med"/>
                    </a:lnL>
                    <a:lnR w="19050"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tcPr>
                </a:tc>
              </a:tr>
            </a:tbl>
          </a:graphicData>
        </a:graphic>
      </p:graphicFrame>
      <p:sp>
        <p:nvSpPr>
          <p:cNvPr id="412" name="textbox 412"/>
          <p:cNvSpPr/>
          <p:nvPr/>
        </p:nvSpPr>
        <p:spPr>
          <a:xfrm>
            <a:off x="1147572" y="1001268"/>
            <a:ext cx="4325620" cy="277495"/>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19000"/>
              </a:lnSpc>
              <a:tabLst/>
            </a:pPr>
            <a:endParaRPr sz="400" dirty="0">
              <a:latin typeface="Arial"/>
              <a:ea typeface="Arial"/>
              <a:cs typeface="Arial"/>
            </a:endParaRPr>
          </a:p>
          <a:p>
            <a:pPr marL="1863725" algn="l" rtl="0" eaLnBrk="0">
              <a:lnSpc>
                <a:spcPct val="86000"/>
              </a:lnSpc>
              <a:tabLst/>
            </a:pPr>
            <a:r>
              <a:rPr sz="1200" b="1" kern="0" spc="-20" dirty="0">
                <a:solidFill>
                  <a:srgbClr val="FFFFFF">
                    <a:alpha val="100000"/>
                  </a:srgbClr>
                </a:solidFill>
                <a:latin typeface="KaiTi"/>
                <a:ea typeface="KaiTi"/>
                <a:cs typeface="KaiTi"/>
              </a:rPr>
              <a:t>算力硬件</a:t>
            </a:r>
            <a:endParaRPr sz="1200" dirty="0">
              <a:latin typeface="KaiTi"/>
              <a:ea typeface="KaiTi"/>
              <a:cs typeface="KaiTi"/>
            </a:endParaRPr>
          </a:p>
        </p:txBody>
      </p:sp>
      <p:sp>
        <p:nvSpPr>
          <p:cNvPr id="414" name="textbox 414"/>
          <p:cNvSpPr/>
          <p:nvPr/>
        </p:nvSpPr>
        <p:spPr>
          <a:xfrm>
            <a:off x="1147572" y="3592067"/>
            <a:ext cx="4325620" cy="277495"/>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22000"/>
              </a:lnSpc>
              <a:tabLst/>
            </a:pPr>
            <a:endParaRPr sz="400" dirty="0">
              <a:latin typeface="Arial"/>
              <a:ea typeface="Arial"/>
              <a:cs typeface="Arial"/>
            </a:endParaRPr>
          </a:p>
          <a:p>
            <a:pPr marL="2018029" algn="l" rtl="0" eaLnBrk="0">
              <a:lnSpc>
                <a:spcPct val="83000"/>
              </a:lnSpc>
              <a:spcBef>
                <a:spcPts val="2"/>
              </a:spcBef>
              <a:tabLst/>
            </a:pPr>
            <a:r>
              <a:rPr sz="1200" b="1" kern="0" spc="-30" dirty="0">
                <a:solidFill>
                  <a:srgbClr val="FFFFFF">
                    <a:alpha val="100000"/>
                  </a:srgbClr>
                </a:solidFill>
                <a:latin typeface="KaiTi"/>
                <a:ea typeface="KaiTi"/>
                <a:cs typeface="KaiTi"/>
              </a:rPr>
              <a:t>通用</a:t>
            </a:r>
            <a:endParaRPr sz="1200" dirty="0">
              <a:latin typeface="KaiTi"/>
              <a:ea typeface="KaiTi"/>
              <a:cs typeface="KaiTi"/>
            </a:endParaRPr>
          </a:p>
        </p:txBody>
      </p:sp>
      <p:sp>
        <p:nvSpPr>
          <p:cNvPr id="416" name="textbox 416"/>
          <p:cNvSpPr/>
          <p:nvPr/>
        </p:nvSpPr>
        <p:spPr>
          <a:xfrm>
            <a:off x="1147572" y="5207508"/>
            <a:ext cx="3865245" cy="276225"/>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07000"/>
              </a:lnSpc>
              <a:tabLst/>
            </a:pPr>
            <a:endParaRPr sz="400" dirty="0">
              <a:latin typeface="Arial"/>
              <a:ea typeface="Arial"/>
              <a:cs typeface="Arial"/>
            </a:endParaRPr>
          </a:p>
          <a:p>
            <a:pPr marL="1601469" algn="l" rtl="0" eaLnBrk="0">
              <a:lnSpc>
                <a:spcPct val="85000"/>
              </a:lnSpc>
              <a:spcBef>
                <a:spcPts val="3"/>
              </a:spcBef>
              <a:tabLst/>
            </a:pPr>
            <a:r>
              <a:rPr sz="1200" b="1" kern="0" spc="-40" dirty="0">
                <a:solidFill>
                  <a:srgbClr val="FFFFFF">
                    <a:alpha val="100000"/>
                  </a:srgbClr>
                </a:solidFill>
                <a:latin typeface="Times New Roman"/>
                <a:ea typeface="Times New Roman"/>
                <a:cs typeface="Times New Roman"/>
              </a:rPr>
              <a:t>To</a:t>
            </a:r>
            <a:r>
              <a:rPr sz="1200" b="1" kern="0" spc="50" dirty="0">
                <a:solidFill>
                  <a:srgbClr val="FFFFFF">
                    <a:alpha val="100000"/>
                  </a:srgbClr>
                </a:solidFill>
                <a:latin typeface="Times New Roman"/>
                <a:ea typeface="Times New Roman"/>
                <a:cs typeface="Times New Roman"/>
              </a:rPr>
              <a:t> </a:t>
            </a:r>
            <a:r>
              <a:rPr sz="1200" b="1" kern="0" spc="-40" dirty="0">
                <a:solidFill>
                  <a:srgbClr val="FFFFFF">
                    <a:alpha val="100000"/>
                  </a:srgbClr>
                </a:solidFill>
                <a:latin typeface="Times New Roman"/>
                <a:ea typeface="Times New Roman"/>
                <a:cs typeface="Times New Roman"/>
              </a:rPr>
              <a:t>C</a:t>
            </a:r>
            <a:r>
              <a:rPr sz="1200" b="1" kern="0" spc="90" dirty="0">
                <a:solidFill>
                  <a:srgbClr val="FFFFFF">
                    <a:alpha val="100000"/>
                  </a:srgbClr>
                </a:solidFill>
                <a:latin typeface="Times New Roman"/>
                <a:ea typeface="Times New Roman"/>
                <a:cs typeface="Times New Roman"/>
              </a:rPr>
              <a:t> </a:t>
            </a:r>
            <a:r>
              <a:rPr sz="1200" b="1" kern="0" spc="-40" dirty="0">
                <a:solidFill>
                  <a:srgbClr val="FFFFFF">
                    <a:alpha val="100000"/>
                  </a:srgbClr>
                </a:solidFill>
                <a:latin typeface="KaiTi"/>
                <a:ea typeface="KaiTi"/>
                <a:cs typeface="KaiTi"/>
              </a:rPr>
              <a:t>场景</a:t>
            </a:r>
            <a:endParaRPr sz="1200" dirty="0">
              <a:latin typeface="KaiTi"/>
              <a:ea typeface="KaiTi"/>
              <a:cs typeface="KaiTi"/>
            </a:endParaRPr>
          </a:p>
        </p:txBody>
      </p:sp>
      <p:sp>
        <p:nvSpPr>
          <p:cNvPr id="418" name="textbox 418"/>
          <p:cNvSpPr/>
          <p:nvPr/>
        </p:nvSpPr>
        <p:spPr>
          <a:xfrm>
            <a:off x="5669279" y="998220"/>
            <a:ext cx="3279775" cy="277495"/>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19000"/>
              </a:lnSpc>
              <a:tabLst/>
            </a:pPr>
            <a:endParaRPr sz="400" dirty="0">
              <a:latin typeface="Arial"/>
              <a:ea typeface="Arial"/>
              <a:cs typeface="Arial"/>
            </a:endParaRPr>
          </a:p>
          <a:p>
            <a:pPr marL="956944" algn="l" rtl="0" eaLnBrk="0">
              <a:lnSpc>
                <a:spcPct val="86000"/>
              </a:lnSpc>
              <a:spcBef>
                <a:spcPts val="2"/>
              </a:spcBef>
              <a:tabLst/>
            </a:pPr>
            <a:r>
              <a:rPr sz="1200" b="1" kern="0" spc="-10" dirty="0">
                <a:solidFill>
                  <a:srgbClr val="FFFFFF">
                    <a:alpha val="100000"/>
                  </a:srgbClr>
                </a:solidFill>
                <a:latin typeface="KaiTi"/>
                <a:ea typeface="KaiTi"/>
                <a:cs typeface="KaiTi"/>
              </a:rPr>
              <a:t>数据服务与仿真平台</a:t>
            </a:r>
            <a:endParaRPr sz="1200" dirty="0">
              <a:latin typeface="KaiTi"/>
              <a:ea typeface="KaiTi"/>
              <a:cs typeface="KaiTi"/>
            </a:endParaRPr>
          </a:p>
        </p:txBody>
      </p:sp>
      <p:sp>
        <p:nvSpPr>
          <p:cNvPr id="420" name="textbox 420"/>
          <p:cNvSpPr/>
          <p:nvPr/>
        </p:nvSpPr>
        <p:spPr>
          <a:xfrm>
            <a:off x="5669279" y="3589020"/>
            <a:ext cx="3279775" cy="277495"/>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20000"/>
              </a:lnSpc>
              <a:tabLst/>
            </a:pPr>
            <a:endParaRPr sz="400" dirty="0">
              <a:latin typeface="Arial"/>
              <a:ea typeface="Arial"/>
              <a:cs typeface="Arial"/>
            </a:endParaRPr>
          </a:p>
          <a:p>
            <a:pPr marL="1498600" algn="l" rtl="0" eaLnBrk="0">
              <a:lnSpc>
                <a:spcPct val="86000"/>
              </a:lnSpc>
              <a:tabLst/>
            </a:pPr>
            <a:r>
              <a:rPr sz="1200" b="1" kern="0" spc="-40" dirty="0">
                <a:solidFill>
                  <a:srgbClr val="FFFFFF">
                    <a:alpha val="100000"/>
                  </a:srgbClr>
                </a:solidFill>
                <a:latin typeface="KaiTi"/>
                <a:ea typeface="KaiTi"/>
                <a:cs typeface="KaiTi"/>
              </a:rPr>
              <a:t>专用</a:t>
            </a:r>
            <a:endParaRPr sz="1200" dirty="0">
              <a:latin typeface="KaiTi"/>
              <a:ea typeface="KaiTi"/>
              <a:cs typeface="KaiTi"/>
            </a:endParaRPr>
          </a:p>
        </p:txBody>
      </p:sp>
      <p:graphicFrame>
        <p:nvGraphicFramePr>
          <p:cNvPr id="422" name="table 422"/>
          <p:cNvGraphicFramePr>
            <a:graphicFrameLocks noGrp="1"/>
          </p:cNvGraphicFramePr>
          <p:nvPr/>
        </p:nvGraphicFramePr>
        <p:xfrm>
          <a:off x="1120521" y="2275713"/>
          <a:ext cx="509269" cy="1164590"/>
        </p:xfrm>
        <a:graphic>
          <a:graphicData uri="http://schemas.openxmlformats.org/drawingml/2006/table">
            <a:tbl>
              <a:tblPr>
                <a:solidFill>
                  <a:srgbClr val="F2F2F2"/>
                </a:solidFill>
              </a:tblPr>
              <a:tblGrid>
                <a:gridCol w="509269"/>
              </a:tblGrid>
              <a:tr h="1145540">
                <a:tc>
                  <a:txBody>
                    <a:bodyPr/>
                    <a:lstStyle/>
                    <a:p>
                      <a:pPr algn="l" rtl="0" eaLnBrk="0">
                        <a:lnSpc>
                          <a:spcPct val="140000"/>
                        </a:lnSpc>
                        <a:tabLst/>
                      </a:pPr>
                      <a:endParaRPr sz="1000" dirty="0">
                        <a:latin typeface="Arial"/>
                        <a:ea typeface="Arial"/>
                        <a:cs typeface="Arial"/>
                      </a:endParaRPr>
                    </a:p>
                    <a:p>
                      <a:pPr algn="l" rtl="0" eaLnBrk="0">
                        <a:lnSpc>
                          <a:spcPct val="140000"/>
                        </a:lnSpc>
                        <a:tabLst/>
                      </a:pPr>
                      <a:endParaRPr sz="1000" dirty="0">
                        <a:latin typeface="Arial"/>
                        <a:ea typeface="Arial"/>
                        <a:cs typeface="Arial"/>
                      </a:endParaRPr>
                    </a:p>
                    <a:p>
                      <a:pPr marL="109220" algn="l" rtl="0" eaLnBrk="0">
                        <a:lnSpc>
                          <a:spcPct val="83000"/>
                        </a:lnSpc>
                        <a:spcBef>
                          <a:spcPts val="1"/>
                        </a:spcBef>
                        <a:tabLst/>
                      </a:pPr>
                      <a:r>
                        <a:rPr sz="1200" b="1" kern="0" spc="-30" dirty="0">
                          <a:solidFill>
                            <a:srgbClr val="000000">
                              <a:alpha val="100000"/>
                            </a:srgbClr>
                          </a:solidFill>
                          <a:latin typeface="KaiTi"/>
                          <a:ea typeface="KaiTi"/>
                          <a:cs typeface="KaiTi"/>
                        </a:rPr>
                        <a:t>代表</a:t>
                      </a:r>
                      <a:endParaRPr sz="1200" dirty="0">
                        <a:latin typeface="KaiTi"/>
                        <a:ea typeface="KaiTi"/>
                        <a:cs typeface="KaiTi"/>
                      </a:endParaRPr>
                    </a:p>
                    <a:p>
                      <a:pPr marL="105410" algn="l" rtl="0" eaLnBrk="0">
                        <a:lnSpc>
                          <a:spcPts val="1690"/>
                        </a:lnSpc>
                        <a:tabLst/>
                      </a:pPr>
                      <a:r>
                        <a:rPr sz="1200" b="1" kern="0" spc="-20" dirty="0">
                          <a:solidFill>
                            <a:srgbClr val="000000">
                              <a:alpha val="100000"/>
                            </a:srgbClr>
                          </a:solidFill>
                          <a:latin typeface="KaiTi"/>
                          <a:ea typeface="KaiTi"/>
                          <a:cs typeface="KaiTi"/>
                        </a:rPr>
                        <a:t>企业</a:t>
                      </a:r>
                      <a:endParaRPr sz="1200" dirty="0">
                        <a:latin typeface="KaiTi"/>
                        <a:ea typeface="KaiTi"/>
                        <a:cs typeface="KaiTi"/>
                      </a:endParaRPr>
                    </a:p>
                  </a:txBody>
                  <a:tcPr marL="0" marR="0" marT="0" marB="0" vert="horz">
                    <a:lnL w="19050" cap="flat" cmpd="sng" algn="ctr">
                      <a:solidFill>
                        <a:srgbClr val="000000"/>
                      </a:solidFill>
                      <a:prstDash val="dash"/>
                      <a:round/>
                      <a:headEnd type="none" w="med" len="med"/>
                      <a:tailEnd type="none" w="med" len="med"/>
                    </a:lnL>
                    <a:lnR w="15875"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solidFill>
                      <a:srgbClr val="F2F2F2"/>
                    </a:solidFill>
                  </a:tcPr>
                </a:tc>
              </a:tr>
            </a:tbl>
          </a:graphicData>
        </a:graphic>
      </p:graphicFrame>
      <p:pic>
        <p:nvPicPr>
          <p:cNvPr id="424" name="picture 424"/>
          <p:cNvPicPr>
            <a:picLocks noChangeAspect="1"/>
          </p:cNvPicPr>
          <p:nvPr/>
        </p:nvPicPr>
        <p:blipFill>
          <a:blip r:embed="rId6"/>
          <a:stretch>
            <a:fillRect/>
          </a:stretch>
        </p:blipFill>
        <p:spPr>
          <a:xfrm rot="21600000">
            <a:off x="10114788" y="414528"/>
            <a:ext cx="1616964" cy="365759"/>
          </a:xfrm>
          <a:prstGeom prst="rect">
            <a:avLst/>
          </a:prstGeom>
        </p:spPr>
      </p:pic>
      <p:pic>
        <p:nvPicPr>
          <p:cNvPr id="426" name="picture 426"/>
          <p:cNvPicPr>
            <a:picLocks noChangeAspect="1"/>
          </p:cNvPicPr>
          <p:nvPr/>
        </p:nvPicPr>
        <p:blipFill>
          <a:blip r:embed="rId7"/>
          <a:stretch>
            <a:fillRect/>
          </a:stretch>
        </p:blipFill>
        <p:spPr>
          <a:xfrm rot="21600000">
            <a:off x="5772911" y="1808988"/>
            <a:ext cx="1843840" cy="280415"/>
          </a:xfrm>
          <a:prstGeom prst="rect">
            <a:avLst/>
          </a:prstGeom>
        </p:spPr>
      </p:pic>
      <p:grpSp>
        <p:nvGrpSpPr>
          <p:cNvPr id="34" name="group 34"/>
          <p:cNvGrpSpPr/>
          <p:nvPr/>
        </p:nvGrpSpPr>
        <p:grpSpPr>
          <a:xfrm rot="21600000">
            <a:off x="472440" y="5330952"/>
            <a:ext cx="509015" cy="987551"/>
            <a:chOff x="0" y="0"/>
            <a:chExt cx="509015" cy="987551"/>
          </a:xfrm>
        </p:grpSpPr>
        <p:pic>
          <p:nvPicPr>
            <p:cNvPr id="428" name="picture 428"/>
            <p:cNvPicPr>
              <a:picLocks noChangeAspect="1"/>
            </p:cNvPicPr>
            <p:nvPr/>
          </p:nvPicPr>
          <p:blipFill>
            <a:blip r:embed="rId8"/>
            <a:stretch>
              <a:fillRect/>
            </a:stretch>
          </p:blipFill>
          <p:spPr>
            <a:xfrm rot="21600000">
              <a:off x="0" y="0"/>
              <a:ext cx="509015" cy="987551"/>
            </a:xfrm>
            <a:prstGeom prst="rect">
              <a:avLst/>
            </a:prstGeom>
          </p:spPr>
        </p:pic>
        <p:sp>
          <p:nvSpPr>
            <p:cNvPr id="430" name="textbox 430"/>
            <p:cNvSpPr/>
            <p:nvPr/>
          </p:nvSpPr>
          <p:spPr>
            <a:xfrm>
              <a:off x="-12700" y="-12700"/>
              <a:ext cx="534669" cy="1035050"/>
            </a:xfrm>
            <a:prstGeom prst="rect">
              <a:avLst/>
            </a:prstGeom>
            <a:noFill/>
            <a:ln w="0" cap="flat">
              <a:noFill/>
              <a:prstDash val="solid"/>
              <a:miter lim="0"/>
            </a:ln>
          </p:spPr>
          <p:txBody>
            <a:bodyPr vert="horz" wrap="square" lIns="0" tIns="0" rIns="0" bIns="0"/>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131445" algn="l" rtl="0" eaLnBrk="0">
                <a:lnSpc>
                  <a:spcPct val="83000"/>
                </a:lnSpc>
                <a:spcBef>
                  <a:spcPts val="6"/>
                </a:spcBef>
                <a:tabLst/>
              </a:pPr>
              <a:r>
                <a:rPr sz="1200" b="1" kern="0" spc="-40" dirty="0">
                  <a:solidFill>
                    <a:srgbClr val="FFFFFF">
                      <a:alpha val="100000"/>
                    </a:srgbClr>
                  </a:solidFill>
                  <a:latin typeface="KaiTi"/>
                  <a:ea typeface="KaiTi"/>
                  <a:cs typeface="KaiTi"/>
                </a:rPr>
                <a:t>下游</a:t>
              </a:r>
              <a:endParaRPr sz="1200" dirty="0">
                <a:latin typeface="KaiTi"/>
                <a:ea typeface="KaiTi"/>
                <a:cs typeface="KaiTi"/>
              </a:endParaRPr>
            </a:p>
            <a:p>
              <a:pPr marL="123825" algn="l" rtl="0" eaLnBrk="0">
                <a:lnSpc>
                  <a:spcPts val="1611"/>
                </a:lnSpc>
                <a:tabLst/>
              </a:pPr>
              <a:r>
                <a:rPr sz="1200" b="1" kern="0" spc="-20" dirty="0">
                  <a:solidFill>
                    <a:srgbClr val="FFFFFF">
                      <a:alpha val="100000"/>
                    </a:srgbClr>
                  </a:solidFill>
                  <a:latin typeface="KaiTi"/>
                  <a:ea typeface="KaiTi"/>
                  <a:cs typeface="KaiTi"/>
                </a:rPr>
                <a:t>应用</a:t>
              </a:r>
              <a:endParaRPr sz="1200" dirty="0">
                <a:latin typeface="KaiTi"/>
                <a:ea typeface="KaiTi"/>
                <a:cs typeface="KaiTi"/>
              </a:endParaRPr>
            </a:p>
          </p:txBody>
        </p:sp>
      </p:grpSp>
      <p:pic>
        <p:nvPicPr>
          <p:cNvPr id="432" name="picture 432"/>
          <p:cNvPicPr>
            <a:picLocks noChangeAspect="1"/>
          </p:cNvPicPr>
          <p:nvPr/>
        </p:nvPicPr>
        <p:blipFill>
          <a:blip r:embed="rId9"/>
          <a:stretch>
            <a:fillRect/>
          </a:stretch>
        </p:blipFill>
        <p:spPr>
          <a:xfrm rot="21600000">
            <a:off x="1216151" y="4203192"/>
            <a:ext cx="1741931" cy="230123"/>
          </a:xfrm>
          <a:prstGeom prst="rect">
            <a:avLst/>
          </a:prstGeom>
        </p:spPr>
      </p:pic>
      <p:graphicFrame>
        <p:nvGraphicFramePr>
          <p:cNvPr id="434" name="table 434"/>
          <p:cNvGraphicFramePr>
            <a:graphicFrameLocks noGrp="1"/>
          </p:cNvGraphicFramePr>
          <p:nvPr/>
        </p:nvGraphicFramePr>
        <p:xfrm>
          <a:off x="1120521" y="1371980"/>
          <a:ext cx="509269" cy="760729"/>
        </p:xfrm>
        <a:graphic>
          <a:graphicData uri="http://schemas.openxmlformats.org/drawingml/2006/table">
            <a:tbl>
              <a:tblPr>
                <a:solidFill>
                  <a:srgbClr val="F2F2F2"/>
                </a:solidFill>
              </a:tblPr>
              <a:tblGrid>
                <a:gridCol w="509269"/>
              </a:tblGrid>
              <a:tr h="741679">
                <a:tc>
                  <a:txBody>
                    <a:bodyPr/>
                    <a:lstStyle/>
                    <a:p>
                      <a:pPr algn="l" rtl="0" eaLnBrk="0">
                        <a:lnSpc>
                          <a:spcPct val="146000"/>
                        </a:lnSpc>
                        <a:tabLst/>
                      </a:pPr>
                      <a:endParaRPr sz="1000" dirty="0">
                        <a:latin typeface="Arial"/>
                        <a:ea typeface="Arial"/>
                        <a:cs typeface="Arial"/>
                      </a:endParaRPr>
                    </a:p>
                    <a:p>
                      <a:pPr algn="l" rtl="0" eaLnBrk="0">
                        <a:lnSpc>
                          <a:spcPct val="8566"/>
                        </a:lnSpc>
                        <a:tabLst/>
                      </a:pPr>
                      <a:endParaRPr sz="100" dirty="0">
                        <a:latin typeface="Arial"/>
                        <a:ea typeface="Arial"/>
                        <a:cs typeface="Arial"/>
                      </a:endParaRPr>
                    </a:p>
                    <a:p>
                      <a:pPr marL="102870" algn="l" rtl="0" eaLnBrk="0">
                        <a:lnSpc>
                          <a:spcPct val="83000"/>
                        </a:lnSpc>
                        <a:tabLst/>
                      </a:pPr>
                      <a:r>
                        <a:rPr sz="1200" b="1" kern="0" spc="20" dirty="0">
                          <a:solidFill>
                            <a:srgbClr val="000000">
                              <a:alpha val="100000"/>
                            </a:srgbClr>
                          </a:solidFill>
                          <a:latin typeface="KaiTi"/>
                          <a:ea typeface="KaiTi"/>
                          <a:cs typeface="KaiTi"/>
                        </a:rPr>
                        <a:t>核心</a:t>
                      </a:r>
                      <a:endParaRPr sz="1200" dirty="0">
                        <a:latin typeface="KaiTi"/>
                        <a:ea typeface="KaiTi"/>
                        <a:cs typeface="KaiTi"/>
                      </a:endParaRPr>
                    </a:p>
                    <a:p>
                      <a:pPr marL="108585" algn="l" rtl="0" eaLnBrk="0">
                        <a:lnSpc>
                          <a:spcPts val="1624"/>
                        </a:lnSpc>
                        <a:tabLst/>
                      </a:pPr>
                      <a:r>
                        <a:rPr sz="1200" b="1" kern="0" spc="-30" dirty="0">
                          <a:solidFill>
                            <a:srgbClr val="000000">
                              <a:alpha val="100000"/>
                            </a:srgbClr>
                          </a:solidFill>
                          <a:latin typeface="KaiTi"/>
                          <a:ea typeface="KaiTi"/>
                          <a:cs typeface="KaiTi"/>
                        </a:rPr>
                        <a:t>技术</a:t>
                      </a:r>
                      <a:endParaRPr sz="1200" dirty="0">
                        <a:latin typeface="KaiTi"/>
                        <a:ea typeface="KaiTi"/>
                        <a:cs typeface="KaiTi"/>
                      </a:endParaRPr>
                    </a:p>
                  </a:txBody>
                  <a:tcPr marL="0" marR="0" marT="0" marB="0" vert="horz">
                    <a:lnL w="19050" cap="flat" cmpd="sng" algn="ctr">
                      <a:solidFill>
                        <a:srgbClr val="000000"/>
                      </a:solidFill>
                      <a:prstDash val="dash"/>
                      <a:round/>
                      <a:headEnd type="none" w="med" len="med"/>
                      <a:tailEnd type="none" w="med" len="med"/>
                    </a:lnL>
                    <a:lnR w="15875" cap="flat" cmpd="sng" algn="ctr">
                      <a:solidFill>
                        <a:srgbClr val="000000"/>
                      </a:solidFill>
                      <a:prstDash val="dash"/>
                      <a:round/>
                      <a:headEnd type="none" w="med" len="med"/>
                      <a:tailEnd type="none" w="med" len="med"/>
                    </a:lnR>
                    <a:lnT w="19050" cap="flat" cmpd="sng" algn="ctr">
                      <a:solidFill>
                        <a:srgbClr val="000000"/>
                      </a:solidFill>
                      <a:prstDash val="dash"/>
                      <a:round/>
                      <a:headEnd type="none" w="med" len="med"/>
                      <a:tailEnd type="none" w="med" len="med"/>
                    </a:lnT>
                    <a:lnB w="19050" cap="flat" cmpd="sng" algn="ctr">
                      <a:solidFill>
                        <a:srgbClr val="000000"/>
                      </a:solidFill>
                      <a:prstDash val="dash"/>
                      <a:round/>
                      <a:headEnd type="none" w="med" len="med"/>
                      <a:tailEnd type="none" w="med" len="med"/>
                    </a:lnB>
                    <a:solidFill>
                      <a:srgbClr val="F2F2F2"/>
                    </a:solidFill>
                  </a:tcPr>
                </a:tc>
              </a:tr>
            </a:tbl>
          </a:graphicData>
        </a:graphic>
      </p:graphicFrame>
      <p:pic>
        <p:nvPicPr>
          <p:cNvPr id="436" name="picture 436"/>
          <p:cNvPicPr>
            <a:picLocks noChangeAspect="1"/>
          </p:cNvPicPr>
          <p:nvPr/>
        </p:nvPicPr>
        <p:blipFill>
          <a:blip r:embed="rId10"/>
          <a:stretch>
            <a:fillRect/>
          </a:stretch>
        </p:blipFill>
        <p:spPr>
          <a:xfrm rot="21600000">
            <a:off x="2618888" y="2782644"/>
            <a:ext cx="763735" cy="225910"/>
          </a:xfrm>
          <a:prstGeom prst="rect">
            <a:avLst/>
          </a:prstGeom>
        </p:spPr>
      </p:pic>
      <p:pic>
        <p:nvPicPr>
          <p:cNvPr id="438" name="picture 438"/>
          <p:cNvPicPr>
            <a:picLocks noChangeAspect="1"/>
          </p:cNvPicPr>
          <p:nvPr/>
        </p:nvPicPr>
        <p:blipFill>
          <a:blip r:embed="rId11"/>
          <a:stretch>
            <a:fillRect/>
          </a:stretch>
        </p:blipFill>
        <p:spPr>
          <a:xfrm rot="21600000">
            <a:off x="1900427" y="2979420"/>
            <a:ext cx="975360" cy="373379"/>
          </a:xfrm>
          <a:prstGeom prst="rect">
            <a:avLst/>
          </a:prstGeom>
        </p:spPr>
      </p:pic>
      <p:pic>
        <p:nvPicPr>
          <p:cNvPr id="440" name="picture 440"/>
          <p:cNvPicPr>
            <a:picLocks noChangeAspect="1"/>
          </p:cNvPicPr>
          <p:nvPr/>
        </p:nvPicPr>
        <p:blipFill>
          <a:blip r:embed="rId12"/>
          <a:stretch>
            <a:fillRect/>
          </a:stretch>
        </p:blipFill>
        <p:spPr>
          <a:xfrm rot="21600000">
            <a:off x="5772911" y="2270760"/>
            <a:ext cx="891540" cy="359664"/>
          </a:xfrm>
          <a:prstGeom prst="rect">
            <a:avLst/>
          </a:prstGeom>
        </p:spPr>
      </p:pic>
      <p:pic>
        <p:nvPicPr>
          <p:cNvPr id="442" name="picture 442"/>
          <p:cNvPicPr>
            <a:picLocks noChangeAspect="1"/>
          </p:cNvPicPr>
          <p:nvPr/>
        </p:nvPicPr>
        <p:blipFill>
          <a:blip r:embed="rId13"/>
          <a:stretch>
            <a:fillRect/>
          </a:stretch>
        </p:blipFill>
        <p:spPr>
          <a:xfrm rot="21600000">
            <a:off x="6726935" y="2314955"/>
            <a:ext cx="851916" cy="292608"/>
          </a:xfrm>
          <a:prstGeom prst="rect">
            <a:avLst/>
          </a:prstGeom>
        </p:spPr>
      </p:pic>
      <p:pic>
        <p:nvPicPr>
          <p:cNvPr id="444" name="picture 444"/>
          <p:cNvPicPr>
            <a:picLocks noChangeAspect="1"/>
          </p:cNvPicPr>
          <p:nvPr/>
        </p:nvPicPr>
        <p:blipFill>
          <a:blip r:embed="rId14"/>
          <a:stretch>
            <a:fillRect/>
          </a:stretch>
        </p:blipFill>
        <p:spPr>
          <a:xfrm rot="21600000">
            <a:off x="4312217" y="4501896"/>
            <a:ext cx="1071252" cy="231648"/>
          </a:xfrm>
          <a:prstGeom prst="rect">
            <a:avLst/>
          </a:prstGeom>
        </p:spPr>
      </p:pic>
      <p:pic>
        <p:nvPicPr>
          <p:cNvPr id="446" name="picture 446"/>
          <p:cNvPicPr>
            <a:picLocks noChangeAspect="1"/>
          </p:cNvPicPr>
          <p:nvPr/>
        </p:nvPicPr>
        <p:blipFill>
          <a:blip r:embed="rId15"/>
          <a:stretch>
            <a:fillRect/>
          </a:stretch>
        </p:blipFill>
        <p:spPr>
          <a:xfrm rot="21600000">
            <a:off x="3259835" y="3058667"/>
            <a:ext cx="768096" cy="306323"/>
          </a:xfrm>
          <a:prstGeom prst="rect">
            <a:avLst/>
          </a:prstGeom>
        </p:spPr>
      </p:pic>
      <p:pic>
        <p:nvPicPr>
          <p:cNvPr id="448" name="picture 448"/>
          <p:cNvPicPr>
            <a:picLocks noChangeAspect="1"/>
          </p:cNvPicPr>
          <p:nvPr/>
        </p:nvPicPr>
        <p:blipFill>
          <a:blip r:embed="rId16"/>
          <a:stretch>
            <a:fillRect/>
          </a:stretch>
        </p:blipFill>
        <p:spPr>
          <a:xfrm rot="21600000">
            <a:off x="3243072" y="2397252"/>
            <a:ext cx="768095" cy="306323"/>
          </a:xfrm>
          <a:prstGeom prst="rect">
            <a:avLst/>
          </a:prstGeom>
        </p:spPr>
      </p:pic>
      <p:pic>
        <p:nvPicPr>
          <p:cNvPr id="450" name="picture 450"/>
          <p:cNvPicPr>
            <a:picLocks noChangeAspect="1"/>
          </p:cNvPicPr>
          <p:nvPr/>
        </p:nvPicPr>
        <p:blipFill>
          <a:blip r:embed="rId17"/>
          <a:stretch>
            <a:fillRect/>
          </a:stretch>
        </p:blipFill>
        <p:spPr>
          <a:xfrm rot="21600000">
            <a:off x="1900427" y="2391155"/>
            <a:ext cx="768095" cy="304800"/>
          </a:xfrm>
          <a:prstGeom prst="rect">
            <a:avLst/>
          </a:prstGeom>
        </p:spPr>
      </p:pic>
      <p:pic>
        <p:nvPicPr>
          <p:cNvPr id="452" name="picture 452"/>
          <p:cNvPicPr>
            <a:picLocks noChangeAspect="1"/>
          </p:cNvPicPr>
          <p:nvPr/>
        </p:nvPicPr>
        <p:blipFill>
          <a:blip r:embed="rId18"/>
          <a:stretch>
            <a:fillRect/>
          </a:stretch>
        </p:blipFill>
        <p:spPr>
          <a:xfrm rot="21600000">
            <a:off x="7798307" y="2923032"/>
            <a:ext cx="1107947" cy="210311"/>
          </a:xfrm>
          <a:prstGeom prst="rect">
            <a:avLst/>
          </a:prstGeom>
        </p:spPr>
      </p:pic>
      <p:pic>
        <p:nvPicPr>
          <p:cNvPr id="454" name="picture 454"/>
          <p:cNvPicPr>
            <a:picLocks noChangeAspect="1"/>
          </p:cNvPicPr>
          <p:nvPr/>
        </p:nvPicPr>
        <p:blipFill>
          <a:blip r:embed="rId19"/>
          <a:stretch>
            <a:fillRect/>
          </a:stretch>
        </p:blipFill>
        <p:spPr>
          <a:xfrm rot="21600000">
            <a:off x="7844027" y="1848611"/>
            <a:ext cx="999743" cy="228600"/>
          </a:xfrm>
          <a:prstGeom prst="rect">
            <a:avLst/>
          </a:prstGeom>
        </p:spPr>
      </p:pic>
      <p:pic>
        <p:nvPicPr>
          <p:cNvPr id="456" name="picture 456"/>
          <p:cNvPicPr>
            <a:picLocks noChangeAspect="1"/>
          </p:cNvPicPr>
          <p:nvPr/>
        </p:nvPicPr>
        <p:blipFill>
          <a:blip r:embed="rId20"/>
          <a:stretch>
            <a:fillRect/>
          </a:stretch>
        </p:blipFill>
        <p:spPr>
          <a:xfrm rot="21600000">
            <a:off x="4405883" y="2496311"/>
            <a:ext cx="1001267" cy="227076"/>
          </a:xfrm>
          <a:prstGeom prst="rect">
            <a:avLst/>
          </a:prstGeom>
        </p:spPr>
      </p:pic>
      <p:pic>
        <p:nvPicPr>
          <p:cNvPr id="458" name="picture 458"/>
          <p:cNvPicPr>
            <a:picLocks noChangeAspect="1"/>
          </p:cNvPicPr>
          <p:nvPr/>
        </p:nvPicPr>
        <p:blipFill>
          <a:blip r:embed="rId21"/>
          <a:stretch>
            <a:fillRect/>
          </a:stretch>
        </p:blipFill>
        <p:spPr>
          <a:xfrm rot="21600000">
            <a:off x="7898892" y="4379976"/>
            <a:ext cx="536447" cy="411479"/>
          </a:xfrm>
          <a:prstGeom prst="rect">
            <a:avLst/>
          </a:prstGeom>
        </p:spPr>
      </p:pic>
      <p:pic>
        <p:nvPicPr>
          <p:cNvPr id="460" name="picture 460"/>
          <p:cNvPicPr>
            <a:picLocks noChangeAspect="1"/>
          </p:cNvPicPr>
          <p:nvPr/>
        </p:nvPicPr>
        <p:blipFill>
          <a:blip r:embed="rId22"/>
          <a:stretch>
            <a:fillRect/>
          </a:stretch>
        </p:blipFill>
        <p:spPr>
          <a:xfrm rot="21600000">
            <a:off x="4471415" y="2935223"/>
            <a:ext cx="883920" cy="234696"/>
          </a:xfrm>
          <a:prstGeom prst="rect">
            <a:avLst/>
          </a:prstGeom>
        </p:spPr>
      </p:pic>
      <p:pic>
        <p:nvPicPr>
          <p:cNvPr id="462" name="picture 462"/>
          <p:cNvPicPr>
            <a:picLocks noChangeAspect="1"/>
          </p:cNvPicPr>
          <p:nvPr/>
        </p:nvPicPr>
        <p:blipFill>
          <a:blip r:embed="rId23"/>
          <a:stretch>
            <a:fillRect/>
          </a:stretch>
        </p:blipFill>
        <p:spPr>
          <a:xfrm rot="21600000">
            <a:off x="7696200" y="4116323"/>
            <a:ext cx="842771" cy="245364"/>
          </a:xfrm>
          <a:prstGeom prst="rect">
            <a:avLst/>
          </a:prstGeom>
        </p:spPr>
      </p:pic>
      <p:pic>
        <p:nvPicPr>
          <p:cNvPr id="464" name="picture 464"/>
          <p:cNvPicPr>
            <a:picLocks noChangeAspect="1"/>
          </p:cNvPicPr>
          <p:nvPr/>
        </p:nvPicPr>
        <p:blipFill>
          <a:blip r:embed="rId24"/>
          <a:stretch>
            <a:fillRect/>
          </a:stretch>
        </p:blipFill>
        <p:spPr>
          <a:xfrm rot="21600000">
            <a:off x="2118360" y="4546091"/>
            <a:ext cx="833627" cy="245364"/>
          </a:xfrm>
          <a:prstGeom prst="rect">
            <a:avLst/>
          </a:prstGeom>
        </p:spPr>
      </p:pic>
      <p:pic>
        <p:nvPicPr>
          <p:cNvPr id="466" name="picture 466"/>
          <p:cNvPicPr>
            <a:picLocks noChangeAspect="1"/>
          </p:cNvPicPr>
          <p:nvPr/>
        </p:nvPicPr>
        <p:blipFill>
          <a:blip r:embed="rId25"/>
          <a:stretch>
            <a:fillRect/>
          </a:stretch>
        </p:blipFill>
        <p:spPr>
          <a:xfrm rot="21600000">
            <a:off x="5786628" y="2871215"/>
            <a:ext cx="824483" cy="245364"/>
          </a:xfrm>
          <a:prstGeom prst="rect">
            <a:avLst/>
          </a:prstGeom>
        </p:spPr>
      </p:pic>
      <p:sp>
        <p:nvSpPr>
          <p:cNvPr id="468" name="textbox 468"/>
          <p:cNvSpPr/>
          <p:nvPr/>
        </p:nvSpPr>
        <p:spPr>
          <a:xfrm>
            <a:off x="3228847" y="4516627"/>
            <a:ext cx="1007110" cy="2190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1524"/>
              </a:lnSpc>
              <a:tabLst/>
            </a:pPr>
            <a:r>
              <a:rPr sz="1000" kern="0" spc="-100" dirty="0">
                <a:solidFill>
                  <a:srgbClr val="7BACD0">
                    <a:alpha val="100000"/>
                  </a:srgbClr>
                </a:solidFill>
                <a:latin typeface="Arial Unicode MS"/>
                <a:ea typeface="Arial Unicode MS"/>
                <a:cs typeface="Arial Unicode MS"/>
              </a:rPr>
              <a:t>⃞G</a:t>
            </a:r>
            <a:r>
              <a:rPr sz="1000" kern="0" spc="-90" dirty="0">
                <a:solidFill>
                  <a:srgbClr val="7BACD0">
                    <a:alpha val="100000"/>
                  </a:srgbClr>
                </a:solidFill>
                <a:latin typeface="Arial Unicode MS"/>
                <a:ea typeface="Arial Unicode MS"/>
                <a:cs typeface="Arial Unicode MS"/>
              </a:rPr>
              <a:t>oogle</a:t>
            </a:r>
            <a:r>
              <a:rPr sz="1000" kern="0" spc="-80" dirty="0">
                <a:solidFill>
                  <a:srgbClr val="7BACD0">
                    <a:alpha val="100000"/>
                  </a:srgbClr>
                </a:solidFill>
                <a:latin typeface="Arial Unicode MS"/>
                <a:ea typeface="Arial Unicode MS"/>
                <a:cs typeface="Arial Unicode MS"/>
              </a:rPr>
              <a:t> </a:t>
            </a:r>
            <a:r>
              <a:rPr sz="1000" kern="0" spc="-90" dirty="0">
                <a:solidFill>
                  <a:srgbClr val="7BACD0">
                    <a:alpha val="100000"/>
                  </a:srgbClr>
                </a:solidFill>
                <a:latin typeface="Arial"/>
                <a:ea typeface="Arial"/>
                <a:cs typeface="Arial"/>
              </a:rPr>
              <a:t>Deep</a:t>
            </a:r>
            <a:r>
              <a:rPr sz="1000" kern="0" spc="-80" dirty="0">
                <a:solidFill>
                  <a:srgbClr val="7BACD0">
                    <a:alpha val="100000"/>
                  </a:srgbClr>
                </a:solidFill>
                <a:latin typeface="Arial"/>
                <a:ea typeface="Arial"/>
                <a:cs typeface="Arial"/>
              </a:rPr>
              <a:t> </a:t>
            </a:r>
            <a:r>
              <a:rPr sz="1000" kern="0" spc="-90" dirty="0">
                <a:solidFill>
                  <a:srgbClr val="7BACD0">
                    <a:alpha val="100000"/>
                  </a:srgbClr>
                </a:solidFill>
                <a:latin typeface="Arial"/>
                <a:ea typeface="Arial"/>
                <a:cs typeface="Arial"/>
              </a:rPr>
              <a:t>M</a:t>
            </a:r>
            <a:r>
              <a:rPr sz="1000" kern="0" spc="-100" dirty="0">
                <a:solidFill>
                  <a:srgbClr val="7BACD0">
                    <a:alpha val="100000"/>
                  </a:srgbClr>
                </a:solidFill>
                <a:latin typeface="Arial"/>
                <a:ea typeface="Arial"/>
                <a:cs typeface="Arial"/>
              </a:rPr>
              <a:t>in</a:t>
            </a:r>
            <a:r>
              <a:rPr sz="1000" kern="0" spc="-80" dirty="0">
                <a:solidFill>
                  <a:srgbClr val="7BACD0">
                    <a:alpha val="100000"/>
                  </a:srgbClr>
                </a:solidFill>
                <a:latin typeface="Arial"/>
                <a:ea typeface="Arial"/>
                <a:cs typeface="Arial"/>
              </a:rPr>
              <a:t>d</a:t>
            </a:r>
            <a:endParaRPr sz="1000" dirty="0">
              <a:latin typeface="Arial"/>
              <a:ea typeface="Arial"/>
              <a:cs typeface="Arial"/>
            </a:endParaRPr>
          </a:p>
        </p:txBody>
      </p:sp>
      <p:pic>
        <p:nvPicPr>
          <p:cNvPr id="470" name="picture 470"/>
          <p:cNvPicPr>
            <a:picLocks noChangeAspect="1"/>
          </p:cNvPicPr>
          <p:nvPr/>
        </p:nvPicPr>
        <p:blipFill>
          <a:blip r:embed="rId26"/>
          <a:stretch>
            <a:fillRect/>
          </a:stretch>
        </p:blipFill>
        <p:spPr>
          <a:xfrm rot="21600000">
            <a:off x="1237488" y="4448555"/>
            <a:ext cx="746760" cy="245364"/>
          </a:xfrm>
          <a:prstGeom prst="rect">
            <a:avLst/>
          </a:prstGeom>
        </p:spPr>
      </p:pic>
      <p:pic>
        <p:nvPicPr>
          <p:cNvPr id="472" name="picture 472"/>
          <p:cNvPicPr>
            <a:picLocks noChangeAspect="1"/>
          </p:cNvPicPr>
          <p:nvPr/>
        </p:nvPicPr>
        <p:blipFill>
          <a:blip r:embed="rId27"/>
          <a:stretch>
            <a:fillRect/>
          </a:stretch>
        </p:blipFill>
        <p:spPr>
          <a:xfrm rot="21600000">
            <a:off x="6870192" y="4308347"/>
            <a:ext cx="400811" cy="400811"/>
          </a:xfrm>
          <a:prstGeom prst="rect">
            <a:avLst/>
          </a:prstGeom>
        </p:spPr>
      </p:pic>
      <p:pic>
        <p:nvPicPr>
          <p:cNvPr id="474" name="picture 474"/>
          <p:cNvPicPr>
            <a:picLocks noChangeAspect="1"/>
          </p:cNvPicPr>
          <p:nvPr/>
        </p:nvPicPr>
        <p:blipFill>
          <a:blip r:embed="rId28"/>
          <a:stretch>
            <a:fillRect/>
          </a:stretch>
        </p:blipFill>
        <p:spPr>
          <a:xfrm rot="21600000">
            <a:off x="3262883" y="4216298"/>
            <a:ext cx="809244" cy="174955"/>
          </a:xfrm>
          <a:prstGeom prst="rect">
            <a:avLst/>
          </a:prstGeom>
        </p:spPr>
      </p:pic>
      <p:sp>
        <p:nvSpPr>
          <p:cNvPr id="476" name="textbox 476"/>
          <p:cNvSpPr/>
          <p:nvPr/>
        </p:nvSpPr>
        <p:spPr>
          <a:xfrm>
            <a:off x="3985259" y="3924300"/>
            <a:ext cx="654050" cy="179704"/>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74000"/>
              </a:lnSpc>
              <a:tabLst/>
            </a:pPr>
            <a:endParaRPr sz="100" dirty="0">
              <a:latin typeface="Arial"/>
              <a:ea typeface="Arial"/>
              <a:cs typeface="Arial"/>
            </a:endParaRPr>
          </a:p>
          <a:p>
            <a:pPr marL="199389" algn="l" rtl="0" eaLnBrk="0">
              <a:lnSpc>
                <a:spcPct val="85000"/>
              </a:lnSpc>
              <a:tabLst/>
            </a:pPr>
            <a:r>
              <a:rPr sz="1200" b="1" kern="0" spc="-60" dirty="0">
                <a:solidFill>
                  <a:srgbClr val="000000">
                    <a:alpha val="100000"/>
                  </a:srgbClr>
                </a:solidFill>
                <a:latin typeface="KaiTi"/>
                <a:ea typeface="KaiTi"/>
                <a:cs typeface="KaiTi"/>
              </a:rPr>
              <a:t>国外</a:t>
            </a:r>
            <a:endParaRPr sz="1200" dirty="0">
              <a:latin typeface="KaiTi"/>
              <a:ea typeface="KaiTi"/>
              <a:cs typeface="KaiTi"/>
            </a:endParaRPr>
          </a:p>
        </p:txBody>
      </p:sp>
      <p:sp>
        <p:nvSpPr>
          <p:cNvPr id="478" name="textbox 478"/>
          <p:cNvSpPr/>
          <p:nvPr/>
        </p:nvSpPr>
        <p:spPr>
          <a:xfrm>
            <a:off x="1773936" y="3924300"/>
            <a:ext cx="654050" cy="179704"/>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74000"/>
              </a:lnSpc>
              <a:tabLst/>
            </a:pPr>
            <a:endParaRPr sz="100" dirty="0">
              <a:latin typeface="Arial"/>
              <a:ea typeface="Arial"/>
              <a:cs typeface="Arial"/>
            </a:endParaRPr>
          </a:p>
          <a:p>
            <a:pPr marL="198120" algn="l" rtl="0" eaLnBrk="0">
              <a:lnSpc>
                <a:spcPct val="85000"/>
              </a:lnSpc>
              <a:tabLst/>
            </a:pPr>
            <a:r>
              <a:rPr sz="1200" b="1" kern="0" spc="-60" dirty="0">
                <a:solidFill>
                  <a:srgbClr val="000000">
                    <a:alpha val="100000"/>
                  </a:srgbClr>
                </a:solidFill>
                <a:latin typeface="KaiTi"/>
                <a:ea typeface="KaiTi"/>
                <a:cs typeface="KaiTi"/>
              </a:rPr>
              <a:t>国内</a:t>
            </a:r>
            <a:endParaRPr sz="1200" dirty="0">
              <a:latin typeface="KaiTi"/>
              <a:ea typeface="KaiTi"/>
              <a:cs typeface="KaiTi"/>
            </a:endParaRPr>
          </a:p>
        </p:txBody>
      </p:sp>
      <p:sp>
        <p:nvSpPr>
          <p:cNvPr id="480" name="textbox 480"/>
          <p:cNvSpPr/>
          <p:nvPr/>
        </p:nvSpPr>
        <p:spPr>
          <a:xfrm>
            <a:off x="7929371" y="3924300"/>
            <a:ext cx="654050" cy="179704"/>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74000"/>
              </a:lnSpc>
              <a:tabLst/>
            </a:pPr>
            <a:endParaRPr sz="100" dirty="0">
              <a:latin typeface="Arial"/>
              <a:ea typeface="Arial"/>
              <a:cs typeface="Arial"/>
            </a:endParaRPr>
          </a:p>
          <a:p>
            <a:pPr marL="198754" algn="l" rtl="0" eaLnBrk="0">
              <a:lnSpc>
                <a:spcPct val="85000"/>
              </a:lnSpc>
              <a:tabLst/>
            </a:pPr>
            <a:r>
              <a:rPr sz="1200" b="1" kern="0" spc="-60" dirty="0">
                <a:solidFill>
                  <a:srgbClr val="000000">
                    <a:alpha val="100000"/>
                  </a:srgbClr>
                </a:solidFill>
                <a:latin typeface="KaiTi"/>
                <a:ea typeface="KaiTi"/>
                <a:cs typeface="KaiTi"/>
              </a:rPr>
              <a:t>国外</a:t>
            </a:r>
            <a:endParaRPr sz="1200" dirty="0">
              <a:latin typeface="KaiTi"/>
              <a:ea typeface="KaiTi"/>
              <a:cs typeface="KaiTi"/>
            </a:endParaRPr>
          </a:p>
        </p:txBody>
      </p:sp>
      <p:pic>
        <p:nvPicPr>
          <p:cNvPr id="482" name="picture 482"/>
          <p:cNvPicPr>
            <a:picLocks noChangeAspect="1"/>
          </p:cNvPicPr>
          <p:nvPr/>
        </p:nvPicPr>
        <p:blipFill>
          <a:blip r:embed="rId29"/>
          <a:stretch>
            <a:fillRect/>
          </a:stretch>
        </p:blipFill>
        <p:spPr>
          <a:xfrm rot="21600000">
            <a:off x="5711952" y="4611623"/>
            <a:ext cx="705611" cy="161544"/>
          </a:xfrm>
          <a:prstGeom prst="rect">
            <a:avLst/>
          </a:prstGeom>
        </p:spPr>
      </p:pic>
      <p:sp>
        <p:nvSpPr>
          <p:cNvPr id="484" name="rect 484"/>
          <p:cNvSpPr/>
          <p:nvPr/>
        </p:nvSpPr>
        <p:spPr>
          <a:xfrm>
            <a:off x="2677667" y="2193035"/>
            <a:ext cx="653796" cy="172211"/>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486" name="textbox 486"/>
          <p:cNvSpPr/>
          <p:nvPr/>
        </p:nvSpPr>
        <p:spPr>
          <a:xfrm>
            <a:off x="4582667" y="2182367"/>
            <a:ext cx="628015" cy="179070"/>
          </a:xfrm>
          <a:prstGeom prst="rect">
            <a:avLst/>
          </a:prstGeom>
          <a:solidFill>
            <a:srgbClr val="FFFFFF">
              <a:alpha val="100000"/>
            </a:srgbClr>
          </a:solidFill>
          <a:ln w="0" cap="flat">
            <a:noFill/>
            <a:prstDash val="solid"/>
            <a:miter lim="0"/>
          </a:ln>
        </p:spPr>
        <p:txBody>
          <a:bodyPr vert="horz" wrap="square" lIns="0" tIns="0" rIns="0" bIns="0"/>
          <a:lstStyle/>
          <a:p>
            <a:pPr algn="l" rtl="0" eaLnBrk="0">
              <a:lnSpc>
                <a:spcPct val="170000"/>
              </a:lnSpc>
              <a:tabLst/>
            </a:pPr>
            <a:endParaRPr sz="100" dirty="0">
              <a:latin typeface="Arial"/>
              <a:ea typeface="Arial"/>
              <a:cs typeface="Arial"/>
            </a:endParaRPr>
          </a:p>
          <a:p>
            <a:pPr marL="175260" algn="l" rtl="0" eaLnBrk="0">
              <a:lnSpc>
                <a:spcPct val="85000"/>
              </a:lnSpc>
              <a:tabLst/>
            </a:pPr>
            <a:r>
              <a:rPr sz="1200" b="1" kern="0" spc="-40" dirty="0">
                <a:solidFill>
                  <a:srgbClr val="000000">
                    <a:alpha val="100000"/>
                  </a:srgbClr>
                </a:solidFill>
                <a:latin typeface="KaiTi"/>
                <a:ea typeface="KaiTi"/>
                <a:cs typeface="KaiTi"/>
              </a:rPr>
              <a:t>海外</a:t>
            </a:r>
            <a:endParaRPr sz="1200" dirty="0">
              <a:latin typeface="KaiTi"/>
              <a:ea typeface="KaiTi"/>
              <a:cs typeface="KaiTi"/>
            </a:endParaRPr>
          </a:p>
        </p:txBody>
      </p:sp>
      <p:sp>
        <p:nvSpPr>
          <p:cNvPr id="488" name="rect 488"/>
          <p:cNvSpPr/>
          <p:nvPr/>
        </p:nvSpPr>
        <p:spPr>
          <a:xfrm>
            <a:off x="6344411" y="1423416"/>
            <a:ext cx="627888" cy="172211"/>
          </a:xfrm>
          <a:prstGeom prst="rect">
            <a:avLst/>
          </a:prstGeom>
          <a:solidFill>
            <a:srgbClr val="FFFFFF">
              <a:alpha val="100000"/>
            </a:srgbClr>
          </a:solidFill>
          <a:ln w="0" cap="flat">
            <a:noFill/>
            <a:prstDash val="solid"/>
            <a:miter lim="0"/>
          </a:ln>
        </p:spPr>
        <p:txBody>
          <a:bodyPr rtlCol="0"/>
          <a:lstStyle/>
          <a:p>
            <a:pPr algn="ctr"/>
            <a:endParaRPr lang="zh-CN" altLang="en-US"/>
          </a:p>
        </p:txBody>
      </p:sp>
      <p:sp>
        <p:nvSpPr>
          <p:cNvPr id="490" name="textbox 490"/>
          <p:cNvSpPr/>
          <p:nvPr/>
        </p:nvSpPr>
        <p:spPr>
          <a:xfrm>
            <a:off x="6345605" y="1437030"/>
            <a:ext cx="631190" cy="180975"/>
          </a:xfrm>
          <a:prstGeom prst="rect">
            <a:avLst/>
          </a:prstGeom>
          <a:noFill/>
          <a:ln w="0" cap="flat">
            <a:noFill/>
            <a:prstDash val="solid"/>
            <a:miter lim="0"/>
          </a:ln>
        </p:spPr>
        <p:txBody>
          <a:bodyPr vert="horz" wrap="square" lIns="0" tIns="0" rIns="0" bIns="0"/>
          <a:lstStyle/>
          <a:p>
            <a:pPr algn="l" rtl="0" eaLnBrk="0">
              <a:lnSpc>
                <a:spcPct val="82523"/>
              </a:lnSpc>
              <a:tabLst/>
            </a:pPr>
            <a:endParaRPr sz="100" dirty="0">
              <a:latin typeface="Arial"/>
              <a:ea typeface="Arial"/>
              <a:cs typeface="Arial"/>
            </a:endParaRPr>
          </a:p>
          <a:p>
            <a:pPr marL="12700" algn="l" rtl="0" eaLnBrk="0">
              <a:lnSpc>
                <a:spcPct val="85000"/>
              </a:lnSpc>
              <a:tabLst/>
            </a:pPr>
            <a:r>
              <a:rPr sz="1200" b="1" kern="0" spc="-20" dirty="0">
                <a:solidFill>
                  <a:srgbClr val="000000">
                    <a:alpha val="100000"/>
                  </a:srgbClr>
                </a:solidFill>
                <a:latin typeface="KaiTi"/>
                <a:ea typeface="KaiTi"/>
                <a:cs typeface="KaiTi"/>
              </a:rPr>
              <a:t>数据服务</a:t>
            </a:r>
            <a:endParaRPr sz="1200" dirty="0">
              <a:latin typeface="KaiTi"/>
              <a:ea typeface="KaiTi"/>
              <a:cs typeface="KaiTi"/>
            </a:endParaRPr>
          </a:p>
        </p:txBody>
      </p:sp>
      <p:pic>
        <p:nvPicPr>
          <p:cNvPr id="492" name="picture 492"/>
          <p:cNvPicPr>
            <a:picLocks noChangeAspect="1"/>
          </p:cNvPicPr>
          <p:nvPr/>
        </p:nvPicPr>
        <p:blipFill>
          <a:blip r:embed="rId30"/>
          <a:stretch>
            <a:fillRect/>
          </a:stretch>
        </p:blipFill>
        <p:spPr>
          <a:xfrm rot="21600000">
            <a:off x="6429755" y="4413503"/>
            <a:ext cx="341375" cy="217932"/>
          </a:xfrm>
          <a:prstGeom prst="rect">
            <a:avLst/>
          </a:prstGeom>
        </p:spPr>
      </p:pic>
      <p:sp>
        <p:nvSpPr>
          <p:cNvPr id="494" name="textbox 494"/>
          <p:cNvSpPr/>
          <p:nvPr/>
        </p:nvSpPr>
        <p:spPr>
          <a:xfrm>
            <a:off x="2863341" y="2207031"/>
            <a:ext cx="306070" cy="180975"/>
          </a:xfrm>
          <a:prstGeom prst="rect">
            <a:avLst/>
          </a:prstGeom>
          <a:noFill/>
          <a:ln w="0" cap="flat">
            <a:noFill/>
            <a:prstDash val="solid"/>
            <a:miter lim="0"/>
          </a:ln>
        </p:spPr>
        <p:txBody>
          <a:bodyPr vert="horz" wrap="square" lIns="0" tIns="0" rIns="0" bIns="0"/>
          <a:lstStyle/>
          <a:p>
            <a:pPr algn="l" rtl="0" eaLnBrk="0">
              <a:lnSpc>
                <a:spcPct val="82523"/>
              </a:lnSpc>
              <a:tabLst/>
            </a:pPr>
            <a:endParaRPr sz="100" dirty="0">
              <a:latin typeface="Arial"/>
              <a:ea typeface="Arial"/>
              <a:cs typeface="Arial"/>
            </a:endParaRPr>
          </a:p>
          <a:p>
            <a:pPr algn="r" rtl="0" eaLnBrk="0">
              <a:lnSpc>
                <a:spcPct val="85000"/>
              </a:lnSpc>
              <a:tabLst/>
            </a:pPr>
            <a:r>
              <a:rPr sz="1200" b="1" kern="0" spc="-60" dirty="0">
                <a:solidFill>
                  <a:srgbClr val="000000">
                    <a:alpha val="100000"/>
                  </a:srgbClr>
                </a:solidFill>
                <a:latin typeface="KaiTi"/>
                <a:ea typeface="KaiTi"/>
                <a:cs typeface="KaiTi"/>
              </a:rPr>
              <a:t>国内</a:t>
            </a:r>
            <a:endParaRPr sz="1200" dirty="0">
              <a:latin typeface="KaiTi"/>
              <a:ea typeface="KaiTi"/>
              <a:cs typeface="KaiT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rect 496"/>
          <p:cNvSpPr/>
          <p:nvPr/>
        </p:nvSpPr>
        <p:spPr>
          <a:xfrm>
            <a:off x="684276" y="3694176"/>
            <a:ext cx="2601467" cy="2269236"/>
          </a:xfrm>
          <a:prstGeom prst="rect">
            <a:avLst/>
          </a:prstGeom>
          <a:solidFill>
            <a:srgbClr val="DFA87F">
              <a:alpha val="17647"/>
            </a:srgbClr>
          </a:solidFill>
          <a:ln w="0" cap="flat">
            <a:noFill/>
            <a:prstDash val="solid"/>
            <a:miter lim="0"/>
          </a:ln>
        </p:spPr>
        <p:txBody>
          <a:bodyPr rtlCol="0"/>
          <a:lstStyle/>
          <a:p>
            <a:pPr algn="ctr"/>
            <a:endParaRPr lang="zh-CN" altLang="en-US"/>
          </a:p>
        </p:txBody>
      </p:sp>
      <p:pic>
        <p:nvPicPr>
          <p:cNvPr id="498" name="picture 498"/>
          <p:cNvPicPr>
            <a:picLocks noChangeAspect="1"/>
          </p:cNvPicPr>
          <p:nvPr/>
        </p:nvPicPr>
        <p:blipFill>
          <a:blip r:embed="rId2"/>
          <a:stretch>
            <a:fillRect/>
          </a:stretch>
        </p:blipFill>
        <p:spPr>
          <a:xfrm rot="21600000">
            <a:off x="9183623" y="5041391"/>
            <a:ext cx="2040635" cy="560832"/>
          </a:xfrm>
          <a:prstGeom prst="rect">
            <a:avLst/>
          </a:prstGeom>
        </p:spPr>
      </p:pic>
      <p:grpSp>
        <p:nvGrpSpPr>
          <p:cNvPr id="36" name="group 36"/>
          <p:cNvGrpSpPr/>
          <p:nvPr/>
        </p:nvGrpSpPr>
        <p:grpSpPr>
          <a:xfrm rot="21600000">
            <a:off x="9950196" y="3842004"/>
            <a:ext cx="507491" cy="507491"/>
            <a:chOff x="0" y="0"/>
            <a:chExt cx="507491" cy="507491"/>
          </a:xfrm>
        </p:grpSpPr>
        <p:sp>
          <p:nvSpPr>
            <p:cNvPr id="500" name="path 500"/>
            <p:cNvSpPr/>
            <p:nvPr/>
          </p:nvSpPr>
          <p:spPr>
            <a:xfrm>
              <a:off x="0" y="0"/>
              <a:ext cx="507491" cy="507491"/>
            </a:xfrm>
            <a:custGeom>
              <a:avLst/>
              <a:gdLst/>
              <a:ahLst/>
              <a:cxnLst/>
              <a:rect l="0" t="0" r="0" b="0"/>
              <a:pathLst>
                <a:path w="799" h="799">
                  <a:moveTo>
                    <a:pt x="0" y="399"/>
                  </a:moveTo>
                  <a:cubicBezTo>
                    <a:pt x="0" y="178"/>
                    <a:pt x="179" y="0"/>
                    <a:pt x="399" y="0"/>
                  </a:cubicBezTo>
                  <a:cubicBezTo>
                    <a:pt x="620" y="0"/>
                    <a:pt x="799" y="178"/>
                    <a:pt x="799" y="399"/>
                  </a:cubicBezTo>
                  <a:cubicBezTo>
                    <a:pt x="799" y="620"/>
                    <a:pt x="620" y="799"/>
                    <a:pt x="399" y="799"/>
                  </a:cubicBezTo>
                  <a:cubicBezTo>
                    <a:pt x="179" y="799"/>
                    <a:pt x="0" y="620"/>
                    <a:pt x="0" y="399"/>
                  </a:cubicBezTo>
                </a:path>
              </a:pathLst>
            </a:custGeom>
            <a:solidFill>
              <a:srgbClr val="BF756D">
                <a:alpha val="70196"/>
              </a:srgbClr>
            </a:solidFill>
            <a:ln w="0" cap="flat">
              <a:noFill/>
              <a:prstDash val="solid"/>
              <a:miter lim="0"/>
            </a:ln>
          </p:spPr>
          <p:txBody>
            <a:bodyPr rtlCol="0"/>
            <a:lstStyle/>
            <a:p>
              <a:pPr algn="ctr"/>
              <a:endParaRPr lang="zh-CN" altLang="en-US"/>
            </a:p>
          </p:txBody>
        </p:sp>
        <p:sp>
          <p:nvSpPr>
            <p:cNvPr id="502" name="path 502"/>
            <p:cNvSpPr/>
            <p:nvPr/>
          </p:nvSpPr>
          <p:spPr>
            <a:xfrm>
              <a:off x="99059" y="106679"/>
              <a:ext cx="307847" cy="297179"/>
            </a:xfrm>
            <a:custGeom>
              <a:avLst/>
              <a:gdLst/>
              <a:ahLst/>
              <a:cxnLst/>
              <a:rect l="0" t="0" r="0" b="0"/>
              <a:pathLst>
                <a:path w="484" h="467">
                  <a:moveTo>
                    <a:pt x="367" y="366"/>
                  </a:moveTo>
                  <a:lnTo>
                    <a:pt x="399" y="366"/>
                  </a:lnTo>
                  <a:lnTo>
                    <a:pt x="426" y="366"/>
                  </a:lnTo>
                  <a:lnTo>
                    <a:pt x="458" y="366"/>
                  </a:lnTo>
                  <a:cubicBezTo>
                    <a:pt x="473" y="366"/>
                    <a:pt x="484" y="379"/>
                    <a:pt x="484" y="395"/>
                  </a:cubicBezTo>
                  <a:lnTo>
                    <a:pt x="484" y="439"/>
                  </a:lnTo>
                  <a:cubicBezTo>
                    <a:pt x="484" y="455"/>
                    <a:pt x="472" y="467"/>
                    <a:pt x="458" y="467"/>
                  </a:cubicBezTo>
                  <a:lnTo>
                    <a:pt x="367" y="467"/>
                  </a:lnTo>
                  <a:cubicBezTo>
                    <a:pt x="353" y="467"/>
                    <a:pt x="341" y="455"/>
                    <a:pt x="341" y="439"/>
                  </a:cubicBezTo>
                  <a:lnTo>
                    <a:pt x="341" y="395"/>
                  </a:lnTo>
                  <a:cubicBezTo>
                    <a:pt x="341" y="379"/>
                    <a:pt x="353" y="366"/>
                    <a:pt x="367" y="366"/>
                  </a:cubicBezTo>
                  <a:moveTo>
                    <a:pt x="196" y="366"/>
                  </a:moveTo>
                  <a:lnTo>
                    <a:pt x="229" y="366"/>
                  </a:lnTo>
                  <a:lnTo>
                    <a:pt x="255" y="366"/>
                  </a:lnTo>
                  <a:lnTo>
                    <a:pt x="287" y="366"/>
                  </a:lnTo>
                  <a:cubicBezTo>
                    <a:pt x="302" y="366"/>
                    <a:pt x="314" y="379"/>
                    <a:pt x="314" y="395"/>
                  </a:cubicBezTo>
                  <a:lnTo>
                    <a:pt x="314" y="439"/>
                  </a:lnTo>
                  <a:cubicBezTo>
                    <a:pt x="314" y="455"/>
                    <a:pt x="302" y="467"/>
                    <a:pt x="287" y="467"/>
                  </a:cubicBezTo>
                  <a:lnTo>
                    <a:pt x="196" y="467"/>
                  </a:lnTo>
                  <a:cubicBezTo>
                    <a:pt x="182" y="467"/>
                    <a:pt x="170" y="455"/>
                    <a:pt x="170" y="439"/>
                  </a:cubicBezTo>
                  <a:lnTo>
                    <a:pt x="170" y="395"/>
                  </a:lnTo>
                  <a:cubicBezTo>
                    <a:pt x="170" y="379"/>
                    <a:pt x="182" y="366"/>
                    <a:pt x="196" y="366"/>
                  </a:cubicBezTo>
                  <a:moveTo>
                    <a:pt x="26" y="366"/>
                  </a:moveTo>
                  <a:lnTo>
                    <a:pt x="58" y="366"/>
                  </a:lnTo>
                  <a:lnTo>
                    <a:pt x="85" y="366"/>
                  </a:lnTo>
                  <a:lnTo>
                    <a:pt x="117" y="366"/>
                  </a:lnTo>
                  <a:cubicBezTo>
                    <a:pt x="131" y="366"/>
                    <a:pt x="143" y="379"/>
                    <a:pt x="143" y="395"/>
                  </a:cubicBezTo>
                  <a:lnTo>
                    <a:pt x="143" y="439"/>
                  </a:lnTo>
                  <a:cubicBezTo>
                    <a:pt x="143" y="455"/>
                    <a:pt x="131" y="467"/>
                    <a:pt x="117" y="467"/>
                  </a:cubicBezTo>
                  <a:lnTo>
                    <a:pt x="26" y="467"/>
                  </a:lnTo>
                  <a:cubicBezTo>
                    <a:pt x="11" y="467"/>
                    <a:pt x="0" y="455"/>
                    <a:pt x="0" y="439"/>
                  </a:cubicBezTo>
                  <a:lnTo>
                    <a:pt x="0" y="395"/>
                  </a:lnTo>
                  <a:cubicBezTo>
                    <a:pt x="0" y="379"/>
                    <a:pt x="11" y="366"/>
                    <a:pt x="26" y="366"/>
                  </a:cubicBezTo>
                  <a:moveTo>
                    <a:pt x="130" y="84"/>
                  </a:moveTo>
                  <a:cubicBezTo>
                    <a:pt x="130" y="86"/>
                    <a:pt x="129" y="87"/>
                    <a:pt x="129" y="88"/>
                  </a:cubicBezTo>
                  <a:lnTo>
                    <a:pt x="129" y="133"/>
                  </a:lnTo>
                  <a:lnTo>
                    <a:pt x="129" y="184"/>
                  </a:lnTo>
                  <a:cubicBezTo>
                    <a:pt x="129" y="198"/>
                    <a:pt x="138" y="207"/>
                    <a:pt x="151" y="207"/>
                  </a:cubicBezTo>
                  <a:lnTo>
                    <a:pt x="198" y="207"/>
                  </a:lnTo>
                  <a:cubicBezTo>
                    <a:pt x="243" y="207"/>
                    <a:pt x="288" y="207"/>
                    <a:pt x="333" y="207"/>
                  </a:cubicBezTo>
                  <a:cubicBezTo>
                    <a:pt x="346" y="207"/>
                    <a:pt x="354" y="198"/>
                    <a:pt x="354" y="185"/>
                  </a:cubicBezTo>
                  <a:lnTo>
                    <a:pt x="354" y="119"/>
                  </a:lnTo>
                  <a:lnTo>
                    <a:pt x="354" y="89"/>
                  </a:lnTo>
                  <a:lnTo>
                    <a:pt x="354" y="84"/>
                  </a:lnTo>
                  <a:lnTo>
                    <a:pt x="198" y="84"/>
                  </a:lnTo>
                  <a:lnTo>
                    <a:pt x="130" y="84"/>
                  </a:lnTo>
                  <a:close/>
                  <a:moveTo>
                    <a:pt x="330" y="28"/>
                  </a:moveTo>
                  <a:cubicBezTo>
                    <a:pt x="324" y="28"/>
                    <a:pt x="318" y="35"/>
                    <a:pt x="318" y="42"/>
                  </a:cubicBezTo>
                  <a:cubicBezTo>
                    <a:pt x="318" y="50"/>
                    <a:pt x="324" y="56"/>
                    <a:pt x="330" y="56"/>
                  </a:cubicBezTo>
                  <a:cubicBezTo>
                    <a:pt x="337" y="56"/>
                    <a:pt x="343" y="50"/>
                    <a:pt x="343" y="42"/>
                  </a:cubicBezTo>
                  <a:cubicBezTo>
                    <a:pt x="343" y="35"/>
                    <a:pt x="337" y="28"/>
                    <a:pt x="330" y="28"/>
                  </a:cubicBezTo>
                  <a:moveTo>
                    <a:pt x="287" y="28"/>
                  </a:moveTo>
                  <a:cubicBezTo>
                    <a:pt x="280" y="28"/>
                    <a:pt x="274" y="35"/>
                    <a:pt x="274" y="42"/>
                  </a:cubicBezTo>
                  <a:cubicBezTo>
                    <a:pt x="274" y="50"/>
                    <a:pt x="280" y="56"/>
                    <a:pt x="287" y="56"/>
                  </a:cubicBezTo>
                  <a:cubicBezTo>
                    <a:pt x="294" y="56"/>
                    <a:pt x="300" y="50"/>
                    <a:pt x="300" y="42"/>
                  </a:cubicBezTo>
                  <a:cubicBezTo>
                    <a:pt x="300" y="35"/>
                    <a:pt x="294" y="28"/>
                    <a:pt x="287" y="28"/>
                  </a:cubicBezTo>
                  <a:moveTo>
                    <a:pt x="243" y="28"/>
                  </a:moveTo>
                  <a:cubicBezTo>
                    <a:pt x="236" y="28"/>
                    <a:pt x="230" y="35"/>
                    <a:pt x="230" y="42"/>
                  </a:cubicBezTo>
                  <a:cubicBezTo>
                    <a:pt x="230" y="50"/>
                    <a:pt x="236" y="56"/>
                    <a:pt x="243" y="56"/>
                  </a:cubicBezTo>
                  <a:cubicBezTo>
                    <a:pt x="250" y="56"/>
                    <a:pt x="256" y="50"/>
                    <a:pt x="256" y="42"/>
                  </a:cubicBezTo>
                  <a:cubicBezTo>
                    <a:pt x="256" y="35"/>
                    <a:pt x="250" y="28"/>
                    <a:pt x="243" y="28"/>
                  </a:cubicBezTo>
                  <a:moveTo>
                    <a:pt x="151" y="0"/>
                  </a:moveTo>
                  <a:lnTo>
                    <a:pt x="198" y="0"/>
                  </a:lnTo>
                  <a:lnTo>
                    <a:pt x="333" y="0"/>
                  </a:lnTo>
                  <a:cubicBezTo>
                    <a:pt x="360" y="0"/>
                    <a:pt x="380" y="21"/>
                    <a:pt x="380" y="51"/>
                  </a:cubicBezTo>
                  <a:lnTo>
                    <a:pt x="380" y="133"/>
                  </a:lnTo>
                  <a:lnTo>
                    <a:pt x="380" y="185"/>
                  </a:lnTo>
                  <a:cubicBezTo>
                    <a:pt x="380" y="205"/>
                    <a:pt x="372" y="221"/>
                    <a:pt x="354" y="231"/>
                  </a:cubicBezTo>
                  <a:cubicBezTo>
                    <a:pt x="347" y="234"/>
                    <a:pt x="340" y="235"/>
                    <a:pt x="332" y="235"/>
                  </a:cubicBezTo>
                  <a:lnTo>
                    <a:pt x="255" y="235"/>
                  </a:lnTo>
                  <a:lnTo>
                    <a:pt x="255" y="289"/>
                  </a:lnTo>
                  <a:lnTo>
                    <a:pt x="413" y="289"/>
                  </a:lnTo>
                  <a:cubicBezTo>
                    <a:pt x="420" y="289"/>
                    <a:pt x="426" y="296"/>
                    <a:pt x="426" y="303"/>
                  </a:cubicBezTo>
                  <a:lnTo>
                    <a:pt x="426" y="342"/>
                  </a:lnTo>
                  <a:lnTo>
                    <a:pt x="400" y="342"/>
                  </a:lnTo>
                  <a:lnTo>
                    <a:pt x="400" y="317"/>
                  </a:lnTo>
                  <a:lnTo>
                    <a:pt x="255" y="317"/>
                  </a:lnTo>
                  <a:lnTo>
                    <a:pt x="255" y="342"/>
                  </a:lnTo>
                  <a:lnTo>
                    <a:pt x="229" y="342"/>
                  </a:lnTo>
                  <a:lnTo>
                    <a:pt x="229" y="317"/>
                  </a:lnTo>
                  <a:lnTo>
                    <a:pt x="85" y="317"/>
                  </a:lnTo>
                  <a:lnTo>
                    <a:pt x="85" y="317"/>
                  </a:lnTo>
                  <a:lnTo>
                    <a:pt x="85" y="342"/>
                  </a:lnTo>
                  <a:lnTo>
                    <a:pt x="58" y="342"/>
                  </a:lnTo>
                  <a:lnTo>
                    <a:pt x="58" y="303"/>
                  </a:lnTo>
                  <a:cubicBezTo>
                    <a:pt x="58" y="296"/>
                    <a:pt x="64" y="289"/>
                    <a:pt x="71" y="289"/>
                  </a:cubicBezTo>
                  <a:lnTo>
                    <a:pt x="229" y="289"/>
                  </a:lnTo>
                  <a:lnTo>
                    <a:pt x="229" y="235"/>
                  </a:lnTo>
                  <a:lnTo>
                    <a:pt x="198" y="235"/>
                  </a:lnTo>
                  <a:cubicBezTo>
                    <a:pt x="181" y="236"/>
                    <a:pt x="165" y="236"/>
                    <a:pt x="149" y="235"/>
                  </a:cubicBezTo>
                  <a:cubicBezTo>
                    <a:pt x="129" y="235"/>
                    <a:pt x="111" y="221"/>
                    <a:pt x="105" y="200"/>
                  </a:cubicBezTo>
                  <a:cubicBezTo>
                    <a:pt x="104" y="196"/>
                    <a:pt x="103" y="190"/>
                    <a:pt x="103" y="185"/>
                  </a:cubicBezTo>
                  <a:lnTo>
                    <a:pt x="103" y="133"/>
                  </a:lnTo>
                  <a:lnTo>
                    <a:pt x="103" y="50"/>
                  </a:lnTo>
                  <a:cubicBezTo>
                    <a:pt x="103" y="21"/>
                    <a:pt x="124" y="0"/>
                    <a:pt x="151" y="0"/>
                  </a:cubicBezTo>
                </a:path>
              </a:pathLst>
            </a:custGeom>
            <a:solidFill>
              <a:srgbClr val="FFFFFF">
                <a:alpha val="100000"/>
              </a:srgbClr>
            </a:solidFill>
            <a:ln w="0" cap="flat">
              <a:noFill/>
              <a:prstDash val="solid"/>
              <a:miter lim="0"/>
            </a:ln>
          </p:spPr>
          <p:txBody>
            <a:bodyPr rtlCol="0"/>
            <a:lstStyle/>
            <a:p>
              <a:pPr algn="ctr"/>
              <a:endParaRPr lang="zh-CN" altLang="en-US"/>
            </a:p>
          </p:txBody>
        </p:sp>
      </p:grpSp>
      <p:sp>
        <p:nvSpPr>
          <p:cNvPr id="504" name="rect 504"/>
          <p:cNvSpPr/>
          <p:nvPr/>
        </p:nvSpPr>
        <p:spPr>
          <a:xfrm>
            <a:off x="9017507" y="3694176"/>
            <a:ext cx="2599944" cy="2269236"/>
          </a:xfrm>
          <a:prstGeom prst="rect">
            <a:avLst/>
          </a:prstGeom>
          <a:solidFill>
            <a:srgbClr val="D9D9D9">
              <a:alpha val="17647"/>
            </a:srgbClr>
          </a:solidFill>
          <a:ln w="0" cap="flat">
            <a:noFill/>
            <a:prstDash val="solid"/>
            <a:miter lim="0"/>
          </a:ln>
        </p:spPr>
        <p:txBody>
          <a:bodyPr rtlCol="0"/>
          <a:lstStyle/>
          <a:p>
            <a:pPr algn="ctr"/>
            <a:endParaRPr lang="zh-CN" altLang="en-US"/>
          </a:p>
        </p:txBody>
      </p:sp>
      <p:pic>
        <p:nvPicPr>
          <p:cNvPr id="506" name="picture 506"/>
          <p:cNvPicPr>
            <a:picLocks noChangeAspect="1"/>
          </p:cNvPicPr>
          <p:nvPr/>
        </p:nvPicPr>
        <p:blipFill>
          <a:blip r:embed="rId3"/>
          <a:stretch>
            <a:fillRect/>
          </a:stretch>
        </p:blipFill>
        <p:spPr>
          <a:xfrm rot="21600000">
            <a:off x="4349495" y="5510784"/>
            <a:ext cx="533400" cy="341375"/>
          </a:xfrm>
          <a:prstGeom prst="rect">
            <a:avLst/>
          </a:prstGeom>
        </p:spPr>
      </p:pic>
      <p:grpSp>
        <p:nvGrpSpPr>
          <p:cNvPr id="38" name="group 38"/>
          <p:cNvGrpSpPr/>
          <p:nvPr/>
        </p:nvGrpSpPr>
        <p:grpSpPr>
          <a:xfrm rot="21600000">
            <a:off x="4472940" y="3842004"/>
            <a:ext cx="507491" cy="507491"/>
            <a:chOff x="0" y="0"/>
            <a:chExt cx="507491" cy="507491"/>
          </a:xfrm>
        </p:grpSpPr>
        <p:sp>
          <p:nvSpPr>
            <p:cNvPr id="508" name="path 508"/>
            <p:cNvSpPr/>
            <p:nvPr/>
          </p:nvSpPr>
          <p:spPr>
            <a:xfrm>
              <a:off x="0" y="0"/>
              <a:ext cx="507491" cy="507491"/>
            </a:xfrm>
            <a:custGeom>
              <a:avLst/>
              <a:gdLst/>
              <a:ahLst/>
              <a:cxnLst/>
              <a:rect l="0" t="0" r="0" b="0"/>
              <a:pathLst>
                <a:path w="799" h="799">
                  <a:moveTo>
                    <a:pt x="0" y="399"/>
                  </a:moveTo>
                  <a:cubicBezTo>
                    <a:pt x="0" y="178"/>
                    <a:pt x="178" y="0"/>
                    <a:pt x="399" y="0"/>
                  </a:cubicBezTo>
                  <a:cubicBezTo>
                    <a:pt x="620" y="0"/>
                    <a:pt x="799" y="178"/>
                    <a:pt x="799" y="399"/>
                  </a:cubicBezTo>
                  <a:cubicBezTo>
                    <a:pt x="799" y="620"/>
                    <a:pt x="620" y="799"/>
                    <a:pt x="399" y="799"/>
                  </a:cubicBezTo>
                  <a:cubicBezTo>
                    <a:pt x="178" y="799"/>
                    <a:pt x="0" y="620"/>
                    <a:pt x="0" y="399"/>
                  </a:cubicBezTo>
                </a:path>
              </a:pathLst>
            </a:custGeom>
            <a:solidFill>
              <a:srgbClr val="BF756D">
                <a:alpha val="70196"/>
              </a:srgbClr>
            </a:solidFill>
            <a:ln w="0" cap="flat">
              <a:noFill/>
              <a:prstDash val="solid"/>
              <a:miter lim="0"/>
            </a:ln>
          </p:spPr>
          <p:txBody>
            <a:bodyPr rtlCol="0"/>
            <a:lstStyle/>
            <a:p>
              <a:pPr algn="ctr"/>
              <a:endParaRPr lang="zh-CN" altLang="en-US"/>
            </a:p>
          </p:txBody>
        </p:sp>
        <p:sp>
          <p:nvSpPr>
            <p:cNvPr id="510" name="path 510"/>
            <p:cNvSpPr/>
            <p:nvPr/>
          </p:nvSpPr>
          <p:spPr>
            <a:xfrm>
              <a:off x="100583" y="106679"/>
              <a:ext cx="306324" cy="297179"/>
            </a:xfrm>
            <a:custGeom>
              <a:avLst/>
              <a:gdLst/>
              <a:ahLst/>
              <a:cxnLst/>
              <a:rect l="0" t="0" r="0" b="0"/>
              <a:pathLst>
                <a:path w="482" h="467">
                  <a:moveTo>
                    <a:pt x="186" y="305"/>
                  </a:moveTo>
                  <a:lnTo>
                    <a:pt x="186" y="320"/>
                  </a:lnTo>
                  <a:lnTo>
                    <a:pt x="242" y="320"/>
                  </a:lnTo>
                  <a:lnTo>
                    <a:pt x="299" y="320"/>
                  </a:lnTo>
                  <a:lnTo>
                    <a:pt x="299" y="305"/>
                  </a:lnTo>
                  <a:lnTo>
                    <a:pt x="242" y="305"/>
                  </a:lnTo>
                  <a:lnTo>
                    <a:pt x="186" y="305"/>
                  </a:lnTo>
                  <a:close/>
                  <a:moveTo>
                    <a:pt x="171" y="269"/>
                  </a:moveTo>
                  <a:lnTo>
                    <a:pt x="171" y="281"/>
                  </a:lnTo>
                  <a:lnTo>
                    <a:pt x="242" y="281"/>
                  </a:lnTo>
                  <a:lnTo>
                    <a:pt x="313" y="281"/>
                  </a:lnTo>
                  <a:lnTo>
                    <a:pt x="313" y="269"/>
                  </a:lnTo>
                  <a:lnTo>
                    <a:pt x="242" y="269"/>
                  </a:lnTo>
                  <a:lnTo>
                    <a:pt x="171" y="269"/>
                  </a:lnTo>
                  <a:close/>
                  <a:moveTo>
                    <a:pt x="155" y="232"/>
                  </a:moveTo>
                  <a:lnTo>
                    <a:pt x="155" y="246"/>
                  </a:lnTo>
                  <a:lnTo>
                    <a:pt x="242" y="246"/>
                  </a:lnTo>
                  <a:lnTo>
                    <a:pt x="328" y="246"/>
                  </a:lnTo>
                  <a:lnTo>
                    <a:pt x="328" y="232"/>
                  </a:lnTo>
                  <a:lnTo>
                    <a:pt x="242" y="232"/>
                  </a:lnTo>
                  <a:lnTo>
                    <a:pt x="155" y="232"/>
                  </a:lnTo>
                  <a:close/>
                  <a:moveTo>
                    <a:pt x="137" y="195"/>
                  </a:moveTo>
                  <a:lnTo>
                    <a:pt x="137" y="210"/>
                  </a:lnTo>
                  <a:lnTo>
                    <a:pt x="242" y="210"/>
                  </a:lnTo>
                  <a:lnTo>
                    <a:pt x="346" y="210"/>
                  </a:lnTo>
                  <a:lnTo>
                    <a:pt x="346" y="195"/>
                  </a:lnTo>
                  <a:lnTo>
                    <a:pt x="242" y="195"/>
                  </a:lnTo>
                  <a:lnTo>
                    <a:pt x="137" y="195"/>
                  </a:lnTo>
                  <a:close/>
                  <a:moveTo>
                    <a:pt x="161" y="139"/>
                  </a:moveTo>
                  <a:lnTo>
                    <a:pt x="324" y="139"/>
                  </a:lnTo>
                  <a:cubicBezTo>
                    <a:pt x="341" y="139"/>
                    <a:pt x="357" y="147"/>
                    <a:pt x="367" y="163"/>
                  </a:cubicBezTo>
                  <a:cubicBezTo>
                    <a:pt x="387" y="166"/>
                    <a:pt x="404" y="176"/>
                    <a:pt x="417" y="195"/>
                  </a:cubicBezTo>
                  <a:cubicBezTo>
                    <a:pt x="450" y="241"/>
                    <a:pt x="451" y="320"/>
                    <a:pt x="451" y="345"/>
                  </a:cubicBezTo>
                  <a:cubicBezTo>
                    <a:pt x="468" y="352"/>
                    <a:pt x="482" y="372"/>
                    <a:pt x="482" y="393"/>
                  </a:cubicBezTo>
                  <a:cubicBezTo>
                    <a:pt x="482" y="394"/>
                    <a:pt x="482" y="394"/>
                    <a:pt x="482" y="394"/>
                  </a:cubicBezTo>
                  <a:lnTo>
                    <a:pt x="457" y="394"/>
                  </a:lnTo>
                  <a:cubicBezTo>
                    <a:pt x="457" y="394"/>
                    <a:pt x="457" y="394"/>
                    <a:pt x="457" y="393"/>
                  </a:cubicBezTo>
                  <a:cubicBezTo>
                    <a:pt x="457" y="382"/>
                    <a:pt x="448" y="373"/>
                    <a:pt x="437" y="373"/>
                  </a:cubicBezTo>
                  <a:cubicBezTo>
                    <a:pt x="424" y="373"/>
                    <a:pt x="415" y="382"/>
                    <a:pt x="415" y="393"/>
                  </a:cubicBezTo>
                  <a:cubicBezTo>
                    <a:pt x="415" y="394"/>
                    <a:pt x="415" y="394"/>
                    <a:pt x="415" y="394"/>
                  </a:cubicBezTo>
                  <a:lnTo>
                    <a:pt x="390" y="394"/>
                  </a:lnTo>
                  <a:cubicBezTo>
                    <a:pt x="390" y="394"/>
                    <a:pt x="390" y="394"/>
                    <a:pt x="390" y="393"/>
                  </a:cubicBezTo>
                  <a:cubicBezTo>
                    <a:pt x="390" y="373"/>
                    <a:pt x="402" y="356"/>
                    <a:pt x="416" y="348"/>
                  </a:cubicBezTo>
                  <a:cubicBezTo>
                    <a:pt x="417" y="321"/>
                    <a:pt x="415" y="255"/>
                    <a:pt x="392" y="223"/>
                  </a:cubicBezTo>
                  <a:cubicBezTo>
                    <a:pt x="388" y="217"/>
                    <a:pt x="383" y="212"/>
                    <a:pt x="378" y="210"/>
                  </a:cubicBezTo>
                  <a:cubicBezTo>
                    <a:pt x="373" y="246"/>
                    <a:pt x="365" y="265"/>
                    <a:pt x="355" y="293"/>
                  </a:cubicBezTo>
                  <a:cubicBezTo>
                    <a:pt x="350" y="307"/>
                    <a:pt x="345" y="321"/>
                    <a:pt x="339" y="332"/>
                  </a:cubicBezTo>
                  <a:lnTo>
                    <a:pt x="339" y="366"/>
                  </a:lnTo>
                  <a:lnTo>
                    <a:pt x="339" y="367"/>
                  </a:lnTo>
                  <a:lnTo>
                    <a:pt x="339" y="403"/>
                  </a:lnTo>
                  <a:cubicBezTo>
                    <a:pt x="340" y="401"/>
                    <a:pt x="342" y="401"/>
                    <a:pt x="343" y="401"/>
                  </a:cubicBezTo>
                  <a:cubicBezTo>
                    <a:pt x="372" y="401"/>
                    <a:pt x="396" y="431"/>
                    <a:pt x="396" y="467"/>
                  </a:cubicBezTo>
                  <a:lnTo>
                    <a:pt x="290" y="467"/>
                  </a:lnTo>
                  <a:cubicBezTo>
                    <a:pt x="290" y="451"/>
                    <a:pt x="295" y="435"/>
                    <a:pt x="303" y="424"/>
                  </a:cubicBezTo>
                  <a:lnTo>
                    <a:pt x="303" y="367"/>
                  </a:lnTo>
                  <a:lnTo>
                    <a:pt x="287" y="367"/>
                  </a:lnTo>
                  <a:lnTo>
                    <a:pt x="287" y="357"/>
                  </a:lnTo>
                  <a:lnTo>
                    <a:pt x="197" y="357"/>
                  </a:lnTo>
                  <a:lnTo>
                    <a:pt x="197" y="367"/>
                  </a:lnTo>
                  <a:lnTo>
                    <a:pt x="181" y="367"/>
                  </a:lnTo>
                  <a:lnTo>
                    <a:pt x="181" y="424"/>
                  </a:lnTo>
                  <a:cubicBezTo>
                    <a:pt x="189" y="435"/>
                    <a:pt x="195" y="451"/>
                    <a:pt x="195" y="467"/>
                  </a:cubicBezTo>
                  <a:lnTo>
                    <a:pt x="89" y="467"/>
                  </a:lnTo>
                  <a:cubicBezTo>
                    <a:pt x="89" y="431"/>
                    <a:pt x="113" y="401"/>
                    <a:pt x="142" y="401"/>
                  </a:cubicBezTo>
                  <a:cubicBezTo>
                    <a:pt x="143" y="401"/>
                    <a:pt x="144" y="403"/>
                    <a:pt x="146" y="403"/>
                  </a:cubicBezTo>
                  <a:lnTo>
                    <a:pt x="146" y="367"/>
                  </a:lnTo>
                  <a:lnTo>
                    <a:pt x="146" y="366"/>
                  </a:lnTo>
                  <a:lnTo>
                    <a:pt x="146" y="332"/>
                  </a:lnTo>
                  <a:cubicBezTo>
                    <a:pt x="140" y="321"/>
                    <a:pt x="135" y="308"/>
                    <a:pt x="130" y="293"/>
                  </a:cubicBezTo>
                  <a:cubicBezTo>
                    <a:pt x="118" y="263"/>
                    <a:pt x="111" y="246"/>
                    <a:pt x="107" y="208"/>
                  </a:cubicBezTo>
                  <a:cubicBezTo>
                    <a:pt x="100" y="211"/>
                    <a:pt x="94" y="217"/>
                    <a:pt x="89" y="223"/>
                  </a:cubicBezTo>
                  <a:cubicBezTo>
                    <a:pt x="66" y="255"/>
                    <a:pt x="64" y="321"/>
                    <a:pt x="64" y="348"/>
                  </a:cubicBezTo>
                  <a:cubicBezTo>
                    <a:pt x="80" y="356"/>
                    <a:pt x="90" y="373"/>
                    <a:pt x="90" y="393"/>
                  </a:cubicBezTo>
                  <a:cubicBezTo>
                    <a:pt x="90" y="394"/>
                    <a:pt x="90" y="394"/>
                    <a:pt x="90" y="394"/>
                  </a:cubicBezTo>
                  <a:lnTo>
                    <a:pt x="66" y="394"/>
                  </a:lnTo>
                  <a:cubicBezTo>
                    <a:pt x="66" y="394"/>
                    <a:pt x="66" y="394"/>
                    <a:pt x="66" y="393"/>
                  </a:cubicBezTo>
                  <a:cubicBezTo>
                    <a:pt x="66" y="382"/>
                    <a:pt x="56" y="373"/>
                    <a:pt x="45" y="373"/>
                  </a:cubicBezTo>
                  <a:cubicBezTo>
                    <a:pt x="33" y="373"/>
                    <a:pt x="23" y="382"/>
                    <a:pt x="23" y="393"/>
                  </a:cubicBezTo>
                  <a:cubicBezTo>
                    <a:pt x="23" y="394"/>
                    <a:pt x="23" y="394"/>
                    <a:pt x="23" y="394"/>
                  </a:cubicBezTo>
                  <a:lnTo>
                    <a:pt x="0" y="394"/>
                  </a:lnTo>
                  <a:cubicBezTo>
                    <a:pt x="0" y="394"/>
                    <a:pt x="0" y="394"/>
                    <a:pt x="0" y="393"/>
                  </a:cubicBezTo>
                  <a:cubicBezTo>
                    <a:pt x="0" y="372"/>
                    <a:pt x="12" y="352"/>
                    <a:pt x="30" y="345"/>
                  </a:cubicBezTo>
                  <a:cubicBezTo>
                    <a:pt x="30" y="320"/>
                    <a:pt x="31" y="241"/>
                    <a:pt x="64" y="195"/>
                  </a:cubicBezTo>
                  <a:cubicBezTo>
                    <a:pt x="77" y="174"/>
                    <a:pt x="97" y="164"/>
                    <a:pt x="118" y="162"/>
                  </a:cubicBezTo>
                  <a:cubicBezTo>
                    <a:pt x="128" y="147"/>
                    <a:pt x="144" y="139"/>
                    <a:pt x="161" y="139"/>
                  </a:cubicBezTo>
                  <a:moveTo>
                    <a:pt x="210" y="0"/>
                  </a:moveTo>
                  <a:cubicBezTo>
                    <a:pt x="217" y="0"/>
                    <a:pt x="224" y="8"/>
                    <a:pt x="224" y="18"/>
                  </a:cubicBezTo>
                  <a:cubicBezTo>
                    <a:pt x="224" y="21"/>
                    <a:pt x="223" y="23"/>
                    <a:pt x="223" y="25"/>
                  </a:cubicBezTo>
                  <a:lnTo>
                    <a:pt x="262" y="25"/>
                  </a:lnTo>
                  <a:cubicBezTo>
                    <a:pt x="261" y="23"/>
                    <a:pt x="261" y="21"/>
                    <a:pt x="261" y="18"/>
                  </a:cubicBezTo>
                  <a:cubicBezTo>
                    <a:pt x="261" y="8"/>
                    <a:pt x="267" y="0"/>
                    <a:pt x="275" y="0"/>
                  </a:cubicBezTo>
                  <a:cubicBezTo>
                    <a:pt x="283" y="0"/>
                    <a:pt x="290" y="8"/>
                    <a:pt x="290" y="18"/>
                  </a:cubicBezTo>
                  <a:cubicBezTo>
                    <a:pt x="290" y="22"/>
                    <a:pt x="289" y="25"/>
                    <a:pt x="288" y="28"/>
                  </a:cubicBezTo>
                  <a:cubicBezTo>
                    <a:pt x="310" y="36"/>
                    <a:pt x="327" y="62"/>
                    <a:pt x="327" y="93"/>
                  </a:cubicBezTo>
                  <a:lnTo>
                    <a:pt x="327" y="132"/>
                  </a:lnTo>
                  <a:lnTo>
                    <a:pt x="243" y="132"/>
                  </a:lnTo>
                  <a:lnTo>
                    <a:pt x="158" y="132"/>
                  </a:lnTo>
                  <a:lnTo>
                    <a:pt x="158" y="93"/>
                  </a:lnTo>
                  <a:cubicBezTo>
                    <a:pt x="158" y="62"/>
                    <a:pt x="175" y="36"/>
                    <a:pt x="197" y="28"/>
                  </a:cubicBezTo>
                  <a:cubicBezTo>
                    <a:pt x="196" y="25"/>
                    <a:pt x="195" y="22"/>
                    <a:pt x="195" y="18"/>
                  </a:cubicBezTo>
                  <a:cubicBezTo>
                    <a:pt x="195" y="8"/>
                    <a:pt x="202" y="0"/>
                    <a:pt x="210" y="0"/>
                  </a:cubicBezTo>
                </a:path>
              </a:pathLst>
            </a:custGeom>
            <a:solidFill>
              <a:srgbClr val="FFFFFF">
                <a:alpha val="100000"/>
              </a:srgbClr>
            </a:solidFill>
            <a:ln w="0" cap="flat">
              <a:noFill/>
              <a:prstDash val="solid"/>
              <a:miter lim="0"/>
            </a:ln>
          </p:spPr>
          <p:txBody>
            <a:bodyPr rtlCol="0"/>
            <a:lstStyle/>
            <a:p>
              <a:pPr algn="ctr"/>
              <a:endParaRPr lang="zh-CN" altLang="en-US"/>
            </a:p>
          </p:txBody>
        </p:sp>
      </p:grpSp>
      <p:pic>
        <p:nvPicPr>
          <p:cNvPr id="512" name="picture 512"/>
          <p:cNvPicPr>
            <a:picLocks noChangeAspect="1"/>
          </p:cNvPicPr>
          <p:nvPr/>
        </p:nvPicPr>
        <p:blipFill>
          <a:blip r:embed="rId4"/>
          <a:stretch>
            <a:fillRect/>
          </a:stretch>
        </p:blipFill>
        <p:spPr>
          <a:xfrm rot="21600000">
            <a:off x="5100828" y="4930140"/>
            <a:ext cx="662940" cy="556260"/>
          </a:xfrm>
          <a:prstGeom prst="rect">
            <a:avLst/>
          </a:prstGeom>
        </p:spPr>
      </p:pic>
      <p:pic>
        <p:nvPicPr>
          <p:cNvPr id="514" name="picture 514"/>
          <p:cNvPicPr>
            <a:picLocks noChangeAspect="1"/>
          </p:cNvPicPr>
          <p:nvPr/>
        </p:nvPicPr>
        <p:blipFill>
          <a:blip r:embed="rId5"/>
          <a:stretch>
            <a:fillRect/>
          </a:stretch>
        </p:blipFill>
        <p:spPr>
          <a:xfrm rot="21600000">
            <a:off x="3579875" y="4981955"/>
            <a:ext cx="1135379" cy="440436"/>
          </a:xfrm>
          <a:prstGeom prst="rect">
            <a:avLst/>
          </a:prstGeom>
        </p:spPr>
      </p:pic>
      <p:sp>
        <p:nvSpPr>
          <p:cNvPr id="516" name="rect 516"/>
          <p:cNvSpPr/>
          <p:nvPr/>
        </p:nvSpPr>
        <p:spPr>
          <a:xfrm>
            <a:off x="3429000" y="3694176"/>
            <a:ext cx="2599944" cy="2269236"/>
          </a:xfrm>
          <a:prstGeom prst="rect">
            <a:avLst/>
          </a:prstGeom>
          <a:solidFill>
            <a:srgbClr val="DFA87F">
              <a:alpha val="17647"/>
            </a:srgbClr>
          </a:solidFill>
          <a:ln w="0" cap="flat">
            <a:noFill/>
            <a:prstDash val="solid"/>
            <a:miter lim="0"/>
          </a:ln>
        </p:spPr>
        <p:txBody>
          <a:bodyPr rtlCol="0"/>
          <a:lstStyle/>
          <a:p>
            <a:pPr algn="ctr"/>
            <a:endParaRPr lang="zh-CN" altLang="en-US"/>
          </a:p>
        </p:txBody>
      </p:sp>
      <p:sp>
        <p:nvSpPr>
          <p:cNvPr id="518" name="textbox 518"/>
          <p:cNvSpPr/>
          <p:nvPr/>
        </p:nvSpPr>
        <p:spPr>
          <a:xfrm>
            <a:off x="6167628" y="3694176"/>
            <a:ext cx="2600325" cy="2269489"/>
          </a:xfrm>
          <a:prstGeom prst="rect">
            <a:avLst/>
          </a:prstGeom>
          <a:solidFill>
            <a:srgbClr val="DFA87F">
              <a:alpha val="17647"/>
            </a:srgbClr>
          </a:solidFill>
          <a:ln w="0" cap="flat">
            <a:noFill/>
            <a:prstDash val="solid"/>
            <a:miter lim="0"/>
          </a:ln>
        </p:spPr>
        <p:txBody>
          <a:bodyPr vert="horz" wrap="square" lIns="0" tIns="0" rIns="0" bIns="0"/>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7949"/>
              </a:lnSpc>
              <a:tabLst/>
            </a:pPr>
            <a:endParaRPr sz="100" dirty="0">
              <a:latin typeface="Arial"/>
              <a:ea typeface="Arial"/>
              <a:cs typeface="Arial"/>
            </a:endParaRPr>
          </a:p>
          <a:p>
            <a:pPr marL="400050" algn="l" rtl="0" eaLnBrk="0">
              <a:lnSpc>
                <a:spcPct val="86000"/>
              </a:lnSpc>
              <a:tabLst/>
            </a:pPr>
            <a:r>
              <a:rPr sz="1800" b="1" kern="0" spc="-30" dirty="0">
                <a:solidFill>
                  <a:srgbClr val="000000">
                    <a:alpha val="100000"/>
                  </a:srgbClr>
                </a:solidFill>
                <a:latin typeface="KaiTi"/>
                <a:ea typeface="KaiTi"/>
                <a:cs typeface="KaiTi"/>
              </a:rPr>
              <a:t>车载世界模型赛道</a:t>
            </a:r>
            <a:endParaRPr sz="1800" dirty="0">
              <a:latin typeface="KaiTi"/>
              <a:ea typeface="KaiTi"/>
              <a:cs typeface="KaiTi"/>
            </a:endParaRPr>
          </a:p>
        </p:txBody>
      </p:sp>
      <p:pic>
        <p:nvPicPr>
          <p:cNvPr id="520" name="picture 520"/>
          <p:cNvPicPr>
            <a:picLocks noChangeAspect="1"/>
          </p:cNvPicPr>
          <p:nvPr/>
        </p:nvPicPr>
        <p:blipFill>
          <a:blip r:embed="rId6"/>
          <a:stretch>
            <a:fillRect/>
          </a:stretch>
        </p:blipFill>
        <p:spPr>
          <a:xfrm rot="21600000">
            <a:off x="672084" y="1732788"/>
            <a:ext cx="2630424" cy="1962911"/>
          </a:xfrm>
          <a:prstGeom prst="rect">
            <a:avLst/>
          </a:prstGeom>
        </p:spPr>
      </p:pic>
      <p:pic>
        <p:nvPicPr>
          <p:cNvPr id="522" name="picture 522"/>
          <p:cNvPicPr>
            <a:picLocks noChangeAspect="1"/>
          </p:cNvPicPr>
          <p:nvPr/>
        </p:nvPicPr>
        <p:blipFill>
          <a:blip r:embed="rId7"/>
          <a:stretch>
            <a:fillRect/>
          </a:stretch>
        </p:blipFill>
        <p:spPr>
          <a:xfrm rot="21600000">
            <a:off x="3400044" y="1732788"/>
            <a:ext cx="2628900" cy="1961387"/>
          </a:xfrm>
          <a:prstGeom prst="rect">
            <a:avLst/>
          </a:prstGeom>
        </p:spPr>
      </p:pic>
      <p:pic>
        <p:nvPicPr>
          <p:cNvPr id="524" name="picture 524"/>
          <p:cNvPicPr>
            <a:picLocks noChangeAspect="1"/>
          </p:cNvPicPr>
          <p:nvPr/>
        </p:nvPicPr>
        <p:blipFill>
          <a:blip r:embed="rId8"/>
          <a:stretch>
            <a:fillRect/>
          </a:stretch>
        </p:blipFill>
        <p:spPr>
          <a:xfrm rot="21600000">
            <a:off x="6138671" y="1732788"/>
            <a:ext cx="2628900" cy="1961387"/>
          </a:xfrm>
          <a:prstGeom prst="rect">
            <a:avLst/>
          </a:prstGeom>
        </p:spPr>
      </p:pic>
      <p:pic>
        <p:nvPicPr>
          <p:cNvPr id="526" name="picture 526"/>
          <p:cNvPicPr>
            <a:picLocks noChangeAspect="1"/>
          </p:cNvPicPr>
          <p:nvPr/>
        </p:nvPicPr>
        <p:blipFill>
          <a:blip r:embed="rId9"/>
          <a:stretch>
            <a:fillRect/>
          </a:stretch>
        </p:blipFill>
        <p:spPr>
          <a:xfrm rot="21600000">
            <a:off x="8988552" y="1732788"/>
            <a:ext cx="2628900" cy="1961387"/>
          </a:xfrm>
          <a:prstGeom prst="rect">
            <a:avLst/>
          </a:prstGeom>
        </p:spPr>
      </p:pic>
      <p:sp>
        <p:nvSpPr>
          <p:cNvPr id="528" name="textbox 528"/>
          <p:cNvSpPr/>
          <p:nvPr/>
        </p:nvSpPr>
        <p:spPr>
          <a:xfrm>
            <a:off x="649223" y="1156716"/>
            <a:ext cx="10858500" cy="411480"/>
          </a:xfrm>
          <a:prstGeom prst="rect">
            <a:avLst/>
          </a:prstGeom>
          <a:solidFill>
            <a:srgbClr val="BF756D">
              <a:alpha val="100000"/>
            </a:srgbClr>
          </a:solidFill>
          <a:ln w="0" cap="flat">
            <a:noFill/>
            <a:prstDash val="solid"/>
            <a:miter lim="0"/>
          </a:ln>
        </p:spPr>
        <p:txBody>
          <a:bodyPr vert="horz" wrap="square" lIns="0" tIns="0" rIns="0" bIns="0"/>
          <a:lstStyle/>
          <a:p>
            <a:pPr algn="l" rtl="0" eaLnBrk="0">
              <a:lnSpc>
                <a:spcPct val="117000"/>
              </a:lnSpc>
              <a:tabLst/>
            </a:pPr>
            <a:endParaRPr sz="500" dirty="0">
              <a:latin typeface="Arial"/>
              <a:ea typeface="Arial"/>
              <a:cs typeface="Arial"/>
            </a:endParaRPr>
          </a:p>
          <a:p>
            <a:pPr marL="3960495" algn="l" rtl="0" eaLnBrk="0">
              <a:lnSpc>
                <a:spcPct val="86000"/>
              </a:lnSpc>
              <a:spcBef>
                <a:spcPts val="5"/>
              </a:spcBef>
              <a:tabLst/>
            </a:pPr>
            <a:r>
              <a:rPr sz="2000" b="1" kern="0" spc="-20" dirty="0">
                <a:solidFill>
                  <a:srgbClr val="FFFFFF">
                    <a:alpha val="100000"/>
                  </a:srgbClr>
                </a:solidFill>
                <a:latin typeface="KaiTi"/>
                <a:ea typeface="KaiTi"/>
                <a:cs typeface="KaiTi"/>
              </a:rPr>
              <a:t>核心故事</a:t>
            </a:r>
            <a:r>
              <a:rPr sz="2000" kern="0" spc="-20" dirty="0">
                <a:solidFill>
                  <a:srgbClr val="FFFFFF">
                    <a:alpha val="100000"/>
                  </a:srgbClr>
                </a:solidFill>
                <a:latin typeface="KaiTi"/>
                <a:ea typeface="KaiTi"/>
                <a:cs typeface="KaiTi"/>
              </a:rPr>
              <a:t> </a:t>
            </a:r>
            <a:r>
              <a:rPr sz="2000" b="1" kern="0" spc="-20" dirty="0">
                <a:solidFill>
                  <a:srgbClr val="FFFFFF">
                    <a:alpha val="100000"/>
                  </a:srgbClr>
                </a:solidFill>
                <a:latin typeface="KaiTi"/>
                <a:ea typeface="KaiTi"/>
                <a:cs typeface="KaiTi"/>
              </a:rPr>
              <a:t>&amp;</a:t>
            </a:r>
            <a:r>
              <a:rPr sz="2000" kern="0" spc="220" dirty="0">
                <a:solidFill>
                  <a:srgbClr val="FFFFFF">
                    <a:alpha val="100000"/>
                  </a:srgbClr>
                </a:solidFill>
                <a:latin typeface="KaiTi"/>
                <a:ea typeface="KaiTi"/>
                <a:cs typeface="KaiTi"/>
              </a:rPr>
              <a:t> </a:t>
            </a:r>
            <a:r>
              <a:rPr sz="2000" b="1" kern="0" spc="-20" dirty="0">
                <a:solidFill>
                  <a:srgbClr val="FFFFFF">
                    <a:alpha val="100000"/>
                  </a:srgbClr>
                </a:solidFill>
                <a:latin typeface="KaiTi"/>
                <a:ea typeface="KaiTi"/>
                <a:cs typeface="KaiTi"/>
              </a:rPr>
              <a:t>交易要素详解</a:t>
            </a:r>
            <a:endParaRPr sz="2000" dirty="0">
              <a:latin typeface="KaiTi"/>
              <a:ea typeface="KaiTi"/>
              <a:cs typeface="KaiTi"/>
            </a:endParaRPr>
          </a:p>
        </p:txBody>
      </p:sp>
      <p:sp>
        <p:nvSpPr>
          <p:cNvPr id="530" name="textbox 530"/>
          <p:cNvSpPr/>
          <p:nvPr/>
        </p:nvSpPr>
        <p:spPr>
          <a:xfrm>
            <a:off x="6268600" y="6070150"/>
            <a:ext cx="2403475" cy="537844"/>
          </a:xfrm>
          <a:prstGeom prst="rect">
            <a:avLst/>
          </a:prstGeom>
          <a:noFill/>
          <a:ln w="0" cap="flat">
            <a:noFill/>
            <a:prstDash val="solid"/>
            <a:miter lim="0"/>
          </a:ln>
        </p:spPr>
        <p:txBody>
          <a:bodyPr vert="horz" wrap="square" lIns="0" tIns="0" rIns="0" bIns="0"/>
          <a:lstStyle/>
          <a:p>
            <a:pPr algn="l" rtl="0" eaLnBrk="0">
              <a:lnSpc>
                <a:spcPct val="80060"/>
              </a:lnSpc>
              <a:tabLst/>
            </a:pPr>
            <a:endParaRPr sz="100" dirty="0">
              <a:latin typeface="Arial"/>
              <a:ea typeface="Arial"/>
              <a:cs typeface="Arial"/>
            </a:endParaRPr>
          </a:p>
          <a:p>
            <a:pPr marL="12700" algn="l" rtl="0" eaLnBrk="0">
              <a:lnSpc>
                <a:spcPct val="86000"/>
              </a:lnSpc>
              <a:tabLst/>
            </a:pPr>
            <a:r>
              <a:rPr sz="1100" b="1" kern="0" spc="0" dirty="0">
                <a:solidFill>
                  <a:srgbClr val="000000">
                    <a:alpha val="100000"/>
                  </a:srgbClr>
                </a:solidFill>
                <a:latin typeface="KaiTi"/>
                <a:ea typeface="KaiTi"/>
                <a:cs typeface="KaiTi"/>
              </a:rPr>
              <a:t>轻舟智航：</a:t>
            </a:r>
            <a:r>
              <a:rPr sz="1100" kern="0" spc="0" dirty="0">
                <a:solidFill>
                  <a:srgbClr val="000000">
                    <a:alpha val="100000"/>
                  </a:srgbClr>
                </a:solidFill>
                <a:latin typeface="KaiTi"/>
                <a:ea typeface="KaiTi"/>
                <a:cs typeface="KaiTi"/>
              </a:rPr>
              <a:t>世界模型</a:t>
            </a:r>
            <a:r>
              <a:rPr sz="1100" kern="0" spc="0" dirty="0">
                <a:solidFill>
                  <a:srgbClr val="000000">
                    <a:alpha val="100000"/>
                  </a:srgbClr>
                </a:solidFill>
                <a:latin typeface="KaiTi"/>
                <a:ea typeface="KaiTi"/>
                <a:cs typeface="KaiTi"/>
              </a:rPr>
              <a:t> </a:t>
            </a:r>
            <a:r>
              <a:rPr sz="1100" kern="0" spc="0" dirty="0">
                <a:solidFill>
                  <a:srgbClr val="000000">
                    <a:alpha val="100000"/>
                  </a:srgbClr>
                </a:solidFill>
                <a:latin typeface="KaiTi"/>
                <a:ea typeface="KaiTi"/>
                <a:cs typeface="KaiTi"/>
              </a:rPr>
              <a:t>+</a:t>
            </a:r>
            <a:r>
              <a:rPr sz="1100" kern="0" spc="0" dirty="0">
                <a:solidFill>
                  <a:srgbClr val="000000">
                    <a:alpha val="100000"/>
                  </a:srgbClr>
                </a:solidFill>
                <a:latin typeface="KaiTi"/>
                <a:ea typeface="KaiTi"/>
                <a:cs typeface="KaiTi"/>
              </a:rPr>
              <a:t> </a:t>
            </a:r>
            <a:r>
              <a:rPr sz="1100" kern="0" spc="0" dirty="0">
                <a:solidFill>
                  <a:srgbClr val="000000">
                    <a:alpha val="100000"/>
                  </a:srgbClr>
                </a:solidFill>
                <a:latin typeface="KaiTi"/>
                <a:ea typeface="KaiTi"/>
                <a:cs typeface="KaiTi"/>
              </a:rPr>
              <a:t>强</a:t>
            </a:r>
            <a:r>
              <a:rPr sz="1100" kern="0" spc="-10" dirty="0">
                <a:solidFill>
                  <a:srgbClr val="000000">
                    <a:alpha val="100000"/>
                  </a:srgbClr>
                </a:solidFill>
                <a:latin typeface="KaiTi"/>
                <a:ea typeface="KaiTi"/>
                <a:cs typeface="KaiTi"/>
              </a:rPr>
              <a:t>化学习</a:t>
            </a:r>
            <a:r>
              <a:rPr sz="1100" kern="0" spc="-10" dirty="0">
                <a:solidFill>
                  <a:srgbClr val="000000">
                    <a:alpha val="100000"/>
                  </a:srgbClr>
                </a:solidFill>
                <a:latin typeface="KaiTi"/>
                <a:ea typeface="KaiTi"/>
                <a:cs typeface="KaiTi"/>
              </a:rPr>
              <a:t> </a:t>
            </a:r>
            <a:r>
              <a:rPr sz="1100" kern="0" spc="-10" dirty="0">
                <a:solidFill>
                  <a:srgbClr val="000000">
                    <a:alpha val="100000"/>
                  </a:srgbClr>
                </a:solidFill>
                <a:latin typeface="KaiTi"/>
                <a:ea typeface="KaiTi"/>
                <a:cs typeface="KaiTi"/>
              </a:rPr>
              <a:t>=</a:t>
            </a:r>
            <a:r>
              <a:rPr sz="1100" kern="0" spc="-10" dirty="0">
                <a:solidFill>
                  <a:srgbClr val="000000">
                    <a:alpha val="100000"/>
                  </a:srgbClr>
                </a:solidFill>
                <a:latin typeface="KaiTi"/>
                <a:ea typeface="KaiTi"/>
                <a:cs typeface="KaiTi"/>
              </a:rPr>
              <a:t> </a:t>
            </a:r>
            <a:r>
              <a:rPr sz="1100" kern="0" spc="-10" dirty="0">
                <a:solidFill>
                  <a:srgbClr val="000000">
                    <a:alpha val="100000"/>
                  </a:srgbClr>
                </a:solidFill>
                <a:latin typeface="Times New Roman"/>
                <a:ea typeface="Times New Roman"/>
                <a:cs typeface="Times New Roman"/>
              </a:rPr>
              <a:t>AI</a:t>
            </a:r>
            <a:endParaRPr sz="1100" dirty="0">
              <a:latin typeface="Times New Roman"/>
              <a:ea typeface="Times New Roman"/>
              <a:cs typeface="Times New Roman"/>
            </a:endParaRPr>
          </a:p>
          <a:p>
            <a:pPr marL="920114" algn="l" rtl="0" eaLnBrk="0">
              <a:lnSpc>
                <a:spcPct val="86000"/>
              </a:lnSpc>
              <a:spcBef>
                <a:spcPts val="317"/>
              </a:spcBef>
              <a:tabLst/>
            </a:pPr>
            <a:r>
              <a:rPr sz="1100" kern="0" spc="-10" dirty="0">
                <a:solidFill>
                  <a:srgbClr val="000000">
                    <a:alpha val="100000"/>
                  </a:srgbClr>
                </a:solidFill>
                <a:latin typeface="KaiTi"/>
                <a:ea typeface="KaiTi"/>
                <a:cs typeface="KaiTi"/>
              </a:rPr>
              <a:t>虚拟驾校</a:t>
            </a:r>
            <a:endParaRPr sz="1100" dirty="0">
              <a:latin typeface="KaiTi"/>
              <a:ea typeface="KaiTi"/>
              <a:cs typeface="KaiTi"/>
            </a:endParaRPr>
          </a:p>
          <a:p>
            <a:pPr marL="194945" algn="l" rtl="0" eaLnBrk="0">
              <a:lnSpc>
                <a:spcPct val="85000"/>
              </a:lnSpc>
              <a:spcBef>
                <a:spcPts val="328"/>
              </a:spcBef>
              <a:tabLst/>
            </a:pPr>
            <a:r>
              <a:rPr sz="1100" b="1" kern="0" spc="0" dirty="0">
                <a:solidFill>
                  <a:srgbClr val="000000">
                    <a:alpha val="100000"/>
                  </a:srgbClr>
                </a:solidFill>
                <a:latin typeface="KaiTi"/>
                <a:ea typeface="KaiTi"/>
                <a:cs typeface="KaiTi"/>
              </a:rPr>
              <a:t>商汤：</a:t>
            </a:r>
            <a:r>
              <a:rPr sz="1100" kern="0" spc="0" dirty="0">
                <a:solidFill>
                  <a:srgbClr val="000000">
                    <a:alpha val="100000"/>
                  </a:srgbClr>
                </a:solidFill>
                <a:latin typeface="Times New Roman"/>
                <a:ea typeface="Times New Roman"/>
                <a:cs typeface="Times New Roman"/>
              </a:rPr>
              <a:t>SenseAu</a:t>
            </a:r>
            <a:r>
              <a:rPr sz="1100" kern="0" spc="-10" dirty="0">
                <a:solidFill>
                  <a:srgbClr val="000000">
                    <a:alpha val="100000"/>
                  </a:srgbClr>
                </a:solidFill>
                <a:latin typeface="Times New Roman"/>
                <a:ea typeface="Times New Roman"/>
                <a:cs typeface="Times New Roman"/>
              </a:rPr>
              <a:t>to Kaiwu </a:t>
            </a:r>
            <a:r>
              <a:rPr sz="1100" kern="0" spc="-10" dirty="0">
                <a:solidFill>
                  <a:srgbClr val="000000">
                    <a:alpha val="100000"/>
                  </a:srgbClr>
                </a:solidFill>
                <a:latin typeface="KaiTi"/>
                <a:ea typeface="KaiTi"/>
                <a:cs typeface="KaiTi"/>
              </a:rPr>
              <a:t>世界模型</a:t>
            </a:r>
            <a:endParaRPr sz="1100" dirty="0">
              <a:latin typeface="KaiTi"/>
              <a:ea typeface="KaiTi"/>
              <a:cs typeface="KaiTi"/>
            </a:endParaRPr>
          </a:p>
        </p:txBody>
      </p:sp>
      <p:pic>
        <p:nvPicPr>
          <p:cNvPr id="532" name="picture 532"/>
          <p:cNvPicPr>
            <a:picLocks noChangeAspect="1"/>
          </p:cNvPicPr>
          <p:nvPr/>
        </p:nvPicPr>
        <p:blipFill>
          <a:blip r:embed="rId10"/>
          <a:stretch>
            <a:fillRect/>
          </a:stretch>
        </p:blipFill>
        <p:spPr>
          <a:xfrm rot="21600000">
            <a:off x="6673596" y="4981955"/>
            <a:ext cx="1559052" cy="710183"/>
          </a:xfrm>
          <a:prstGeom prst="rect">
            <a:avLst/>
          </a:prstGeom>
        </p:spPr>
      </p:pic>
      <p:sp>
        <p:nvSpPr>
          <p:cNvPr id="534" name="textbox 534"/>
          <p:cNvSpPr/>
          <p:nvPr/>
        </p:nvSpPr>
        <p:spPr>
          <a:xfrm>
            <a:off x="554049" y="419892"/>
            <a:ext cx="2859404" cy="381000"/>
          </a:xfrm>
          <a:prstGeom prst="rect">
            <a:avLst/>
          </a:prstGeom>
          <a:noFill/>
          <a:ln w="0" cap="flat">
            <a:noFill/>
            <a:prstDash val="solid"/>
            <a:miter lim="0"/>
          </a:ln>
        </p:spPr>
        <p:txBody>
          <a:bodyPr vert="horz" wrap="square" lIns="0" tIns="0" rIns="0" bIns="0"/>
          <a:lstStyle/>
          <a:p>
            <a:pPr algn="l" rtl="0" eaLnBrk="0">
              <a:lnSpc>
                <a:spcPct val="91562"/>
              </a:lnSpc>
              <a:tabLst/>
            </a:pPr>
            <a:endParaRPr sz="100" dirty="0">
              <a:latin typeface="Arial"/>
              <a:ea typeface="Arial"/>
              <a:cs typeface="Arial"/>
            </a:endParaRPr>
          </a:p>
          <a:p>
            <a:pPr marL="12700" algn="l" rtl="0" eaLnBrk="0">
              <a:lnSpc>
                <a:spcPct val="86000"/>
              </a:lnSpc>
              <a:tabLst/>
            </a:pPr>
            <a:r>
              <a:rPr sz="2700" b="1" kern="0" spc="70" dirty="0">
                <a:solidFill>
                  <a:srgbClr val="BF756D">
                    <a:alpha val="100000"/>
                  </a:srgbClr>
                </a:solidFill>
                <a:latin typeface="KaiTi"/>
                <a:ea typeface="KaiTi"/>
                <a:cs typeface="KaiTi"/>
              </a:rPr>
              <a:t>市场玩家融资路径</a:t>
            </a:r>
            <a:endParaRPr sz="2700" dirty="0">
              <a:latin typeface="KaiTi"/>
              <a:ea typeface="KaiTi"/>
              <a:cs typeface="KaiTi"/>
            </a:endParaRPr>
          </a:p>
        </p:txBody>
      </p:sp>
      <p:sp>
        <p:nvSpPr>
          <p:cNvPr id="536" name="textbox 536"/>
          <p:cNvSpPr/>
          <p:nvPr/>
        </p:nvSpPr>
        <p:spPr>
          <a:xfrm>
            <a:off x="9047657" y="6085585"/>
            <a:ext cx="2307589" cy="400050"/>
          </a:xfrm>
          <a:prstGeom prst="rect">
            <a:avLst/>
          </a:prstGeom>
          <a:noFill/>
          <a:ln w="0" cap="flat">
            <a:noFill/>
            <a:prstDash val="solid"/>
            <a:miter lim="0"/>
          </a:ln>
        </p:spPr>
        <p:txBody>
          <a:bodyPr vert="horz" wrap="square" lIns="0" tIns="0" rIns="0" bIns="0"/>
          <a:lstStyle/>
          <a:p>
            <a:pPr algn="l" rtl="0" eaLnBrk="0">
              <a:lnSpc>
                <a:spcPct val="82243"/>
              </a:lnSpc>
              <a:tabLst/>
            </a:pPr>
            <a:endParaRPr sz="100" dirty="0">
              <a:latin typeface="Arial"/>
              <a:ea typeface="Arial"/>
              <a:cs typeface="Arial"/>
            </a:endParaRPr>
          </a:p>
          <a:p>
            <a:pPr marL="12700" algn="l" rtl="0" eaLnBrk="0">
              <a:lnSpc>
                <a:spcPct val="86000"/>
              </a:lnSpc>
              <a:tabLst/>
            </a:pPr>
            <a:r>
              <a:rPr sz="1200" b="1" kern="0" spc="0" dirty="0">
                <a:solidFill>
                  <a:srgbClr val="000000">
                    <a:alpha val="100000"/>
                  </a:srgbClr>
                </a:solidFill>
                <a:latin typeface="KaiTi"/>
                <a:ea typeface="KaiTi"/>
                <a:cs typeface="KaiTi"/>
              </a:rPr>
              <a:t>极智嘉：</a:t>
            </a:r>
            <a:r>
              <a:rPr sz="1200" kern="0" spc="0" dirty="0">
                <a:solidFill>
                  <a:srgbClr val="000000">
                    <a:alpha val="100000"/>
                  </a:srgbClr>
                </a:solidFill>
                <a:latin typeface="KaiTi"/>
                <a:ea typeface="KaiTi"/>
                <a:cs typeface="KaiTi"/>
              </a:rPr>
              <a:t>世界模型驱</a:t>
            </a:r>
            <a:r>
              <a:rPr sz="1200" kern="0" spc="-10" dirty="0">
                <a:solidFill>
                  <a:srgbClr val="000000">
                    <a:alpha val="100000"/>
                  </a:srgbClr>
                </a:solidFill>
                <a:latin typeface="KaiTi"/>
                <a:ea typeface="KaiTi"/>
                <a:cs typeface="KaiTi"/>
              </a:rPr>
              <a:t>动的智能仓储</a:t>
            </a:r>
            <a:endParaRPr sz="1200" dirty="0">
              <a:latin typeface="KaiTi"/>
              <a:ea typeface="KaiTi"/>
              <a:cs typeface="KaiTi"/>
            </a:endParaRPr>
          </a:p>
          <a:p>
            <a:pPr algn="l" rtl="0" eaLnBrk="0">
              <a:lnSpc>
                <a:spcPct val="101000"/>
              </a:lnSpc>
              <a:tabLst/>
            </a:pPr>
            <a:endParaRPr sz="400" dirty="0">
              <a:latin typeface="Arial"/>
              <a:ea typeface="Arial"/>
              <a:cs typeface="Arial"/>
            </a:endParaRPr>
          </a:p>
          <a:p>
            <a:pPr marL="850900" algn="l" rtl="0" eaLnBrk="0">
              <a:lnSpc>
                <a:spcPct val="85000"/>
              </a:lnSpc>
              <a:spcBef>
                <a:spcPts val="3"/>
              </a:spcBef>
              <a:tabLst/>
            </a:pPr>
            <a:r>
              <a:rPr sz="1200" kern="0" spc="-10" dirty="0">
                <a:solidFill>
                  <a:srgbClr val="000000">
                    <a:alpha val="100000"/>
                  </a:srgbClr>
                </a:solidFill>
                <a:latin typeface="KaiTi"/>
                <a:ea typeface="KaiTi"/>
                <a:cs typeface="KaiTi"/>
              </a:rPr>
              <a:t>数字孪生</a:t>
            </a:r>
            <a:endParaRPr sz="1200" dirty="0">
              <a:latin typeface="KaiTi"/>
              <a:ea typeface="KaiTi"/>
              <a:cs typeface="KaiTi"/>
            </a:endParaRPr>
          </a:p>
        </p:txBody>
      </p:sp>
      <p:sp>
        <p:nvSpPr>
          <p:cNvPr id="538" name="textbox 538"/>
          <p:cNvSpPr/>
          <p:nvPr/>
        </p:nvSpPr>
        <p:spPr>
          <a:xfrm>
            <a:off x="955192" y="6085585"/>
            <a:ext cx="2080895" cy="401320"/>
          </a:xfrm>
          <a:prstGeom prst="rect">
            <a:avLst/>
          </a:prstGeom>
          <a:noFill/>
          <a:ln w="0" cap="flat">
            <a:noFill/>
            <a:prstDash val="solid"/>
            <a:miter lim="0"/>
          </a:ln>
        </p:spPr>
        <p:txBody>
          <a:bodyPr vert="horz" wrap="square" lIns="0" tIns="0" rIns="0" bIns="0"/>
          <a:lstStyle/>
          <a:p>
            <a:pPr algn="l" rtl="0" eaLnBrk="0">
              <a:lnSpc>
                <a:spcPct val="78617"/>
              </a:lnSpc>
              <a:tabLst/>
            </a:pPr>
            <a:endParaRPr sz="100" dirty="0">
              <a:latin typeface="Arial"/>
              <a:ea typeface="Arial"/>
              <a:cs typeface="Arial"/>
            </a:endParaRPr>
          </a:p>
          <a:p>
            <a:pPr marL="12700" algn="l" rtl="0" eaLnBrk="0">
              <a:lnSpc>
                <a:spcPct val="85000"/>
              </a:lnSpc>
              <a:tabLst/>
            </a:pPr>
            <a:r>
              <a:rPr sz="1200" b="1" kern="0" spc="-10" dirty="0">
                <a:solidFill>
                  <a:srgbClr val="000000">
                    <a:alpha val="100000"/>
                  </a:srgbClr>
                </a:solidFill>
                <a:latin typeface="KaiTi"/>
                <a:ea typeface="KaiTi"/>
                <a:cs typeface="KaiTi"/>
              </a:rPr>
              <a:t>极界</a:t>
            </a:r>
            <a:r>
              <a:rPr sz="1200" kern="0" spc="-10" dirty="0">
                <a:solidFill>
                  <a:srgbClr val="000000">
                    <a:alpha val="100000"/>
                  </a:srgbClr>
                </a:solidFill>
                <a:latin typeface="KaiTi"/>
                <a:ea typeface="KaiTi"/>
                <a:cs typeface="KaiTi"/>
              </a:rPr>
              <a:t>：物理世界</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Times New Roman"/>
                <a:ea typeface="Times New Roman"/>
                <a:cs typeface="Times New Roman"/>
              </a:rPr>
              <a:t>ChatGPT</a:t>
            </a:r>
            <a:r>
              <a:rPr sz="1200" kern="0" spc="140" dirty="0">
                <a:solidFill>
                  <a:srgbClr val="000000">
                    <a:alpha val="100000"/>
                  </a:srgbClr>
                </a:solidFill>
                <a:latin typeface="Times New Roman"/>
                <a:ea typeface="Times New Roman"/>
                <a:cs typeface="Times New Roman"/>
              </a:rPr>
              <a:t> </a:t>
            </a:r>
            <a:r>
              <a:rPr sz="1200" kern="0" spc="-10" dirty="0">
                <a:solidFill>
                  <a:srgbClr val="000000">
                    <a:alpha val="100000"/>
                  </a:srgbClr>
                </a:solidFill>
                <a:latin typeface="KaiTi"/>
                <a:ea typeface="KaiTi"/>
                <a:cs typeface="KaiTi"/>
              </a:rPr>
              <a:t>时刻</a:t>
            </a:r>
            <a:endParaRPr sz="1200" dirty="0">
              <a:latin typeface="KaiTi"/>
              <a:ea typeface="KaiTi"/>
              <a:cs typeface="KaiTi"/>
            </a:endParaRPr>
          </a:p>
          <a:p>
            <a:pPr algn="l" rtl="0" eaLnBrk="0">
              <a:lnSpc>
                <a:spcPct val="104000"/>
              </a:lnSpc>
              <a:tabLst/>
            </a:pPr>
            <a:endParaRPr sz="400" dirty="0">
              <a:latin typeface="Arial"/>
              <a:ea typeface="Arial"/>
              <a:cs typeface="Arial"/>
            </a:endParaRPr>
          </a:p>
          <a:p>
            <a:pPr marL="48259" algn="l" rtl="0" eaLnBrk="0">
              <a:lnSpc>
                <a:spcPct val="86000"/>
              </a:lnSpc>
              <a:spcBef>
                <a:spcPts val="2"/>
              </a:spcBef>
              <a:tabLst/>
            </a:pPr>
            <a:r>
              <a:rPr sz="1200" b="1" kern="0" spc="-10" dirty="0">
                <a:solidFill>
                  <a:srgbClr val="000000">
                    <a:alpha val="100000"/>
                  </a:srgbClr>
                </a:solidFill>
                <a:latin typeface="KaiTi"/>
                <a:ea typeface="KaiTi"/>
                <a:cs typeface="KaiTi"/>
              </a:rPr>
              <a:t>魔芯:</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3D</a:t>
            </a:r>
            <a:r>
              <a:rPr sz="1200" kern="0" spc="14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空间智能基础</a:t>
            </a:r>
            <a:r>
              <a:rPr sz="1200" kern="0" spc="-20" dirty="0">
                <a:solidFill>
                  <a:srgbClr val="000000">
                    <a:alpha val="100000"/>
                  </a:srgbClr>
                </a:solidFill>
                <a:latin typeface="KaiTi"/>
                <a:ea typeface="KaiTi"/>
                <a:cs typeface="KaiTi"/>
              </a:rPr>
              <a:t>设施</a:t>
            </a:r>
            <a:endParaRPr sz="1200" dirty="0">
              <a:latin typeface="KaiTi"/>
              <a:ea typeface="KaiTi"/>
              <a:cs typeface="KaiTi"/>
            </a:endParaRPr>
          </a:p>
        </p:txBody>
      </p:sp>
      <p:sp>
        <p:nvSpPr>
          <p:cNvPr id="540" name="textbox 540"/>
          <p:cNvSpPr/>
          <p:nvPr/>
        </p:nvSpPr>
        <p:spPr>
          <a:xfrm>
            <a:off x="3613515" y="6082343"/>
            <a:ext cx="2251710" cy="367665"/>
          </a:xfrm>
          <a:prstGeom prst="rect">
            <a:avLst/>
          </a:prstGeom>
          <a:noFill/>
          <a:ln w="0" cap="flat">
            <a:noFill/>
            <a:prstDash val="solid"/>
            <a:miter lim="0"/>
          </a:ln>
        </p:spPr>
        <p:txBody>
          <a:bodyPr vert="horz" wrap="square" lIns="0" tIns="0" rIns="0" bIns="0"/>
          <a:lstStyle/>
          <a:p>
            <a:pPr algn="l" rtl="0" eaLnBrk="0">
              <a:lnSpc>
                <a:spcPct val="82435"/>
              </a:lnSpc>
              <a:tabLst/>
            </a:pPr>
            <a:endParaRPr sz="100" dirty="0">
              <a:latin typeface="Arial"/>
              <a:ea typeface="Arial"/>
              <a:cs typeface="Arial"/>
            </a:endParaRPr>
          </a:p>
          <a:p>
            <a:pPr marL="15875" algn="l" rtl="0" eaLnBrk="0">
              <a:lnSpc>
                <a:spcPct val="90000"/>
              </a:lnSpc>
              <a:tabLst/>
            </a:pPr>
            <a:r>
              <a:rPr sz="1100" b="1" kern="0" spc="0" dirty="0">
                <a:solidFill>
                  <a:srgbClr val="000000">
                    <a:alpha val="100000"/>
                  </a:srgbClr>
                </a:solidFill>
                <a:latin typeface="KaiTi"/>
                <a:ea typeface="KaiTi"/>
                <a:cs typeface="KaiTi"/>
              </a:rPr>
              <a:t>流形：</a:t>
            </a:r>
            <a:r>
              <a:rPr sz="1100" kern="0" spc="0" dirty="0">
                <a:solidFill>
                  <a:srgbClr val="000000">
                    <a:alpha val="100000"/>
                  </a:srgbClr>
                </a:solidFill>
                <a:latin typeface="Times New Roman"/>
                <a:ea typeface="Times New Roman"/>
                <a:cs typeface="Times New Roman"/>
              </a:rPr>
              <a:t>WorldScape</a:t>
            </a:r>
            <a:r>
              <a:rPr sz="1100" kern="0" spc="-10" dirty="0">
                <a:solidFill>
                  <a:srgbClr val="000000">
                    <a:alpha val="100000"/>
                  </a:srgbClr>
                </a:solidFill>
                <a:latin typeface="Times New Roman"/>
                <a:ea typeface="Times New Roman"/>
                <a:cs typeface="Times New Roman"/>
              </a:rPr>
              <a:t>  </a:t>
            </a:r>
            <a:r>
              <a:rPr sz="1100" kern="0" spc="-10" dirty="0">
                <a:solidFill>
                  <a:srgbClr val="000000">
                    <a:alpha val="100000"/>
                  </a:srgbClr>
                </a:solidFill>
                <a:latin typeface="KaiTi"/>
                <a:ea typeface="KaiTi"/>
                <a:cs typeface="KaiTi"/>
              </a:rPr>
              <a:t>基座</a:t>
            </a:r>
            <a:r>
              <a:rPr sz="1100" kern="0" spc="-10" dirty="0">
                <a:solidFill>
                  <a:srgbClr val="000000">
                    <a:alpha val="100000"/>
                  </a:srgbClr>
                </a:solidFill>
                <a:latin typeface="KaiTi"/>
                <a:ea typeface="KaiTi"/>
                <a:cs typeface="KaiTi"/>
              </a:rPr>
              <a:t> </a:t>
            </a:r>
            <a:r>
              <a:rPr sz="1100" kern="0" spc="-10" dirty="0">
                <a:solidFill>
                  <a:srgbClr val="000000">
                    <a:alpha val="100000"/>
                  </a:srgbClr>
                </a:solidFill>
                <a:latin typeface="KaiTi"/>
                <a:ea typeface="KaiTi"/>
                <a:cs typeface="KaiTi"/>
              </a:rPr>
              <a:t>+</a:t>
            </a:r>
            <a:r>
              <a:rPr sz="1100" kern="0" spc="-10" dirty="0">
                <a:solidFill>
                  <a:srgbClr val="000000">
                    <a:alpha val="100000"/>
                  </a:srgbClr>
                </a:solidFill>
                <a:latin typeface="KaiTi"/>
                <a:ea typeface="KaiTi"/>
                <a:cs typeface="KaiTi"/>
              </a:rPr>
              <a:t> </a:t>
            </a:r>
            <a:r>
              <a:rPr sz="1100" kern="0" spc="-10" dirty="0">
                <a:solidFill>
                  <a:srgbClr val="000000">
                    <a:alpha val="100000"/>
                  </a:srgbClr>
                </a:solidFill>
                <a:latin typeface="KaiTi"/>
                <a:ea typeface="KaiTi"/>
                <a:cs typeface="KaiTi"/>
              </a:rPr>
              <a:t>领域模型</a:t>
            </a:r>
            <a:endParaRPr sz="1100" dirty="0">
              <a:latin typeface="KaiTi"/>
              <a:ea typeface="KaiTi"/>
              <a:cs typeface="KaiTi"/>
            </a:endParaRPr>
          </a:p>
          <a:p>
            <a:pPr algn="l" rtl="0" eaLnBrk="0">
              <a:lnSpc>
                <a:spcPct val="110000"/>
              </a:lnSpc>
              <a:tabLst/>
            </a:pPr>
            <a:endParaRPr sz="300" dirty="0">
              <a:latin typeface="Arial"/>
              <a:ea typeface="Arial"/>
              <a:cs typeface="Arial"/>
            </a:endParaRPr>
          </a:p>
          <a:p>
            <a:pPr marL="12700" algn="l" rtl="0" eaLnBrk="0">
              <a:lnSpc>
                <a:spcPct val="84000"/>
              </a:lnSpc>
              <a:spcBef>
                <a:spcPts val="3"/>
              </a:spcBef>
              <a:tabLst/>
            </a:pPr>
            <a:r>
              <a:rPr sz="1100" b="1" kern="0" spc="-10" dirty="0">
                <a:solidFill>
                  <a:srgbClr val="000000">
                    <a:alpha val="100000"/>
                  </a:srgbClr>
                </a:solidFill>
                <a:latin typeface="KaiTi"/>
                <a:ea typeface="KaiTi"/>
                <a:cs typeface="KaiTi"/>
              </a:rPr>
              <a:t>拓元：</a:t>
            </a:r>
            <a:r>
              <a:rPr sz="1100" kern="0" spc="-10" dirty="0">
                <a:solidFill>
                  <a:srgbClr val="000000">
                    <a:alpha val="100000"/>
                  </a:srgbClr>
                </a:solidFill>
                <a:latin typeface="KaiTi"/>
                <a:ea typeface="KaiTi"/>
                <a:cs typeface="KaiTi"/>
              </a:rPr>
              <a:t>VWA</a:t>
            </a:r>
            <a:r>
              <a:rPr sz="1100" kern="0" spc="-10" dirty="0">
                <a:solidFill>
                  <a:srgbClr val="000000">
                    <a:alpha val="100000"/>
                  </a:srgbClr>
                </a:solidFill>
                <a:latin typeface="KaiTi"/>
                <a:ea typeface="KaiTi"/>
                <a:cs typeface="KaiTi"/>
              </a:rPr>
              <a:t> </a:t>
            </a:r>
            <a:r>
              <a:rPr sz="1100" kern="0" spc="-10" dirty="0">
                <a:solidFill>
                  <a:srgbClr val="000000">
                    <a:alpha val="100000"/>
                  </a:srgbClr>
                </a:solidFill>
                <a:latin typeface="KaiTi"/>
                <a:ea typeface="KaiTi"/>
                <a:cs typeface="KaiTi"/>
              </a:rPr>
              <a:t>架构</a:t>
            </a:r>
            <a:r>
              <a:rPr sz="1100" kern="0" spc="-20" dirty="0">
                <a:solidFill>
                  <a:srgbClr val="000000">
                    <a:alpha val="100000"/>
                  </a:srgbClr>
                </a:solidFill>
                <a:latin typeface="KaiTi"/>
                <a:ea typeface="KaiTi"/>
                <a:cs typeface="KaiTi"/>
              </a:rPr>
              <a:t> </a:t>
            </a:r>
            <a:r>
              <a:rPr sz="1100" kern="0" spc="-20" dirty="0">
                <a:solidFill>
                  <a:srgbClr val="000000">
                    <a:alpha val="100000"/>
                  </a:srgbClr>
                </a:solidFill>
                <a:latin typeface="KaiTi"/>
                <a:ea typeface="KaiTi"/>
                <a:cs typeface="KaiTi"/>
              </a:rPr>
              <a:t>=</a:t>
            </a:r>
            <a:r>
              <a:rPr sz="1100" kern="0" spc="60" dirty="0">
                <a:solidFill>
                  <a:srgbClr val="000000">
                    <a:alpha val="100000"/>
                  </a:srgbClr>
                </a:solidFill>
                <a:latin typeface="KaiTi"/>
                <a:ea typeface="KaiTi"/>
                <a:cs typeface="KaiTi"/>
              </a:rPr>
              <a:t> </a:t>
            </a:r>
            <a:r>
              <a:rPr sz="1100" kern="0" spc="-20" dirty="0">
                <a:solidFill>
                  <a:srgbClr val="000000">
                    <a:alpha val="100000"/>
                  </a:srgbClr>
                </a:solidFill>
                <a:latin typeface="KaiTi"/>
                <a:ea typeface="KaiTi"/>
                <a:cs typeface="KaiTi"/>
              </a:rPr>
              <a:t>物理</a:t>
            </a:r>
            <a:r>
              <a:rPr sz="1100" kern="0" spc="-20" dirty="0">
                <a:solidFill>
                  <a:srgbClr val="000000">
                    <a:alpha val="100000"/>
                  </a:srgbClr>
                </a:solidFill>
                <a:latin typeface="KaiTi"/>
                <a:ea typeface="KaiTi"/>
                <a:cs typeface="KaiTi"/>
              </a:rPr>
              <a:t> </a:t>
            </a:r>
            <a:r>
              <a:rPr sz="1100" kern="0" spc="-20" dirty="0">
                <a:solidFill>
                  <a:srgbClr val="000000">
                    <a:alpha val="100000"/>
                  </a:srgbClr>
                </a:solidFill>
                <a:latin typeface="KaiTi"/>
                <a:ea typeface="KaiTi"/>
                <a:cs typeface="KaiTi"/>
              </a:rPr>
              <a:t>+</a:t>
            </a:r>
            <a:r>
              <a:rPr sz="1100" kern="0" spc="130" dirty="0">
                <a:solidFill>
                  <a:srgbClr val="000000">
                    <a:alpha val="100000"/>
                  </a:srgbClr>
                </a:solidFill>
                <a:latin typeface="KaiTi"/>
                <a:ea typeface="KaiTi"/>
                <a:cs typeface="KaiTi"/>
              </a:rPr>
              <a:t> </a:t>
            </a:r>
            <a:r>
              <a:rPr sz="1100" kern="0" spc="-20" dirty="0">
                <a:solidFill>
                  <a:srgbClr val="000000">
                    <a:alpha val="100000"/>
                  </a:srgbClr>
                </a:solidFill>
                <a:latin typeface="KaiTi"/>
                <a:ea typeface="KaiTi"/>
                <a:cs typeface="KaiTi"/>
              </a:rPr>
              <a:t>空间解耦</a:t>
            </a:r>
            <a:endParaRPr sz="1100" dirty="0">
              <a:latin typeface="KaiTi"/>
              <a:ea typeface="KaiTi"/>
              <a:cs typeface="KaiTi"/>
            </a:endParaRPr>
          </a:p>
        </p:txBody>
      </p:sp>
      <p:pic>
        <p:nvPicPr>
          <p:cNvPr id="542" name="picture 542"/>
          <p:cNvPicPr>
            <a:picLocks noChangeAspect="1"/>
          </p:cNvPicPr>
          <p:nvPr/>
        </p:nvPicPr>
        <p:blipFill>
          <a:blip r:embed="rId11"/>
          <a:stretch>
            <a:fillRect/>
          </a:stretch>
        </p:blipFill>
        <p:spPr>
          <a:xfrm rot="21600000">
            <a:off x="10114788" y="414528"/>
            <a:ext cx="1616964" cy="365759"/>
          </a:xfrm>
          <a:prstGeom prst="rect">
            <a:avLst/>
          </a:prstGeom>
        </p:spPr>
      </p:pic>
      <p:pic>
        <p:nvPicPr>
          <p:cNvPr id="544" name="picture 544"/>
          <p:cNvPicPr>
            <a:picLocks noChangeAspect="1"/>
          </p:cNvPicPr>
          <p:nvPr/>
        </p:nvPicPr>
        <p:blipFill>
          <a:blip r:embed="rId12"/>
          <a:stretch>
            <a:fillRect/>
          </a:stretch>
        </p:blipFill>
        <p:spPr>
          <a:xfrm rot="21600000">
            <a:off x="886968" y="5045964"/>
            <a:ext cx="752856" cy="751331"/>
          </a:xfrm>
          <a:prstGeom prst="rect">
            <a:avLst/>
          </a:prstGeom>
        </p:spPr>
      </p:pic>
      <p:sp>
        <p:nvSpPr>
          <p:cNvPr id="546" name="textbox 546"/>
          <p:cNvSpPr/>
          <p:nvPr/>
        </p:nvSpPr>
        <p:spPr>
          <a:xfrm>
            <a:off x="3580333" y="4599406"/>
            <a:ext cx="2314575" cy="262254"/>
          </a:xfrm>
          <a:prstGeom prst="rect">
            <a:avLst/>
          </a:prstGeom>
          <a:noFill/>
          <a:ln w="0" cap="flat">
            <a:noFill/>
            <a:prstDash val="solid"/>
            <a:miter lim="0"/>
          </a:ln>
        </p:spPr>
        <p:txBody>
          <a:bodyPr vert="horz" wrap="square" lIns="0" tIns="0" rIns="0" bIns="0"/>
          <a:lstStyle/>
          <a:p>
            <a:pPr algn="l" rtl="0" eaLnBrk="0">
              <a:lnSpc>
                <a:spcPct val="87553"/>
              </a:lnSpc>
              <a:tabLst/>
            </a:pPr>
            <a:endParaRPr sz="100" dirty="0">
              <a:latin typeface="Arial"/>
              <a:ea typeface="Arial"/>
              <a:cs typeface="Arial"/>
            </a:endParaRPr>
          </a:p>
          <a:p>
            <a:pPr marL="12700" algn="l" rtl="0" eaLnBrk="0">
              <a:lnSpc>
                <a:spcPct val="86000"/>
              </a:lnSpc>
              <a:tabLst/>
            </a:pPr>
            <a:r>
              <a:rPr sz="1800" b="1" kern="0" spc="-20" dirty="0">
                <a:solidFill>
                  <a:srgbClr val="000000">
                    <a:alpha val="100000"/>
                  </a:srgbClr>
                </a:solidFill>
                <a:latin typeface="KaiTi"/>
                <a:ea typeface="KaiTi"/>
                <a:cs typeface="KaiTi"/>
              </a:rPr>
              <a:t>具身智能世界模型赛道</a:t>
            </a:r>
            <a:endParaRPr sz="1800" dirty="0">
              <a:latin typeface="KaiTi"/>
              <a:ea typeface="KaiTi"/>
              <a:cs typeface="KaiTi"/>
            </a:endParaRPr>
          </a:p>
        </p:txBody>
      </p:sp>
      <p:sp>
        <p:nvSpPr>
          <p:cNvPr id="548" name="textbox 548"/>
          <p:cNvSpPr/>
          <p:nvPr/>
        </p:nvSpPr>
        <p:spPr>
          <a:xfrm>
            <a:off x="9334042" y="4599406"/>
            <a:ext cx="1855470" cy="262254"/>
          </a:xfrm>
          <a:prstGeom prst="rect">
            <a:avLst/>
          </a:prstGeom>
          <a:noFill/>
          <a:ln w="0" cap="flat">
            <a:noFill/>
            <a:prstDash val="solid"/>
            <a:miter lim="0"/>
          </a:ln>
        </p:spPr>
        <p:txBody>
          <a:bodyPr vert="horz" wrap="square" lIns="0" tIns="0" rIns="0" bIns="0"/>
          <a:lstStyle/>
          <a:p>
            <a:pPr algn="l" rtl="0" eaLnBrk="0">
              <a:lnSpc>
                <a:spcPct val="87553"/>
              </a:lnSpc>
              <a:tabLst/>
            </a:pPr>
            <a:endParaRPr sz="100" dirty="0">
              <a:latin typeface="Arial"/>
              <a:ea typeface="Arial"/>
              <a:cs typeface="Arial"/>
            </a:endParaRPr>
          </a:p>
          <a:p>
            <a:pPr marL="12700" algn="l" rtl="0" eaLnBrk="0">
              <a:lnSpc>
                <a:spcPct val="86000"/>
              </a:lnSpc>
              <a:tabLst/>
            </a:pPr>
            <a:r>
              <a:rPr sz="1800" b="1" kern="0" spc="-20" dirty="0">
                <a:solidFill>
                  <a:srgbClr val="000000">
                    <a:alpha val="100000"/>
                  </a:srgbClr>
                </a:solidFill>
                <a:latin typeface="KaiTi"/>
                <a:ea typeface="KaiTi"/>
                <a:cs typeface="KaiTi"/>
              </a:rPr>
              <a:t>工业世界模型赛道</a:t>
            </a:r>
            <a:endParaRPr sz="1800" dirty="0">
              <a:latin typeface="KaiTi"/>
              <a:ea typeface="KaiTi"/>
              <a:cs typeface="KaiTi"/>
            </a:endParaRPr>
          </a:p>
        </p:txBody>
      </p:sp>
      <p:sp>
        <p:nvSpPr>
          <p:cNvPr id="550" name="textbox 550"/>
          <p:cNvSpPr/>
          <p:nvPr/>
        </p:nvSpPr>
        <p:spPr>
          <a:xfrm>
            <a:off x="1072464" y="4599406"/>
            <a:ext cx="1853564" cy="262254"/>
          </a:xfrm>
          <a:prstGeom prst="rect">
            <a:avLst/>
          </a:prstGeom>
          <a:noFill/>
          <a:ln w="0" cap="flat">
            <a:noFill/>
            <a:prstDash val="solid"/>
            <a:miter lim="0"/>
          </a:ln>
        </p:spPr>
        <p:txBody>
          <a:bodyPr vert="horz" wrap="square" lIns="0" tIns="0" rIns="0" bIns="0"/>
          <a:lstStyle/>
          <a:p>
            <a:pPr algn="l" rtl="0" eaLnBrk="0">
              <a:lnSpc>
                <a:spcPct val="87553"/>
              </a:lnSpc>
              <a:tabLst/>
            </a:pPr>
            <a:endParaRPr sz="100" dirty="0">
              <a:latin typeface="Arial"/>
              <a:ea typeface="Arial"/>
              <a:cs typeface="Arial"/>
            </a:endParaRPr>
          </a:p>
          <a:p>
            <a:pPr marL="12700" algn="l" rtl="0" eaLnBrk="0">
              <a:lnSpc>
                <a:spcPct val="86000"/>
              </a:lnSpc>
              <a:tabLst/>
            </a:pPr>
            <a:r>
              <a:rPr sz="1800" b="1" kern="0" spc="-20" dirty="0">
                <a:solidFill>
                  <a:srgbClr val="000000">
                    <a:alpha val="100000"/>
                  </a:srgbClr>
                </a:solidFill>
                <a:latin typeface="KaiTi"/>
                <a:ea typeface="KaiTi"/>
                <a:cs typeface="KaiTi"/>
              </a:rPr>
              <a:t>通用世界模型赛道</a:t>
            </a:r>
            <a:endParaRPr sz="1800" dirty="0">
              <a:latin typeface="KaiTi"/>
              <a:ea typeface="KaiTi"/>
              <a:cs typeface="KaiTi"/>
            </a:endParaRPr>
          </a:p>
        </p:txBody>
      </p:sp>
      <p:pic>
        <p:nvPicPr>
          <p:cNvPr id="552" name="picture 552"/>
          <p:cNvPicPr>
            <a:picLocks noChangeAspect="1"/>
          </p:cNvPicPr>
          <p:nvPr/>
        </p:nvPicPr>
        <p:blipFill>
          <a:blip r:embed="rId13"/>
          <a:stretch>
            <a:fillRect/>
          </a:stretch>
        </p:blipFill>
        <p:spPr>
          <a:xfrm rot="21600000">
            <a:off x="1793747" y="5225795"/>
            <a:ext cx="1237488" cy="332232"/>
          </a:xfrm>
          <a:prstGeom prst="rect">
            <a:avLst/>
          </a:prstGeom>
        </p:spPr>
      </p:pic>
      <p:grpSp>
        <p:nvGrpSpPr>
          <p:cNvPr id="40" name="group 40"/>
          <p:cNvGrpSpPr/>
          <p:nvPr/>
        </p:nvGrpSpPr>
        <p:grpSpPr>
          <a:xfrm rot="21600000">
            <a:off x="7211567" y="3842004"/>
            <a:ext cx="507492" cy="507491"/>
            <a:chOff x="0" y="0"/>
            <a:chExt cx="507492" cy="507491"/>
          </a:xfrm>
        </p:grpSpPr>
        <p:sp>
          <p:nvSpPr>
            <p:cNvPr id="554" name="path 554"/>
            <p:cNvSpPr/>
            <p:nvPr/>
          </p:nvSpPr>
          <p:spPr>
            <a:xfrm>
              <a:off x="0" y="0"/>
              <a:ext cx="507492" cy="507491"/>
            </a:xfrm>
            <a:custGeom>
              <a:avLst/>
              <a:gdLst/>
              <a:ahLst/>
              <a:cxnLst/>
              <a:rect l="0" t="0" r="0" b="0"/>
              <a:pathLst>
                <a:path w="799" h="799">
                  <a:moveTo>
                    <a:pt x="0" y="399"/>
                  </a:moveTo>
                  <a:cubicBezTo>
                    <a:pt x="0" y="178"/>
                    <a:pt x="179" y="0"/>
                    <a:pt x="399" y="0"/>
                  </a:cubicBezTo>
                  <a:cubicBezTo>
                    <a:pt x="620" y="0"/>
                    <a:pt x="799" y="178"/>
                    <a:pt x="799" y="399"/>
                  </a:cubicBezTo>
                  <a:cubicBezTo>
                    <a:pt x="799" y="620"/>
                    <a:pt x="620" y="799"/>
                    <a:pt x="399" y="799"/>
                  </a:cubicBezTo>
                  <a:cubicBezTo>
                    <a:pt x="179" y="799"/>
                    <a:pt x="0" y="620"/>
                    <a:pt x="0" y="399"/>
                  </a:cubicBezTo>
                </a:path>
              </a:pathLst>
            </a:custGeom>
            <a:solidFill>
              <a:srgbClr val="DFA87F">
                <a:alpha val="100000"/>
              </a:srgbClr>
            </a:solidFill>
            <a:ln w="0" cap="flat">
              <a:noFill/>
              <a:prstDash val="solid"/>
              <a:miter lim="0"/>
            </a:ln>
          </p:spPr>
          <p:txBody>
            <a:bodyPr rtlCol="0"/>
            <a:lstStyle/>
            <a:p>
              <a:pPr algn="ctr"/>
              <a:endParaRPr lang="zh-CN" altLang="en-US"/>
            </a:p>
          </p:txBody>
        </p:sp>
        <p:sp>
          <p:nvSpPr>
            <p:cNvPr id="556" name="path 556"/>
            <p:cNvSpPr/>
            <p:nvPr/>
          </p:nvSpPr>
          <p:spPr>
            <a:xfrm>
              <a:off x="100584" y="106679"/>
              <a:ext cx="306323" cy="297179"/>
            </a:xfrm>
            <a:custGeom>
              <a:avLst/>
              <a:gdLst/>
              <a:ahLst/>
              <a:cxnLst/>
              <a:rect l="0" t="0" r="0" b="0"/>
              <a:pathLst>
                <a:path w="482" h="467">
                  <a:moveTo>
                    <a:pt x="188" y="89"/>
                  </a:moveTo>
                  <a:lnTo>
                    <a:pt x="208" y="89"/>
                  </a:lnTo>
                  <a:cubicBezTo>
                    <a:pt x="210" y="95"/>
                    <a:pt x="230" y="143"/>
                    <a:pt x="232" y="150"/>
                  </a:cubicBezTo>
                  <a:lnTo>
                    <a:pt x="227" y="124"/>
                  </a:lnTo>
                  <a:cubicBezTo>
                    <a:pt x="227" y="122"/>
                    <a:pt x="227" y="121"/>
                    <a:pt x="228" y="119"/>
                  </a:cubicBezTo>
                  <a:lnTo>
                    <a:pt x="236" y="105"/>
                  </a:lnTo>
                  <a:lnTo>
                    <a:pt x="229" y="93"/>
                  </a:lnTo>
                  <a:cubicBezTo>
                    <a:pt x="228" y="92"/>
                    <a:pt x="228" y="91"/>
                    <a:pt x="229" y="90"/>
                  </a:cubicBezTo>
                  <a:cubicBezTo>
                    <a:pt x="229" y="89"/>
                    <a:pt x="230" y="89"/>
                    <a:pt x="231" y="89"/>
                  </a:cubicBezTo>
                  <a:lnTo>
                    <a:pt x="250" y="89"/>
                  </a:lnTo>
                  <a:cubicBezTo>
                    <a:pt x="251" y="89"/>
                    <a:pt x="253" y="89"/>
                    <a:pt x="253" y="90"/>
                  </a:cubicBezTo>
                  <a:cubicBezTo>
                    <a:pt x="253" y="91"/>
                    <a:pt x="254" y="92"/>
                    <a:pt x="253" y="93"/>
                  </a:cubicBezTo>
                  <a:lnTo>
                    <a:pt x="246" y="105"/>
                  </a:lnTo>
                  <a:lnTo>
                    <a:pt x="254" y="119"/>
                  </a:lnTo>
                  <a:cubicBezTo>
                    <a:pt x="255" y="121"/>
                    <a:pt x="255" y="122"/>
                    <a:pt x="255" y="124"/>
                  </a:cubicBezTo>
                  <a:lnTo>
                    <a:pt x="249" y="150"/>
                  </a:lnTo>
                  <a:cubicBezTo>
                    <a:pt x="252" y="143"/>
                    <a:pt x="271" y="95"/>
                    <a:pt x="274" y="89"/>
                  </a:cubicBezTo>
                  <a:lnTo>
                    <a:pt x="293" y="89"/>
                  </a:lnTo>
                  <a:cubicBezTo>
                    <a:pt x="319" y="89"/>
                    <a:pt x="340" y="108"/>
                    <a:pt x="340" y="133"/>
                  </a:cubicBezTo>
                  <a:lnTo>
                    <a:pt x="340" y="202"/>
                  </a:lnTo>
                  <a:lnTo>
                    <a:pt x="340" y="269"/>
                  </a:lnTo>
                  <a:cubicBezTo>
                    <a:pt x="340" y="280"/>
                    <a:pt x="332" y="288"/>
                    <a:pt x="321" y="288"/>
                  </a:cubicBezTo>
                  <a:lnTo>
                    <a:pt x="321" y="288"/>
                  </a:lnTo>
                  <a:cubicBezTo>
                    <a:pt x="310" y="288"/>
                    <a:pt x="301" y="280"/>
                    <a:pt x="301" y="269"/>
                  </a:cubicBezTo>
                  <a:lnTo>
                    <a:pt x="301" y="202"/>
                  </a:lnTo>
                  <a:lnTo>
                    <a:pt x="300" y="133"/>
                  </a:lnTo>
                  <a:cubicBezTo>
                    <a:pt x="300" y="131"/>
                    <a:pt x="299" y="129"/>
                    <a:pt x="296" y="129"/>
                  </a:cubicBezTo>
                  <a:cubicBezTo>
                    <a:pt x="294" y="129"/>
                    <a:pt x="292" y="131"/>
                    <a:pt x="292" y="133"/>
                  </a:cubicBezTo>
                  <a:cubicBezTo>
                    <a:pt x="293" y="163"/>
                    <a:pt x="293" y="283"/>
                    <a:pt x="293" y="445"/>
                  </a:cubicBezTo>
                  <a:cubicBezTo>
                    <a:pt x="293" y="457"/>
                    <a:pt x="282" y="467"/>
                    <a:pt x="269" y="467"/>
                  </a:cubicBezTo>
                  <a:cubicBezTo>
                    <a:pt x="256" y="467"/>
                    <a:pt x="246" y="457"/>
                    <a:pt x="246" y="445"/>
                  </a:cubicBezTo>
                  <a:lnTo>
                    <a:pt x="246" y="272"/>
                  </a:lnTo>
                  <a:cubicBezTo>
                    <a:pt x="246" y="269"/>
                    <a:pt x="244" y="267"/>
                    <a:pt x="241" y="267"/>
                  </a:cubicBezTo>
                  <a:cubicBezTo>
                    <a:pt x="238" y="267"/>
                    <a:pt x="235" y="269"/>
                    <a:pt x="235" y="272"/>
                  </a:cubicBezTo>
                  <a:lnTo>
                    <a:pt x="235" y="445"/>
                  </a:lnTo>
                  <a:cubicBezTo>
                    <a:pt x="235" y="457"/>
                    <a:pt x="225" y="467"/>
                    <a:pt x="212" y="467"/>
                  </a:cubicBezTo>
                  <a:cubicBezTo>
                    <a:pt x="199" y="467"/>
                    <a:pt x="189" y="457"/>
                    <a:pt x="189" y="445"/>
                  </a:cubicBezTo>
                  <a:lnTo>
                    <a:pt x="189" y="132"/>
                  </a:lnTo>
                  <a:cubicBezTo>
                    <a:pt x="189" y="130"/>
                    <a:pt x="187" y="129"/>
                    <a:pt x="185" y="128"/>
                  </a:cubicBezTo>
                  <a:cubicBezTo>
                    <a:pt x="183" y="128"/>
                    <a:pt x="181" y="130"/>
                    <a:pt x="181" y="132"/>
                  </a:cubicBezTo>
                  <a:cubicBezTo>
                    <a:pt x="181" y="133"/>
                    <a:pt x="181" y="128"/>
                    <a:pt x="180" y="200"/>
                  </a:cubicBezTo>
                  <a:lnTo>
                    <a:pt x="180" y="269"/>
                  </a:lnTo>
                  <a:cubicBezTo>
                    <a:pt x="180" y="280"/>
                    <a:pt x="171" y="288"/>
                    <a:pt x="160" y="288"/>
                  </a:cubicBezTo>
                  <a:lnTo>
                    <a:pt x="160" y="288"/>
                  </a:lnTo>
                  <a:cubicBezTo>
                    <a:pt x="150" y="288"/>
                    <a:pt x="141" y="280"/>
                    <a:pt x="141" y="269"/>
                  </a:cubicBezTo>
                  <a:lnTo>
                    <a:pt x="141" y="200"/>
                  </a:lnTo>
                  <a:lnTo>
                    <a:pt x="142" y="133"/>
                  </a:lnTo>
                  <a:cubicBezTo>
                    <a:pt x="142" y="108"/>
                    <a:pt x="163" y="89"/>
                    <a:pt x="188" y="89"/>
                  </a:cubicBezTo>
                  <a:moveTo>
                    <a:pt x="43" y="82"/>
                  </a:moveTo>
                  <a:cubicBezTo>
                    <a:pt x="43" y="82"/>
                    <a:pt x="144" y="83"/>
                    <a:pt x="146" y="83"/>
                  </a:cubicBezTo>
                  <a:cubicBezTo>
                    <a:pt x="130" y="95"/>
                    <a:pt x="120" y="112"/>
                    <a:pt x="120" y="133"/>
                  </a:cubicBezTo>
                  <a:lnTo>
                    <a:pt x="120" y="269"/>
                  </a:lnTo>
                  <a:cubicBezTo>
                    <a:pt x="120" y="284"/>
                    <a:pt x="128" y="296"/>
                    <a:pt x="140" y="303"/>
                  </a:cubicBezTo>
                  <a:lnTo>
                    <a:pt x="140" y="413"/>
                  </a:lnTo>
                  <a:cubicBezTo>
                    <a:pt x="140" y="425"/>
                    <a:pt x="131" y="434"/>
                    <a:pt x="119" y="434"/>
                  </a:cubicBezTo>
                  <a:cubicBezTo>
                    <a:pt x="106" y="434"/>
                    <a:pt x="97" y="425"/>
                    <a:pt x="97" y="413"/>
                  </a:cubicBezTo>
                  <a:lnTo>
                    <a:pt x="97" y="252"/>
                  </a:lnTo>
                  <a:cubicBezTo>
                    <a:pt x="97" y="250"/>
                    <a:pt x="95" y="248"/>
                    <a:pt x="92" y="248"/>
                  </a:cubicBezTo>
                  <a:cubicBezTo>
                    <a:pt x="90" y="248"/>
                    <a:pt x="87" y="250"/>
                    <a:pt x="87" y="252"/>
                  </a:cubicBezTo>
                  <a:lnTo>
                    <a:pt x="87" y="413"/>
                  </a:lnTo>
                  <a:cubicBezTo>
                    <a:pt x="87" y="425"/>
                    <a:pt x="77" y="434"/>
                    <a:pt x="65" y="434"/>
                  </a:cubicBezTo>
                  <a:cubicBezTo>
                    <a:pt x="54" y="434"/>
                    <a:pt x="44" y="425"/>
                    <a:pt x="44" y="413"/>
                  </a:cubicBezTo>
                  <a:lnTo>
                    <a:pt x="44" y="123"/>
                  </a:lnTo>
                  <a:cubicBezTo>
                    <a:pt x="44" y="121"/>
                    <a:pt x="42" y="120"/>
                    <a:pt x="40" y="120"/>
                  </a:cubicBezTo>
                  <a:cubicBezTo>
                    <a:pt x="38" y="120"/>
                    <a:pt x="37" y="121"/>
                    <a:pt x="37" y="123"/>
                  </a:cubicBezTo>
                  <a:lnTo>
                    <a:pt x="36" y="250"/>
                  </a:lnTo>
                  <a:cubicBezTo>
                    <a:pt x="36" y="259"/>
                    <a:pt x="28" y="267"/>
                    <a:pt x="18" y="267"/>
                  </a:cubicBezTo>
                  <a:lnTo>
                    <a:pt x="18" y="267"/>
                  </a:lnTo>
                  <a:cubicBezTo>
                    <a:pt x="7" y="267"/>
                    <a:pt x="0" y="259"/>
                    <a:pt x="0" y="250"/>
                  </a:cubicBezTo>
                  <a:lnTo>
                    <a:pt x="0" y="123"/>
                  </a:lnTo>
                  <a:cubicBezTo>
                    <a:pt x="0" y="101"/>
                    <a:pt x="20" y="82"/>
                    <a:pt x="43" y="82"/>
                  </a:cubicBezTo>
                  <a:moveTo>
                    <a:pt x="421" y="82"/>
                  </a:moveTo>
                  <a:cubicBezTo>
                    <a:pt x="431" y="82"/>
                    <a:pt x="437" y="82"/>
                    <a:pt x="438" y="82"/>
                  </a:cubicBezTo>
                  <a:cubicBezTo>
                    <a:pt x="462" y="82"/>
                    <a:pt x="481" y="101"/>
                    <a:pt x="481" y="123"/>
                  </a:cubicBezTo>
                  <a:lnTo>
                    <a:pt x="482" y="250"/>
                  </a:lnTo>
                  <a:cubicBezTo>
                    <a:pt x="482" y="259"/>
                    <a:pt x="474" y="267"/>
                    <a:pt x="464" y="267"/>
                  </a:cubicBezTo>
                  <a:lnTo>
                    <a:pt x="464" y="267"/>
                  </a:lnTo>
                  <a:cubicBezTo>
                    <a:pt x="454" y="267"/>
                    <a:pt x="445" y="259"/>
                    <a:pt x="445" y="250"/>
                  </a:cubicBezTo>
                  <a:lnTo>
                    <a:pt x="445" y="123"/>
                  </a:lnTo>
                  <a:lnTo>
                    <a:pt x="445" y="123"/>
                  </a:lnTo>
                  <a:cubicBezTo>
                    <a:pt x="445" y="121"/>
                    <a:pt x="443" y="120"/>
                    <a:pt x="441" y="120"/>
                  </a:cubicBezTo>
                  <a:cubicBezTo>
                    <a:pt x="439" y="120"/>
                    <a:pt x="437" y="121"/>
                    <a:pt x="437" y="123"/>
                  </a:cubicBezTo>
                  <a:cubicBezTo>
                    <a:pt x="437" y="296"/>
                    <a:pt x="438" y="139"/>
                    <a:pt x="438" y="413"/>
                  </a:cubicBezTo>
                  <a:cubicBezTo>
                    <a:pt x="438" y="425"/>
                    <a:pt x="428" y="434"/>
                    <a:pt x="416" y="434"/>
                  </a:cubicBezTo>
                  <a:cubicBezTo>
                    <a:pt x="404" y="434"/>
                    <a:pt x="394" y="425"/>
                    <a:pt x="394" y="413"/>
                  </a:cubicBezTo>
                  <a:lnTo>
                    <a:pt x="394" y="252"/>
                  </a:lnTo>
                  <a:cubicBezTo>
                    <a:pt x="394" y="250"/>
                    <a:pt x="392" y="248"/>
                    <a:pt x="389" y="248"/>
                  </a:cubicBezTo>
                  <a:cubicBezTo>
                    <a:pt x="386" y="248"/>
                    <a:pt x="385" y="250"/>
                    <a:pt x="385" y="252"/>
                  </a:cubicBezTo>
                  <a:lnTo>
                    <a:pt x="385" y="413"/>
                  </a:lnTo>
                  <a:cubicBezTo>
                    <a:pt x="385" y="425"/>
                    <a:pt x="375" y="434"/>
                    <a:pt x="363" y="434"/>
                  </a:cubicBezTo>
                  <a:cubicBezTo>
                    <a:pt x="351" y="434"/>
                    <a:pt x="341" y="425"/>
                    <a:pt x="341" y="413"/>
                  </a:cubicBezTo>
                  <a:lnTo>
                    <a:pt x="341" y="303"/>
                  </a:lnTo>
                  <a:cubicBezTo>
                    <a:pt x="354" y="297"/>
                    <a:pt x="362" y="284"/>
                    <a:pt x="362" y="269"/>
                  </a:cubicBezTo>
                  <a:lnTo>
                    <a:pt x="361" y="133"/>
                  </a:lnTo>
                  <a:cubicBezTo>
                    <a:pt x="361" y="112"/>
                    <a:pt x="351" y="95"/>
                    <a:pt x="336" y="83"/>
                  </a:cubicBezTo>
                  <a:cubicBezTo>
                    <a:pt x="338" y="82"/>
                    <a:pt x="393" y="82"/>
                    <a:pt x="421" y="82"/>
                  </a:cubicBezTo>
                  <a:moveTo>
                    <a:pt x="390" y="0"/>
                  </a:moveTo>
                  <a:cubicBezTo>
                    <a:pt x="410" y="0"/>
                    <a:pt x="427" y="16"/>
                    <a:pt x="427" y="35"/>
                  </a:cubicBezTo>
                  <a:cubicBezTo>
                    <a:pt x="427" y="46"/>
                    <a:pt x="422" y="56"/>
                    <a:pt x="415" y="62"/>
                  </a:cubicBezTo>
                  <a:cubicBezTo>
                    <a:pt x="408" y="68"/>
                    <a:pt x="399" y="71"/>
                    <a:pt x="390" y="71"/>
                  </a:cubicBezTo>
                  <a:cubicBezTo>
                    <a:pt x="380" y="71"/>
                    <a:pt x="371" y="68"/>
                    <a:pt x="365" y="62"/>
                  </a:cubicBezTo>
                  <a:cubicBezTo>
                    <a:pt x="357" y="56"/>
                    <a:pt x="352" y="46"/>
                    <a:pt x="352" y="35"/>
                  </a:cubicBezTo>
                  <a:cubicBezTo>
                    <a:pt x="352" y="16"/>
                    <a:pt x="369" y="0"/>
                    <a:pt x="390" y="0"/>
                  </a:cubicBezTo>
                  <a:moveTo>
                    <a:pt x="241" y="0"/>
                  </a:moveTo>
                  <a:cubicBezTo>
                    <a:pt x="242" y="0"/>
                    <a:pt x="243" y="0"/>
                    <a:pt x="244" y="0"/>
                  </a:cubicBezTo>
                  <a:cubicBezTo>
                    <a:pt x="245" y="0"/>
                    <a:pt x="246" y="0"/>
                    <a:pt x="247" y="0"/>
                  </a:cubicBezTo>
                  <a:cubicBezTo>
                    <a:pt x="248" y="0"/>
                    <a:pt x="249" y="0"/>
                    <a:pt x="250" y="1"/>
                  </a:cubicBezTo>
                  <a:cubicBezTo>
                    <a:pt x="250" y="1"/>
                    <a:pt x="250" y="1"/>
                    <a:pt x="251" y="1"/>
                  </a:cubicBezTo>
                  <a:cubicBezTo>
                    <a:pt x="253" y="1"/>
                    <a:pt x="254" y="2"/>
                    <a:pt x="256" y="2"/>
                  </a:cubicBezTo>
                  <a:cubicBezTo>
                    <a:pt x="271" y="8"/>
                    <a:pt x="281" y="22"/>
                    <a:pt x="281" y="38"/>
                  </a:cubicBezTo>
                  <a:cubicBezTo>
                    <a:pt x="281" y="50"/>
                    <a:pt x="276" y="61"/>
                    <a:pt x="267" y="67"/>
                  </a:cubicBezTo>
                  <a:cubicBezTo>
                    <a:pt x="266" y="68"/>
                    <a:pt x="266" y="68"/>
                    <a:pt x="266" y="68"/>
                  </a:cubicBezTo>
                  <a:cubicBezTo>
                    <a:pt x="259" y="73"/>
                    <a:pt x="250" y="77"/>
                    <a:pt x="241" y="77"/>
                  </a:cubicBezTo>
                  <a:cubicBezTo>
                    <a:pt x="231" y="77"/>
                    <a:pt x="223" y="73"/>
                    <a:pt x="216" y="68"/>
                  </a:cubicBezTo>
                  <a:cubicBezTo>
                    <a:pt x="215" y="68"/>
                    <a:pt x="214" y="67"/>
                    <a:pt x="214" y="67"/>
                  </a:cubicBezTo>
                  <a:cubicBezTo>
                    <a:pt x="213" y="66"/>
                    <a:pt x="213" y="66"/>
                    <a:pt x="212" y="65"/>
                  </a:cubicBezTo>
                  <a:cubicBezTo>
                    <a:pt x="211" y="64"/>
                    <a:pt x="210" y="63"/>
                    <a:pt x="208" y="61"/>
                  </a:cubicBezTo>
                  <a:cubicBezTo>
                    <a:pt x="208" y="61"/>
                    <a:pt x="207" y="60"/>
                    <a:pt x="207" y="60"/>
                  </a:cubicBezTo>
                  <a:cubicBezTo>
                    <a:pt x="206" y="58"/>
                    <a:pt x="206" y="57"/>
                    <a:pt x="205" y="57"/>
                  </a:cubicBezTo>
                  <a:cubicBezTo>
                    <a:pt x="205" y="55"/>
                    <a:pt x="204" y="54"/>
                    <a:pt x="204" y="53"/>
                  </a:cubicBezTo>
                  <a:cubicBezTo>
                    <a:pt x="203" y="51"/>
                    <a:pt x="202" y="50"/>
                    <a:pt x="201" y="48"/>
                  </a:cubicBezTo>
                  <a:cubicBezTo>
                    <a:pt x="201" y="45"/>
                    <a:pt x="200" y="41"/>
                    <a:pt x="200" y="38"/>
                  </a:cubicBezTo>
                  <a:cubicBezTo>
                    <a:pt x="200" y="25"/>
                    <a:pt x="207" y="13"/>
                    <a:pt x="218" y="6"/>
                  </a:cubicBezTo>
                  <a:cubicBezTo>
                    <a:pt x="219" y="5"/>
                    <a:pt x="220" y="5"/>
                    <a:pt x="221" y="4"/>
                  </a:cubicBezTo>
                  <a:cubicBezTo>
                    <a:pt x="223" y="3"/>
                    <a:pt x="224" y="3"/>
                    <a:pt x="225" y="3"/>
                  </a:cubicBezTo>
                  <a:cubicBezTo>
                    <a:pt x="226" y="2"/>
                    <a:pt x="226" y="2"/>
                    <a:pt x="227" y="2"/>
                  </a:cubicBezTo>
                  <a:cubicBezTo>
                    <a:pt x="228" y="2"/>
                    <a:pt x="230" y="1"/>
                    <a:pt x="231" y="1"/>
                  </a:cubicBezTo>
                  <a:cubicBezTo>
                    <a:pt x="231" y="1"/>
                    <a:pt x="232" y="1"/>
                    <a:pt x="233" y="0"/>
                  </a:cubicBezTo>
                  <a:cubicBezTo>
                    <a:pt x="234" y="0"/>
                    <a:pt x="235" y="0"/>
                    <a:pt x="237" y="0"/>
                  </a:cubicBezTo>
                  <a:cubicBezTo>
                    <a:pt x="238" y="0"/>
                    <a:pt x="240" y="0"/>
                    <a:pt x="241" y="0"/>
                  </a:cubicBezTo>
                  <a:moveTo>
                    <a:pt x="92" y="0"/>
                  </a:moveTo>
                  <a:cubicBezTo>
                    <a:pt x="113" y="0"/>
                    <a:pt x="130" y="16"/>
                    <a:pt x="130" y="35"/>
                  </a:cubicBezTo>
                  <a:cubicBezTo>
                    <a:pt x="130" y="37"/>
                    <a:pt x="130" y="38"/>
                    <a:pt x="130" y="39"/>
                  </a:cubicBezTo>
                  <a:cubicBezTo>
                    <a:pt x="130" y="41"/>
                    <a:pt x="129" y="42"/>
                    <a:pt x="129" y="43"/>
                  </a:cubicBezTo>
                  <a:cubicBezTo>
                    <a:pt x="129" y="44"/>
                    <a:pt x="129" y="44"/>
                    <a:pt x="129" y="45"/>
                  </a:cubicBezTo>
                  <a:cubicBezTo>
                    <a:pt x="126" y="52"/>
                    <a:pt x="123" y="57"/>
                    <a:pt x="117" y="62"/>
                  </a:cubicBezTo>
                  <a:cubicBezTo>
                    <a:pt x="110" y="68"/>
                    <a:pt x="102" y="71"/>
                    <a:pt x="92" y="71"/>
                  </a:cubicBezTo>
                  <a:cubicBezTo>
                    <a:pt x="83" y="71"/>
                    <a:pt x="74" y="68"/>
                    <a:pt x="67" y="62"/>
                  </a:cubicBezTo>
                  <a:cubicBezTo>
                    <a:pt x="67" y="62"/>
                    <a:pt x="66" y="61"/>
                    <a:pt x="66" y="61"/>
                  </a:cubicBezTo>
                  <a:cubicBezTo>
                    <a:pt x="61" y="57"/>
                    <a:pt x="58" y="51"/>
                    <a:pt x="56" y="45"/>
                  </a:cubicBezTo>
                  <a:cubicBezTo>
                    <a:pt x="56" y="44"/>
                    <a:pt x="56" y="44"/>
                    <a:pt x="55" y="43"/>
                  </a:cubicBezTo>
                  <a:cubicBezTo>
                    <a:pt x="55" y="42"/>
                    <a:pt x="55" y="41"/>
                    <a:pt x="55" y="39"/>
                  </a:cubicBezTo>
                  <a:cubicBezTo>
                    <a:pt x="55" y="38"/>
                    <a:pt x="55" y="37"/>
                    <a:pt x="55" y="35"/>
                  </a:cubicBezTo>
                  <a:cubicBezTo>
                    <a:pt x="55" y="16"/>
                    <a:pt x="71" y="0"/>
                    <a:pt x="92" y="0"/>
                  </a:cubicBezTo>
                </a:path>
              </a:pathLst>
            </a:custGeom>
            <a:solidFill>
              <a:srgbClr val="FFFFFF">
                <a:alpha val="100000"/>
              </a:srgbClr>
            </a:solidFill>
            <a:ln w="0" cap="flat">
              <a:noFill/>
              <a:prstDash val="solid"/>
              <a:miter lim="0"/>
            </a:ln>
          </p:spPr>
          <p:txBody>
            <a:bodyPr rtlCol="0"/>
            <a:lstStyle/>
            <a:p>
              <a:pPr algn="ctr"/>
              <a:endParaRPr lang="zh-CN" altLang="en-US"/>
            </a:p>
          </p:txBody>
        </p:sp>
      </p:grpSp>
      <p:grpSp>
        <p:nvGrpSpPr>
          <p:cNvPr id="42" name="group 42"/>
          <p:cNvGrpSpPr/>
          <p:nvPr/>
        </p:nvGrpSpPr>
        <p:grpSpPr>
          <a:xfrm rot="21600000">
            <a:off x="1734311" y="3842004"/>
            <a:ext cx="507492" cy="507491"/>
            <a:chOff x="0" y="0"/>
            <a:chExt cx="507492" cy="507491"/>
          </a:xfrm>
        </p:grpSpPr>
        <p:sp>
          <p:nvSpPr>
            <p:cNvPr id="558" name="path 558"/>
            <p:cNvSpPr/>
            <p:nvPr/>
          </p:nvSpPr>
          <p:spPr>
            <a:xfrm>
              <a:off x="0" y="0"/>
              <a:ext cx="507492" cy="507491"/>
            </a:xfrm>
            <a:custGeom>
              <a:avLst/>
              <a:gdLst/>
              <a:ahLst/>
              <a:cxnLst/>
              <a:rect l="0" t="0" r="0" b="0"/>
              <a:pathLst>
                <a:path w="799" h="799">
                  <a:moveTo>
                    <a:pt x="0" y="399"/>
                  </a:moveTo>
                  <a:cubicBezTo>
                    <a:pt x="0" y="178"/>
                    <a:pt x="178" y="0"/>
                    <a:pt x="399" y="0"/>
                  </a:cubicBezTo>
                  <a:cubicBezTo>
                    <a:pt x="620" y="0"/>
                    <a:pt x="799" y="178"/>
                    <a:pt x="799" y="399"/>
                  </a:cubicBezTo>
                  <a:cubicBezTo>
                    <a:pt x="799" y="620"/>
                    <a:pt x="620" y="799"/>
                    <a:pt x="399" y="799"/>
                  </a:cubicBezTo>
                  <a:cubicBezTo>
                    <a:pt x="178" y="799"/>
                    <a:pt x="0" y="620"/>
                    <a:pt x="0" y="399"/>
                  </a:cubicBezTo>
                </a:path>
              </a:pathLst>
            </a:custGeom>
            <a:solidFill>
              <a:srgbClr val="DFA87F">
                <a:alpha val="100000"/>
              </a:srgbClr>
            </a:solidFill>
            <a:ln w="0" cap="flat">
              <a:noFill/>
              <a:prstDash val="solid"/>
              <a:miter lim="0"/>
            </a:ln>
          </p:spPr>
          <p:txBody>
            <a:bodyPr rtlCol="0"/>
            <a:lstStyle/>
            <a:p>
              <a:pPr algn="ctr"/>
              <a:endParaRPr lang="zh-CN" altLang="en-US"/>
            </a:p>
          </p:txBody>
        </p:sp>
        <p:sp>
          <p:nvSpPr>
            <p:cNvPr id="560" name="path 560"/>
            <p:cNvSpPr/>
            <p:nvPr/>
          </p:nvSpPr>
          <p:spPr>
            <a:xfrm>
              <a:off x="74041" y="63373"/>
              <a:ext cx="359410" cy="383793"/>
            </a:xfrm>
            <a:custGeom>
              <a:avLst/>
              <a:gdLst/>
              <a:ahLst/>
              <a:cxnLst/>
              <a:rect l="0" t="0" r="0" b="0"/>
              <a:pathLst>
                <a:path w="566" h="604">
                  <a:moveTo>
                    <a:pt x="269" y="383"/>
                  </a:moveTo>
                  <a:lnTo>
                    <a:pt x="296" y="383"/>
                  </a:lnTo>
                  <a:cubicBezTo>
                    <a:pt x="302" y="383"/>
                    <a:pt x="306" y="388"/>
                    <a:pt x="306" y="395"/>
                  </a:cubicBezTo>
                  <a:lnTo>
                    <a:pt x="306" y="509"/>
                  </a:lnTo>
                  <a:lnTo>
                    <a:pt x="324" y="491"/>
                  </a:lnTo>
                  <a:cubicBezTo>
                    <a:pt x="326" y="489"/>
                    <a:pt x="328" y="488"/>
                    <a:pt x="331" y="488"/>
                  </a:cubicBezTo>
                  <a:cubicBezTo>
                    <a:pt x="334" y="488"/>
                    <a:pt x="336" y="489"/>
                    <a:pt x="338" y="491"/>
                  </a:cubicBezTo>
                  <a:lnTo>
                    <a:pt x="357" y="511"/>
                  </a:lnTo>
                  <a:cubicBezTo>
                    <a:pt x="362" y="516"/>
                    <a:pt x="362" y="523"/>
                    <a:pt x="357" y="527"/>
                  </a:cubicBezTo>
                  <a:lnTo>
                    <a:pt x="290" y="600"/>
                  </a:lnTo>
                  <a:cubicBezTo>
                    <a:pt x="286" y="604"/>
                    <a:pt x="279" y="604"/>
                    <a:pt x="275" y="600"/>
                  </a:cubicBezTo>
                  <a:lnTo>
                    <a:pt x="207" y="527"/>
                  </a:lnTo>
                  <a:cubicBezTo>
                    <a:pt x="205" y="525"/>
                    <a:pt x="204" y="522"/>
                    <a:pt x="204" y="519"/>
                  </a:cubicBezTo>
                  <a:cubicBezTo>
                    <a:pt x="204" y="516"/>
                    <a:pt x="205" y="514"/>
                    <a:pt x="207" y="511"/>
                  </a:cubicBezTo>
                  <a:lnTo>
                    <a:pt x="227" y="491"/>
                  </a:lnTo>
                  <a:cubicBezTo>
                    <a:pt x="229" y="489"/>
                    <a:pt x="231" y="488"/>
                    <a:pt x="234" y="488"/>
                  </a:cubicBezTo>
                  <a:cubicBezTo>
                    <a:pt x="237" y="488"/>
                    <a:pt x="239" y="489"/>
                    <a:pt x="241" y="491"/>
                  </a:cubicBezTo>
                  <a:lnTo>
                    <a:pt x="258" y="509"/>
                  </a:lnTo>
                  <a:lnTo>
                    <a:pt x="258" y="395"/>
                  </a:lnTo>
                  <a:cubicBezTo>
                    <a:pt x="258" y="392"/>
                    <a:pt x="260" y="389"/>
                    <a:pt x="261" y="387"/>
                  </a:cubicBezTo>
                  <a:cubicBezTo>
                    <a:pt x="263" y="385"/>
                    <a:pt x="266" y="383"/>
                    <a:pt x="269" y="383"/>
                  </a:cubicBezTo>
                  <a:moveTo>
                    <a:pt x="479" y="221"/>
                  </a:moveTo>
                  <a:cubicBezTo>
                    <a:pt x="483" y="217"/>
                    <a:pt x="490" y="217"/>
                    <a:pt x="493" y="221"/>
                  </a:cubicBezTo>
                  <a:lnTo>
                    <a:pt x="561" y="294"/>
                  </a:lnTo>
                  <a:cubicBezTo>
                    <a:pt x="566" y="298"/>
                    <a:pt x="566" y="305"/>
                    <a:pt x="561" y="310"/>
                  </a:cubicBezTo>
                  <a:lnTo>
                    <a:pt x="493" y="382"/>
                  </a:lnTo>
                  <a:cubicBezTo>
                    <a:pt x="491" y="384"/>
                    <a:pt x="489" y="385"/>
                    <a:pt x="486" y="385"/>
                  </a:cubicBezTo>
                  <a:cubicBezTo>
                    <a:pt x="484" y="385"/>
                    <a:pt x="481" y="384"/>
                    <a:pt x="479" y="382"/>
                  </a:cubicBezTo>
                  <a:lnTo>
                    <a:pt x="460" y="361"/>
                  </a:lnTo>
                  <a:cubicBezTo>
                    <a:pt x="458" y="359"/>
                    <a:pt x="457" y="356"/>
                    <a:pt x="457" y="353"/>
                  </a:cubicBezTo>
                  <a:cubicBezTo>
                    <a:pt x="457" y="351"/>
                    <a:pt x="458" y="348"/>
                    <a:pt x="460" y="346"/>
                  </a:cubicBezTo>
                  <a:lnTo>
                    <a:pt x="477" y="327"/>
                  </a:lnTo>
                  <a:lnTo>
                    <a:pt x="369" y="327"/>
                  </a:lnTo>
                  <a:cubicBezTo>
                    <a:pt x="367" y="327"/>
                    <a:pt x="364" y="326"/>
                    <a:pt x="362" y="324"/>
                  </a:cubicBezTo>
                  <a:cubicBezTo>
                    <a:pt x="360" y="322"/>
                    <a:pt x="359" y="319"/>
                    <a:pt x="359" y="316"/>
                  </a:cubicBezTo>
                  <a:lnTo>
                    <a:pt x="359" y="287"/>
                  </a:lnTo>
                  <a:cubicBezTo>
                    <a:pt x="359" y="281"/>
                    <a:pt x="364" y="276"/>
                    <a:pt x="369" y="276"/>
                  </a:cubicBezTo>
                  <a:lnTo>
                    <a:pt x="477" y="276"/>
                  </a:lnTo>
                  <a:lnTo>
                    <a:pt x="460" y="258"/>
                  </a:lnTo>
                  <a:cubicBezTo>
                    <a:pt x="458" y="256"/>
                    <a:pt x="457" y="253"/>
                    <a:pt x="457" y="250"/>
                  </a:cubicBezTo>
                  <a:cubicBezTo>
                    <a:pt x="457" y="247"/>
                    <a:pt x="458" y="244"/>
                    <a:pt x="460" y="242"/>
                  </a:cubicBezTo>
                  <a:lnTo>
                    <a:pt x="479" y="221"/>
                  </a:lnTo>
                  <a:close/>
                  <a:moveTo>
                    <a:pt x="71" y="221"/>
                  </a:moveTo>
                  <a:cubicBezTo>
                    <a:pt x="76" y="217"/>
                    <a:pt x="82" y="217"/>
                    <a:pt x="86" y="221"/>
                  </a:cubicBezTo>
                  <a:lnTo>
                    <a:pt x="105" y="242"/>
                  </a:lnTo>
                  <a:cubicBezTo>
                    <a:pt x="107" y="244"/>
                    <a:pt x="108" y="247"/>
                    <a:pt x="108" y="250"/>
                  </a:cubicBezTo>
                  <a:cubicBezTo>
                    <a:pt x="108" y="253"/>
                    <a:pt x="107" y="256"/>
                    <a:pt x="105" y="258"/>
                  </a:cubicBezTo>
                  <a:lnTo>
                    <a:pt x="88" y="276"/>
                  </a:lnTo>
                  <a:lnTo>
                    <a:pt x="196" y="276"/>
                  </a:lnTo>
                  <a:cubicBezTo>
                    <a:pt x="201" y="276"/>
                    <a:pt x="206" y="281"/>
                    <a:pt x="206" y="287"/>
                  </a:cubicBezTo>
                  <a:lnTo>
                    <a:pt x="206" y="316"/>
                  </a:lnTo>
                  <a:cubicBezTo>
                    <a:pt x="206" y="319"/>
                    <a:pt x="205" y="322"/>
                    <a:pt x="203" y="324"/>
                  </a:cubicBezTo>
                  <a:cubicBezTo>
                    <a:pt x="201" y="326"/>
                    <a:pt x="198" y="327"/>
                    <a:pt x="196" y="327"/>
                  </a:cubicBezTo>
                  <a:lnTo>
                    <a:pt x="88" y="327"/>
                  </a:lnTo>
                  <a:lnTo>
                    <a:pt x="105" y="346"/>
                  </a:lnTo>
                  <a:cubicBezTo>
                    <a:pt x="107" y="348"/>
                    <a:pt x="108" y="351"/>
                    <a:pt x="108" y="353"/>
                  </a:cubicBezTo>
                  <a:cubicBezTo>
                    <a:pt x="108" y="356"/>
                    <a:pt x="107" y="359"/>
                    <a:pt x="105" y="361"/>
                  </a:cubicBezTo>
                  <a:lnTo>
                    <a:pt x="86" y="382"/>
                  </a:lnTo>
                  <a:cubicBezTo>
                    <a:pt x="84" y="384"/>
                    <a:pt x="81" y="385"/>
                    <a:pt x="79" y="385"/>
                  </a:cubicBezTo>
                  <a:cubicBezTo>
                    <a:pt x="76" y="385"/>
                    <a:pt x="73" y="384"/>
                    <a:pt x="71" y="382"/>
                  </a:cubicBezTo>
                  <a:lnTo>
                    <a:pt x="3" y="310"/>
                  </a:lnTo>
                  <a:cubicBezTo>
                    <a:pt x="0" y="305"/>
                    <a:pt x="0" y="298"/>
                    <a:pt x="3" y="294"/>
                  </a:cubicBezTo>
                  <a:lnTo>
                    <a:pt x="71" y="221"/>
                  </a:lnTo>
                  <a:close/>
                  <a:moveTo>
                    <a:pt x="275" y="4"/>
                  </a:moveTo>
                  <a:cubicBezTo>
                    <a:pt x="279" y="0"/>
                    <a:pt x="286" y="0"/>
                    <a:pt x="290" y="4"/>
                  </a:cubicBezTo>
                  <a:lnTo>
                    <a:pt x="357" y="76"/>
                  </a:lnTo>
                  <a:cubicBezTo>
                    <a:pt x="362" y="81"/>
                    <a:pt x="362" y="87"/>
                    <a:pt x="357" y="92"/>
                  </a:cubicBezTo>
                  <a:lnTo>
                    <a:pt x="338" y="112"/>
                  </a:lnTo>
                  <a:cubicBezTo>
                    <a:pt x="336" y="115"/>
                    <a:pt x="334" y="116"/>
                    <a:pt x="331" y="116"/>
                  </a:cubicBezTo>
                  <a:cubicBezTo>
                    <a:pt x="328" y="116"/>
                    <a:pt x="326" y="115"/>
                    <a:pt x="324" y="112"/>
                  </a:cubicBezTo>
                  <a:lnTo>
                    <a:pt x="306" y="94"/>
                  </a:lnTo>
                  <a:lnTo>
                    <a:pt x="306" y="209"/>
                  </a:lnTo>
                  <a:cubicBezTo>
                    <a:pt x="306" y="215"/>
                    <a:pt x="302" y="220"/>
                    <a:pt x="296" y="220"/>
                  </a:cubicBezTo>
                  <a:lnTo>
                    <a:pt x="269" y="220"/>
                  </a:lnTo>
                  <a:cubicBezTo>
                    <a:pt x="266" y="220"/>
                    <a:pt x="263" y="219"/>
                    <a:pt x="261" y="217"/>
                  </a:cubicBezTo>
                  <a:cubicBezTo>
                    <a:pt x="260" y="215"/>
                    <a:pt x="258" y="212"/>
                    <a:pt x="258" y="209"/>
                  </a:cubicBezTo>
                  <a:lnTo>
                    <a:pt x="258" y="94"/>
                  </a:lnTo>
                  <a:lnTo>
                    <a:pt x="241" y="112"/>
                  </a:lnTo>
                  <a:cubicBezTo>
                    <a:pt x="239" y="115"/>
                    <a:pt x="237" y="116"/>
                    <a:pt x="234" y="116"/>
                  </a:cubicBezTo>
                  <a:cubicBezTo>
                    <a:pt x="231" y="116"/>
                    <a:pt x="229" y="115"/>
                    <a:pt x="227" y="112"/>
                  </a:cubicBezTo>
                  <a:lnTo>
                    <a:pt x="207" y="92"/>
                  </a:lnTo>
                  <a:cubicBezTo>
                    <a:pt x="205" y="90"/>
                    <a:pt x="204" y="87"/>
                    <a:pt x="204" y="84"/>
                  </a:cubicBezTo>
                  <a:cubicBezTo>
                    <a:pt x="204" y="81"/>
                    <a:pt x="205" y="78"/>
                    <a:pt x="207" y="76"/>
                  </a:cubicBezTo>
                  <a:lnTo>
                    <a:pt x="275" y="4"/>
                  </a:lnTo>
                  <a:close/>
                </a:path>
              </a:pathLst>
            </a:custGeom>
            <a:solidFill>
              <a:srgbClr val="FFFFFF">
                <a:alpha val="100000"/>
              </a:srgbClr>
            </a:solidFill>
            <a:ln w="0" cap="flat">
              <a:noFill/>
              <a:prstDash val="solid"/>
              <a:miter lim="0"/>
            </a:ln>
          </p:spPr>
          <p:txBody>
            <a:bodyPr rtlCol="0"/>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62" name="table 562"/>
          <p:cNvGraphicFramePr>
            <a:graphicFrameLocks noGrp="1"/>
          </p:cNvGraphicFramePr>
          <p:nvPr/>
        </p:nvGraphicFramePr>
        <p:xfrm>
          <a:off x="1061796" y="1138046"/>
          <a:ext cx="10836909" cy="5126990"/>
        </p:xfrm>
        <a:graphic>
          <a:graphicData uri="http://schemas.openxmlformats.org/drawingml/2006/table">
            <a:tbl>
              <a:tblPr/>
              <a:tblGrid>
                <a:gridCol w="1264919"/>
                <a:gridCol w="1216660"/>
                <a:gridCol w="1967864"/>
                <a:gridCol w="1346835"/>
                <a:gridCol w="2604135"/>
                <a:gridCol w="2436495"/>
              </a:tblGrid>
              <a:tr h="241300">
                <a:tc>
                  <a:txBody>
                    <a:bodyPr/>
                    <a:lstStyle/>
                    <a:p>
                      <a:pPr algn="l" rtl="0" eaLnBrk="0">
                        <a:lnSpc>
                          <a:spcPct val="146000"/>
                        </a:lnSpc>
                        <a:tabLst/>
                      </a:pPr>
                      <a:endParaRPr sz="200" dirty="0">
                        <a:latin typeface="Arial"/>
                        <a:ea typeface="Arial"/>
                        <a:cs typeface="Arial"/>
                      </a:endParaRPr>
                    </a:p>
                    <a:p>
                      <a:pPr marL="287020" algn="l" rtl="0" eaLnBrk="0">
                        <a:lnSpc>
                          <a:spcPct val="84000"/>
                        </a:lnSpc>
                        <a:spcBef>
                          <a:spcPts val="2"/>
                        </a:spcBef>
                        <a:tabLst/>
                      </a:pPr>
                      <a:r>
                        <a:rPr sz="1400" b="1" kern="0" spc="-30" dirty="0">
                          <a:solidFill>
                            <a:srgbClr val="FFFFFF">
                              <a:alpha val="100000"/>
                            </a:srgbClr>
                          </a:solidFill>
                          <a:latin typeface="KaiTi"/>
                          <a:ea typeface="KaiTi"/>
                          <a:cs typeface="KaiTi"/>
                        </a:rPr>
                        <a:t>代表团队</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48000"/>
                        </a:lnSpc>
                        <a:tabLst/>
                      </a:pPr>
                      <a:endParaRPr sz="200" dirty="0">
                        <a:latin typeface="Arial"/>
                        <a:ea typeface="Arial"/>
                        <a:cs typeface="Arial"/>
                      </a:endParaRPr>
                    </a:p>
                    <a:p>
                      <a:pPr marL="254000" algn="l" rtl="0" eaLnBrk="0">
                        <a:lnSpc>
                          <a:spcPct val="84000"/>
                        </a:lnSpc>
                        <a:spcBef>
                          <a:spcPts val="2"/>
                        </a:spcBef>
                        <a:tabLst/>
                      </a:pPr>
                      <a:r>
                        <a:rPr sz="1400" b="1" kern="0" spc="-20" dirty="0">
                          <a:solidFill>
                            <a:srgbClr val="FFFFFF">
                              <a:alpha val="100000"/>
                            </a:srgbClr>
                          </a:solidFill>
                          <a:latin typeface="KaiTi"/>
                          <a:ea typeface="KaiTi"/>
                          <a:cs typeface="KaiTi"/>
                        </a:rPr>
                        <a:t>核心场景</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48000"/>
                        </a:lnSpc>
                        <a:tabLst/>
                      </a:pPr>
                      <a:endParaRPr sz="200" dirty="0">
                        <a:latin typeface="Arial"/>
                        <a:ea typeface="Arial"/>
                        <a:cs typeface="Arial"/>
                      </a:endParaRPr>
                    </a:p>
                    <a:p>
                      <a:pPr marL="332740" algn="l" rtl="0" eaLnBrk="0">
                        <a:lnSpc>
                          <a:spcPct val="85000"/>
                        </a:lnSpc>
                        <a:spcBef>
                          <a:spcPts val="2"/>
                        </a:spcBef>
                        <a:tabLst/>
                      </a:pPr>
                      <a:r>
                        <a:rPr sz="1400" b="1" kern="0" spc="-30" dirty="0">
                          <a:solidFill>
                            <a:srgbClr val="FFFFFF">
                              <a:alpha val="100000"/>
                            </a:srgbClr>
                          </a:solidFill>
                          <a:latin typeface="KaiTi"/>
                          <a:ea typeface="KaiTi"/>
                          <a:cs typeface="KaiTi"/>
                        </a:rPr>
                        <a:t>融资规模</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&amp;</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轮次</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48000"/>
                        </a:lnSpc>
                        <a:tabLst/>
                      </a:pPr>
                      <a:endParaRPr sz="200" dirty="0">
                        <a:latin typeface="Arial"/>
                        <a:ea typeface="Arial"/>
                        <a:cs typeface="Arial"/>
                      </a:endParaRPr>
                    </a:p>
                    <a:p>
                      <a:pPr marL="229870" algn="l" rtl="0" eaLnBrk="0">
                        <a:lnSpc>
                          <a:spcPct val="85000"/>
                        </a:lnSpc>
                        <a:spcBef>
                          <a:spcPts val="2"/>
                        </a:spcBef>
                        <a:tabLst/>
                      </a:pPr>
                      <a:r>
                        <a:rPr sz="1400" b="1" kern="0" spc="-10" dirty="0">
                          <a:solidFill>
                            <a:srgbClr val="FFFFFF">
                              <a:alpha val="100000"/>
                            </a:srgbClr>
                          </a:solidFill>
                          <a:latin typeface="KaiTi"/>
                          <a:ea typeface="KaiTi"/>
                          <a:cs typeface="KaiTi"/>
                        </a:rPr>
                        <a:t>核心投资方</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0000"/>
                        </a:lnSpc>
                        <a:tabLst/>
                      </a:pPr>
                      <a:endParaRPr sz="300" dirty="0">
                        <a:latin typeface="Arial"/>
                        <a:ea typeface="Arial"/>
                        <a:cs typeface="Arial"/>
                      </a:endParaRPr>
                    </a:p>
                    <a:p>
                      <a:pPr marL="869950" algn="l" rtl="0" eaLnBrk="0">
                        <a:lnSpc>
                          <a:spcPct val="84000"/>
                        </a:lnSpc>
                        <a:spcBef>
                          <a:spcPts val="3"/>
                        </a:spcBef>
                        <a:tabLst/>
                      </a:pPr>
                      <a:r>
                        <a:rPr sz="1400" b="1" kern="0" spc="-30" dirty="0">
                          <a:solidFill>
                            <a:srgbClr val="FFFFFF">
                              <a:alpha val="100000"/>
                            </a:srgbClr>
                          </a:solidFill>
                          <a:latin typeface="KaiTi"/>
                          <a:ea typeface="KaiTi"/>
                          <a:cs typeface="KaiTi"/>
                        </a:rPr>
                        <a:t>差异化优势</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0000"/>
                        </a:lnSpc>
                        <a:tabLst/>
                      </a:pPr>
                      <a:endParaRPr sz="300" dirty="0">
                        <a:latin typeface="Arial"/>
                        <a:ea typeface="Arial"/>
                        <a:cs typeface="Arial"/>
                      </a:endParaRPr>
                    </a:p>
                    <a:p>
                      <a:pPr marL="476884" algn="l" rtl="0" eaLnBrk="0">
                        <a:lnSpc>
                          <a:spcPct val="85000"/>
                        </a:lnSpc>
                        <a:spcBef>
                          <a:spcPts val="3"/>
                        </a:spcBef>
                        <a:tabLst/>
                      </a:pPr>
                      <a:r>
                        <a:rPr sz="1400" b="1" kern="0" spc="-30" dirty="0">
                          <a:solidFill>
                            <a:srgbClr val="FFFFFF">
                              <a:alpha val="100000"/>
                            </a:srgbClr>
                          </a:solidFill>
                          <a:latin typeface="KaiTi"/>
                          <a:ea typeface="KaiTi"/>
                          <a:cs typeface="KaiTi"/>
                        </a:rPr>
                        <a:t>商业模式/交易要素</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r>
              <a:tr h="1370330">
                <a:tc>
                  <a:txBody>
                    <a:bodyPr/>
                    <a:lstStyle/>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marL="332740" algn="l" rtl="0" eaLnBrk="0">
                        <a:lnSpc>
                          <a:spcPct val="85000"/>
                        </a:lnSpc>
                        <a:spcBef>
                          <a:spcPts val="5"/>
                        </a:spcBef>
                        <a:tabLst/>
                      </a:pPr>
                      <a:r>
                        <a:rPr sz="1200" kern="0" spc="-10" dirty="0">
                          <a:solidFill>
                            <a:srgbClr val="000000">
                              <a:alpha val="100000"/>
                            </a:srgbClr>
                          </a:solidFill>
                          <a:latin typeface="KaiTi"/>
                          <a:ea typeface="KaiTi"/>
                          <a:cs typeface="KaiTi"/>
                        </a:rPr>
                        <a:t>极佳视界</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82550" algn="l" rtl="0" eaLnBrk="0">
                        <a:lnSpc>
                          <a:spcPct val="97000"/>
                        </a:lnSpc>
                        <a:spcBef>
                          <a:spcPts val="4"/>
                        </a:spcBef>
                        <a:tabLst/>
                      </a:pPr>
                      <a:r>
                        <a:rPr sz="1200" kern="0" spc="-20" dirty="0">
                          <a:solidFill>
                            <a:srgbClr val="000000">
                              <a:alpha val="100000"/>
                            </a:srgbClr>
                          </a:solidFill>
                          <a:latin typeface="KaiTi"/>
                          <a:ea typeface="KaiTi"/>
                          <a:cs typeface="KaiTi"/>
                        </a:rPr>
                        <a:t>物理世界通用智</a:t>
                      </a:r>
                      <a:r>
                        <a:rPr sz="1200" kern="0" spc="-20" dirty="0">
                          <a:solidFill>
                            <a:srgbClr val="000000">
                              <a:alpha val="100000"/>
                            </a:srgbClr>
                          </a:solidFill>
                          <a:latin typeface="KaiTi"/>
                          <a:ea typeface="KaiTi"/>
                          <a:cs typeface="KaiTi"/>
                        </a:rPr>
                        <a:t>能（重点切汽车</a:t>
                      </a:r>
                      <a:r>
                        <a:rPr sz="1200" kern="0" spc="-20" dirty="0">
                          <a:solidFill>
                            <a:srgbClr val="000000">
                              <a:alpha val="100000"/>
                            </a:srgbClr>
                          </a:solidFill>
                          <a:latin typeface="KaiTi"/>
                          <a:ea typeface="KaiTi"/>
                          <a:cs typeface="KaiTi"/>
                        </a:rPr>
                        <a:t>场景，目前准备</a:t>
                      </a:r>
                      <a:r>
                        <a:rPr sz="1200" kern="0" spc="-30" dirty="0">
                          <a:solidFill>
                            <a:srgbClr val="000000">
                              <a:alpha val="100000"/>
                            </a:srgbClr>
                          </a:solidFill>
                          <a:latin typeface="KaiTi"/>
                          <a:ea typeface="KaiTi"/>
                          <a:cs typeface="KaiTi"/>
                        </a:rPr>
                        <a:t>切入工业场景）</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8347"/>
                        </a:lnSpc>
                        <a:tabLst/>
                      </a:pPr>
                      <a:endParaRPr sz="100" dirty="0">
                        <a:latin typeface="Arial"/>
                        <a:ea typeface="Arial"/>
                        <a:cs typeface="Arial"/>
                      </a:endParaRPr>
                    </a:p>
                    <a:p>
                      <a:pPr algn="r" rtl="0" eaLnBrk="0">
                        <a:lnSpc>
                          <a:spcPct val="84000"/>
                        </a:lnSpc>
                        <a:tabLst/>
                      </a:pPr>
                      <a:r>
                        <a:rPr sz="1200" kern="0" spc="-40" dirty="0">
                          <a:solidFill>
                            <a:srgbClr val="000000">
                              <a:alpha val="100000"/>
                            </a:srgbClr>
                          </a:solidFill>
                          <a:latin typeface="KaiTi"/>
                          <a:ea typeface="KaiTi"/>
                          <a:cs typeface="KaiTi"/>
                        </a:rPr>
                        <a:t>Pre-B</a:t>
                      </a:r>
                      <a:r>
                        <a:rPr sz="1200" kern="0" spc="-4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轮近</a:t>
                      </a:r>
                      <a:r>
                        <a:rPr sz="1200" kern="0" spc="10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10</a:t>
                      </a:r>
                      <a:r>
                        <a:rPr sz="1200" kern="0" spc="-50" dirty="0">
                          <a:solidFill>
                            <a:srgbClr val="000000">
                              <a:alpha val="100000"/>
                            </a:srgbClr>
                          </a:solidFill>
                          <a:latin typeface="KaiTi"/>
                          <a:ea typeface="KaiTi"/>
                          <a:cs typeface="KaiTi"/>
                        </a:rPr>
                        <a:t> </a:t>
                      </a:r>
                      <a:r>
                        <a:rPr sz="1200" kern="0" spc="-50" dirty="0">
                          <a:solidFill>
                            <a:srgbClr val="000000">
                              <a:alpha val="100000"/>
                            </a:srgbClr>
                          </a:solidFill>
                          <a:latin typeface="KaiTi"/>
                          <a:ea typeface="KaiTi"/>
                          <a:cs typeface="KaiTi"/>
                        </a:rPr>
                        <a:t>亿（2026.3）</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43000"/>
                        </a:lnSpc>
                        <a:tabLst/>
                      </a:pPr>
                      <a:endParaRPr sz="1000" dirty="0">
                        <a:latin typeface="Arial"/>
                        <a:ea typeface="Arial"/>
                        <a:cs typeface="Arial"/>
                      </a:endParaRPr>
                    </a:p>
                    <a:p>
                      <a:pPr algn="l" rtl="0" eaLnBrk="0">
                        <a:lnSpc>
                          <a:spcPct val="144000"/>
                        </a:lnSpc>
                        <a:tabLst/>
                      </a:pPr>
                      <a:endParaRPr sz="1000" dirty="0">
                        <a:latin typeface="Arial"/>
                        <a:ea typeface="Arial"/>
                        <a:cs typeface="Arial"/>
                      </a:endParaRPr>
                    </a:p>
                    <a:p>
                      <a:pPr marL="392429" algn="l" rtl="0" eaLnBrk="0">
                        <a:lnSpc>
                          <a:spcPct val="83000"/>
                        </a:lnSpc>
                        <a:spcBef>
                          <a:spcPts val="3"/>
                        </a:spcBef>
                        <a:tabLst/>
                      </a:pPr>
                      <a:r>
                        <a:rPr sz="1200" kern="0" spc="-50" dirty="0">
                          <a:solidFill>
                            <a:srgbClr val="000000">
                              <a:alpha val="100000"/>
                            </a:srgbClr>
                          </a:solidFill>
                          <a:latin typeface="KaiTi"/>
                          <a:ea typeface="KaiTi"/>
                          <a:cs typeface="KaiTi"/>
                        </a:rPr>
                        <a:t>中芯聚源</a:t>
                      </a:r>
                      <a:endParaRPr sz="1200" dirty="0">
                        <a:latin typeface="KaiTi"/>
                        <a:ea typeface="KaiTi"/>
                        <a:cs typeface="KaiTi"/>
                      </a:endParaRPr>
                    </a:p>
                    <a:p>
                      <a:pPr marL="381000" algn="l" rtl="0" eaLnBrk="0">
                        <a:lnSpc>
                          <a:spcPts val="1596"/>
                        </a:lnSpc>
                        <a:tabLst/>
                      </a:pPr>
                      <a:r>
                        <a:rPr sz="1200" kern="0" spc="-30" dirty="0">
                          <a:solidFill>
                            <a:srgbClr val="000000">
                              <a:alpha val="100000"/>
                            </a:srgbClr>
                          </a:solidFill>
                          <a:latin typeface="KaiTi"/>
                          <a:ea typeface="KaiTi"/>
                          <a:cs typeface="KaiTi"/>
                        </a:rPr>
                        <a:t>浦科投资</a:t>
                      </a:r>
                      <a:endParaRPr sz="1200" dirty="0">
                        <a:latin typeface="KaiTi"/>
                        <a:ea typeface="KaiTi"/>
                        <a:cs typeface="KaiTi"/>
                      </a:endParaRPr>
                    </a:p>
                    <a:p>
                      <a:pPr marL="384809" algn="l" rtl="0" eaLnBrk="0">
                        <a:lnSpc>
                          <a:spcPct val="86000"/>
                        </a:lnSpc>
                        <a:spcBef>
                          <a:spcPts val="77"/>
                        </a:spcBef>
                        <a:tabLst/>
                      </a:pPr>
                      <a:r>
                        <a:rPr sz="1200" kern="0" spc="-30" dirty="0">
                          <a:solidFill>
                            <a:srgbClr val="000000">
                              <a:alpha val="100000"/>
                            </a:srgbClr>
                          </a:solidFill>
                          <a:latin typeface="KaiTi"/>
                          <a:ea typeface="KaiTi"/>
                          <a:cs typeface="KaiTi"/>
                        </a:rPr>
                        <a:t>临芯投资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42000"/>
                        </a:lnSpc>
                        <a:tabLst/>
                      </a:pPr>
                      <a:endParaRPr sz="1000" dirty="0">
                        <a:latin typeface="Arial"/>
                        <a:ea typeface="Arial"/>
                        <a:cs typeface="Arial"/>
                      </a:endParaRPr>
                    </a:p>
                    <a:p>
                      <a:pPr algn="l" rtl="0" eaLnBrk="0">
                        <a:lnSpc>
                          <a:spcPct val="142000"/>
                        </a:lnSpc>
                        <a:tabLst/>
                      </a:pPr>
                      <a:endParaRPr sz="1000" dirty="0">
                        <a:latin typeface="Arial"/>
                        <a:ea typeface="Arial"/>
                        <a:cs typeface="Arial"/>
                      </a:endParaRPr>
                    </a:p>
                    <a:p>
                      <a:pPr algn="l" rtl="0" eaLnBrk="0">
                        <a:lnSpc>
                          <a:spcPct val="9096"/>
                        </a:lnSpc>
                        <a:tabLst/>
                      </a:pPr>
                      <a:endParaRPr sz="100" dirty="0">
                        <a:latin typeface="Arial"/>
                        <a:ea typeface="Arial"/>
                        <a:cs typeface="Arial"/>
                      </a:endParaRPr>
                    </a:p>
                    <a:p>
                      <a:pPr marL="180975" indent="-167004" algn="l" rtl="0" eaLnBrk="0">
                        <a:lnSpc>
                          <a:spcPct val="95000"/>
                        </a:lnSpc>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国内首家专注世界模型</a:t>
                      </a:r>
                      <a:r>
                        <a:rPr sz="1200" kern="0" spc="-20" dirty="0">
                          <a:solidFill>
                            <a:srgbClr val="000000">
                              <a:alpha val="100000"/>
                            </a:srgbClr>
                          </a:solidFill>
                          <a:latin typeface="KaiTi"/>
                          <a:ea typeface="KaiTi"/>
                          <a:cs typeface="KaiTi"/>
                        </a:rPr>
                        <a:t>的科技公司，</a:t>
                      </a:r>
                      <a:r>
                        <a:rPr sz="1200" kern="0" spc="-10" dirty="0">
                          <a:solidFill>
                            <a:srgbClr val="000000">
                              <a:alpha val="100000"/>
                            </a:srgbClr>
                          </a:solidFill>
                          <a:latin typeface="KaiTi"/>
                          <a:ea typeface="KaiTi"/>
                          <a:cs typeface="KaiTi"/>
                        </a:rPr>
                        <a:t>在</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VLA</a:t>
                      </a:r>
                      <a:r>
                        <a:rPr sz="1200" kern="0" spc="14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大模型方向全球一流水平</a:t>
                      </a:r>
                      <a:r>
                        <a:rPr sz="1200" kern="0" spc="-20" dirty="0">
                          <a:solidFill>
                            <a:srgbClr val="000000">
                              <a:alpha val="100000"/>
                            </a:srgbClr>
                          </a:solidFill>
                          <a:latin typeface="KaiTi"/>
                          <a:ea typeface="KaiTi"/>
                          <a:cs typeface="KaiTi"/>
                        </a:rPr>
                        <a:t>，</a:t>
                      </a:r>
                      <a:r>
                        <a:rPr sz="1200" kern="0" spc="-10" dirty="0">
                          <a:solidFill>
                            <a:srgbClr val="000000">
                              <a:alpha val="100000"/>
                            </a:srgbClr>
                          </a:solidFill>
                          <a:latin typeface="KaiTi"/>
                          <a:ea typeface="KaiTi"/>
                          <a:cs typeface="KaiTi"/>
                        </a:rPr>
                        <a:t>华为生态深度绑定</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E5D8"/>
                    </a:solidFill>
                  </a:tcPr>
                </a:tc>
                <a:tc>
                  <a:txBody>
                    <a:bodyPr/>
                    <a:lstStyle/>
                    <a:p>
                      <a:pPr algn="l" rtl="0" eaLnBrk="0">
                        <a:lnSpc>
                          <a:spcPct val="115000"/>
                        </a:lnSpc>
                        <a:tabLst/>
                      </a:pPr>
                      <a:endParaRPr sz="400" dirty="0">
                        <a:latin typeface="Arial"/>
                        <a:ea typeface="Arial"/>
                        <a:cs typeface="Arial"/>
                      </a:endParaRPr>
                    </a:p>
                    <a:p>
                      <a:pPr marL="195579" indent="-180975" algn="l" rtl="0" eaLnBrk="0">
                        <a:lnSpc>
                          <a:spcPct val="92000"/>
                        </a:lnSpc>
                        <a:spcBef>
                          <a:spcPts val="1"/>
                        </a:spcBef>
                        <a:tabLst/>
                      </a:pPr>
                      <a:r>
                        <a:rPr sz="1200" kern="0" spc="-10" dirty="0">
                          <a:solidFill>
                            <a:srgbClr val="000000">
                              <a:alpha val="100000"/>
                            </a:srgbClr>
                          </a:solidFill>
                          <a:latin typeface="Arial"/>
                          <a:ea typeface="Arial"/>
                          <a:cs typeface="Arial"/>
                        </a:rPr>
                        <a:t>•</a:t>
                      </a:r>
                      <a:r>
                        <a:rPr sz="1200" kern="0" spc="18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世界模型平台订阅费：按</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API</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调</a:t>
                      </a:r>
                      <a:r>
                        <a:rPr sz="1200" kern="0" spc="-40" dirty="0">
                          <a:solidFill>
                            <a:srgbClr val="000000">
                              <a:alpha val="100000"/>
                            </a:srgbClr>
                          </a:solidFill>
                          <a:latin typeface="KaiTi"/>
                          <a:ea typeface="KaiTi"/>
                          <a:cs typeface="KaiTi"/>
                        </a:rPr>
                        <a:t>用量</a:t>
                      </a:r>
                      <a:r>
                        <a:rPr sz="1200" kern="0" spc="-4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a:t>
                      </a:r>
                      <a:r>
                        <a:rPr sz="1200" kern="0" spc="16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月付费</a:t>
                      </a:r>
                      <a:endParaRPr sz="1200" dirty="0">
                        <a:latin typeface="KaiTi"/>
                        <a:ea typeface="KaiTi"/>
                        <a:cs typeface="KaiTi"/>
                      </a:endParaRPr>
                    </a:p>
                    <a:p>
                      <a:pPr marL="183514" indent="-168910" algn="l" rtl="0" eaLnBrk="0">
                        <a:lnSpc>
                          <a:spcPct val="92000"/>
                        </a:lnSpc>
                        <a:spcBef>
                          <a:spcPts val="231"/>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定制化开发收入：车企</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机器人</a:t>
                      </a:r>
                      <a:r>
                        <a:rPr sz="1200" kern="0" spc="-20" dirty="0">
                          <a:solidFill>
                            <a:srgbClr val="000000">
                              <a:alpha val="100000"/>
                            </a:srgbClr>
                          </a:solidFill>
                          <a:latin typeface="KaiTi"/>
                          <a:ea typeface="KaiTi"/>
                          <a:cs typeface="KaiTi"/>
                        </a:rPr>
                        <a:t>厂商</a:t>
                      </a:r>
                      <a:endParaRPr sz="1200" dirty="0">
                        <a:latin typeface="KaiTi"/>
                        <a:ea typeface="KaiTi"/>
                        <a:cs typeface="KaiTi"/>
                      </a:endParaRPr>
                    </a:p>
                    <a:p>
                      <a:pPr marL="14604" algn="l" rtl="0" eaLnBrk="0">
                        <a:lnSpc>
                          <a:spcPct val="89000"/>
                        </a:lnSpc>
                        <a:spcBef>
                          <a:spcPts val="241"/>
                        </a:spcBef>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算力适配服务：与华为昇腾</a:t>
                      </a:r>
                      <a:endParaRPr sz="1200" dirty="0">
                        <a:latin typeface="KaiTi"/>
                        <a:ea typeface="KaiTi"/>
                        <a:cs typeface="KaiTi"/>
                      </a:endParaRPr>
                    </a:p>
                    <a:p>
                      <a:pPr marL="192404" indent="-177800" algn="l" rtl="0" eaLnBrk="0">
                        <a:lnSpc>
                          <a:spcPct val="92000"/>
                        </a:lnSpc>
                        <a:spcBef>
                          <a:spcPts val="148"/>
                        </a:spcBef>
                        <a:tabLst/>
                      </a:pPr>
                      <a:r>
                        <a:rPr sz="1200" kern="0" spc="-1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数据服务：物理世界场景数据标</a:t>
                      </a:r>
                      <a:r>
                        <a:rPr sz="1200" kern="0" spc="-20" dirty="0">
                          <a:solidFill>
                            <a:srgbClr val="000000">
                              <a:alpha val="100000"/>
                            </a:srgbClr>
                          </a:solidFill>
                          <a:latin typeface="KaiTi"/>
                          <a:ea typeface="KaiTi"/>
                          <a:cs typeface="KaiTi"/>
                        </a:rPr>
                        <a:t>注</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模型优化</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176019">
                <a:tc>
                  <a:txBody>
                    <a:bodyPr/>
                    <a:lstStyle/>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8269"/>
                        </a:lnSpc>
                        <a:tabLst/>
                      </a:pPr>
                      <a:endParaRPr sz="100" dirty="0">
                        <a:latin typeface="Arial"/>
                        <a:ea typeface="Arial"/>
                        <a:cs typeface="Arial"/>
                      </a:endParaRPr>
                    </a:p>
                    <a:p>
                      <a:pPr marL="328929" algn="l" rtl="0" eaLnBrk="0">
                        <a:lnSpc>
                          <a:spcPct val="85000"/>
                        </a:lnSpc>
                        <a:tabLst/>
                      </a:pPr>
                      <a:r>
                        <a:rPr sz="1200" kern="0" spc="-10" dirty="0">
                          <a:solidFill>
                            <a:srgbClr val="000000">
                              <a:alpha val="100000"/>
                            </a:srgbClr>
                          </a:solidFill>
                          <a:latin typeface="KaiTi"/>
                          <a:ea typeface="KaiTi"/>
                          <a:cs typeface="KaiTi"/>
                        </a:rPr>
                        <a:t>魔芯科技</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8269"/>
                        </a:lnSpc>
                        <a:tabLst/>
                      </a:pPr>
                      <a:endParaRPr sz="100" dirty="0">
                        <a:latin typeface="Arial"/>
                        <a:ea typeface="Arial"/>
                        <a:cs typeface="Arial"/>
                      </a:endParaRPr>
                    </a:p>
                    <a:p>
                      <a:pPr marL="154304" algn="l" rtl="0" eaLnBrk="0">
                        <a:lnSpc>
                          <a:spcPct val="85000"/>
                        </a:lnSpc>
                        <a:tabLst/>
                      </a:pPr>
                      <a:r>
                        <a:rPr sz="1200" kern="0" spc="-10" dirty="0">
                          <a:solidFill>
                            <a:srgbClr val="000000">
                              <a:alpha val="100000"/>
                            </a:srgbClr>
                          </a:solidFill>
                          <a:latin typeface="KaiTi"/>
                          <a:ea typeface="KaiTi"/>
                          <a:cs typeface="KaiTi"/>
                        </a:rPr>
                        <a:t>三维空间智能</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marL="76200" algn="l" rtl="0" eaLnBrk="0">
                        <a:lnSpc>
                          <a:spcPct val="84000"/>
                        </a:lnSpc>
                        <a:spcBef>
                          <a:spcPts val="3"/>
                        </a:spcBef>
                        <a:tabLst/>
                      </a:pPr>
                      <a:r>
                        <a:rPr sz="1200" kern="0" spc="0" dirty="0">
                          <a:solidFill>
                            <a:srgbClr val="000000">
                              <a:alpha val="100000"/>
                            </a:srgbClr>
                          </a:solidFill>
                          <a:latin typeface="KaiTi"/>
                          <a:ea typeface="KaiTi"/>
                          <a:cs typeface="KaiTi"/>
                        </a:rPr>
                        <a:t>Pre-A</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轮近亿</a:t>
                      </a:r>
                      <a:r>
                        <a:rPr sz="1200" kern="0" spc="-10" dirty="0">
                          <a:solidFill>
                            <a:srgbClr val="000000">
                              <a:alpha val="100000"/>
                            </a:srgbClr>
                          </a:solidFill>
                          <a:latin typeface="KaiTi"/>
                          <a:ea typeface="KaiTi"/>
                          <a:cs typeface="KaiTi"/>
                        </a:rPr>
                        <a:t>（2026.3）</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6362"/>
                        </a:lnSpc>
                        <a:tabLst/>
                      </a:pPr>
                      <a:endParaRPr sz="100" dirty="0">
                        <a:latin typeface="Arial"/>
                        <a:ea typeface="Arial"/>
                        <a:cs typeface="Arial"/>
                      </a:endParaRPr>
                    </a:p>
                    <a:p>
                      <a:pPr marL="228600" algn="l" rtl="0" eaLnBrk="0">
                        <a:lnSpc>
                          <a:spcPct val="84000"/>
                        </a:lnSpc>
                        <a:tabLst/>
                      </a:pPr>
                      <a:r>
                        <a:rPr sz="1200" kern="0" spc="-20" dirty="0">
                          <a:solidFill>
                            <a:srgbClr val="000000">
                              <a:alpha val="100000"/>
                            </a:srgbClr>
                          </a:solidFill>
                          <a:latin typeface="KaiTi"/>
                          <a:ea typeface="KaiTi"/>
                          <a:cs typeface="KaiTi"/>
                        </a:rPr>
                        <a:t>华为哈勃领投</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183514" indent="-169545" algn="l" rtl="0" eaLnBrk="0">
                        <a:lnSpc>
                          <a:spcPct val="95000"/>
                        </a:lnSpc>
                        <a:spcBef>
                          <a:spcPts val="4"/>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华为哈勃独家投资，技术团队来自</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华为诺亚方舟实验室</a:t>
                      </a:r>
                      <a:r>
                        <a:rPr sz="1200" kern="0" spc="-10" dirty="0">
                          <a:solidFill>
                            <a:srgbClr val="000000">
                              <a:alpha val="100000"/>
                            </a:srgbClr>
                          </a:solidFill>
                          <a:latin typeface="KaiTi"/>
                          <a:ea typeface="KaiTi"/>
                          <a:cs typeface="KaiTi"/>
                        </a:rPr>
                        <a:t>，三维重建精</a:t>
                      </a:r>
                      <a:r>
                        <a:rPr sz="1200" kern="0" spc="0" dirty="0">
                          <a:solidFill>
                            <a:srgbClr val="000000">
                              <a:alpha val="100000"/>
                            </a:srgbClr>
                          </a:solidFill>
                          <a:latin typeface="KaiTi"/>
                          <a:ea typeface="KaiTi"/>
                          <a:cs typeface="KaiTi"/>
                        </a:rPr>
                        <a:t>度达亚毫米级，适配</a:t>
                      </a:r>
                      <a:r>
                        <a:rPr sz="1200" kern="0" spc="-10" dirty="0">
                          <a:solidFill>
                            <a:srgbClr val="000000">
                              <a:alpha val="100000"/>
                            </a:srgbClr>
                          </a:solidFill>
                          <a:latin typeface="KaiTi"/>
                          <a:ea typeface="KaiTi"/>
                          <a:cs typeface="KaiTi"/>
                        </a:rPr>
                        <a:t>国产算力生态</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E5D8"/>
                    </a:solidFill>
                  </a:tcPr>
                </a:tc>
                <a:tc>
                  <a:txBody>
                    <a:bodyPr/>
                    <a:lstStyle/>
                    <a:p>
                      <a:pPr algn="l" rtl="0" eaLnBrk="0">
                        <a:lnSpc>
                          <a:spcPct val="106000"/>
                        </a:lnSpc>
                        <a:tabLst/>
                      </a:pPr>
                      <a:endParaRPr sz="400" dirty="0">
                        <a:latin typeface="Arial"/>
                        <a:ea typeface="Arial"/>
                        <a:cs typeface="Arial"/>
                      </a:endParaRPr>
                    </a:p>
                    <a:p>
                      <a:pPr marL="186689" indent="-172085" algn="l" rtl="0" eaLnBrk="0">
                        <a:lnSpc>
                          <a:spcPct val="92000"/>
                        </a:lnSpc>
                        <a:spcBef>
                          <a:spcPts val="1"/>
                        </a:spcBef>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三维模型生成</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API：按调用次数</a:t>
                      </a:r>
                      <a:r>
                        <a:rPr sz="1200" kern="0" spc="-30" dirty="0">
                          <a:solidFill>
                            <a:srgbClr val="000000">
                              <a:alpha val="100000"/>
                            </a:srgbClr>
                          </a:solidFill>
                          <a:latin typeface="KaiTi"/>
                          <a:ea typeface="KaiTi"/>
                          <a:cs typeface="KaiTi"/>
                        </a:rPr>
                        <a:t>计费</a:t>
                      </a:r>
                      <a:endParaRPr sz="1200" dirty="0">
                        <a:latin typeface="KaiTi"/>
                        <a:ea typeface="KaiTi"/>
                        <a:cs typeface="KaiTi"/>
                      </a:endParaRPr>
                    </a:p>
                    <a:p>
                      <a:pPr marL="191770" indent="-177164" algn="l" rtl="0" eaLnBrk="0">
                        <a:lnSpc>
                          <a:spcPct val="92000"/>
                        </a:lnSpc>
                        <a:spcBef>
                          <a:spcPts val="231"/>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空间智能解决方案：房地产、工</a:t>
                      </a:r>
                      <a:r>
                        <a:rPr sz="1200" kern="0" spc="-30" dirty="0">
                          <a:solidFill>
                            <a:srgbClr val="000000">
                              <a:alpha val="100000"/>
                            </a:srgbClr>
                          </a:solidFill>
                          <a:latin typeface="KaiTi"/>
                          <a:ea typeface="KaiTi"/>
                          <a:cs typeface="KaiTi"/>
                        </a:rPr>
                        <a:t>业设计</a:t>
                      </a:r>
                      <a:endParaRPr sz="1200" dirty="0">
                        <a:latin typeface="KaiTi"/>
                        <a:ea typeface="KaiTi"/>
                        <a:cs typeface="KaiTi"/>
                      </a:endParaRPr>
                    </a:p>
                    <a:p>
                      <a:pPr marL="195579" indent="-180975" algn="l" rtl="0" eaLnBrk="0">
                        <a:lnSpc>
                          <a:spcPct val="92000"/>
                        </a:lnSpc>
                        <a:spcBef>
                          <a:spcPts val="233"/>
                        </a:spcBef>
                        <a:tabLst/>
                      </a:pPr>
                      <a:r>
                        <a:rPr sz="1200" kern="0" spc="-1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技术授权：三维世界模型底层算</a:t>
                      </a:r>
                      <a:r>
                        <a:rPr sz="1200" kern="0" spc="-40" dirty="0">
                          <a:solidFill>
                            <a:srgbClr val="000000">
                              <a:alpha val="100000"/>
                            </a:srgbClr>
                          </a:solidFill>
                          <a:latin typeface="KaiTi"/>
                          <a:ea typeface="KaiTi"/>
                          <a:cs typeface="KaiTi"/>
                        </a:rPr>
                        <a:t>法授权</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229995">
                <a:tc>
                  <a:txBody>
                    <a:bodyPr/>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6216"/>
                        </a:lnSpc>
                        <a:tabLst/>
                      </a:pPr>
                      <a:endParaRPr sz="100" dirty="0">
                        <a:latin typeface="Arial"/>
                        <a:ea typeface="Arial"/>
                        <a:cs typeface="Arial"/>
                      </a:endParaRPr>
                    </a:p>
                    <a:p>
                      <a:pPr marL="340359" algn="l" rtl="0" eaLnBrk="0">
                        <a:lnSpc>
                          <a:spcPct val="83000"/>
                        </a:lnSpc>
                        <a:tabLst/>
                      </a:pPr>
                      <a:r>
                        <a:rPr sz="1200" kern="0" spc="-30" dirty="0">
                          <a:solidFill>
                            <a:srgbClr val="000000">
                              <a:alpha val="100000"/>
                            </a:srgbClr>
                          </a:solidFill>
                          <a:latin typeface="KaiTi"/>
                          <a:ea typeface="KaiTi"/>
                          <a:cs typeface="KaiTi"/>
                        </a:rPr>
                        <a:t>流形空间</a:t>
                      </a:r>
                      <a:endParaRPr sz="1200" dirty="0">
                        <a:latin typeface="KaiTi"/>
                        <a:ea typeface="KaiTi"/>
                        <a:cs typeface="KaiTi"/>
                      </a:endParaRPr>
                    </a:p>
                    <a:p>
                      <a:pPr marL="153670" algn="l" rtl="0" eaLnBrk="0">
                        <a:lnSpc>
                          <a:spcPct val="84000"/>
                        </a:lnSpc>
                        <a:spcBef>
                          <a:spcPts val="239"/>
                        </a:spcBef>
                        <a:tabLst/>
                      </a:pPr>
                      <a:r>
                        <a:rPr sz="1200" kern="0" spc="-60" dirty="0">
                          <a:solidFill>
                            <a:srgbClr val="000000">
                              <a:alpha val="100000"/>
                            </a:srgbClr>
                          </a:solidFill>
                          <a:latin typeface="KaiTi"/>
                          <a:ea typeface="KaiTi"/>
                          <a:cs typeface="KaiTi"/>
                        </a:rPr>
                        <a:t>（Manifold</a:t>
                      </a:r>
                      <a:r>
                        <a:rPr sz="1200" kern="0" spc="-60" dirty="0">
                          <a:solidFill>
                            <a:srgbClr val="000000">
                              <a:alpha val="100000"/>
                            </a:srgbClr>
                          </a:solidFill>
                          <a:latin typeface="KaiTi"/>
                          <a:ea typeface="KaiTi"/>
                          <a:cs typeface="KaiTi"/>
                        </a:rPr>
                        <a:t> </a:t>
                      </a:r>
                      <a:r>
                        <a:rPr sz="1200" kern="0" spc="-60" dirty="0">
                          <a:solidFill>
                            <a:srgbClr val="000000">
                              <a:alpha val="100000"/>
                            </a:srgbClr>
                          </a:solidFill>
                          <a:latin typeface="KaiTi"/>
                          <a:ea typeface="KaiTi"/>
                          <a:cs typeface="KaiTi"/>
                        </a:rPr>
                        <a:t>AI）</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49000"/>
                        </a:lnSpc>
                        <a:tabLst/>
                      </a:pPr>
                      <a:endParaRPr sz="1000" dirty="0">
                        <a:latin typeface="Arial"/>
                        <a:ea typeface="Arial"/>
                        <a:cs typeface="Arial"/>
                      </a:endParaRPr>
                    </a:p>
                    <a:p>
                      <a:pPr algn="l" rtl="0" eaLnBrk="0">
                        <a:lnSpc>
                          <a:spcPct val="149000"/>
                        </a:lnSpc>
                        <a:tabLst/>
                      </a:pPr>
                      <a:endParaRPr sz="1000" dirty="0">
                        <a:latin typeface="Arial"/>
                        <a:ea typeface="Arial"/>
                        <a:cs typeface="Arial"/>
                      </a:endParaRPr>
                    </a:p>
                    <a:p>
                      <a:pPr marL="310515" indent="-269240" algn="l" rtl="0" eaLnBrk="0">
                        <a:lnSpc>
                          <a:spcPct val="93000"/>
                        </a:lnSpc>
                        <a:tabLst/>
                      </a:pPr>
                      <a:r>
                        <a:rPr sz="1200" kern="0" spc="-20" dirty="0">
                          <a:solidFill>
                            <a:srgbClr val="000000">
                              <a:alpha val="100000"/>
                            </a:srgbClr>
                          </a:solidFill>
                          <a:latin typeface="KaiTi"/>
                          <a:ea typeface="KaiTi"/>
                          <a:cs typeface="KaiTi"/>
                        </a:rPr>
                        <a:t>机器人</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10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无人机</a:t>
                      </a:r>
                      <a:r>
                        <a:rPr sz="1200" kern="0" spc="-20" dirty="0">
                          <a:solidFill>
                            <a:srgbClr val="000000">
                              <a:alpha val="100000"/>
                            </a:srgbClr>
                          </a:solidFill>
                          <a:latin typeface="KaiTi"/>
                          <a:ea typeface="KaiTi"/>
                          <a:cs typeface="KaiTi"/>
                        </a:rPr>
                        <a:t>物理交互</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0000"/>
                        </a:lnSpc>
                        <a:tabLst/>
                      </a:pPr>
                      <a:endParaRPr sz="1000" dirty="0">
                        <a:latin typeface="Arial"/>
                        <a:ea typeface="Arial"/>
                        <a:cs typeface="Arial"/>
                      </a:endParaRPr>
                    </a:p>
                    <a:p>
                      <a:pPr algn="l" rtl="0" eaLnBrk="0">
                        <a:lnSpc>
                          <a:spcPct val="120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marL="38100" algn="l" rtl="0" eaLnBrk="0">
                        <a:lnSpc>
                          <a:spcPct val="84000"/>
                        </a:lnSpc>
                        <a:spcBef>
                          <a:spcPts val="2"/>
                        </a:spcBef>
                        <a:tabLst/>
                      </a:pPr>
                      <a:r>
                        <a:rPr sz="1200" kern="0" spc="0" dirty="0">
                          <a:solidFill>
                            <a:srgbClr val="000000">
                              <a:alpha val="100000"/>
                            </a:srgbClr>
                          </a:solidFill>
                          <a:latin typeface="KaiTi"/>
                          <a:ea typeface="KaiTi"/>
                          <a:cs typeface="KaiTi"/>
                        </a:rPr>
                        <a:t>Pre-A</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轮近</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2</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亿</a:t>
                      </a:r>
                      <a:r>
                        <a:rPr sz="1200" kern="0" spc="-10" dirty="0">
                          <a:solidFill>
                            <a:srgbClr val="000000">
                              <a:alpha val="100000"/>
                            </a:srgbClr>
                          </a:solidFill>
                          <a:latin typeface="KaiTi"/>
                          <a:ea typeface="KaiTi"/>
                          <a:cs typeface="KaiTi"/>
                        </a:rPr>
                        <a:t>（2026.3）</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6216"/>
                        </a:lnSpc>
                        <a:tabLst/>
                      </a:pPr>
                      <a:endParaRPr sz="100" dirty="0">
                        <a:latin typeface="Arial"/>
                        <a:ea typeface="Arial"/>
                        <a:cs typeface="Arial"/>
                      </a:endParaRPr>
                    </a:p>
                    <a:p>
                      <a:pPr marL="381000" algn="l" rtl="0" eaLnBrk="0">
                        <a:lnSpc>
                          <a:spcPct val="83000"/>
                        </a:lnSpc>
                        <a:tabLst/>
                      </a:pPr>
                      <a:r>
                        <a:rPr sz="1200" kern="0" spc="-30" dirty="0">
                          <a:solidFill>
                            <a:srgbClr val="000000">
                              <a:alpha val="100000"/>
                            </a:srgbClr>
                          </a:solidFill>
                          <a:latin typeface="KaiTi"/>
                          <a:ea typeface="KaiTi"/>
                          <a:cs typeface="KaiTi"/>
                        </a:rPr>
                        <a:t>华控基金</a:t>
                      </a:r>
                      <a:endParaRPr sz="1200" dirty="0">
                        <a:latin typeface="KaiTi"/>
                        <a:ea typeface="KaiTi"/>
                        <a:cs typeface="KaiTi"/>
                      </a:endParaRPr>
                    </a:p>
                    <a:p>
                      <a:pPr marL="450215" algn="l" rtl="0" eaLnBrk="0">
                        <a:lnSpc>
                          <a:spcPts val="1629"/>
                        </a:lnSpc>
                        <a:tabLst/>
                      </a:pPr>
                      <a:r>
                        <a:rPr sz="1200" kern="0" spc="-20" dirty="0">
                          <a:solidFill>
                            <a:srgbClr val="000000">
                              <a:alpha val="100000"/>
                            </a:srgbClr>
                          </a:solidFill>
                          <a:latin typeface="KaiTi"/>
                          <a:ea typeface="KaiTi"/>
                          <a:cs typeface="KaiTi"/>
                        </a:rPr>
                        <a:t>锡创投</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0000"/>
                        </a:lnSpc>
                        <a:tabLst/>
                      </a:pPr>
                      <a:endParaRPr sz="1000" dirty="0">
                        <a:latin typeface="Arial"/>
                        <a:ea typeface="Arial"/>
                        <a:cs typeface="Arial"/>
                      </a:endParaRPr>
                    </a:p>
                    <a:p>
                      <a:pPr marL="179070" indent="-165100" algn="l" rtl="0" eaLnBrk="0">
                        <a:lnSpc>
                          <a:spcPct val="92000"/>
                        </a:lnSpc>
                        <a:spcBef>
                          <a:spcPts val="5"/>
                        </a:spcBef>
                        <a:tabLst/>
                      </a:pPr>
                      <a:r>
                        <a:rPr sz="1200" kern="0" spc="-1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零样本泛化能力强，实测优于经典</a:t>
                      </a:r>
                      <a:r>
                        <a:rPr sz="1200" kern="0" spc="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VLA</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模型，技术成果即将</a:t>
                      </a:r>
                      <a:r>
                        <a:rPr sz="1200" kern="0" spc="-20" dirty="0">
                          <a:solidFill>
                            <a:srgbClr val="000000">
                              <a:alpha val="100000"/>
                            </a:srgbClr>
                          </a:solidFill>
                          <a:latin typeface="KaiTi"/>
                          <a:ea typeface="KaiTi"/>
                          <a:cs typeface="KaiTi"/>
                        </a:rPr>
                        <a:t>开源；</a:t>
                      </a:r>
                      <a:endParaRPr sz="1200" dirty="0">
                        <a:latin typeface="KaiTi"/>
                        <a:ea typeface="KaiTi"/>
                        <a:cs typeface="KaiTi"/>
                      </a:endParaRPr>
                    </a:p>
                    <a:p>
                      <a:pPr marL="13970" algn="l" rtl="0" eaLnBrk="0">
                        <a:lnSpc>
                          <a:spcPct val="89000"/>
                        </a:lnSpc>
                        <a:spcBef>
                          <a:spcPts val="241"/>
                        </a:spcBef>
                        <a:tabLst/>
                      </a:pPr>
                      <a:r>
                        <a:rPr sz="1200" kern="0" spc="0" dirty="0">
                          <a:solidFill>
                            <a:srgbClr val="000000">
                              <a:alpha val="100000"/>
                            </a:srgbClr>
                          </a:solidFill>
                          <a:latin typeface="Arial"/>
                          <a:ea typeface="Arial"/>
                          <a:cs typeface="Arial"/>
                        </a:rPr>
                        <a:t>•</a:t>
                      </a:r>
                      <a:r>
                        <a:rPr sz="1200" kern="0" spc="140" dirty="0">
                          <a:solidFill>
                            <a:srgbClr val="000000">
                              <a:alpha val="100000"/>
                            </a:srgbClr>
                          </a:solidFill>
                          <a:latin typeface="Arial"/>
                          <a:ea typeface="Arial"/>
                          <a:cs typeface="Arial"/>
                        </a:rPr>
                        <a:t>  </a:t>
                      </a:r>
                      <a:r>
                        <a:rPr sz="1200" kern="0" spc="0" dirty="0">
                          <a:solidFill>
                            <a:srgbClr val="000000">
                              <a:alpha val="100000"/>
                            </a:srgbClr>
                          </a:solidFill>
                          <a:latin typeface="KaiTi"/>
                          <a:ea typeface="KaiTi"/>
                          <a:cs typeface="KaiTi"/>
                        </a:rPr>
                        <a:t>采用</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“World</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Mo</a:t>
                      </a:r>
                      <a:r>
                        <a:rPr sz="1200" kern="0" spc="-10" dirty="0">
                          <a:solidFill>
                            <a:srgbClr val="000000">
                              <a:alpha val="100000"/>
                            </a:srgbClr>
                          </a:solidFill>
                          <a:latin typeface="KaiTi"/>
                          <a:ea typeface="KaiTi"/>
                          <a:cs typeface="KaiTi"/>
                        </a:rPr>
                        <a:t>del</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Action</a:t>
                      </a:r>
                      <a:endParaRPr sz="1200" dirty="0">
                        <a:latin typeface="KaiTi"/>
                        <a:ea typeface="KaiTi"/>
                        <a:cs typeface="KaiTi"/>
                      </a:endParaRPr>
                    </a:p>
                    <a:p>
                      <a:pPr marL="200025" indent="69850" algn="l" rtl="0" eaLnBrk="0">
                        <a:lnSpc>
                          <a:spcPct val="93000"/>
                        </a:lnSpc>
                        <a:spcBef>
                          <a:spcPts val="119"/>
                        </a:spcBef>
                        <a:tabLst/>
                      </a:pPr>
                      <a:r>
                        <a:rPr sz="1200" kern="0" spc="-40" dirty="0">
                          <a:solidFill>
                            <a:srgbClr val="000000">
                              <a:alpha val="100000"/>
                            </a:srgbClr>
                          </a:solidFill>
                          <a:latin typeface="KaiTi"/>
                          <a:ea typeface="KaiTi"/>
                          <a:cs typeface="KaiTi"/>
                        </a:rPr>
                        <a:t>（WMA）”</a:t>
                      </a:r>
                      <a:r>
                        <a:rPr sz="1200" kern="0" spc="-4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技术路径</a:t>
                      </a:r>
                      <a:r>
                        <a:rPr sz="1200" kern="0" spc="-50" dirty="0">
                          <a:solidFill>
                            <a:srgbClr val="000000">
                              <a:alpha val="100000"/>
                            </a:srgbClr>
                          </a:solidFill>
                          <a:latin typeface="KaiTi"/>
                          <a:ea typeface="KaiTi"/>
                          <a:cs typeface="KaiTi"/>
                        </a:rPr>
                        <a:t>，建模物理空</a:t>
                      </a:r>
                      <a:r>
                        <a:rPr sz="1200" kern="0" spc="-20" dirty="0">
                          <a:solidFill>
                            <a:srgbClr val="000000">
                              <a:alpha val="100000"/>
                            </a:srgbClr>
                          </a:solidFill>
                          <a:latin typeface="KaiTi"/>
                          <a:ea typeface="KaiTi"/>
                          <a:cs typeface="KaiTi"/>
                        </a:rPr>
                        <a:t>间移动和操作的内生认知</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E5D8"/>
                    </a:solidFill>
                  </a:tcPr>
                </a:tc>
                <a:tc>
                  <a:txBody>
                    <a:bodyPr/>
                    <a:lstStyle/>
                    <a:p>
                      <a:pPr algn="l" rtl="0" eaLnBrk="0">
                        <a:lnSpc>
                          <a:spcPct val="181000"/>
                        </a:lnSpc>
                        <a:tabLst/>
                      </a:pPr>
                      <a:endParaRPr sz="1000" dirty="0">
                        <a:latin typeface="Arial"/>
                        <a:ea typeface="Arial"/>
                        <a:cs typeface="Arial"/>
                      </a:endParaRPr>
                    </a:p>
                    <a:p>
                      <a:pPr marL="14604" algn="l" rtl="0" eaLnBrk="0">
                        <a:lnSpc>
                          <a:spcPct val="89000"/>
                        </a:lnSpc>
                        <a:spcBef>
                          <a:spcPts val="4"/>
                        </a:spcBef>
                        <a:tabLst/>
                      </a:pPr>
                      <a:r>
                        <a:rPr sz="1200" kern="0" spc="-2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20" dirty="0">
                          <a:solidFill>
                            <a:srgbClr val="000000">
                              <a:alpha val="100000"/>
                            </a:srgbClr>
                          </a:solidFill>
                          <a:latin typeface="KaiTi"/>
                          <a:ea typeface="KaiTi"/>
                          <a:cs typeface="KaiTi"/>
                        </a:rPr>
                        <a:t>基座模型授权</a:t>
                      </a:r>
                      <a:endParaRPr sz="1200" dirty="0">
                        <a:latin typeface="KaiTi"/>
                        <a:ea typeface="KaiTi"/>
                        <a:cs typeface="KaiTi"/>
                      </a:endParaRPr>
                    </a:p>
                    <a:p>
                      <a:pPr marL="14604" algn="l" rtl="0" eaLnBrk="0">
                        <a:lnSpc>
                          <a:spcPct val="89000"/>
                        </a:lnSpc>
                        <a:spcBef>
                          <a:spcPts val="159"/>
                        </a:spcBef>
                        <a:tabLst/>
                      </a:pPr>
                      <a:r>
                        <a:rPr sz="1200" kern="0" spc="-2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20" dirty="0">
                          <a:solidFill>
                            <a:srgbClr val="000000">
                              <a:alpha val="100000"/>
                            </a:srgbClr>
                          </a:solidFill>
                          <a:latin typeface="KaiTi"/>
                          <a:ea typeface="KaiTi"/>
                          <a:cs typeface="KaiTi"/>
                        </a:rPr>
                        <a:t>领域模型定制费</a:t>
                      </a:r>
                      <a:endParaRPr sz="1200" dirty="0">
                        <a:latin typeface="KaiTi"/>
                        <a:ea typeface="KaiTi"/>
                        <a:cs typeface="KaiTi"/>
                      </a:endParaRPr>
                    </a:p>
                    <a:p>
                      <a:pPr marL="14604" algn="l" rtl="0" eaLnBrk="0">
                        <a:lnSpc>
                          <a:spcPct val="89000"/>
                        </a:lnSpc>
                        <a:spcBef>
                          <a:spcPts val="159"/>
                        </a:spcBef>
                        <a:tabLst/>
                      </a:pPr>
                      <a:r>
                        <a:rPr sz="1200" kern="0" spc="-20" dirty="0">
                          <a:solidFill>
                            <a:srgbClr val="000000">
                              <a:alpha val="100000"/>
                            </a:srgbClr>
                          </a:solidFill>
                          <a:latin typeface="Arial"/>
                          <a:ea typeface="Arial"/>
                          <a:cs typeface="Arial"/>
                        </a:rPr>
                        <a:t>•</a:t>
                      </a:r>
                      <a:r>
                        <a:rPr sz="1200" kern="0" spc="170" dirty="0">
                          <a:solidFill>
                            <a:srgbClr val="000000">
                              <a:alpha val="100000"/>
                            </a:srgbClr>
                          </a:solidFill>
                          <a:latin typeface="Arial"/>
                          <a:ea typeface="Arial"/>
                          <a:cs typeface="Arial"/>
                        </a:rPr>
                        <a:t>  </a:t>
                      </a:r>
                      <a:r>
                        <a:rPr sz="1200" kern="0" spc="-20" dirty="0">
                          <a:solidFill>
                            <a:srgbClr val="000000">
                              <a:alpha val="100000"/>
                            </a:srgbClr>
                          </a:solidFill>
                          <a:latin typeface="KaiTi"/>
                          <a:ea typeface="KaiTi"/>
                          <a:cs typeface="KaiTi"/>
                        </a:rPr>
                        <a:t>端侧部署服务费</a:t>
                      </a:r>
                      <a:endParaRPr sz="1200" dirty="0">
                        <a:latin typeface="KaiTi"/>
                        <a:ea typeface="KaiTi"/>
                        <a:cs typeface="KaiTi"/>
                      </a:endParaRPr>
                    </a:p>
                    <a:p>
                      <a:pPr marL="14604" algn="l" rtl="0" eaLnBrk="0">
                        <a:lnSpc>
                          <a:spcPct val="89000"/>
                        </a:lnSpc>
                        <a:spcBef>
                          <a:spcPts val="159"/>
                        </a:spcBef>
                        <a:tabLst/>
                      </a:pPr>
                      <a:r>
                        <a:rPr sz="1200" kern="0" spc="-2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20" dirty="0">
                          <a:solidFill>
                            <a:srgbClr val="000000">
                              <a:alpha val="100000"/>
                            </a:srgbClr>
                          </a:solidFill>
                          <a:latin typeface="KaiTi"/>
                          <a:ea typeface="KaiTi"/>
                          <a:cs typeface="KaiTi"/>
                        </a:rPr>
                        <a:t>数据闭环服务</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706755">
                <a:tc>
                  <a:txBody>
                    <a:bodyPr/>
                    <a:lstStyle/>
                    <a:p>
                      <a:pPr algn="l" rtl="0" eaLnBrk="0">
                        <a:lnSpc>
                          <a:spcPct val="189000"/>
                        </a:lnSpc>
                        <a:tabLst/>
                      </a:pPr>
                      <a:endParaRPr sz="1000" dirty="0">
                        <a:latin typeface="Arial"/>
                        <a:ea typeface="Arial"/>
                        <a:cs typeface="Arial"/>
                      </a:endParaRPr>
                    </a:p>
                    <a:p>
                      <a:pPr marL="339725" algn="l" rtl="0" eaLnBrk="0">
                        <a:lnSpc>
                          <a:spcPct val="86000"/>
                        </a:lnSpc>
                        <a:spcBef>
                          <a:spcPts val="7"/>
                        </a:spcBef>
                        <a:tabLst/>
                      </a:pPr>
                      <a:r>
                        <a:rPr sz="1200" kern="0" spc="-20" dirty="0">
                          <a:solidFill>
                            <a:srgbClr val="000000">
                              <a:alpha val="100000"/>
                            </a:srgbClr>
                          </a:solidFill>
                          <a:latin typeface="KaiTi"/>
                          <a:ea typeface="KaiTi"/>
                          <a:cs typeface="KaiTi"/>
                        </a:rPr>
                        <a:t>拓元智慧</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6000"/>
                        </a:lnSpc>
                        <a:tabLst/>
                      </a:pPr>
                      <a:endParaRPr sz="1000" dirty="0">
                        <a:latin typeface="Arial"/>
                        <a:ea typeface="Arial"/>
                        <a:cs typeface="Arial"/>
                      </a:endParaRPr>
                    </a:p>
                    <a:p>
                      <a:pPr marL="381000" indent="-326390" algn="l" rtl="0" eaLnBrk="0">
                        <a:lnSpc>
                          <a:spcPct val="93000"/>
                        </a:lnSpc>
                        <a:spcBef>
                          <a:spcPts val="6"/>
                        </a:spcBef>
                        <a:tabLst/>
                      </a:pPr>
                      <a:r>
                        <a:rPr sz="1200" kern="0" spc="-30" dirty="0">
                          <a:solidFill>
                            <a:srgbClr val="000000">
                              <a:alpha val="100000"/>
                            </a:srgbClr>
                          </a:solidFill>
                          <a:latin typeface="KaiTi"/>
                          <a:ea typeface="KaiTi"/>
                          <a:cs typeface="KaiTi"/>
                        </a:rPr>
                        <a:t>空间智能</a:t>
                      </a:r>
                      <a:r>
                        <a:rPr sz="1200" kern="0" spc="-30" dirty="0">
                          <a:solidFill>
                            <a:srgbClr val="000000">
                              <a:alpha val="100000"/>
                            </a:srgbClr>
                          </a:solidFill>
                          <a:latin typeface="KaiTi"/>
                          <a:ea typeface="KaiTi"/>
                          <a:cs typeface="KaiTi"/>
                        </a:rPr>
                        <a:t> </a:t>
                      </a:r>
                      <a:r>
                        <a:rPr sz="1200" kern="0" spc="-30" dirty="0">
                          <a:solidFill>
                            <a:srgbClr val="000000">
                              <a:alpha val="100000"/>
                            </a:srgbClr>
                          </a:solidFill>
                          <a:latin typeface="KaiTi"/>
                          <a:ea typeface="KaiTi"/>
                          <a:cs typeface="KaiTi"/>
                        </a:rPr>
                        <a:t>/</a:t>
                      </a:r>
                      <a:r>
                        <a:rPr sz="1200" kern="0" spc="70" dirty="0">
                          <a:solidFill>
                            <a:srgbClr val="000000">
                              <a:alpha val="100000"/>
                            </a:srgbClr>
                          </a:solidFill>
                          <a:latin typeface="KaiTi"/>
                          <a:ea typeface="KaiTi"/>
                          <a:cs typeface="KaiTi"/>
                        </a:rPr>
                        <a:t> </a:t>
                      </a:r>
                      <a:r>
                        <a:rPr sz="1200" kern="0" spc="-30" dirty="0">
                          <a:solidFill>
                            <a:srgbClr val="000000">
                              <a:alpha val="100000"/>
                            </a:srgbClr>
                          </a:solidFill>
                          <a:latin typeface="KaiTi"/>
                          <a:ea typeface="KaiTi"/>
                          <a:cs typeface="KaiTi"/>
                        </a:rPr>
                        <a:t>机器</a:t>
                      </a:r>
                      <a:r>
                        <a:rPr sz="1200" kern="0" spc="-10" dirty="0">
                          <a:solidFill>
                            <a:srgbClr val="000000">
                              <a:alpha val="100000"/>
                            </a:srgbClr>
                          </a:solidFill>
                          <a:latin typeface="KaiTi"/>
                          <a:ea typeface="KaiTi"/>
                          <a:cs typeface="KaiTi"/>
                        </a:rPr>
                        <a:t>人操作</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89000"/>
                        </a:lnSpc>
                        <a:tabLst/>
                      </a:pPr>
                      <a:endParaRPr sz="1000" dirty="0">
                        <a:latin typeface="Arial"/>
                        <a:ea typeface="Arial"/>
                        <a:cs typeface="Arial"/>
                      </a:endParaRPr>
                    </a:p>
                    <a:p>
                      <a:pPr algn="l" rtl="0" eaLnBrk="0">
                        <a:lnSpc>
                          <a:spcPct val="6476"/>
                        </a:lnSpc>
                        <a:tabLst/>
                      </a:pPr>
                      <a:endParaRPr sz="100" dirty="0">
                        <a:latin typeface="Arial"/>
                        <a:ea typeface="Arial"/>
                        <a:cs typeface="Arial"/>
                      </a:endParaRPr>
                    </a:p>
                    <a:p>
                      <a:pPr marL="114300" algn="l" rtl="0" eaLnBrk="0">
                        <a:lnSpc>
                          <a:spcPct val="84000"/>
                        </a:lnSpc>
                        <a:tabLst/>
                      </a:pPr>
                      <a:r>
                        <a:rPr sz="1200" kern="0" spc="0" dirty="0">
                          <a:solidFill>
                            <a:srgbClr val="000000">
                              <a:alpha val="100000"/>
                            </a:srgbClr>
                          </a:solidFill>
                          <a:latin typeface="KaiTi"/>
                          <a:ea typeface="KaiTi"/>
                          <a:cs typeface="KaiTi"/>
                        </a:rPr>
                        <a:t>Pre-A</a:t>
                      </a:r>
                      <a:r>
                        <a:rPr sz="1200" kern="0" spc="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轮数亿（</a:t>
                      </a:r>
                      <a:r>
                        <a:rPr sz="1200" kern="0" spc="-10" dirty="0">
                          <a:solidFill>
                            <a:srgbClr val="000000">
                              <a:alpha val="100000"/>
                            </a:srgbClr>
                          </a:solidFill>
                          <a:latin typeface="KaiTi"/>
                          <a:ea typeface="KaiTi"/>
                          <a:cs typeface="KaiTi"/>
                        </a:rPr>
                        <a:t>2025.12）</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5000"/>
                        </a:lnSpc>
                        <a:tabLst/>
                      </a:pPr>
                      <a:endParaRPr sz="600" dirty="0">
                        <a:latin typeface="Arial"/>
                        <a:ea typeface="Arial"/>
                        <a:cs typeface="Arial"/>
                      </a:endParaRPr>
                    </a:p>
                    <a:p>
                      <a:pPr marL="369570" algn="l" rtl="0" eaLnBrk="0">
                        <a:lnSpc>
                          <a:spcPct val="86000"/>
                        </a:lnSpc>
                        <a:spcBef>
                          <a:spcPts val="2"/>
                        </a:spcBef>
                        <a:tabLst/>
                      </a:pPr>
                      <a:r>
                        <a:rPr sz="1200" kern="0" spc="-10" dirty="0">
                          <a:solidFill>
                            <a:srgbClr val="000000">
                              <a:alpha val="100000"/>
                            </a:srgbClr>
                          </a:solidFill>
                          <a:latin typeface="KaiTi"/>
                          <a:ea typeface="KaiTi"/>
                          <a:cs typeface="KaiTi"/>
                        </a:rPr>
                        <a:t>领屹投资</a:t>
                      </a:r>
                      <a:endParaRPr sz="1200" dirty="0">
                        <a:latin typeface="KaiTi"/>
                        <a:ea typeface="KaiTi"/>
                        <a:cs typeface="KaiTi"/>
                      </a:endParaRPr>
                    </a:p>
                    <a:p>
                      <a:pPr marL="372745" algn="l" rtl="0" eaLnBrk="0">
                        <a:lnSpc>
                          <a:spcPct val="86000"/>
                        </a:lnSpc>
                        <a:spcBef>
                          <a:spcPts val="202"/>
                        </a:spcBef>
                        <a:tabLst/>
                      </a:pPr>
                      <a:r>
                        <a:rPr sz="1200" kern="0" spc="-10" dirty="0">
                          <a:solidFill>
                            <a:srgbClr val="000000">
                              <a:alpha val="100000"/>
                            </a:srgbClr>
                          </a:solidFill>
                          <a:latin typeface="KaiTi"/>
                          <a:ea typeface="KaiTi"/>
                          <a:cs typeface="KaiTi"/>
                        </a:rPr>
                        <a:t>石溪资本</a:t>
                      </a:r>
                      <a:endParaRPr sz="1200" dirty="0">
                        <a:latin typeface="KaiTi"/>
                        <a:ea typeface="KaiTi"/>
                        <a:cs typeface="KaiTi"/>
                      </a:endParaRPr>
                    </a:p>
                    <a:p>
                      <a:pPr marL="389890" algn="l" rtl="0" eaLnBrk="0">
                        <a:lnSpc>
                          <a:spcPct val="87000"/>
                        </a:lnSpc>
                        <a:spcBef>
                          <a:spcPts val="206"/>
                        </a:spcBef>
                        <a:tabLst/>
                      </a:pPr>
                      <a:r>
                        <a:rPr sz="1200" kern="0" spc="-40" dirty="0">
                          <a:solidFill>
                            <a:srgbClr val="000000">
                              <a:alpha val="100000"/>
                            </a:srgbClr>
                          </a:solidFill>
                          <a:latin typeface="KaiTi"/>
                          <a:ea typeface="KaiTi"/>
                          <a:cs typeface="KaiTi"/>
                        </a:rPr>
                        <a:t>东方精工</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2000"/>
                        </a:lnSpc>
                        <a:tabLst/>
                      </a:pPr>
                      <a:endParaRPr sz="600" dirty="0">
                        <a:latin typeface="Arial"/>
                        <a:ea typeface="Arial"/>
                        <a:cs typeface="Arial"/>
                      </a:endParaRPr>
                    </a:p>
                    <a:p>
                      <a:pPr marL="186054" indent="-172085" algn="l" rtl="0" eaLnBrk="0">
                        <a:lnSpc>
                          <a:spcPct val="95000"/>
                        </a:lnSpc>
                        <a:spcBef>
                          <a:spcPts val="6"/>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实验室孵化背景，技术壁垒高，适</a:t>
                      </a:r>
                      <a:r>
                        <a:rPr sz="1200" kern="0" spc="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配国产算力生态，在工业机器人领</a:t>
                      </a:r>
                      <a:r>
                        <a:rPr sz="1200" kern="0" spc="2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域落地案例丰富</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E5D8"/>
                    </a:solidFill>
                  </a:tcPr>
                </a:tc>
                <a:tc>
                  <a:txBody>
                    <a:bodyPr/>
                    <a:lstStyle/>
                    <a:p>
                      <a:pPr algn="l" rtl="0" eaLnBrk="0">
                        <a:lnSpc>
                          <a:spcPct val="116000"/>
                        </a:lnSpc>
                        <a:tabLst/>
                      </a:pPr>
                      <a:endParaRPr sz="600" dirty="0">
                        <a:latin typeface="Arial"/>
                        <a:ea typeface="Arial"/>
                        <a:cs typeface="Arial"/>
                      </a:endParaRPr>
                    </a:p>
                    <a:p>
                      <a:pPr marL="14604" algn="l" rtl="0" eaLnBrk="0">
                        <a:lnSpc>
                          <a:spcPct val="89000"/>
                        </a:lnSpc>
                        <a:spcBef>
                          <a:spcPts val="2"/>
                        </a:spcBef>
                        <a:tabLst/>
                      </a:pPr>
                      <a:r>
                        <a:rPr sz="1200" kern="0" spc="-10" dirty="0">
                          <a:solidFill>
                            <a:srgbClr val="000000">
                              <a:alpha val="100000"/>
                            </a:srgbClr>
                          </a:solidFill>
                          <a:latin typeface="Arial"/>
                          <a:ea typeface="Arial"/>
                          <a:cs typeface="Arial"/>
                        </a:rPr>
                        <a:t>•</a:t>
                      </a:r>
                      <a:r>
                        <a:rPr sz="1200" kern="0" spc="13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模型架构技术授权</a:t>
                      </a:r>
                      <a:endParaRPr sz="1200" dirty="0">
                        <a:latin typeface="KaiTi"/>
                        <a:ea typeface="KaiTi"/>
                        <a:cs typeface="KaiTi"/>
                      </a:endParaRPr>
                    </a:p>
                    <a:p>
                      <a:pPr marL="14604" algn="l" rtl="0" eaLnBrk="0">
                        <a:lnSpc>
                          <a:spcPct val="89000"/>
                        </a:lnSpc>
                        <a:spcBef>
                          <a:spcPts val="159"/>
                        </a:spcBef>
                        <a:tabLst/>
                      </a:pPr>
                      <a:r>
                        <a:rPr sz="1200" kern="0" spc="-10" dirty="0">
                          <a:solidFill>
                            <a:srgbClr val="000000">
                              <a:alpha val="100000"/>
                            </a:srgbClr>
                          </a:solidFill>
                          <a:latin typeface="Arial"/>
                          <a:ea typeface="Arial"/>
                          <a:cs typeface="Arial"/>
                        </a:rPr>
                        <a:t>•</a:t>
                      </a:r>
                      <a:r>
                        <a:rPr sz="1200" kern="0" spc="14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数据服务：真实+仿真</a:t>
                      </a:r>
                      <a:endParaRPr sz="1200" dirty="0">
                        <a:latin typeface="KaiTi"/>
                        <a:ea typeface="KaiTi"/>
                        <a:cs typeface="KaiTi"/>
                      </a:endParaRPr>
                    </a:p>
                    <a:p>
                      <a:pPr marL="14604" algn="l" rtl="0" eaLnBrk="0">
                        <a:lnSpc>
                          <a:spcPct val="89000"/>
                        </a:lnSpc>
                        <a:spcBef>
                          <a:spcPts val="159"/>
                        </a:spcBef>
                        <a:tabLst/>
                      </a:pPr>
                      <a:r>
                        <a:rPr sz="1200" kern="0" spc="-10" dirty="0">
                          <a:solidFill>
                            <a:srgbClr val="000000">
                              <a:alpha val="100000"/>
                            </a:srgbClr>
                          </a:solidFill>
                          <a:latin typeface="Arial"/>
                          <a:ea typeface="Arial"/>
                          <a:cs typeface="Arial"/>
                        </a:rPr>
                        <a:t>•</a:t>
                      </a:r>
                      <a:r>
                        <a:rPr sz="1200" kern="0" spc="13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提供机器人解决方案</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2590">
                <a:tc>
                  <a:txBody>
                    <a:bodyPr/>
                    <a:lstStyle/>
                    <a:p>
                      <a:pPr algn="l" rtl="0" eaLnBrk="0">
                        <a:lnSpc>
                          <a:spcPct val="110000"/>
                        </a:lnSpc>
                        <a:tabLst/>
                      </a:pPr>
                      <a:endParaRPr sz="800" dirty="0">
                        <a:latin typeface="Arial"/>
                        <a:ea typeface="Arial"/>
                        <a:cs typeface="Arial"/>
                      </a:endParaRPr>
                    </a:p>
                    <a:p>
                      <a:pPr algn="l" rtl="0" eaLnBrk="0">
                        <a:lnSpc>
                          <a:spcPct val="7140"/>
                        </a:lnSpc>
                        <a:tabLst/>
                      </a:pPr>
                      <a:endParaRPr sz="100" dirty="0">
                        <a:latin typeface="Arial"/>
                        <a:ea typeface="Arial"/>
                        <a:cs typeface="Arial"/>
                      </a:endParaRPr>
                    </a:p>
                    <a:p>
                      <a:pPr marL="339725" algn="l" rtl="0" eaLnBrk="0">
                        <a:lnSpc>
                          <a:spcPct val="84000"/>
                        </a:lnSpc>
                        <a:tabLst/>
                      </a:pPr>
                      <a:r>
                        <a:rPr sz="1200" kern="0" spc="-30" dirty="0">
                          <a:solidFill>
                            <a:srgbClr val="000000">
                              <a:alpha val="100000"/>
                            </a:srgbClr>
                          </a:solidFill>
                          <a:latin typeface="KaiTi"/>
                          <a:ea typeface="KaiTi"/>
                          <a:cs typeface="KaiTi"/>
                        </a:rPr>
                        <a:t>千诀科技</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9000"/>
                        </a:lnSpc>
                        <a:tabLst/>
                      </a:pPr>
                      <a:endParaRPr sz="200" dirty="0">
                        <a:latin typeface="Arial"/>
                        <a:ea typeface="Arial"/>
                        <a:cs typeface="Arial"/>
                      </a:endParaRPr>
                    </a:p>
                    <a:p>
                      <a:pPr marL="537844" indent="-455930" algn="l" rtl="0" eaLnBrk="0">
                        <a:lnSpc>
                          <a:spcPct val="93000"/>
                        </a:lnSpc>
                        <a:spcBef>
                          <a:spcPts val="2"/>
                        </a:spcBef>
                        <a:tabLst/>
                      </a:pPr>
                      <a:r>
                        <a:rPr sz="1200" kern="0" spc="-10" dirty="0">
                          <a:solidFill>
                            <a:srgbClr val="000000">
                              <a:alpha val="100000"/>
                            </a:srgbClr>
                          </a:solidFill>
                          <a:latin typeface="KaiTi"/>
                          <a:ea typeface="KaiTi"/>
                          <a:cs typeface="KaiTi"/>
                        </a:rPr>
                        <a:t>具身智能家庭落</a:t>
                      </a:r>
                      <a:r>
                        <a:rPr sz="1200" kern="0" spc="-10" dirty="0">
                          <a:solidFill>
                            <a:srgbClr val="000000">
                              <a:alpha val="100000"/>
                            </a:srgbClr>
                          </a:solidFill>
                          <a:latin typeface="KaiTi"/>
                          <a:ea typeface="KaiTi"/>
                          <a:cs typeface="KaiTi"/>
                        </a:rPr>
                        <a:t>地</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1000"/>
                        </a:lnSpc>
                        <a:tabLst/>
                      </a:pPr>
                      <a:endParaRPr sz="800" dirty="0">
                        <a:latin typeface="Arial"/>
                        <a:ea typeface="Arial"/>
                        <a:cs typeface="Arial"/>
                      </a:endParaRPr>
                    </a:p>
                    <a:p>
                      <a:pPr marL="114300" algn="l" rtl="0" eaLnBrk="0">
                        <a:lnSpc>
                          <a:spcPct val="84000"/>
                        </a:lnSpc>
                        <a:spcBef>
                          <a:spcPts val="4"/>
                        </a:spcBef>
                        <a:tabLst/>
                      </a:pPr>
                      <a:r>
                        <a:rPr sz="1200" kern="0" spc="0" dirty="0">
                          <a:solidFill>
                            <a:srgbClr val="000000">
                              <a:alpha val="100000"/>
                            </a:srgbClr>
                          </a:solidFill>
                          <a:latin typeface="KaiTi"/>
                          <a:ea typeface="KaiTi"/>
                          <a:cs typeface="KaiTi"/>
                        </a:rPr>
                        <a:t>Pre-A++轮近亿</a:t>
                      </a:r>
                      <a:r>
                        <a:rPr sz="1200" kern="0" spc="-10" dirty="0">
                          <a:solidFill>
                            <a:srgbClr val="000000">
                              <a:alpha val="100000"/>
                            </a:srgbClr>
                          </a:solidFill>
                          <a:latin typeface="KaiTi"/>
                          <a:ea typeface="KaiTi"/>
                          <a:cs typeface="KaiTi"/>
                        </a:rPr>
                        <a:t>（2026.2）</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9000"/>
                        </a:lnSpc>
                        <a:tabLst/>
                      </a:pPr>
                      <a:endParaRPr sz="200" dirty="0">
                        <a:latin typeface="Arial"/>
                        <a:ea typeface="Arial"/>
                        <a:cs typeface="Arial"/>
                      </a:endParaRPr>
                    </a:p>
                    <a:p>
                      <a:pPr marL="534034" indent="-464184" algn="l" rtl="0" eaLnBrk="0">
                        <a:lnSpc>
                          <a:spcPct val="93000"/>
                        </a:lnSpc>
                        <a:spcBef>
                          <a:spcPts val="2"/>
                        </a:spcBef>
                        <a:tabLst/>
                      </a:pPr>
                      <a:r>
                        <a:rPr sz="1200" kern="0" spc="-10" dirty="0">
                          <a:solidFill>
                            <a:srgbClr val="000000">
                              <a:alpha val="100000"/>
                            </a:srgbClr>
                          </a:solidFill>
                          <a:latin typeface="KaiTi"/>
                          <a:ea typeface="KaiTi"/>
                          <a:cs typeface="KaiTi"/>
                        </a:rPr>
                        <a:t>祥峰、智路资本、</a:t>
                      </a:r>
                      <a:r>
                        <a:rPr sz="1200" kern="0" spc="-40" dirty="0">
                          <a:solidFill>
                            <a:srgbClr val="000000">
                              <a:alpha val="100000"/>
                            </a:srgbClr>
                          </a:solidFill>
                          <a:latin typeface="KaiTi"/>
                          <a:ea typeface="KaiTi"/>
                          <a:cs typeface="KaiTi"/>
                        </a:rPr>
                        <a:t>英诺</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1000"/>
                        </a:lnSpc>
                        <a:tabLst/>
                      </a:pPr>
                      <a:endParaRPr sz="800" dirty="0">
                        <a:latin typeface="Arial"/>
                        <a:ea typeface="Arial"/>
                        <a:cs typeface="Arial"/>
                      </a:endParaRPr>
                    </a:p>
                    <a:p>
                      <a:pPr marL="13970" algn="l" rtl="0" eaLnBrk="0">
                        <a:lnSpc>
                          <a:spcPct val="89000"/>
                        </a:lnSpc>
                        <a:spcBef>
                          <a:spcPts val="6"/>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大脑Knowhow深、架构强</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E5D8"/>
                    </a:solidFill>
                  </a:tcPr>
                </a:tc>
                <a:tc>
                  <a:txBody>
                    <a:bodyPr/>
                    <a:lstStyle/>
                    <a:p>
                      <a:pPr algn="l" rtl="0" eaLnBrk="0">
                        <a:lnSpc>
                          <a:spcPct val="111000"/>
                        </a:lnSpc>
                        <a:tabLst/>
                      </a:pPr>
                      <a:endParaRPr sz="800" dirty="0">
                        <a:latin typeface="Arial"/>
                        <a:ea typeface="Arial"/>
                        <a:cs typeface="Arial"/>
                      </a:endParaRPr>
                    </a:p>
                    <a:p>
                      <a:pPr marL="939164" algn="l" rtl="0" eaLnBrk="0">
                        <a:lnSpc>
                          <a:spcPct val="85000"/>
                        </a:lnSpc>
                        <a:spcBef>
                          <a:spcPts val="3"/>
                        </a:spcBef>
                        <a:tabLst/>
                      </a:pPr>
                      <a:r>
                        <a:rPr sz="1200" kern="0" spc="-40" dirty="0">
                          <a:solidFill>
                            <a:srgbClr val="000000">
                              <a:alpha val="100000"/>
                            </a:srgbClr>
                          </a:solidFill>
                          <a:latin typeface="KaiTi"/>
                          <a:ea typeface="KaiTi"/>
                          <a:cs typeface="KaiTi"/>
                        </a:rPr>
                        <a:t>内脑架构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64" name="textbox 564"/>
          <p:cNvSpPr/>
          <p:nvPr/>
        </p:nvSpPr>
        <p:spPr>
          <a:xfrm>
            <a:off x="296418" y="1533905"/>
            <a:ext cx="576580" cy="2030095"/>
          </a:xfrm>
          <a:prstGeom prst="roundRect">
            <a:avLst>
              <a:gd name="adj" fmla="val 19334"/>
            </a:avLst>
          </a:prstGeom>
          <a:solidFill>
            <a:srgbClr val="F9F1EA">
              <a:alpha val="100000"/>
            </a:srgbClr>
          </a:solidFill>
          <a:ln w="19050" cap="flat">
            <a:solidFill>
              <a:srgbClr val="BF756D"/>
            </a:solidFill>
            <a:prstDash val="solid"/>
            <a:miter lim="0"/>
          </a:ln>
        </p:spPr>
        <p:txBody>
          <a:bodyPr vert="horz" wrap="square" lIns="0" tIns="0" rIns="0" bIns="0"/>
          <a:lstStyle/>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marL="165100" algn="l" rtl="0" eaLnBrk="0">
              <a:lnSpc>
                <a:spcPct val="89000"/>
              </a:lnSpc>
              <a:spcBef>
                <a:spcPts val="6"/>
              </a:spcBef>
              <a:tabLst/>
            </a:pPr>
            <a:r>
              <a:rPr sz="1500" b="1" kern="0" spc="-10" dirty="0">
                <a:solidFill>
                  <a:srgbClr val="BF756D">
                    <a:alpha val="100000"/>
                  </a:srgbClr>
                </a:solidFill>
                <a:latin typeface="KaiTi"/>
                <a:ea typeface="KaiTi"/>
                <a:cs typeface="KaiTi"/>
              </a:rPr>
              <a:t>通</a:t>
            </a:r>
            <a:endParaRPr sz="1500" dirty="0">
              <a:latin typeface="KaiTi"/>
              <a:ea typeface="KaiTi"/>
              <a:cs typeface="KaiTi"/>
            </a:endParaRPr>
          </a:p>
          <a:p>
            <a:pPr marL="177800" algn="l" rtl="0" eaLnBrk="0">
              <a:lnSpc>
                <a:spcPct val="87000"/>
              </a:lnSpc>
              <a:spcBef>
                <a:spcPts val="6"/>
              </a:spcBef>
              <a:tabLst/>
            </a:pPr>
            <a:r>
              <a:rPr sz="1500" b="1" kern="0" spc="-20" dirty="0">
                <a:solidFill>
                  <a:srgbClr val="BF756D">
                    <a:alpha val="100000"/>
                  </a:srgbClr>
                </a:solidFill>
                <a:latin typeface="KaiTi"/>
                <a:ea typeface="KaiTi"/>
                <a:cs typeface="KaiTi"/>
              </a:rPr>
              <a:t>用</a:t>
            </a:r>
            <a:endParaRPr sz="1500" dirty="0">
              <a:latin typeface="KaiTi"/>
              <a:ea typeface="KaiTi"/>
              <a:cs typeface="KaiTi"/>
            </a:endParaRPr>
          </a:p>
        </p:txBody>
      </p:sp>
      <p:sp>
        <p:nvSpPr>
          <p:cNvPr id="566" name="textbox 566"/>
          <p:cNvSpPr/>
          <p:nvPr/>
        </p:nvSpPr>
        <p:spPr>
          <a:xfrm>
            <a:off x="296418" y="4014978"/>
            <a:ext cx="576580" cy="2030095"/>
          </a:xfrm>
          <a:prstGeom prst="roundRect">
            <a:avLst>
              <a:gd name="adj" fmla="val 19334"/>
            </a:avLst>
          </a:prstGeom>
          <a:solidFill>
            <a:srgbClr val="F9F1EA">
              <a:alpha val="100000"/>
            </a:srgbClr>
          </a:solidFill>
          <a:ln w="19050" cap="flat">
            <a:solidFill>
              <a:srgbClr val="BF756D"/>
            </a:solidFill>
            <a:prstDash val="solid"/>
            <a:miter lim="0"/>
          </a:ln>
        </p:spPr>
        <p:txBody>
          <a:bodyPr vert="horz" wrap="square" lIns="0" tIns="0" rIns="0" bIns="0"/>
          <a:lstStyle/>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8256"/>
              </a:lnSpc>
              <a:tabLst/>
            </a:pPr>
            <a:endParaRPr sz="100" dirty="0">
              <a:latin typeface="Arial"/>
              <a:ea typeface="Arial"/>
              <a:cs typeface="Arial"/>
            </a:endParaRPr>
          </a:p>
          <a:p>
            <a:pPr marL="164464" algn="l" rtl="0" eaLnBrk="0">
              <a:lnSpc>
                <a:spcPct val="89000"/>
              </a:lnSpc>
              <a:tabLst/>
            </a:pPr>
            <a:r>
              <a:rPr sz="1500" b="1" kern="0" spc="0" dirty="0">
                <a:solidFill>
                  <a:srgbClr val="BF756D">
                    <a:alpha val="100000"/>
                  </a:srgbClr>
                </a:solidFill>
                <a:latin typeface="KaiTi"/>
                <a:ea typeface="KaiTi"/>
                <a:cs typeface="KaiTi"/>
              </a:rPr>
              <a:t>具</a:t>
            </a:r>
            <a:endParaRPr sz="1500" dirty="0">
              <a:latin typeface="KaiTi"/>
              <a:ea typeface="KaiTi"/>
              <a:cs typeface="KaiTi"/>
            </a:endParaRPr>
          </a:p>
          <a:p>
            <a:pPr marL="173989" algn="l" rtl="0" eaLnBrk="0">
              <a:lnSpc>
                <a:spcPct val="87000"/>
              </a:lnSpc>
              <a:spcBef>
                <a:spcPts val="6"/>
              </a:spcBef>
              <a:tabLst/>
            </a:pPr>
            <a:r>
              <a:rPr sz="1500" b="1" kern="0" spc="-20" dirty="0">
                <a:solidFill>
                  <a:srgbClr val="BF756D">
                    <a:alpha val="100000"/>
                  </a:srgbClr>
                </a:solidFill>
                <a:latin typeface="KaiTi"/>
                <a:ea typeface="KaiTi"/>
                <a:cs typeface="KaiTi"/>
              </a:rPr>
              <a:t>身</a:t>
            </a:r>
            <a:endParaRPr sz="1500" dirty="0">
              <a:latin typeface="KaiTi"/>
              <a:ea typeface="KaiTi"/>
              <a:cs typeface="KaiTi"/>
            </a:endParaRPr>
          </a:p>
        </p:txBody>
      </p:sp>
      <p:sp>
        <p:nvSpPr>
          <p:cNvPr id="568" name="textbox 568"/>
          <p:cNvSpPr/>
          <p:nvPr/>
        </p:nvSpPr>
        <p:spPr>
          <a:xfrm>
            <a:off x="554049" y="461293"/>
            <a:ext cx="2148204" cy="381000"/>
          </a:xfrm>
          <a:prstGeom prst="rect">
            <a:avLst/>
          </a:prstGeom>
          <a:noFill/>
          <a:ln w="0" cap="flat">
            <a:noFill/>
            <a:prstDash val="solid"/>
            <a:miter lim="0"/>
          </a:ln>
        </p:spPr>
        <p:txBody>
          <a:bodyPr vert="horz" wrap="square" lIns="0" tIns="0" rIns="0" bIns="0"/>
          <a:lstStyle/>
          <a:p>
            <a:pPr algn="l" rtl="0" eaLnBrk="0">
              <a:lnSpc>
                <a:spcPct val="91562"/>
              </a:lnSpc>
              <a:tabLst/>
            </a:pPr>
            <a:endParaRPr sz="100" dirty="0">
              <a:latin typeface="Arial"/>
              <a:ea typeface="Arial"/>
              <a:cs typeface="Arial"/>
            </a:endParaRPr>
          </a:p>
          <a:p>
            <a:pPr marL="12700" algn="l" rtl="0" eaLnBrk="0">
              <a:lnSpc>
                <a:spcPct val="86000"/>
              </a:lnSpc>
              <a:tabLst/>
            </a:pPr>
            <a:r>
              <a:rPr sz="2700" b="1" kern="0" spc="60" dirty="0">
                <a:solidFill>
                  <a:srgbClr val="BF756D">
                    <a:alpha val="100000"/>
                  </a:srgbClr>
                </a:solidFill>
                <a:latin typeface="KaiTi"/>
                <a:ea typeface="KaiTi"/>
                <a:cs typeface="KaiTi"/>
              </a:rPr>
              <a:t>市场玩家格局</a:t>
            </a:r>
            <a:endParaRPr sz="2700" dirty="0">
              <a:latin typeface="KaiTi"/>
              <a:ea typeface="KaiTi"/>
              <a:cs typeface="KaiTi"/>
            </a:endParaRPr>
          </a:p>
        </p:txBody>
      </p:sp>
      <p:pic>
        <p:nvPicPr>
          <p:cNvPr id="570" name="picture 570"/>
          <p:cNvPicPr>
            <a:picLocks noChangeAspect="1"/>
          </p:cNvPicPr>
          <p:nvPr/>
        </p:nvPicPr>
        <p:blipFill>
          <a:blip r:embed="rId2"/>
          <a:stretch>
            <a:fillRect/>
          </a:stretch>
        </p:blipFill>
        <p:spPr>
          <a:xfrm rot="21600000">
            <a:off x="10114788" y="414528"/>
            <a:ext cx="1616964" cy="3657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2" name="table 572"/>
          <p:cNvGraphicFramePr>
            <a:graphicFrameLocks noGrp="1"/>
          </p:cNvGraphicFramePr>
          <p:nvPr/>
        </p:nvGraphicFramePr>
        <p:xfrm>
          <a:off x="1281937" y="1011046"/>
          <a:ext cx="10733405" cy="5575934"/>
        </p:xfrm>
        <a:graphic>
          <a:graphicData uri="http://schemas.openxmlformats.org/drawingml/2006/table">
            <a:tbl>
              <a:tblPr/>
              <a:tblGrid>
                <a:gridCol w="1289685"/>
                <a:gridCol w="1461135"/>
                <a:gridCol w="1714500"/>
                <a:gridCol w="2065655"/>
                <a:gridCol w="2108200"/>
                <a:gridCol w="2094229"/>
              </a:tblGrid>
              <a:tr h="383540">
                <a:tc>
                  <a:txBody>
                    <a:bodyPr/>
                    <a:lstStyle/>
                    <a:p>
                      <a:pPr algn="l" rtl="0" eaLnBrk="0">
                        <a:lnSpc>
                          <a:spcPct val="108000"/>
                        </a:lnSpc>
                        <a:tabLst/>
                      </a:pPr>
                      <a:endParaRPr sz="700" dirty="0">
                        <a:latin typeface="Arial"/>
                        <a:ea typeface="Arial"/>
                        <a:cs typeface="Arial"/>
                      </a:endParaRPr>
                    </a:p>
                    <a:p>
                      <a:pPr algn="l" rtl="0" eaLnBrk="0">
                        <a:lnSpc>
                          <a:spcPct val="6279"/>
                        </a:lnSpc>
                        <a:tabLst/>
                      </a:pPr>
                      <a:endParaRPr sz="100" dirty="0">
                        <a:latin typeface="Arial"/>
                        <a:ea typeface="Arial"/>
                        <a:cs typeface="Arial"/>
                      </a:endParaRPr>
                    </a:p>
                    <a:p>
                      <a:pPr marL="298450" algn="l" rtl="0" eaLnBrk="0">
                        <a:lnSpc>
                          <a:spcPct val="84000"/>
                        </a:lnSpc>
                        <a:tabLst/>
                      </a:pPr>
                      <a:r>
                        <a:rPr sz="1400" b="1" kern="0" spc="-30" dirty="0">
                          <a:solidFill>
                            <a:srgbClr val="FFFFFF">
                              <a:alpha val="100000"/>
                            </a:srgbClr>
                          </a:solidFill>
                          <a:latin typeface="KaiTi"/>
                          <a:ea typeface="KaiTi"/>
                          <a:cs typeface="KaiTi"/>
                        </a:rPr>
                        <a:t>代表团队</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376554" algn="l" rtl="0" eaLnBrk="0">
                        <a:lnSpc>
                          <a:spcPct val="84000"/>
                        </a:lnSpc>
                        <a:spcBef>
                          <a:spcPts val="5"/>
                        </a:spcBef>
                        <a:tabLst/>
                      </a:pPr>
                      <a:r>
                        <a:rPr sz="1400" b="1" kern="0" spc="-20" dirty="0">
                          <a:solidFill>
                            <a:srgbClr val="FFFFFF">
                              <a:alpha val="100000"/>
                            </a:srgbClr>
                          </a:solidFill>
                          <a:latin typeface="KaiTi"/>
                          <a:ea typeface="KaiTi"/>
                          <a:cs typeface="KaiTi"/>
                        </a:rPr>
                        <a:t>核心场景</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206375" algn="l" rtl="0" eaLnBrk="0">
                        <a:lnSpc>
                          <a:spcPct val="85000"/>
                        </a:lnSpc>
                        <a:spcBef>
                          <a:spcPts val="4"/>
                        </a:spcBef>
                        <a:tabLst/>
                      </a:pPr>
                      <a:r>
                        <a:rPr sz="1400" b="1" kern="0" spc="-30" dirty="0">
                          <a:solidFill>
                            <a:srgbClr val="FFFFFF">
                              <a:alpha val="100000"/>
                            </a:srgbClr>
                          </a:solidFill>
                          <a:latin typeface="KaiTi"/>
                          <a:ea typeface="KaiTi"/>
                          <a:cs typeface="KaiTi"/>
                        </a:rPr>
                        <a:t>融资规模</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&amp;</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轮次</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589915" algn="l" rtl="0" eaLnBrk="0">
                        <a:lnSpc>
                          <a:spcPct val="85000"/>
                        </a:lnSpc>
                        <a:spcBef>
                          <a:spcPts val="4"/>
                        </a:spcBef>
                        <a:tabLst/>
                      </a:pPr>
                      <a:r>
                        <a:rPr sz="1400" b="1" kern="0" spc="-20" dirty="0">
                          <a:solidFill>
                            <a:srgbClr val="FFFFFF">
                              <a:alpha val="100000"/>
                            </a:srgbClr>
                          </a:solidFill>
                          <a:latin typeface="KaiTi"/>
                          <a:ea typeface="KaiTi"/>
                          <a:cs typeface="KaiTi"/>
                        </a:rPr>
                        <a:t>核心投资方</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10000"/>
                        </a:lnSpc>
                        <a:tabLst/>
                      </a:pPr>
                      <a:endParaRPr sz="700" dirty="0">
                        <a:latin typeface="Arial"/>
                        <a:ea typeface="Arial"/>
                        <a:cs typeface="Arial"/>
                      </a:endParaRPr>
                    </a:p>
                    <a:p>
                      <a:pPr marL="621030" algn="l" rtl="0" eaLnBrk="0">
                        <a:lnSpc>
                          <a:spcPct val="84000"/>
                        </a:lnSpc>
                        <a:spcBef>
                          <a:spcPts val="2"/>
                        </a:spcBef>
                        <a:tabLst/>
                      </a:pPr>
                      <a:r>
                        <a:rPr sz="1400" b="1" kern="0" spc="-30" dirty="0">
                          <a:solidFill>
                            <a:srgbClr val="FFFFFF">
                              <a:alpha val="100000"/>
                            </a:srgbClr>
                          </a:solidFill>
                          <a:latin typeface="KaiTi"/>
                          <a:ea typeface="KaiTi"/>
                          <a:cs typeface="KaiTi"/>
                        </a:rPr>
                        <a:t>差异化优势</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10000"/>
                        </a:lnSpc>
                        <a:tabLst/>
                      </a:pPr>
                      <a:endParaRPr sz="700" dirty="0">
                        <a:latin typeface="Arial"/>
                        <a:ea typeface="Arial"/>
                        <a:cs typeface="Arial"/>
                      </a:endParaRPr>
                    </a:p>
                    <a:p>
                      <a:pPr marL="304800" algn="l" rtl="0" eaLnBrk="0">
                        <a:lnSpc>
                          <a:spcPct val="85000"/>
                        </a:lnSpc>
                        <a:spcBef>
                          <a:spcPts val="1"/>
                        </a:spcBef>
                        <a:tabLst/>
                      </a:pPr>
                      <a:r>
                        <a:rPr sz="1400" b="1" kern="0" spc="-30" dirty="0">
                          <a:solidFill>
                            <a:srgbClr val="FFFFFF">
                              <a:alpha val="100000"/>
                            </a:srgbClr>
                          </a:solidFill>
                          <a:latin typeface="KaiTi"/>
                          <a:ea typeface="KaiTi"/>
                          <a:cs typeface="KaiTi"/>
                        </a:rPr>
                        <a:t>商业模式/交易要素</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r>
              <a:tr h="1811654">
                <a:tc>
                  <a:txBody>
                    <a:bodyPr/>
                    <a:lstStyle/>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algn="l" rtl="0" eaLnBrk="0">
                        <a:lnSpc>
                          <a:spcPct val="6175"/>
                        </a:lnSpc>
                        <a:tabLst/>
                      </a:pPr>
                      <a:endParaRPr sz="100" dirty="0">
                        <a:latin typeface="Arial"/>
                        <a:ea typeface="Arial"/>
                        <a:cs typeface="Arial"/>
                      </a:endParaRPr>
                    </a:p>
                    <a:p>
                      <a:pPr marL="110489" algn="l" rtl="0" eaLnBrk="0">
                        <a:lnSpc>
                          <a:spcPct val="71000"/>
                        </a:lnSpc>
                        <a:tabLst/>
                      </a:pPr>
                      <a:r>
                        <a:rPr sz="1200" kern="0" spc="0" dirty="0">
                          <a:solidFill>
                            <a:srgbClr val="000000">
                              <a:alpha val="100000"/>
                            </a:srgbClr>
                          </a:solidFill>
                          <a:latin typeface="Times New Roman"/>
                          <a:ea typeface="Times New Roman"/>
                          <a:cs typeface="Times New Roman"/>
                        </a:rPr>
                        <a:t>Xdream Robot</a:t>
                      </a:r>
                      <a:r>
                        <a:rPr sz="1200" kern="0" spc="-10" dirty="0">
                          <a:solidFill>
                            <a:srgbClr val="000000">
                              <a:alpha val="100000"/>
                            </a:srgbClr>
                          </a:solidFill>
                          <a:latin typeface="Times New Roman"/>
                          <a:ea typeface="Times New Roman"/>
                          <a:cs typeface="Times New Roman"/>
                        </a:rPr>
                        <a:t>ics</a:t>
                      </a:r>
                      <a:endParaRPr sz="1200" dirty="0">
                        <a:latin typeface="Times New Roman"/>
                        <a:ea typeface="Times New Roman"/>
                        <a:cs typeface="Times New Roman"/>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122000"/>
                        </a:lnSpc>
                        <a:tabLst/>
                      </a:pPr>
                      <a:endParaRPr sz="1000" dirty="0">
                        <a:latin typeface="Arial"/>
                        <a:ea typeface="Arial"/>
                        <a:cs typeface="Arial"/>
                      </a:endParaRPr>
                    </a:p>
                    <a:p>
                      <a:pPr algn="l" rtl="0" eaLnBrk="0">
                        <a:lnSpc>
                          <a:spcPct val="8840"/>
                        </a:lnSpc>
                        <a:tabLst/>
                      </a:pPr>
                      <a:endParaRPr sz="100" dirty="0">
                        <a:latin typeface="Arial"/>
                        <a:ea typeface="Arial"/>
                        <a:cs typeface="Arial"/>
                      </a:endParaRPr>
                    </a:p>
                    <a:p>
                      <a:pPr marL="595630" indent="-481330" algn="l" rtl="0" eaLnBrk="0">
                        <a:lnSpc>
                          <a:spcPct val="93000"/>
                        </a:lnSpc>
                        <a:tabLst/>
                      </a:pPr>
                      <a:r>
                        <a:rPr sz="1200" kern="0" spc="-70" dirty="0">
                          <a:solidFill>
                            <a:srgbClr val="000000">
                              <a:alpha val="100000"/>
                            </a:srgbClr>
                          </a:solidFill>
                          <a:latin typeface="KaiTi"/>
                          <a:ea typeface="KaiTi"/>
                          <a:cs typeface="KaiTi"/>
                        </a:rPr>
                        <a:t>“生命感”智能情绪</a:t>
                      </a:r>
                      <a:r>
                        <a:rPr sz="1200" kern="0" spc="-50" dirty="0">
                          <a:solidFill>
                            <a:srgbClr val="000000">
                              <a:alpha val="100000"/>
                            </a:srgbClr>
                          </a:solidFill>
                          <a:latin typeface="KaiTi"/>
                          <a:ea typeface="KaiTi"/>
                          <a:cs typeface="KaiTi"/>
                        </a:rPr>
                        <a:t>陪伴</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146050" algn="l" rtl="0" eaLnBrk="0">
                        <a:lnSpc>
                          <a:spcPct val="90000"/>
                        </a:lnSpc>
                        <a:spcBef>
                          <a:spcPts val="7"/>
                        </a:spcBef>
                        <a:tabLst/>
                      </a:pPr>
                      <a:r>
                        <a:rPr sz="1200" kern="0" spc="0" dirty="0">
                          <a:solidFill>
                            <a:srgbClr val="000000">
                              <a:alpha val="100000"/>
                            </a:srgbClr>
                          </a:solidFill>
                          <a:latin typeface="Times New Roman"/>
                          <a:ea typeface="Times New Roman"/>
                          <a:cs typeface="Times New Roman"/>
                        </a:rPr>
                        <a:t>Pre-A</a:t>
                      </a:r>
                      <a:r>
                        <a:rPr sz="1200" kern="0" spc="0" dirty="0">
                          <a:solidFill>
                            <a:srgbClr val="000000">
                              <a:alpha val="100000"/>
                            </a:srgbClr>
                          </a:solidFill>
                          <a:latin typeface="KaiTi"/>
                          <a:ea typeface="KaiTi"/>
                          <a:cs typeface="KaiTi"/>
                        </a:rPr>
                        <a:t>轮（</a:t>
                      </a:r>
                      <a:r>
                        <a:rPr sz="1200" kern="0" spc="0" dirty="0">
                          <a:solidFill>
                            <a:srgbClr val="000000">
                              <a:alpha val="100000"/>
                            </a:srgbClr>
                          </a:solidFill>
                          <a:latin typeface="Times New Roman"/>
                          <a:ea typeface="Times New Roman"/>
                          <a:cs typeface="Times New Roman"/>
                        </a:rPr>
                        <a:t>2026.</a:t>
                      </a:r>
                      <a:r>
                        <a:rPr sz="1200" kern="0" spc="-10" dirty="0">
                          <a:solidFill>
                            <a:srgbClr val="000000">
                              <a:alpha val="100000"/>
                            </a:srgbClr>
                          </a:solidFill>
                          <a:latin typeface="Times New Roman"/>
                          <a:ea typeface="Times New Roman"/>
                          <a:cs typeface="Times New Roman"/>
                        </a:rPr>
                        <a:t>1.15</a:t>
                      </a:r>
                      <a:r>
                        <a:rPr sz="1200" kern="0" spc="-10" dirty="0">
                          <a:solidFill>
                            <a:srgbClr val="000000">
                              <a:alpha val="100000"/>
                            </a:srgbClr>
                          </a:solidFill>
                          <a:latin typeface="KaiTi"/>
                          <a:ea typeface="KaiTi"/>
                          <a:cs typeface="KaiTi"/>
                        </a:rPr>
                        <a:t>）</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9309"/>
                        </a:lnSpc>
                        <a:tabLst/>
                      </a:pPr>
                      <a:endParaRPr sz="100" dirty="0">
                        <a:latin typeface="Arial"/>
                        <a:ea typeface="Arial"/>
                        <a:cs typeface="Arial"/>
                      </a:endParaRPr>
                    </a:p>
                    <a:p>
                      <a:pPr marL="213359" algn="l" rtl="0" eaLnBrk="0">
                        <a:lnSpc>
                          <a:spcPct val="87000"/>
                        </a:lnSpc>
                        <a:tabLst/>
                      </a:pPr>
                      <a:r>
                        <a:rPr sz="1200" kern="0" spc="-20" dirty="0">
                          <a:solidFill>
                            <a:srgbClr val="000000">
                              <a:alpha val="100000"/>
                            </a:srgbClr>
                          </a:solidFill>
                          <a:latin typeface="KaiTi"/>
                          <a:ea typeface="KaiTi"/>
                          <a:cs typeface="KaiTi"/>
                        </a:rPr>
                        <a:t>沃赋创投、中金资本私募</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73660" algn="l" rtl="0" eaLnBrk="0">
                        <a:lnSpc>
                          <a:spcPct val="86000"/>
                        </a:lnSpc>
                        <a:spcBef>
                          <a:spcPts val="4"/>
                        </a:spcBef>
                        <a:tabLst/>
                      </a:pPr>
                      <a:r>
                        <a:rPr sz="1200" kern="0" spc="-10" dirty="0">
                          <a:solidFill>
                            <a:srgbClr val="000000">
                              <a:alpha val="100000"/>
                            </a:srgbClr>
                          </a:solidFill>
                          <a:latin typeface="KaiTi"/>
                          <a:ea typeface="KaiTi"/>
                          <a:cs typeface="KaiTi"/>
                        </a:rPr>
                        <a:t>首款产品适配室内与户外多场</a:t>
                      </a:r>
                      <a:endParaRPr sz="1200" dirty="0">
                        <a:latin typeface="KaiTi"/>
                        <a:ea typeface="KaiTi"/>
                        <a:cs typeface="KaiTi"/>
                      </a:endParaRPr>
                    </a:p>
                    <a:p>
                      <a:pPr marL="72389" algn="l" rtl="0" eaLnBrk="0">
                        <a:lnSpc>
                          <a:spcPct val="86000"/>
                        </a:lnSpc>
                        <a:spcBef>
                          <a:spcPts val="197"/>
                        </a:spcBef>
                        <a:tabLst/>
                      </a:pPr>
                      <a:r>
                        <a:rPr sz="1200" kern="0" spc="-10" dirty="0">
                          <a:solidFill>
                            <a:srgbClr val="000000">
                              <a:alpha val="100000"/>
                            </a:srgbClr>
                          </a:solidFill>
                          <a:latin typeface="KaiTi"/>
                          <a:ea typeface="KaiTi"/>
                          <a:cs typeface="KaiTi"/>
                        </a:rPr>
                        <a:t>景，具备高情商与弱语言交互</a:t>
                      </a:r>
                      <a:endParaRPr sz="1200" dirty="0">
                        <a:latin typeface="KaiTi"/>
                        <a:ea typeface="KaiTi"/>
                        <a:cs typeface="KaiTi"/>
                      </a:endParaRPr>
                    </a:p>
                    <a:p>
                      <a:pPr marL="81914" algn="l" rtl="0" eaLnBrk="0">
                        <a:lnSpc>
                          <a:spcPct val="86000"/>
                        </a:lnSpc>
                        <a:spcBef>
                          <a:spcPts val="206"/>
                        </a:spcBef>
                        <a:tabLst/>
                      </a:pPr>
                      <a:r>
                        <a:rPr sz="1200" kern="0" spc="-10" dirty="0">
                          <a:solidFill>
                            <a:srgbClr val="000000">
                              <a:alpha val="100000"/>
                            </a:srgbClr>
                          </a:solidFill>
                          <a:latin typeface="KaiTi"/>
                          <a:ea typeface="KaiTi"/>
                          <a:cs typeface="KaiTi"/>
                        </a:rPr>
                        <a:t>能力，无需复杂指令即可感</a:t>
                      </a:r>
                      <a:r>
                        <a:rPr sz="1200" kern="0" spc="-20" dirty="0">
                          <a:solidFill>
                            <a:srgbClr val="000000">
                              <a:alpha val="100000"/>
                            </a:srgbClr>
                          </a:solidFill>
                          <a:latin typeface="KaiTi"/>
                          <a:ea typeface="KaiTi"/>
                          <a:cs typeface="KaiTi"/>
                        </a:rPr>
                        <a:t>知</a:t>
                      </a:r>
                      <a:endParaRPr sz="1200" dirty="0">
                        <a:latin typeface="KaiTi"/>
                        <a:ea typeface="KaiTi"/>
                        <a:cs typeface="KaiTi"/>
                      </a:endParaRPr>
                    </a:p>
                    <a:p>
                      <a:pPr marL="386079" algn="l" rtl="0" eaLnBrk="0">
                        <a:lnSpc>
                          <a:spcPct val="85000"/>
                        </a:lnSpc>
                        <a:spcBef>
                          <a:spcPts val="193"/>
                        </a:spcBef>
                        <a:tabLst/>
                      </a:pPr>
                      <a:r>
                        <a:rPr sz="1200" kern="0" spc="-20" dirty="0">
                          <a:solidFill>
                            <a:srgbClr val="000000">
                              <a:alpha val="100000"/>
                            </a:srgbClr>
                          </a:solidFill>
                          <a:latin typeface="KaiTi"/>
                          <a:ea typeface="KaiTi"/>
                          <a:cs typeface="KaiTi"/>
                        </a:rPr>
                        <a:t>用户情绪并主动互动</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rowSpan="2">
                  <a:txBody>
                    <a:bodyPr/>
                    <a:lstStyle/>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7567"/>
                        </a:lnSpc>
                        <a:tabLst/>
                      </a:pPr>
                      <a:endParaRPr sz="100" dirty="0">
                        <a:latin typeface="Arial"/>
                        <a:ea typeface="Arial"/>
                        <a:cs typeface="Arial"/>
                      </a:endParaRPr>
                    </a:p>
                    <a:p>
                      <a:pPr marL="15240" indent="-2540" algn="l" rtl="0" eaLnBrk="0">
                        <a:lnSpc>
                          <a:spcPct val="93000"/>
                        </a:lnSpc>
                        <a:tabLst/>
                      </a:pPr>
                      <a:r>
                        <a:rPr sz="1200" kern="0" spc="-10" dirty="0">
                          <a:solidFill>
                            <a:srgbClr val="000000">
                              <a:alpha val="100000"/>
                            </a:srgbClr>
                          </a:solidFill>
                          <a:latin typeface="KaiTi"/>
                          <a:ea typeface="KaiTi"/>
                          <a:cs typeface="KaiTi"/>
                        </a:rPr>
                        <a:t>做本体卖极客→极客数采强化</a:t>
                      </a:r>
                      <a:r>
                        <a:rPr sz="1200" kern="0" spc="-10" dirty="0">
                          <a:solidFill>
                            <a:srgbClr val="000000">
                              <a:alpha val="100000"/>
                            </a:srgbClr>
                          </a:solidFill>
                          <a:latin typeface="KaiTi"/>
                          <a:ea typeface="KaiTi"/>
                          <a:cs typeface="KaiTi"/>
                        </a:rPr>
                        <a:t>→回传</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达成数据飞轮逻辑闭环</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260475">
                <a:tc>
                  <a:txBody>
                    <a:bodyPr/>
                    <a:lstStyle/>
                    <a:p>
                      <a:pPr algn="l" rtl="0" eaLnBrk="0">
                        <a:lnSpc>
                          <a:spcPct val="123000"/>
                        </a:lnSpc>
                        <a:tabLst/>
                      </a:pPr>
                      <a:endParaRPr sz="1000" dirty="0">
                        <a:latin typeface="Arial"/>
                        <a:ea typeface="Arial"/>
                        <a:cs typeface="Arial"/>
                      </a:endParaRPr>
                    </a:p>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7063"/>
                        </a:lnSpc>
                        <a:tabLst/>
                      </a:pPr>
                      <a:endParaRPr sz="100" dirty="0">
                        <a:latin typeface="Arial"/>
                        <a:ea typeface="Arial"/>
                        <a:cs typeface="Arial"/>
                      </a:endParaRPr>
                    </a:p>
                    <a:p>
                      <a:pPr marL="351790" algn="l" rtl="0" eaLnBrk="0">
                        <a:lnSpc>
                          <a:spcPct val="84000"/>
                        </a:lnSpc>
                        <a:tabLst/>
                      </a:pPr>
                      <a:r>
                        <a:rPr sz="1200" kern="0" spc="-20" dirty="0">
                          <a:solidFill>
                            <a:srgbClr val="000000">
                              <a:alpha val="100000"/>
                            </a:srgbClr>
                          </a:solidFill>
                          <a:latin typeface="KaiTi"/>
                          <a:ea typeface="KaiTi"/>
                          <a:cs typeface="KaiTi"/>
                        </a:rPr>
                        <a:t>维他动力</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163195" algn="l" rtl="0" eaLnBrk="0">
                        <a:lnSpc>
                          <a:spcPct val="84000"/>
                        </a:lnSpc>
                        <a:spcBef>
                          <a:spcPts val="3"/>
                        </a:spcBef>
                        <a:tabLst/>
                      </a:pPr>
                      <a:r>
                        <a:rPr sz="1200" kern="0" spc="-30" dirty="0">
                          <a:solidFill>
                            <a:srgbClr val="000000">
                              <a:alpha val="100000"/>
                            </a:srgbClr>
                          </a:solidFill>
                          <a:latin typeface="KaiTi"/>
                          <a:ea typeface="KaiTi"/>
                          <a:cs typeface="KaiTi"/>
                        </a:rPr>
                        <a:t>2c</a:t>
                      </a:r>
                      <a:r>
                        <a:rPr sz="1200" kern="0" spc="220" dirty="0">
                          <a:solidFill>
                            <a:srgbClr val="000000">
                              <a:alpha val="100000"/>
                            </a:srgbClr>
                          </a:solidFill>
                          <a:latin typeface="KaiTi"/>
                          <a:ea typeface="KaiTi"/>
                          <a:cs typeface="KaiTi"/>
                        </a:rPr>
                        <a:t> </a:t>
                      </a:r>
                      <a:r>
                        <a:rPr sz="1200" kern="0" spc="-30" dirty="0">
                          <a:solidFill>
                            <a:srgbClr val="000000">
                              <a:alpha val="100000"/>
                            </a:srgbClr>
                          </a:solidFill>
                          <a:latin typeface="KaiTi"/>
                          <a:ea typeface="KaiTi"/>
                          <a:cs typeface="KaiTi"/>
                        </a:rPr>
                        <a:t>家庭陪伴场景</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7975"/>
                        </a:lnSpc>
                        <a:tabLst/>
                      </a:pPr>
                      <a:endParaRPr sz="100" dirty="0">
                        <a:latin typeface="Arial"/>
                        <a:ea typeface="Arial"/>
                        <a:cs typeface="Arial"/>
                      </a:endParaRPr>
                    </a:p>
                    <a:p>
                      <a:pPr marL="220345" algn="l" rtl="0" eaLnBrk="0">
                        <a:lnSpc>
                          <a:spcPct val="85000"/>
                        </a:lnSpc>
                        <a:tabLst/>
                      </a:pPr>
                      <a:r>
                        <a:rPr sz="1200" kern="0" spc="-10" dirty="0">
                          <a:solidFill>
                            <a:srgbClr val="000000">
                              <a:alpha val="100000"/>
                            </a:srgbClr>
                          </a:solidFill>
                          <a:latin typeface="KaiTi"/>
                          <a:ea typeface="KaiTi"/>
                          <a:cs typeface="KaiTi"/>
                        </a:rPr>
                        <a:t>天使轮</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数亿人民币</a:t>
                      </a:r>
                      <a:endParaRPr sz="1200" dirty="0">
                        <a:latin typeface="KaiTi"/>
                        <a:ea typeface="KaiTi"/>
                        <a:cs typeface="KaiTi"/>
                      </a:endParaRPr>
                    </a:p>
                    <a:p>
                      <a:pPr marL="531494" algn="l" rtl="0" eaLnBrk="0">
                        <a:lnSpc>
                          <a:spcPct val="98000"/>
                        </a:lnSpc>
                        <a:spcBef>
                          <a:spcPts val="164"/>
                        </a:spcBef>
                        <a:tabLst/>
                      </a:pPr>
                      <a:r>
                        <a:rPr sz="1100" kern="0" spc="-20" dirty="0">
                          <a:solidFill>
                            <a:srgbClr val="000000">
                              <a:alpha val="100000"/>
                            </a:srgbClr>
                          </a:solidFill>
                          <a:latin typeface="KaiTi"/>
                          <a:ea typeface="KaiTi"/>
                          <a:cs typeface="KaiTi"/>
                        </a:rPr>
                        <a:t>（</a:t>
                      </a:r>
                      <a:r>
                        <a:rPr sz="1100" kern="0" spc="-20" dirty="0">
                          <a:solidFill>
                            <a:srgbClr val="000000">
                              <a:alpha val="100000"/>
                            </a:srgbClr>
                          </a:solidFill>
                          <a:latin typeface="Times New Roman"/>
                          <a:ea typeface="Times New Roman"/>
                          <a:cs typeface="Times New Roman"/>
                        </a:rPr>
                        <a:t>2025.8.7</a:t>
                      </a:r>
                      <a:r>
                        <a:rPr sz="1100" kern="0" spc="-20" dirty="0">
                          <a:solidFill>
                            <a:srgbClr val="000000">
                              <a:alpha val="100000"/>
                            </a:srgbClr>
                          </a:solidFill>
                          <a:latin typeface="KaiTi"/>
                          <a:ea typeface="KaiTi"/>
                          <a:cs typeface="KaiTi"/>
                        </a:rPr>
                        <a:t>）</a:t>
                      </a:r>
                      <a:endParaRPr sz="11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5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algn="l" rtl="0" eaLnBrk="0">
                        <a:lnSpc>
                          <a:spcPct val="8668"/>
                        </a:lnSpc>
                        <a:tabLst/>
                      </a:pPr>
                      <a:endParaRPr sz="100" dirty="0">
                        <a:latin typeface="Arial"/>
                        <a:ea typeface="Arial"/>
                        <a:cs typeface="Arial"/>
                      </a:endParaRPr>
                    </a:p>
                    <a:p>
                      <a:pPr marL="737234" algn="l" rtl="0" eaLnBrk="0">
                        <a:lnSpc>
                          <a:spcPct val="83000"/>
                        </a:lnSpc>
                        <a:tabLst/>
                      </a:pPr>
                      <a:r>
                        <a:rPr sz="1200" kern="0" spc="-20" dirty="0">
                          <a:solidFill>
                            <a:srgbClr val="000000">
                              <a:alpha val="100000"/>
                            </a:srgbClr>
                          </a:solidFill>
                          <a:latin typeface="KaiTi"/>
                          <a:ea typeface="KaiTi"/>
                          <a:cs typeface="KaiTi"/>
                        </a:rPr>
                        <a:t>达晨财智</a:t>
                      </a:r>
                      <a:endParaRPr sz="1200" dirty="0">
                        <a:latin typeface="KaiTi"/>
                        <a:ea typeface="KaiTi"/>
                        <a:cs typeface="KaiTi"/>
                      </a:endParaRPr>
                    </a:p>
                    <a:p>
                      <a:pPr marL="733425" algn="l" rtl="0" eaLnBrk="0">
                        <a:lnSpc>
                          <a:spcPct val="100000"/>
                        </a:lnSpc>
                        <a:tabLst/>
                      </a:pPr>
                      <a:r>
                        <a:rPr sz="1200" kern="0" spc="-10" dirty="0">
                          <a:solidFill>
                            <a:srgbClr val="000000">
                              <a:alpha val="100000"/>
                            </a:srgbClr>
                          </a:solidFill>
                          <a:latin typeface="KaiTi"/>
                          <a:ea typeface="KaiTi"/>
                          <a:cs typeface="KaiTi"/>
                        </a:rPr>
                        <a:t>联想创投</a:t>
                      </a:r>
                      <a:endParaRPr sz="1200" dirty="0">
                        <a:latin typeface="KaiTi"/>
                        <a:ea typeface="KaiTi"/>
                        <a:cs typeface="KaiTi"/>
                      </a:endParaRPr>
                    </a:p>
                    <a:p>
                      <a:pPr marL="741680" algn="l" rtl="0" eaLnBrk="0">
                        <a:lnSpc>
                          <a:spcPts val="1585"/>
                        </a:lnSpc>
                        <a:tabLst/>
                      </a:pPr>
                      <a:r>
                        <a:rPr sz="1200" kern="0" spc="-30" dirty="0">
                          <a:solidFill>
                            <a:srgbClr val="000000">
                              <a:alpha val="100000"/>
                            </a:srgbClr>
                          </a:solidFill>
                          <a:latin typeface="KaiTi"/>
                          <a:ea typeface="KaiTi"/>
                          <a:cs typeface="KaiTi"/>
                        </a:rPr>
                        <a:t>渶策资本</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1000"/>
                        </a:lnSpc>
                        <a:tabLst/>
                      </a:pPr>
                      <a:endParaRPr sz="1000" dirty="0">
                        <a:latin typeface="Arial"/>
                        <a:ea typeface="Arial"/>
                        <a:cs typeface="Arial"/>
                      </a:endParaRPr>
                    </a:p>
                    <a:p>
                      <a:pPr algn="l" rtl="0" eaLnBrk="0">
                        <a:lnSpc>
                          <a:spcPct val="7266"/>
                        </a:lnSpc>
                        <a:tabLst/>
                      </a:pPr>
                      <a:endParaRPr sz="100" dirty="0">
                        <a:latin typeface="Arial"/>
                        <a:ea typeface="Arial"/>
                        <a:cs typeface="Arial"/>
                      </a:endParaRPr>
                    </a:p>
                    <a:p>
                      <a:pPr marL="29209" algn="l" rtl="0" eaLnBrk="0">
                        <a:lnSpc>
                          <a:spcPct val="86000"/>
                        </a:lnSpc>
                        <a:tabLst/>
                      </a:pPr>
                      <a:r>
                        <a:rPr sz="1200" kern="0" spc="-10" dirty="0">
                          <a:solidFill>
                            <a:srgbClr val="000000">
                              <a:alpha val="100000"/>
                            </a:srgbClr>
                          </a:solidFill>
                          <a:latin typeface="KaiTi"/>
                          <a:ea typeface="KaiTi"/>
                          <a:cs typeface="KaiTi"/>
                        </a:rPr>
                        <a:t>采用视觉-语言-行动（VLA）</a:t>
                      </a:r>
                      <a:r>
                        <a:rPr sz="1200" kern="0" spc="-20" dirty="0">
                          <a:solidFill>
                            <a:srgbClr val="000000">
                              <a:alpha val="100000"/>
                            </a:srgbClr>
                          </a:solidFill>
                          <a:latin typeface="KaiTi"/>
                          <a:ea typeface="KaiTi"/>
                          <a:cs typeface="KaiTi"/>
                        </a:rPr>
                        <a:t>自</a:t>
                      </a:r>
                      <a:endParaRPr sz="1200" dirty="0">
                        <a:latin typeface="KaiTi"/>
                        <a:ea typeface="KaiTi"/>
                        <a:cs typeface="KaiTi"/>
                      </a:endParaRPr>
                    </a:p>
                    <a:p>
                      <a:pPr marL="34925" algn="l" rtl="0" eaLnBrk="0">
                        <a:lnSpc>
                          <a:spcPct val="86000"/>
                        </a:lnSpc>
                        <a:spcBef>
                          <a:spcPts val="202"/>
                        </a:spcBef>
                        <a:tabLst/>
                      </a:pPr>
                      <a:r>
                        <a:rPr sz="1200" kern="0" spc="-10" dirty="0">
                          <a:solidFill>
                            <a:srgbClr val="000000">
                              <a:alpha val="100000"/>
                            </a:srgbClr>
                          </a:solidFill>
                          <a:latin typeface="KaiTi"/>
                          <a:ea typeface="KaiTi"/>
                          <a:cs typeface="KaiTi"/>
                        </a:rPr>
                        <a:t>主移动与Agent视觉语言交互技</a:t>
                      </a:r>
                      <a:endParaRPr sz="1200" dirty="0">
                        <a:latin typeface="KaiTi"/>
                        <a:ea typeface="KaiTi"/>
                        <a:cs typeface="KaiTi"/>
                      </a:endParaRPr>
                    </a:p>
                    <a:p>
                      <a:pPr marL="71755" algn="l" rtl="0" eaLnBrk="0">
                        <a:lnSpc>
                          <a:spcPct val="84000"/>
                        </a:lnSpc>
                        <a:spcBef>
                          <a:spcPts val="195"/>
                        </a:spcBef>
                        <a:tabLst/>
                      </a:pPr>
                      <a:r>
                        <a:rPr sz="1200" kern="0" spc="-10" dirty="0">
                          <a:solidFill>
                            <a:srgbClr val="000000">
                              <a:alpha val="100000"/>
                            </a:srgbClr>
                          </a:solidFill>
                          <a:latin typeface="KaiTi"/>
                          <a:ea typeface="KaiTi"/>
                          <a:cs typeface="KaiTi"/>
                        </a:rPr>
                        <a:t>术，实现无需遥控器的自然交</a:t>
                      </a:r>
                      <a:endParaRPr sz="1200" dirty="0">
                        <a:latin typeface="KaiTi"/>
                        <a:ea typeface="KaiTi"/>
                        <a:cs typeface="KaiTi"/>
                      </a:endParaRPr>
                    </a:p>
                    <a:p>
                      <a:pPr marL="74294" algn="l" rtl="0" eaLnBrk="0">
                        <a:lnSpc>
                          <a:spcPct val="85000"/>
                        </a:lnSpc>
                        <a:spcBef>
                          <a:spcPts val="240"/>
                        </a:spcBef>
                        <a:tabLst/>
                      </a:pPr>
                      <a:r>
                        <a:rPr sz="1200" kern="0" spc="-10" dirty="0">
                          <a:solidFill>
                            <a:srgbClr val="000000">
                              <a:alpha val="100000"/>
                            </a:srgbClr>
                          </a:solidFill>
                          <a:latin typeface="KaiTi"/>
                          <a:ea typeface="KaiTi"/>
                          <a:cs typeface="KaiTi"/>
                        </a:rPr>
                        <a:t>互，机器人能主动理解用户意</a:t>
                      </a:r>
                      <a:endParaRPr sz="1200" dirty="0">
                        <a:latin typeface="KaiTi"/>
                        <a:ea typeface="KaiTi"/>
                        <a:cs typeface="KaiTi"/>
                      </a:endParaRPr>
                    </a:p>
                    <a:p>
                      <a:pPr marL="469900" algn="l" rtl="0" eaLnBrk="0">
                        <a:lnSpc>
                          <a:spcPct val="85000"/>
                        </a:lnSpc>
                        <a:spcBef>
                          <a:spcPts val="207"/>
                        </a:spcBef>
                        <a:tabLst/>
                      </a:pPr>
                      <a:r>
                        <a:rPr sz="1200" kern="0" spc="-30" dirty="0">
                          <a:solidFill>
                            <a:srgbClr val="000000">
                              <a:alpha val="100000"/>
                            </a:srgbClr>
                          </a:solidFill>
                          <a:latin typeface="KaiTi"/>
                          <a:ea typeface="KaiTi"/>
                          <a:cs typeface="KaiTi"/>
                        </a:rPr>
                        <a:t>图并自主规划路径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vMerge="1">
                  <a:txBody>
                    <a:bodyPr/>
                    <a:lstStyle/>
                    <a:p>
                      <a:pPr algn="l" rtl="0" eaLnBrk="0">
                        <a:lnSpc>
                          <a:spcPct val="100000"/>
                        </a:lnSpc>
                        <a:tabLst/>
                      </a:pPr>
                      <a:endParaRPr sz="1000" dirty="0">
                        <a:latin typeface="Arial"/>
                        <a:ea typeface="Arial"/>
                        <a:cs typeface="Arial"/>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27684">
                <a:tc>
                  <a:txBody>
                    <a:bodyPr/>
                    <a:lstStyle/>
                    <a:p>
                      <a:pPr algn="l" rtl="0" eaLnBrk="0">
                        <a:lnSpc>
                          <a:spcPct val="130000"/>
                        </a:lnSpc>
                        <a:tabLst/>
                      </a:pPr>
                      <a:endParaRPr sz="1000" dirty="0">
                        <a:latin typeface="Arial"/>
                        <a:ea typeface="Arial"/>
                        <a:cs typeface="Arial"/>
                      </a:endParaRPr>
                    </a:p>
                    <a:p>
                      <a:pPr algn="l" rtl="0" eaLnBrk="0">
                        <a:lnSpc>
                          <a:spcPct val="9492"/>
                        </a:lnSpc>
                        <a:tabLst/>
                      </a:pPr>
                      <a:endParaRPr sz="100" dirty="0">
                        <a:latin typeface="Arial"/>
                        <a:ea typeface="Arial"/>
                        <a:cs typeface="Arial"/>
                      </a:endParaRPr>
                    </a:p>
                    <a:p>
                      <a:pPr marL="342265" algn="l" rtl="0" eaLnBrk="0">
                        <a:lnSpc>
                          <a:spcPct val="84000"/>
                        </a:lnSpc>
                        <a:tabLst/>
                      </a:pPr>
                      <a:r>
                        <a:rPr sz="1200" kern="0" spc="-10" dirty="0">
                          <a:solidFill>
                            <a:srgbClr val="000000">
                              <a:alpha val="100000"/>
                            </a:srgbClr>
                          </a:solidFill>
                          <a:latin typeface="KaiTi"/>
                          <a:ea typeface="KaiTi"/>
                          <a:cs typeface="KaiTi"/>
                        </a:rPr>
                        <a:t>魔法原子</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1000"/>
                        </a:lnSpc>
                        <a:tabLst/>
                      </a:pPr>
                      <a:endParaRPr sz="1000" dirty="0">
                        <a:latin typeface="Arial"/>
                        <a:ea typeface="Arial"/>
                        <a:cs typeface="Arial"/>
                      </a:endParaRPr>
                    </a:p>
                    <a:p>
                      <a:pPr marL="446405" algn="l" rtl="0" eaLnBrk="0">
                        <a:lnSpc>
                          <a:spcPct val="85000"/>
                        </a:lnSpc>
                        <a:spcBef>
                          <a:spcPts val="4"/>
                        </a:spcBef>
                        <a:tabLst/>
                      </a:pPr>
                      <a:r>
                        <a:rPr sz="1200" kern="0" spc="-40" dirty="0">
                          <a:solidFill>
                            <a:srgbClr val="000000">
                              <a:alpha val="100000"/>
                            </a:srgbClr>
                          </a:solidFill>
                          <a:latin typeface="KaiTi"/>
                          <a:ea typeface="KaiTi"/>
                          <a:cs typeface="KaiTi"/>
                        </a:rPr>
                        <a:t>家庭操作</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0000"/>
                        </a:lnSpc>
                        <a:tabLst/>
                      </a:pPr>
                      <a:endParaRPr sz="600" dirty="0">
                        <a:latin typeface="Arial"/>
                        <a:ea typeface="Arial"/>
                        <a:cs typeface="Arial"/>
                      </a:endParaRPr>
                    </a:p>
                    <a:p>
                      <a:pPr marL="271145" algn="l" rtl="0" eaLnBrk="0">
                        <a:lnSpc>
                          <a:spcPct val="85000"/>
                        </a:lnSpc>
                        <a:spcBef>
                          <a:spcPts val="6"/>
                        </a:spcBef>
                        <a:tabLst/>
                      </a:pPr>
                      <a:r>
                        <a:rPr sz="1200" kern="0" spc="-10" dirty="0">
                          <a:solidFill>
                            <a:srgbClr val="000000">
                              <a:alpha val="100000"/>
                            </a:srgbClr>
                          </a:solidFill>
                          <a:latin typeface="Times New Roman"/>
                          <a:ea typeface="Times New Roman"/>
                          <a:cs typeface="Times New Roman"/>
                        </a:rPr>
                        <a:t>A</a:t>
                      </a:r>
                      <a:r>
                        <a:rPr sz="1200" kern="0" spc="-10" dirty="0">
                          <a:solidFill>
                            <a:srgbClr val="000000">
                              <a:alpha val="100000"/>
                            </a:srgbClr>
                          </a:solidFill>
                          <a:latin typeface="KaiTi"/>
                          <a:ea typeface="KaiTi"/>
                          <a:cs typeface="KaiTi"/>
                        </a:rPr>
                        <a:t>轮</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超5亿人民币</a:t>
                      </a:r>
                      <a:endParaRPr sz="1200" dirty="0">
                        <a:latin typeface="KaiTi"/>
                        <a:ea typeface="KaiTi"/>
                        <a:cs typeface="KaiTi"/>
                      </a:endParaRPr>
                    </a:p>
                    <a:p>
                      <a:pPr algn="l" rtl="0" eaLnBrk="0">
                        <a:lnSpc>
                          <a:spcPct val="109000"/>
                        </a:lnSpc>
                        <a:tabLst/>
                      </a:pPr>
                      <a:endParaRPr sz="300" dirty="0">
                        <a:latin typeface="Arial"/>
                        <a:ea typeface="Arial"/>
                        <a:cs typeface="Arial"/>
                      </a:endParaRPr>
                    </a:p>
                    <a:p>
                      <a:pPr marL="547369" algn="l" rtl="0" eaLnBrk="0">
                        <a:lnSpc>
                          <a:spcPct val="78000"/>
                        </a:lnSpc>
                        <a:spcBef>
                          <a:spcPts val="1"/>
                        </a:spcBef>
                        <a:tabLst/>
                      </a:pPr>
                      <a:r>
                        <a:rPr sz="1200" kern="0" spc="-10" dirty="0">
                          <a:solidFill>
                            <a:srgbClr val="000000">
                              <a:alpha val="100000"/>
                            </a:srgbClr>
                          </a:solidFill>
                          <a:latin typeface="Times New Roman"/>
                          <a:ea typeface="Times New Roman"/>
                          <a:cs typeface="Times New Roman"/>
                        </a:rPr>
                        <a:t>(2026.3.9)</a:t>
                      </a:r>
                      <a:endParaRPr sz="1200" dirty="0">
                        <a:latin typeface="Times New Roman"/>
                        <a:ea typeface="Times New Roman"/>
                        <a:cs typeface="Times New Roman"/>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2000"/>
                        </a:lnSpc>
                        <a:tabLst/>
                      </a:pPr>
                      <a:endParaRPr sz="700" dirty="0">
                        <a:latin typeface="Arial"/>
                        <a:ea typeface="Arial"/>
                        <a:cs typeface="Arial"/>
                      </a:endParaRPr>
                    </a:p>
                    <a:p>
                      <a:pPr marL="53339" algn="l" rtl="0" eaLnBrk="0">
                        <a:lnSpc>
                          <a:spcPct val="86000"/>
                        </a:lnSpc>
                        <a:spcBef>
                          <a:spcPts val="1"/>
                        </a:spcBef>
                        <a:tabLst/>
                      </a:pPr>
                      <a:r>
                        <a:rPr sz="1200" kern="0" spc="-10" dirty="0">
                          <a:solidFill>
                            <a:srgbClr val="000000">
                              <a:alpha val="100000"/>
                            </a:srgbClr>
                          </a:solidFill>
                          <a:latin typeface="KaiTi"/>
                          <a:ea typeface="KaiTi"/>
                          <a:cs typeface="KaiTi"/>
                        </a:rPr>
                        <a:t>天空工场创投、拓普集团、金</a:t>
                      </a:r>
                      <a:endParaRPr sz="1200" dirty="0">
                        <a:latin typeface="KaiTi"/>
                        <a:ea typeface="KaiTi"/>
                        <a:cs typeface="KaiTi"/>
                      </a:endParaRPr>
                    </a:p>
                    <a:p>
                      <a:pPr marL="821055" algn="l" rtl="0" eaLnBrk="0">
                        <a:lnSpc>
                          <a:spcPct val="84000"/>
                        </a:lnSpc>
                        <a:spcBef>
                          <a:spcPts val="200"/>
                        </a:spcBef>
                        <a:tabLst/>
                      </a:pPr>
                      <a:r>
                        <a:rPr sz="1200" kern="0" spc="-40" dirty="0">
                          <a:solidFill>
                            <a:srgbClr val="000000">
                              <a:alpha val="100000"/>
                            </a:srgbClr>
                          </a:solidFill>
                          <a:latin typeface="KaiTi"/>
                          <a:ea typeface="KaiTi"/>
                          <a:cs typeface="KaiTi"/>
                        </a:rPr>
                        <a:t>雨茂物</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3000"/>
                        </a:lnSpc>
                        <a:tabLst/>
                      </a:pPr>
                      <a:endParaRPr sz="600" dirty="0">
                        <a:latin typeface="Arial"/>
                        <a:ea typeface="Arial"/>
                        <a:cs typeface="Arial"/>
                      </a:endParaRPr>
                    </a:p>
                    <a:p>
                      <a:pPr marL="277495" indent="-250190" algn="l" rtl="0" eaLnBrk="0">
                        <a:lnSpc>
                          <a:spcPct val="93000"/>
                        </a:lnSpc>
                        <a:spcBef>
                          <a:spcPts val="3"/>
                        </a:spcBef>
                        <a:tabLst/>
                      </a:pPr>
                      <a:r>
                        <a:rPr sz="1200" kern="0" spc="-30" dirty="0">
                          <a:solidFill>
                            <a:srgbClr val="000000">
                              <a:alpha val="100000"/>
                            </a:srgbClr>
                          </a:solidFill>
                          <a:latin typeface="KaiTi"/>
                          <a:ea typeface="KaiTi"/>
                          <a:cs typeface="KaiTi"/>
                        </a:rPr>
                        <a:t>自主研发“原子万象”大模型</a:t>
                      </a:r>
                      <a:r>
                        <a:rPr sz="1200" kern="0" spc="-40" dirty="0">
                          <a:solidFill>
                            <a:srgbClr val="000000">
                              <a:alpha val="100000"/>
                            </a:srgbClr>
                          </a:solidFill>
                          <a:latin typeface="KaiTi"/>
                          <a:ea typeface="KaiTi"/>
                          <a:cs typeface="KaiTi"/>
                        </a:rPr>
                        <a:t>，</a:t>
                      </a:r>
                      <a:r>
                        <a:rPr sz="1200" kern="0" spc="-10" dirty="0">
                          <a:solidFill>
                            <a:srgbClr val="000000">
                              <a:alpha val="100000"/>
                            </a:srgbClr>
                          </a:solidFill>
                          <a:latin typeface="KaiTi"/>
                          <a:ea typeface="KaiTi"/>
                          <a:cs typeface="KaiTi"/>
                        </a:rPr>
                        <a:t>采用快慢双模协同架构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2000"/>
                        </a:lnSpc>
                        <a:tabLst/>
                      </a:pPr>
                      <a:endParaRPr sz="700" dirty="0">
                        <a:latin typeface="Arial"/>
                        <a:ea typeface="Arial"/>
                        <a:cs typeface="Arial"/>
                      </a:endParaRPr>
                    </a:p>
                    <a:p>
                      <a:pPr marL="31115" algn="l" rtl="0" eaLnBrk="0">
                        <a:lnSpc>
                          <a:spcPct val="85000"/>
                        </a:lnSpc>
                        <a:spcBef>
                          <a:spcPts val="1"/>
                        </a:spcBef>
                        <a:tabLst/>
                      </a:pPr>
                      <a:r>
                        <a:rPr sz="1200" kern="0" spc="-10" dirty="0">
                          <a:solidFill>
                            <a:srgbClr val="000000">
                              <a:alpha val="100000"/>
                            </a:srgbClr>
                          </a:solidFill>
                          <a:latin typeface="KaiTi"/>
                          <a:ea typeface="KaiTi"/>
                          <a:cs typeface="KaiTi"/>
                        </a:rPr>
                        <a:t>海外业务占比超30%，覆盖27个</a:t>
                      </a:r>
                      <a:endParaRPr sz="1200" dirty="0">
                        <a:latin typeface="KaiTi"/>
                        <a:ea typeface="KaiTi"/>
                        <a:cs typeface="KaiTi"/>
                      </a:endParaRPr>
                    </a:p>
                    <a:p>
                      <a:pPr marL="689609" algn="l" rtl="0" eaLnBrk="0">
                        <a:lnSpc>
                          <a:spcPct val="84000"/>
                        </a:lnSpc>
                        <a:spcBef>
                          <a:spcPts val="203"/>
                        </a:spcBef>
                        <a:tabLst/>
                      </a:pPr>
                      <a:r>
                        <a:rPr sz="1200" kern="0" spc="-40" dirty="0">
                          <a:solidFill>
                            <a:srgbClr val="000000">
                              <a:alpha val="100000"/>
                            </a:srgbClr>
                          </a:solidFill>
                          <a:latin typeface="KaiTi"/>
                          <a:ea typeface="KaiTi"/>
                          <a:cs typeface="KaiTi"/>
                        </a:rPr>
                        <a:t>国家和地区</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260475">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8845"/>
                        </a:lnSpc>
                        <a:tabLst/>
                      </a:pPr>
                      <a:endParaRPr sz="100" dirty="0">
                        <a:latin typeface="Arial"/>
                        <a:ea typeface="Arial"/>
                        <a:cs typeface="Arial"/>
                      </a:endParaRPr>
                    </a:p>
                    <a:p>
                      <a:pPr marL="116839" algn="l" rtl="0" eaLnBrk="0">
                        <a:lnSpc>
                          <a:spcPct val="85000"/>
                        </a:lnSpc>
                        <a:tabLst/>
                      </a:pPr>
                      <a:r>
                        <a:rPr sz="1200" kern="0" spc="-100" dirty="0">
                          <a:solidFill>
                            <a:srgbClr val="000000">
                              <a:alpha val="100000"/>
                            </a:srgbClr>
                          </a:solidFill>
                          <a:latin typeface="KaiTi"/>
                          <a:ea typeface="KaiTi"/>
                          <a:cs typeface="KaiTi"/>
                        </a:rPr>
                        <a:t>极智嘉（合作）</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123189" algn="l" rtl="0" eaLnBrk="0">
                        <a:lnSpc>
                          <a:spcPct val="85000"/>
                        </a:lnSpc>
                        <a:spcBef>
                          <a:spcPts val="6"/>
                        </a:spcBef>
                        <a:tabLst/>
                      </a:pPr>
                      <a:r>
                        <a:rPr sz="1200" kern="0" spc="-10" dirty="0">
                          <a:solidFill>
                            <a:srgbClr val="000000">
                              <a:alpha val="100000"/>
                            </a:srgbClr>
                          </a:solidFill>
                          <a:latin typeface="KaiTi"/>
                          <a:ea typeface="KaiTi"/>
                          <a:cs typeface="KaiTi"/>
                        </a:rPr>
                        <a:t>仓储物流数字孪生</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9125"/>
                        </a:lnSpc>
                        <a:tabLst/>
                      </a:pPr>
                      <a:endParaRPr sz="100" dirty="0">
                        <a:latin typeface="Arial"/>
                        <a:ea typeface="Arial"/>
                        <a:cs typeface="Arial"/>
                      </a:endParaRPr>
                    </a:p>
                    <a:p>
                      <a:pPr marL="655319" algn="l" rtl="0" eaLnBrk="0">
                        <a:lnSpc>
                          <a:spcPct val="84000"/>
                        </a:lnSpc>
                        <a:tabLst/>
                      </a:pPr>
                      <a:r>
                        <a:rPr sz="1200" kern="0" spc="-50" dirty="0">
                          <a:solidFill>
                            <a:srgbClr val="000000">
                              <a:alpha val="100000"/>
                            </a:srgbClr>
                          </a:solidFill>
                          <a:latin typeface="KaiTi"/>
                          <a:ea typeface="KaiTi"/>
                          <a:cs typeface="KaiTi"/>
                        </a:rPr>
                        <a:t>已上市</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281304" algn="l" rtl="0" eaLnBrk="0">
                        <a:lnSpc>
                          <a:spcPct val="85000"/>
                        </a:lnSpc>
                        <a:spcBef>
                          <a:spcPts val="6"/>
                        </a:spcBef>
                        <a:tabLst/>
                      </a:pPr>
                      <a:r>
                        <a:rPr sz="1200" kern="0" spc="-10" dirty="0">
                          <a:solidFill>
                            <a:srgbClr val="000000">
                              <a:alpha val="100000"/>
                            </a:srgbClr>
                          </a:solidFill>
                          <a:latin typeface="KaiTi"/>
                          <a:ea typeface="KaiTi"/>
                          <a:cs typeface="KaiTi"/>
                        </a:rPr>
                        <a:t>京东、顺丰等产业资本</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5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marL="67944" algn="l" rtl="0" eaLnBrk="0">
                        <a:lnSpc>
                          <a:spcPct val="86000"/>
                        </a:lnSpc>
                        <a:spcBef>
                          <a:spcPts val="3"/>
                        </a:spcBef>
                        <a:tabLst/>
                      </a:pPr>
                      <a:r>
                        <a:rPr sz="1200" kern="0" spc="0" dirty="0">
                          <a:solidFill>
                            <a:srgbClr val="000000">
                              <a:alpha val="100000"/>
                            </a:srgbClr>
                          </a:solidFill>
                          <a:latin typeface="KaiTi"/>
                          <a:ea typeface="KaiTi"/>
                          <a:cs typeface="KaiTi"/>
                        </a:rPr>
                        <a:t>产业资本深度绑定，</a:t>
                      </a:r>
                      <a:r>
                        <a:rPr sz="1200" kern="0" spc="-10" dirty="0">
                          <a:solidFill>
                            <a:srgbClr val="000000">
                              <a:alpha val="100000"/>
                            </a:srgbClr>
                          </a:solidFill>
                          <a:latin typeface="KaiTi"/>
                          <a:ea typeface="KaiTi"/>
                          <a:cs typeface="KaiTi"/>
                        </a:rPr>
                        <a:t>京东、顺</a:t>
                      </a:r>
                      <a:endParaRPr sz="1200" dirty="0">
                        <a:latin typeface="KaiTi"/>
                        <a:ea typeface="KaiTi"/>
                        <a:cs typeface="KaiTi"/>
                      </a:endParaRPr>
                    </a:p>
                    <a:p>
                      <a:pPr marL="72389" algn="l" rtl="0" eaLnBrk="0">
                        <a:lnSpc>
                          <a:spcPct val="85000"/>
                        </a:lnSpc>
                        <a:spcBef>
                          <a:spcPts val="204"/>
                        </a:spcBef>
                        <a:tabLst/>
                      </a:pPr>
                      <a:r>
                        <a:rPr sz="1200" kern="0" spc="-10" dirty="0">
                          <a:solidFill>
                            <a:srgbClr val="000000">
                              <a:alpha val="100000"/>
                            </a:srgbClr>
                          </a:solidFill>
                          <a:latin typeface="KaiTi"/>
                          <a:ea typeface="KaiTi"/>
                          <a:cs typeface="KaiTi"/>
                        </a:rPr>
                        <a:t>丰等既是投资方也是客户，落</a:t>
                      </a:r>
                      <a:endParaRPr sz="1200" dirty="0">
                        <a:latin typeface="KaiTi"/>
                        <a:ea typeface="KaiTi"/>
                        <a:cs typeface="KaiTi"/>
                      </a:endParaRPr>
                    </a:p>
                    <a:p>
                      <a:pPr marL="680084" algn="l" rtl="0" eaLnBrk="0">
                        <a:lnSpc>
                          <a:spcPct val="85000"/>
                        </a:lnSpc>
                        <a:spcBef>
                          <a:spcPts val="216"/>
                        </a:spcBef>
                        <a:tabLst/>
                      </a:pPr>
                      <a:r>
                        <a:rPr sz="1200" kern="0" spc="-10" dirty="0">
                          <a:solidFill>
                            <a:srgbClr val="000000">
                              <a:alpha val="100000"/>
                            </a:srgbClr>
                          </a:solidFill>
                          <a:latin typeface="KaiTi"/>
                          <a:ea typeface="KaiTi"/>
                          <a:cs typeface="KaiTi"/>
                        </a:rPr>
                        <a:t>地案例丰富</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90000"/>
                        </a:lnSpc>
                        <a:tabLst/>
                      </a:pPr>
                      <a:endParaRPr sz="1000" dirty="0">
                        <a:latin typeface="Arial"/>
                        <a:ea typeface="Arial"/>
                        <a:cs typeface="Arial"/>
                      </a:endParaRPr>
                    </a:p>
                    <a:p>
                      <a:pPr algn="l" rtl="0" eaLnBrk="0">
                        <a:lnSpc>
                          <a:spcPct val="9725"/>
                        </a:lnSpc>
                        <a:tabLst/>
                      </a:pPr>
                      <a:endParaRPr sz="100" dirty="0">
                        <a:latin typeface="Arial"/>
                        <a:ea typeface="Arial"/>
                        <a:cs typeface="Arial"/>
                      </a:endParaRPr>
                    </a:p>
                    <a:p>
                      <a:pPr marL="180975" indent="-167004" algn="l" rtl="0" eaLnBrk="0">
                        <a:lnSpc>
                          <a:spcPct val="92000"/>
                        </a:lnSpc>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数字孪生平台订阅费：按仓</a:t>
                      </a:r>
                      <a:r>
                        <a:rPr sz="1200" kern="0" spc="-20" dirty="0">
                          <a:solidFill>
                            <a:srgbClr val="000000">
                              <a:alpha val="100000"/>
                            </a:srgbClr>
                          </a:solidFill>
                          <a:latin typeface="KaiTi"/>
                          <a:ea typeface="KaiTi"/>
                          <a:cs typeface="KaiTi"/>
                        </a:rPr>
                        <a:t>库规模</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15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月付费</a:t>
                      </a:r>
                      <a:endParaRPr sz="1200" dirty="0">
                        <a:latin typeface="KaiTi"/>
                        <a:ea typeface="KaiTi"/>
                        <a:cs typeface="KaiTi"/>
                      </a:endParaRPr>
                    </a:p>
                    <a:p>
                      <a:pPr marL="184150" indent="-170179" algn="l" rtl="0" eaLnBrk="0">
                        <a:lnSpc>
                          <a:spcPct val="92000"/>
                        </a:lnSpc>
                        <a:spcBef>
                          <a:spcPts val="233"/>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智能仓储解决方案：完整仓</a:t>
                      </a:r>
                      <a:r>
                        <a:rPr sz="1200" kern="0" spc="-20" dirty="0">
                          <a:solidFill>
                            <a:srgbClr val="000000">
                              <a:alpha val="100000"/>
                            </a:srgbClr>
                          </a:solidFill>
                          <a:latin typeface="KaiTi"/>
                          <a:ea typeface="KaiTi"/>
                          <a:cs typeface="KaiTi"/>
                        </a:rPr>
                        <a:t>储系统集成</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32104">
                <a:tc>
                  <a:txBody>
                    <a:bodyPr/>
                    <a:lstStyle/>
                    <a:p>
                      <a:pPr algn="l" rtl="0" eaLnBrk="0">
                        <a:lnSpc>
                          <a:spcPct val="110000"/>
                        </a:lnSpc>
                        <a:tabLst/>
                      </a:pPr>
                      <a:endParaRPr sz="600" dirty="0">
                        <a:latin typeface="Arial"/>
                        <a:ea typeface="Arial"/>
                        <a:cs typeface="Arial"/>
                      </a:endParaRPr>
                    </a:p>
                    <a:p>
                      <a:pPr marL="363220" algn="l" rtl="0" eaLnBrk="0">
                        <a:lnSpc>
                          <a:spcPct val="85000"/>
                        </a:lnSpc>
                        <a:spcBef>
                          <a:spcPts val="2"/>
                        </a:spcBef>
                        <a:tabLst/>
                      </a:pPr>
                      <a:r>
                        <a:rPr sz="1200" kern="0" spc="-40" dirty="0">
                          <a:solidFill>
                            <a:srgbClr val="000000">
                              <a:alpha val="100000"/>
                            </a:srgbClr>
                          </a:solidFill>
                          <a:latin typeface="KaiTi"/>
                          <a:ea typeface="KaiTi"/>
                          <a:cs typeface="KaiTi"/>
                        </a:rPr>
                        <a:t>昆仑万维</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9000"/>
                        </a:lnSpc>
                        <a:tabLst/>
                      </a:pPr>
                      <a:endParaRPr sz="600" dirty="0">
                        <a:latin typeface="Arial"/>
                        <a:ea typeface="Arial"/>
                        <a:cs typeface="Arial"/>
                      </a:endParaRPr>
                    </a:p>
                    <a:p>
                      <a:pPr marL="165100" algn="l" rtl="0" eaLnBrk="0">
                        <a:lnSpc>
                          <a:spcPct val="86000"/>
                        </a:lnSpc>
                        <a:spcBef>
                          <a:spcPts val="4"/>
                        </a:spcBef>
                        <a:tabLst/>
                      </a:pPr>
                      <a:r>
                        <a:rPr sz="1200" kern="0" spc="-20" dirty="0">
                          <a:solidFill>
                            <a:srgbClr val="000000">
                              <a:alpha val="100000"/>
                            </a:srgbClr>
                          </a:solidFill>
                          <a:latin typeface="KaiTi"/>
                          <a:ea typeface="KaiTi"/>
                          <a:cs typeface="KaiTi"/>
                        </a:rPr>
                        <a:t>工业仿真</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13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游戏</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9000"/>
                        </a:lnSpc>
                        <a:tabLst/>
                      </a:pPr>
                      <a:endParaRPr sz="600" dirty="0">
                        <a:latin typeface="Arial"/>
                        <a:ea typeface="Arial"/>
                        <a:cs typeface="Arial"/>
                      </a:endParaRPr>
                    </a:p>
                    <a:p>
                      <a:pPr marL="567690" algn="l" rtl="0" eaLnBrk="0">
                        <a:lnSpc>
                          <a:spcPct val="86000"/>
                        </a:lnSpc>
                        <a:spcBef>
                          <a:spcPts val="4"/>
                        </a:spcBef>
                        <a:tabLst/>
                      </a:pPr>
                      <a:r>
                        <a:rPr sz="1200" kern="0" spc="-30" dirty="0">
                          <a:solidFill>
                            <a:srgbClr val="000000">
                              <a:alpha val="100000"/>
                            </a:srgbClr>
                          </a:solidFill>
                          <a:latin typeface="KaiTi"/>
                          <a:ea typeface="KaiTi"/>
                          <a:cs typeface="KaiTi"/>
                        </a:rPr>
                        <a:t>战略投资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0000"/>
                        </a:lnSpc>
                        <a:tabLst/>
                      </a:pPr>
                      <a:endParaRPr sz="600" dirty="0">
                        <a:latin typeface="Arial"/>
                        <a:ea typeface="Arial"/>
                        <a:cs typeface="Arial"/>
                      </a:endParaRPr>
                    </a:p>
                    <a:p>
                      <a:pPr marL="598169" algn="l" rtl="0" eaLnBrk="0">
                        <a:lnSpc>
                          <a:spcPct val="85000"/>
                        </a:lnSpc>
                        <a:spcBef>
                          <a:spcPts val="2"/>
                        </a:spcBef>
                        <a:tabLst/>
                      </a:pPr>
                      <a:r>
                        <a:rPr sz="1200" kern="0" spc="-30" dirty="0">
                          <a:solidFill>
                            <a:srgbClr val="000000">
                              <a:alpha val="100000"/>
                            </a:srgbClr>
                          </a:solidFill>
                          <a:latin typeface="KaiTi"/>
                          <a:ea typeface="KaiTi"/>
                          <a:cs typeface="KaiTi"/>
                        </a:rPr>
                        <a:t>昆仑万维集团</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1000"/>
                        </a:lnSpc>
                        <a:tabLst/>
                      </a:pPr>
                      <a:endParaRPr sz="600" dirty="0">
                        <a:latin typeface="Arial"/>
                        <a:ea typeface="Arial"/>
                        <a:cs typeface="Arial"/>
                      </a:endParaRPr>
                    </a:p>
                    <a:p>
                      <a:pPr marL="753744" algn="l" rtl="0" eaLnBrk="0">
                        <a:lnSpc>
                          <a:spcPct val="83000"/>
                        </a:lnSpc>
                        <a:spcBef>
                          <a:spcPts val="1"/>
                        </a:spcBef>
                        <a:tabLst/>
                      </a:pPr>
                      <a:r>
                        <a:rPr sz="1200" kern="0" spc="-10" dirty="0">
                          <a:solidFill>
                            <a:srgbClr val="000000">
                              <a:alpha val="100000"/>
                            </a:srgbClr>
                          </a:solidFill>
                          <a:latin typeface="KaiTi"/>
                          <a:ea typeface="KaiTi"/>
                          <a:cs typeface="KaiTi"/>
                        </a:rPr>
                        <a:t>产业协同</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2000"/>
                        </a:lnSpc>
                        <a:tabLst/>
                      </a:pPr>
                      <a:endParaRPr sz="1000" dirty="0">
                        <a:latin typeface="Arial"/>
                        <a:ea typeface="Arial"/>
                        <a:cs typeface="Arial"/>
                      </a:endParaRPr>
                    </a:p>
                    <a:p>
                      <a:pPr algn="l" rtl="0" eaLnBrk="0">
                        <a:lnSpc>
                          <a:spcPct val="6607"/>
                        </a:lnSpc>
                        <a:tabLst/>
                      </a:pPr>
                      <a:endParaRPr sz="100" dirty="0">
                        <a:latin typeface="Arial"/>
                        <a:ea typeface="Arial"/>
                        <a:cs typeface="Arial"/>
                      </a:endParaRPr>
                    </a:p>
                    <a:p>
                      <a:pPr marL="1010919" algn="l" rtl="0" eaLnBrk="0">
                        <a:lnSpc>
                          <a:spcPts val="539"/>
                        </a:lnSpc>
                        <a:tabLst/>
                      </a:pPr>
                      <a:r>
                        <a:rPr sz="1200" kern="0" spc="-10" dirty="0">
                          <a:solidFill>
                            <a:srgbClr val="000000">
                              <a:alpha val="100000"/>
                            </a:srgbClr>
                          </a:solidFill>
                          <a:latin typeface="KaiTi"/>
                          <a:ea typeface="KaiTi"/>
                          <a:cs typeface="KaiTi"/>
                        </a:rPr>
                        <a:t>-</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74" name="textbox 574"/>
          <p:cNvSpPr/>
          <p:nvPr/>
        </p:nvSpPr>
        <p:spPr>
          <a:xfrm>
            <a:off x="554049" y="401828"/>
            <a:ext cx="11190605" cy="440055"/>
          </a:xfrm>
          <a:prstGeom prst="rect">
            <a:avLst/>
          </a:prstGeom>
          <a:noFill/>
          <a:ln w="0" cap="flat">
            <a:noFill/>
            <a:prstDash val="solid"/>
            <a:miter lim="0"/>
          </a:ln>
        </p:spPr>
        <p:txBody>
          <a:bodyPr vert="horz" wrap="square" lIns="0" tIns="0" rIns="0" bIns="0"/>
          <a:lstStyle/>
          <a:p>
            <a:pPr algn="l" rtl="0" eaLnBrk="0">
              <a:lnSpc>
                <a:spcPct val="120000"/>
              </a:lnSpc>
              <a:tabLst/>
            </a:pPr>
            <a:endParaRPr sz="400" dirty="0">
              <a:latin typeface="Arial"/>
              <a:ea typeface="Arial"/>
              <a:cs typeface="Arial"/>
            </a:endParaRPr>
          </a:p>
          <a:p>
            <a:pPr marL="12700" algn="l" rtl="0" eaLnBrk="0">
              <a:lnSpc>
                <a:spcPct val="86000"/>
              </a:lnSpc>
              <a:spcBef>
                <a:spcPts val="2"/>
              </a:spcBef>
              <a:tabLst/>
            </a:pPr>
            <a:r>
              <a:rPr sz="2700" b="1" kern="0" spc="60" dirty="0">
                <a:solidFill>
                  <a:srgbClr val="BF756D">
                    <a:alpha val="100000"/>
                  </a:srgbClr>
                </a:solidFill>
                <a:latin typeface="KaiTi"/>
                <a:ea typeface="KaiTi"/>
                <a:cs typeface="KaiTi"/>
              </a:rPr>
              <a:t>市场玩家格局</a:t>
            </a:r>
            <a:r>
              <a:rPr sz="2700" kern="0" spc="0" dirty="0">
                <a:solidFill>
                  <a:srgbClr val="BF756D">
                    <a:alpha val="100000"/>
                  </a:srgbClr>
                </a:solidFill>
                <a:latin typeface="KaiTi"/>
                <a:ea typeface="KaiTi"/>
                <a:cs typeface="KaiTi"/>
              </a:rPr>
              <a:t>                                            </a:t>
            </a:r>
            <a:endParaRPr sz="2700" dirty="0">
              <a:latin typeface="KaiTi"/>
              <a:ea typeface="KaiTi"/>
              <a:cs typeface="KaiTi"/>
            </a:endParaRPr>
          </a:p>
        </p:txBody>
      </p:sp>
      <p:pic>
        <p:nvPicPr>
          <p:cNvPr id="576" name="picture 576"/>
          <p:cNvPicPr>
            <a:picLocks noChangeAspect="1"/>
          </p:cNvPicPr>
          <p:nvPr/>
        </p:nvPicPr>
        <p:blipFill>
          <a:blip r:embed="rId2"/>
          <a:stretch>
            <a:fillRect/>
          </a:stretch>
        </p:blipFill>
        <p:spPr>
          <a:xfrm rot="21600000">
            <a:off x="10096588" y="414528"/>
            <a:ext cx="1616964" cy="365759"/>
          </a:xfrm>
          <a:prstGeom prst="rect">
            <a:avLst/>
          </a:prstGeom>
        </p:spPr>
      </p:pic>
      <p:sp>
        <p:nvSpPr>
          <p:cNvPr id="578" name="textbox 578"/>
          <p:cNvSpPr/>
          <p:nvPr/>
        </p:nvSpPr>
        <p:spPr>
          <a:xfrm>
            <a:off x="296418" y="1381505"/>
            <a:ext cx="576580" cy="3496309"/>
          </a:xfrm>
          <a:prstGeom prst="roundRect">
            <a:avLst>
              <a:gd name="adj" fmla="val 19334"/>
            </a:avLst>
          </a:prstGeom>
          <a:solidFill>
            <a:srgbClr val="F9F1EA">
              <a:alpha val="100000"/>
            </a:srgbClr>
          </a:solidFill>
          <a:ln w="19050" cap="flat">
            <a:solidFill>
              <a:srgbClr val="BF756D"/>
            </a:solidFill>
            <a:prstDash val="solid"/>
            <a:miter lim="0"/>
          </a:ln>
        </p:spPr>
        <p:txBody>
          <a:bodyPr vert="horz" wrap="square" lIns="0" tIns="0" rIns="0" bIns="0"/>
          <a:lstStyle/>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164464" algn="l" rtl="0" eaLnBrk="0">
              <a:lnSpc>
                <a:spcPct val="89000"/>
              </a:lnSpc>
              <a:spcBef>
                <a:spcPts val="3"/>
              </a:spcBef>
              <a:tabLst/>
            </a:pPr>
            <a:r>
              <a:rPr sz="1500" b="1" kern="0" spc="0" dirty="0">
                <a:solidFill>
                  <a:srgbClr val="BF756D">
                    <a:alpha val="100000"/>
                  </a:srgbClr>
                </a:solidFill>
                <a:latin typeface="KaiTi"/>
                <a:ea typeface="KaiTi"/>
                <a:cs typeface="KaiTi"/>
              </a:rPr>
              <a:t>具</a:t>
            </a:r>
            <a:endParaRPr sz="1500" dirty="0">
              <a:latin typeface="KaiTi"/>
              <a:ea typeface="KaiTi"/>
              <a:cs typeface="KaiTi"/>
            </a:endParaRPr>
          </a:p>
          <a:p>
            <a:pPr marL="173989" algn="l" rtl="0" eaLnBrk="0">
              <a:lnSpc>
                <a:spcPct val="87000"/>
              </a:lnSpc>
              <a:spcBef>
                <a:spcPts val="6"/>
              </a:spcBef>
              <a:tabLst/>
            </a:pPr>
            <a:r>
              <a:rPr sz="1500" b="1" kern="0" spc="-20" dirty="0">
                <a:solidFill>
                  <a:srgbClr val="BF756D">
                    <a:alpha val="100000"/>
                  </a:srgbClr>
                </a:solidFill>
                <a:latin typeface="KaiTi"/>
                <a:ea typeface="KaiTi"/>
                <a:cs typeface="KaiTi"/>
              </a:rPr>
              <a:t>身</a:t>
            </a:r>
            <a:endParaRPr sz="1500" dirty="0">
              <a:latin typeface="KaiTi"/>
              <a:ea typeface="KaiTi"/>
              <a:cs typeface="KaiTi"/>
            </a:endParaRPr>
          </a:p>
        </p:txBody>
      </p:sp>
      <p:sp>
        <p:nvSpPr>
          <p:cNvPr id="580" name="textbox 580"/>
          <p:cNvSpPr/>
          <p:nvPr/>
        </p:nvSpPr>
        <p:spPr>
          <a:xfrm>
            <a:off x="283718" y="5203190"/>
            <a:ext cx="601980" cy="1301114"/>
          </a:xfrm>
          <a:prstGeom prst="roundRect">
            <a:avLst>
              <a:gd name="adj" fmla="val 19334"/>
            </a:avLst>
          </a:prstGeom>
          <a:noFill/>
          <a:ln w="19050" cap="flat">
            <a:solidFill>
              <a:srgbClr val="BF756D"/>
            </a:solidFill>
            <a:prstDash val="solid"/>
            <a:miter lim="0"/>
          </a:ln>
        </p:spPr>
        <p:txBody>
          <a:bodyPr vert="horz" wrap="square" lIns="0" tIns="0" rIns="0" bIns="0"/>
          <a:lstStyle/>
          <a:p>
            <a:pPr algn="l" rtl="0" eaLnBrk="0">
              <a:lnSpc>
                <a:spcPct val="148000"/>
              </a:lnSpc>
              <a:tabLst/>
            </a:pPr>
            <a:endParaRPr sz="1000" dirty="0">
              <a:latin typeface="Arial"/>
              <a:ea typeface="Arial"/>
              <a:cs typeface="Arial"/>
            </a:endParaRPr>
          </a:p>
          <a:p>
            <a:pPr algn="l" rtl="0" eaLnBrk="0">
              <a:lnSpc>
                <a:spcPct val="149000"/>
              </a:lnSpc>
              <a:tabLst/>
            </a:pPr>
            <a:endParaRPr sz="1000" dirty="0">
              <a:latin typeface="Arial"/>
              <a:ea typeface="Arial"/>
              <a:cs typeface="Arial"/>
            </a:endParaRPr>
          </a:p>
          <a:p>
            <a:pPr algn="l" rtl="0" eaLnBrk="0">
              <a:lnSpc>
                <a:spcPct val="6561"/>
              </a:lnSpc>
              <a:tabLst/>
            </a:pPr>
            <a:endParaRPr sz="100" dirty="0">
              <a:latin typeface="Arial"/>
              <a:ea typeface="Arial"/>
              <a:cs typeface="Arial"/>
            </a:endParaRPr>
          </a:p>
          <a:p>
            <a:pPr marL="174625" algn="l" rtl="0" eaLnBrk="0">
              <a:lnSpc>
                <a:spcPts val="1007"/>
              </a:lnSpc>
              <a:tabLst/>
            </a:pPr>
            <a:r>
              <a:rPr sz="1500" b="1" kern="0" spc="0" dirty="0">
                <a:solidFill>
                  <a:srgbClr val="BF756D">
                    <a:alpha val="100000"/>
                  </a:srgbClr>
                </a:solidFill>
                <a:latin typeface="KaiTi"/>
                <a:ea typeface="KaiTi"/>
                <a:cs typeface="KaiTi"/>
              </a:rPr>
              <a:t>工</a:t>
            </a:r>
            <a:endParaRPr sz="1500" dirty="0">
              <a:latin typeface="KaiTi"/>
              <a:ea typeface="KaiTi"/>
              <a:cs typeface="KaiTi"/>
            </a:endParaRPr>
          </a:p>
          <a:p>
            <a:pPr marL="183514" algn="l" rtl="0" eaLnBrk="0">
              <a:lnSpc>
                <a:spcPct val="90000"/>
              </a:lnSpc>
              <a:spcBef>
                <a:spcPts val="14"/>
              </a:spcBef>
              <a:tabLst/>
            </a:pPr>
            <a:r>
              <a:rPr sz="1500" b="1" kern="0" spc="-20" dirty="0">
                <a:solidFill>
                  <a:srgbClr val="BF756D">
                    <a:alpha val="100000"/>
                  </a:srgbClr>
                </a:solidFill>
                <a:latin typeface="KaiTi"/>
                <a:ea typeface="KaiTi"/>
                <a:cs typeface="KaiTi"/>
              </a:rPr>
              <a:t>业</a:t>
            </a:r>
            <a:endParaRPr sz="1500" dirty="0">
              <a:latin typeface="KaiTi"/>
              <a:ea typeface="KaiTi"/>
              <a:cs typeface="KaiT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2" name="table 582"/>
          <p:cNvGraphicFramePr>
            <a:graphicFrameLocks noGrp="1"/>
          </p:cNvGraphicFramePr>
          <p:nvPr/>
        </p:nvGraphicFramePr>
        <p:xfrm>
          <a:off x="1281937" y="1011046"/>
          <a:ext cx="10733405" cy="3745864"/>
        </p:xfrm>
        <a:graphic>
          <a:graphicData uri="http://schemas.openxmlformats.org/drawingml/2006/table">
            <a:tbl>
              <a:tblPr/>
              <a:tblGrid>
                <a:gridCol w="1289685"/>
                <a:gridCol w="1461135"/>
                <a:gridCol w="1714500"/>
                <a:gridCol w="2065655"/>
                <a:gridCol w="2108200"/>
                <a:gridCol w="2094229"/>
              </a:tblGrid>
              <a:tr h="383540">
                <a:tc>
                  <a:txBody>
                    <a:bodyPr/>
                    <a:lstStyle/>
                    <a:p>
                      <a:pPr algn="l" rtl="0" eaLnBrk="0">
                        <a:lnSpc>
                          <a:spcPct val="108000"/>
                        </a:lnSpc>
                        <a:tabLst/>
                      </a:pPr>
                      <a:endParaRPr sz="700" dirty="0">
                        <a:latin typeface="Arial"/>
                        <a:ea typeface="Arial"/>
                        <a:cs typeface="Arial"/>
                      </a:endParaRPr>
                    </a:p>
                    <a:p>
                      <a:pPr algn="l" rtl="0" eaLnBrk="0">
                        <a:lnSpc>
                          <a:spcPct val="6279"/>
                        </a:lnSpc>
                        <a:tabLst/>
                      </a:pPr>
                      <a:endParaRPr sz="100" dirty="0">
                        <a:latin typeface="Arial"/>
                        <a:ea typeface="Arial"/>
                        <a:cs typeface="Arial"/>
                      </a:endParaRPr>
                    </a:p>
                    <a:p>
                      <a:pPr marL="298450" algn="l" rtl="0" eaLnBrk="0">
                        <a:lnSpc>
                          <a:spcPct val="84000"/>
                        </a:lnSpc>
                        <a:tabLst/>
                      </a:pPr>
                      <a:r>
                        <a:rPr sz="1400" b="1" kern="0" spc="-30" dirty="0">
                          <a:solidFill>
                            <a:srgbClr val="FFFFFF">
                              <a:alpha val="100000"/>
                            </a:srgbClr>
                          </a:solidFill>
                          <a:latin typeface="KaiTi"/>
                          <a:ea typeface="KaiTi"/>
                          <a:cs typeface="KaiTi"/>
                        </a:rPr>
                        <a:t>代表团队</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376554" algn="l" rtl="0" eaLnBrk="0">
                        <a:lnSpc>
                          <a:spcPct val="84000"/>
                        </a:lnSpc>
                        <a:spcBef>
                          <a:spcPts val="5"/>
                        </a:spcBef>
                        <a:tabLst/>
                      </a:pPr>
                      <a:r>
                        <a:rPr sz="1400" b="1" kern="0" spc="-20" dirty="0">
                          <a:solidFill>
                            <a:srgbClr val="FFFFFF">
                              <a:alpha val="100000"/>
                            </a:srgbClr>
                          </a:solidFill>
                          <a:latin typeface="KaiTi"/>
                          <a:ea typeface="KaiTi"/>
                          <a:cs typeface="KaiTi"/>
                        </a:rPr>
                        <a:t>核心场景</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206375" algn="l" rtl="0" eaLnBrk="0">
                        <a:lnSpc>
                          <a:spcPct val="85000"/>
                        </a:lnSpc>
                        <a:spcBef>
                          <a:spcPts val="4"/>
                        </a:spcBef>
                        <a:tabLst/>
                      </a:pPr>
                      <a:r>
                        <a:rPr sz="1400" b="1" kern="0" spc="-30" dirty="0">
                          <a:solidFill>
                            <a:srgbClr val="FFFFFF">
                              <a:alpha val="100000"/>
                            </a:srgbClr>
                          </a:solidFill>
                          <a:latin typeface="KaiTi"/>
                          <a:ea typeface="KaiTi"/>
                          <a:cs typeface="KaiTi"/>
                        </a:rPr>
                        <a:t>融资规模</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&amp;</a:t>
                      </a:r>
                      <a:r>
                        <a:rPr sz="1400" kern="0" spc="-30" dirty="0">
                          <a:solidFill>
                            <a:srgbClr val="FFFFFF">
                              <a:alpha val="100000"/>
                            </a:srgbClr>
                          </a:solidFill>
                          <a:latin typeface="KaiTi"/>
                          <a:ea typeface="KaiTi"/>
                          <a:cs typeface="KaiTi"/>
                        </a:rPr>
                        <a:t> </a:t>
                      </a:r>
                      <a:r>
                        <a:rPr sz="1400" b="1" kern="0" spc="-30" dirty="0">
                          <a:solidFill>
                            <a:srgbClr val="FFFFFF">
                              <a:alpha val="100000"/>
                            </a:srgbClr>
                          </a:solidFill>
                          <a:latin typeface="KaiTi"/>
                          <a:ea typeface="KaiTi"/>
                          <a:cs typeface="KaiTi"/>
                        </a:rPr>
                        <a:t>轮次</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09000"/>
                        </a:lnSpc>
                        <a:tabLst/>
                      </a:pPr>
                      <a:endParaRPr sz="700" dirty="0">
                        <a:latin typeface="Arial"/>
                        <a:ea typeface="Arial"/>
                        <a:cs typeface="Arial"/>
                      </a:endParaRPr>
                    </a:p>
                    <a:p>
                      <a:pPr marL="589915" algn="l" rtl="0" eaLnBrk="0">
                        <a:lnSpc>
                          <a:spcPct val="85000"/>
                        </a:lnSpc>
                        <a:spcBef>
                          <a:spcPts val="4"/>
                        </a:spcBef>
                        <a:tabLst/>
                      </a:pPr>
                      <a:r>
                        <a:rPr sz="1400" b="1" kern="0" spc="-20" dirty="0">
                          <a:solidFill>
                            <a:srgbClr val="FFFFFF">
                              <a:alpha val="100000"/>
                            </a:srgbClr>
                          </a:solidFill>
                          <a:latin typeface="KaiTi"/>
                          <a:ea typeface="KaiTi"/>
                          <a:cs typeface="KaiTi"/>
                        </a:rPr>
                        <a:t>核心投资方</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10000"/>
                        </a:lnSpc>
                        <a:tabLst/>
                      </a:pPr>
                      <a:endParaRPr sz="700" dirty="0">
                        <a:latin typeface="Arial"/>
                        <a:ea typeface="Arial"/>
                        <a:cs typeface="Arial"/>
                      </a:endParaRPr>
                    </a:p>
                    <a:p>
                      <a:pPr marL="621030" algn="l" rtl="0" eaLnBrk="0">
                        <a:lnSpc>
                          <a:spcPct val="84000"/>
                        </a:lnSpc>
                        <a:spcBef>
                          <a:spcPts val="2"/>
                        </a:spcBef>
                        <a:tabLst/>
                      </a:pPr>
                      <a:r>
                        <a:rPr sz="1400" b="1" kern="0" spc="-30" dirty="0">
                          <a:solidFill>
                            <a:srgbClr val="FFFFFF">
                              <a:alpha val="100000"/>
                            </a:srgbClr>
                          </a:solidFill>
                          <a:latin typeface="KaiTi"/>
                          <a:ea typeface="KaiTi"/>
                          <a:cs typeface="KaiTi"/>
                        </a:rPr>
                        <a:t>差异化优势</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c>
                  <a:txBody>
                    <a:bodyPr/>
                    <a:lstStyle/>
                    <a:p>
                      <a:pPr algn="l" rtl="0" eaLnBrk="0">
                        <a:lnSpc>
                          <a:spcPct val="110000"/>
                        </a:lnSpc>
                        <a:tabLst/>
                      </a:pPr>
                      <a:endParaRPr sz="700" dirty="0">
                        <a:latin typeface="Arial"/>
                        <a:ea typeface="Arial"/>
                        <a:cs typeface="Arial"/>
                      </a:endParaRPr>
                    </a:p>
                    <a:p>
                      <a:pPr marL="304800" algn="l" rtl="0" eaLnBrk="0">
                        <a:lnSpc>
                          <a:spcPct val="85000"/>
                        </a:lnSpc>
                        <a:spcBef>
                          <a:spcPts val="1"/>
                        </a:spcBef>
                        <a:tabLst/>
                      </a:pPr>
                      <a:r>
                        <a:rPr sz="1400" b="1" kern="0" spc="-30" dirty="0">
                          <a:solidFill>
                            <a:srgbClr val="FFFFFF">
                              <a:alpha val="100000"/>
                            </a:srgbClr>
                          </a:solidFill>
                          <a:latin typeface="KaiTi"/>
                          <a:ea typeface="KaiTi"/>
                          <a:cs typeface="KaiTi"/>
                        </a:rPr>
                        <a:t>商业模式/交易要素</a:t>
                      </a:r>
                      <a:endParaRPr sz="14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BF756D"/>
                    </a:solidFill>
                  </a:tcPr>
                </a:tc>
              </a:tr>
              <a:tr h="1570989">
                <a:tc>
                  <a:txBody>
                    <a:bodyPr/>
                    <a:lstStyle/>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9516"/>
                        </a:lnSpc>
                        <a:tabLst/>
                      </a:pPr>
                      <a:endParaRPr sz="100" dirty="0">
                        <a:latin typeface="Arial"/>
                        <a:ea typeface="Arial"/>
                        <a:cs typeface="Arial"/>
                      </a:endParaRPr>
                    </a:p>
                    <a:p>
                      <a:pPr marL="347345" algn="l" rtl="0" eaLnBrk="0">
                        <a:lnSpc>
                          <a:spcPct val="86000"/>
                        </a:lnSpc>
                        <a:tabLst/>
                      </a:pPr>
                      <a:r>
                        <a:rPr sz="1200" kern="0" spc="-20" dirty="0">
                          <a:solidFill>
                            <a:srgbClr val="000000">
                              <a:alpha val="100000"/>
                            </a:srgbClr>
                          </a:solidFill>
                          <a:latin typeface="KaiTi"/>
                          <a:ea typeface="KaiTi"/>
                          <a:cs typeface="KaiTi"/>
                        </a:rPr>
                        <a:t>轻舟智航</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marL="51435" algn="l" rtl="0" eaLnBrk="0">
                        <a:lnSpc>
                          <a:spcPct val="86000"/>
                        </a:lnSpc>
                        <a:spcBef>
                          <a:spcPts val="4"/>
                        </a:spcBef>
                        <a:tabLst/>
                      </a:pPr>
                      <a:r>
                        <a:rPr sz="1200" kern="0" spc="-40" dirty="0">
                          <a:solidFill>
                            <a:srgbClr val="000000">
                              <a:alpha val="100000"/>
                            </a:srgbClr>
                          </a:solidFill>
                          <a:latin typeface="KaiTi"/>
                          <a:ea typeface="KaiTi"/>
                          <a:cs typeface="KaiTi"/>
                        </a:rPr>
                        <a:t>L4</a:t>
                      </a:r>
                      <a:r>
                        <a:rPr sz="1200" kern="0" spc="38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自动驾驶</a:t>
                      </a:r>
                      <a:r>
                        <a:rPr sz="1200" kern="0" spc="-4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a:t>
                      </a:r>
                      <a:r>
                        <a:rPr sz="1200" kern="0" spc="-40" dirty="0">
                          <a:solidFill>
                            <a:srgbClr val="000000">
                              <a:alpha val="100000"/>
                            </a:srgbClr>
                          </a:solidFill>
                          <a:latin typeface="KaiTi"/>
                          <a:ea typeface="KaiTi"/>
                          <a:cs typeface="KaiTi"/>
                        </a:rPr>
                        <a:t> </a:t>
                      </a:r>
                      <a:r>
                        <a:rPr sz="1200" kern="0" spc="-40" dirty="0">
                          <a:solidFill>
                            <a:srgbClr val="000000">
                              <a:alpha val="100000"/>
                            </a:srgbClr>
                          </a:solidFill>
                          <a:latin typeface="KaiTi"/>
                          <a:ea typeface="KaiTi"/>
                          <a:cs typeface="KaiTi"/>
                        </a:rPr>
                        <a:t>城市</a:t>
                      </a:r>
                      <a:endParaRPr sz="1200" dirty="0">
                        <a:latin typeface="KaiTi"/>
                        <a:ea typeface="KaiTi"/>
                        <a:cs typeface="KaiTi"/>
                      </a:endParaRPr>
                    </a:p>
                    <a:p>
                      <a:pPr algn="l" rtl="0" eaLnBrk="0">
                        <a:lnSpc>
                          <a:spcPct val="108000"/>
                        </a:lnSpc>
                        <a:tabLst/>
                      </a:pPr>
                      <a:endParaRPr sz="300" dirty="0">
                        <a:latin typeface="Arial"/>
                        <a:ea typeface="Arial"/>
                        <a:cs typeface="Arial"/>
                      </a:endParaRPr>
                    </a:p>
                    <a:p>
                      <a:pPr marL="621665" algn="l" rtl="0" eaLnBrk="0">
                        <a:lnSpc>
                          <a:spcPct val="71000"/>
                        </a:lnSpc>
                        <a:spcBef>
                          <a:spcPts val="3"/>
                        </a:spcBef>
                        <a:tabLst/>
                      </a:pPr>
                      <a:r>
                        <a:rPr sz="1200" kern="0" spc="-20" dirty="0">
                          <a:solidFill>
                            <a:srgbClr val="000000">
                              <a:alpha val="100000"/>
                            </a:srgbClr>
                          </a:solidFill>
                          <a:latin typeface="KaiTi"/>
                          <a:ea typeface="KaiTi"/>
                          <a:cs typeface="KaiTi"/>
                        </a:rPr>
                        <a:t>NOA</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9796"/>
                        </a:lnSpc>
                        <a:tabLst/>
                      </a:pPr>
                      <a:endParaRPr sz="100" dirty="0">
                        <a:latin typeface="Arial"/>
                        <a:ea typeface="Arial"/>
                        <a:cs typeface="Arial"/>
                      </a:endParaRPr>
                    </a:p>
                    <a:p>
                      <a:pPr algn="r" rtl="0" eaLnBrk="0">
                        <a:lnSpc>
                          <a:spcPct val="85000"/>
                        </a:lnSpc>
                        <a:tabLst/>
                      </a:pPr>
                      <a:r>
                        <a:rPr sz="1200" kern="0" spc="-70" dirty="0">
                          <a:solidFill>
                            <a:srgbClr val="000000">
                              <a:alpha val="100000"/>
                            </a:srgbClr>
                          </a:solidFill>
                          <a:latin typeface="KaiTi"/>
                          <a:ea typeface="KaiTi"/>
                          <a:cs typeface="KaiTi"/>
                        </a:rPr>
                        <a:t>1</a:t>
                      </a:r>
                      <a:r>
                        <a:rPr sz="1200" kern="0" spc="-70" dirty="0">
                          <a:solidFill>
                            <a:srgbClr val="000000">
                              <a:alpha val="100000"/>
                            </a:srgbClr>
                          </a:solidFill>
                          <a:latin typeface="KaiTi"/>
                          <a:ea typeface="KaiTi"/>
                          <a:cs typeface="KaiTi"/>
                        </a:rPr>
                        <a:t> </a:t>
                      </a:r>
                      <a:r>
                        <a:rPr sz="1200" kern="0" spc="-70" dirty="0">
                          <a:solidFill>
                            <a:srgbClr val="000000">
                              <a:alpha val="100000"/>
                            </a:srgbClr>
                          </a:solidFill>
                          <a:latin typeface="KaiTi"/>
                          <a:ea typeface="KaiTi"/>
                          <a:cs typeface="KaiTi"/>
                        </a:rPr>
                        <a:t>亿美元</a:t>
                      </a:r>
                      <a:r>
                        <a:rPr sz="1200" kern="0" spc="110" dirty="0">
                          <a:solidFill>
                            <a:srgbClr val="000000">
                              <a:alpha val="100000"/>
                            </a:srgbClr>
                          </a:solidFill>
                          <a:latin typeface="KaiTi"/>
                          <a:ea typeface="KaiTi"/>
                          <a:cs typeface="KaiTi"/>
                        </a:rPr>
                        <a:t> </a:t>
                      </a:r>
                      <a:r>
                        <a:rPr sz="1200" kern="0" spc="-70" dirty="0">
                          <a:solidFill>
                            <a:srgbClr val="000000">
                              <a:alpha val="100000"/>
                            </a:srgbClr>
                          </a:solidFill>
                          <a:latin typeface="KaiTi"/>
                          <a:ea typeface="KaiTi"/>
                          <a:cs typeface="KaiTi"/>
                        </a:rPr>
                        <a:t>D</a:t>
                      </a:r>
                      <a:r>
                        <a:rPr sz="1200" kern="0" spc="20" dirty="0">
                          <a:solidFill>
                            <a:srgbClr val="000000">
                              <a:alpha val="100000"/>
                            </a:srgbClr>
                          </a:solidFill>
                          <a:latin typeface="KaiTi"/>
                          <a:ea typeface="KaiTi"/>
                          <a:cs typeface="KaiTi"/>
                        </a:rPr>
                        <a:t> </a:t>
                      </a:r>
                      <a:r>
                        <a:rPr sz="1200" kern="0" spc="-70" dirty="0">
                          <a:solidFill>
                            <a:srgbClr val="000000">
                              <a:alpha val="100000"/>
                            </a:srgbClr>
                          </a:solidFill>
                          <a:latin typeface="KaiTi"/>
                          <a:ea typeface="KaiTi"/>
                          <a:cs typeface="KaiTi"/>
                        </a:rPr>
                        <a:t>轮（2026.3）</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7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marL="59689" algn="l" rtl="0" eaLnBrk="0">
                        <a:lnSpc>
                          <a:spcPct val="84000"/>
                        </a:lnSpc>
                        <a:spcBef>
                          <a:spcPts val="5"/>
                        </a:spcBef>
                        <a:tabLst/>
                      </a:pPr>
                      <a:r>
                        <a:rPr sz="1200" kern="0" spc="-10" dirty="0">
                          <a:solidFill>
                            <a:srgbClr val="000000">
                              <a:alpha val="100000"/>
                            </a:srgbClr>
                          </a:solidFill>
                          <a:latin typeface="KaiTi"/>
                          <a:ea typeface="KaiTi"/>
                          <a:cs typeface="KaiTi"/>
                        </a:rPr>
                        <a:t>头部主机厂、光大金控、梁</a:t>
                      </a:r>
                      <a:r>
                        <a:rPr sz="1200" kern="0" spc="-20" dirty="0">
                          <a:solidFill>
                            <a:srgbClr val="000000">
                              <a:alpha val="100000"/>
                            </a:srgbClr>
                          </a:solidFill>
                          <a:latin typeface="KaiTi"/>
                          <a:ea typeface="KaiTi"/>
                          <a:cs typeface="KaiTi"/>
                        </a:rPr>
                        <a:t>溪</a:t>
                      </a:r>
                      <a:endParaRPr sz="1200" dirty="0">
                        <a:latin typeface="KaiTi"/>
                        <a:ea typeface="KaiTi"/>
                        <a:cs typeface="KaiTi"/>
                      </a:endParaRPr>
                    </a:p>
                    <a:p>
                      <a:pPr marL="45719" algn="l" rtl="0" eaLnBrk="0">
                        <a:lnSpc>
                          <a:spcPct val="86000"/>
                        </a:lnSpc>
                        <a:spcBef>
                          <a:spcPts val="230"/>
                        </a:spcBef>
                        <a:tabLst/>
                      </a:pPr>
                      <a:r>
                        <a:rPr sz="1200" kern="0" spc="0" dirty="0">
                          <a:solidFill>
                            <a:srgbClr val="000000">
                              <a:alpha val="100000"/>
                            </a:srgbClr>
                          </a:solidFill>
                          <a:latin typeface="KaiTi"/>
                          <a:ea typeface="KaiTi"/>
                          <a:cs typeface="KaiTi"/>
                        </a:rPr>
                        <a:t>科创母基金、华德科</a:t>
                      </a:r>
                      <a:r>
                        <a:rPr sz="1200" kern="0" spc="-10" dirty="0">
                          <a:solidFill>
                            <a:srgbClr val="000000">
                              <a:alpha val="100000"/>
                            </a:srgbClr>
                          </a:solidFill>
                          <a:latin typeface="KaiTi"/>
                          <a:ea typeface="KaiTi"/>
                          <a:cs typeface="KaiTi"/>
                        </a:rPr>
                        <a:t>创、某头</a:t>
                      </a:r>
                      <a:endParaRPr sz="1200" dirty="0">
                        <a:latin typeface="KaiTi"/>
                        <a:ea typeface="KaiTi"/>
                        <a:cs typeface="KaiTi"/>
                      </a:endParaRPr>
                    </a:p>
                    <a:p>
                      <a:pPr marL="277495" algn="l" rtl="0" eaLnBrk="0">
                        <a:lnSpc>
                          <a:spcPct val="85000"/>
                        </a:lnSpc>
                        <a:spcBef>
                          <a:spcPts val="197"/>
                        </a:spcBef>
                        <a:tabLst/>
                      </a:pPr>
                      <a:r>
                        <a:rPr sz="1200" kern="0" spc="-10" dirty="0">
                          <a:solidFill>
                            <a:srgbClr val="000000">
                              <a:alpha val="100000"/>
                            </a:srgbClr>
                          </a:solidFill>
                          <a:latin typeface="KaiTi"/>
                          <a:ea typeface="KaiTi"/>
                          <a:cs typeface="KaiTi"/>
                        </a:rPr>
                        <a:t>部汽车电子零部件公司</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46000"/>
                        </a:lnSpc>
                        <a:tabLst/>
                      </a:pPr>
                      <a:endParaRPr sz="1000" dirty="0">
                        <a:latin typeface="Arial"/>
                        <a:ea typeface="Arial"/>
                        <a:cs typeface="Arial"/>
                      </a:endParaRPr>
                    </a:p>
                    <a:p>
                      <a:pPr algn="l" rtl="0" eaLnBrk="0">
                        <a:lnSpc>
                          <a:spcPct val="146000"/>
                        </a:lnSpc>
                        <a:tabLst/>
                      </a:pPr>
                      <a:endParaRPr sz="1000" dirty="0">
                        <a:latin typeface="Arial"/>
                        <a:ea typeface="Arial"/>
                        <a:cs typeface="Arial"/>
                      </a:endParaRPr>
                    </a:p>
                    <a:p>
                      <a:pPr marL="70485" algn="l" rtl="0" eaLnBrk="0">
                        <a:lnSpc>
                          <a:spcPct val="86000"/>
                        </a:lnSpc>
                        <a:spcBef>
                          <a:spcPts val="7"/>
                        </a:spcBef>
                        <a:tabLst/>
                      </a:pPr>
                      <a:r>
                        <a:rPr sz="1200" kern="0" spc="-10" dirty="0">
                          <a:solidFill>
                            <a:srgbClr val="000000">
                              <a:alpha val="100000"/>
                            </a:srgbClr>
                          </a:solidFill>
                          <a:latin typeface="KaiTi"/>
                          <a:ea typeface="KaiTi"/>
                          <a:cs typeface="KaiTi"/>
                        </a:rPr>
                        <a:t>算力效率领先，在低算力平台</a:t>
                      </a:r>
                      <a:endParaRPr sz="1200" dirty="0">
                        <a:latin typeface="KaiTi"/>
                        <a:ea typeface="KaiTi"/>
                        <a:cs typeface="KaiTi"/>
                      </a:endParaRPr>
                    </a:p>
                    <a:p>
                      <a:pPr marL="76200" algn="l" rtl="0" eaLnBrk="0">
                        <a:lnSpc>
                          <a:spcPct val="86000"/>
                        </a:lnSpc>
                        <a:spcBef>
                          <a:spcPts val="202"/>
                        </a:spcBef>
                        <a:tabLst/>
                      </a:pPr>
                      <a:r>
                        <a:rPr sz="1200" kern="0" spc="-10" dirty="0">
                          <a:solidFill>
                            <a:srgbClr val="000000">
                              <a:alpha val="100000"/>
                            </a:srgbClr>
                          </a:solidFill>
                          <a:latin typeface="KaiTi"/>
                          <a:ea typeface="KaiTi"/>
                          <a:cs typeface="KaiTi"/>
                        </a:rPr>
                        <a:t>实现与高算力平台相当的</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NOA</a:t>
                      </a:r>
                      <a:endParaRPr sz="1200" dirty="0">
                        <a:latin typeface="KaiTi"/>
                        <a:ea typeface="KaiTi"/>
                        <a:cs typeface="KaiTi"/>
                      </a:endParaRPr>
                    </a:p>
                    <a:p>
                      <a:pPr marL="66675" algn="l" rtl="0" eaLnBrk="0">
                        <a:lnSpc>
                          <a:spcPct val="86000"/>
                        </a:lnSpc>
                        <a:spcBef>
                          <a:spcPts val="211"/>
                        </a:spcBef>
                        <a:tabLst/>
                      </a:pPr>
                      <a:r>
                        <a:rPr sz="1200" kern="0" spc="0" dirty="0">
                          <a:solidFill>
                            <a:srgbClr val="000000">
                              <a:alpha val="100000"/>
                            </a:srgbClr>
                          </a:solidFill>
                          <a:latin typeface="KaiTi"/>
                          <a:ea typeface="KaiTi"/>
                          <a:cs typeface="KaiTi"/>
                        </a:rPr>
                        <a:t>体验，已与多家头部车</a:t>
                      </a:r>
                      <a:r>
                        <a:rPr sz="1200" kern="0" spc="-10" dirty="0">
                          <a:solidFill>
                            <a:srgbClr val="000000">
                              <a:alpha val="100000"/>
                            </a:srgbClr>
                          </a:solidFill>
                          <a:latin typeface="KaiTi"/>
                          <a:ea typeface="KaiTi"/>
                          <a:cs typeface="KaiTi"/>
                        </a:rPr>
                        <a:t>企达成</a:t>
                      </a:r>
                      <a:endParaRPr sz="1200" dirty="0">
                        <a:latin typeface="KaiTi"/>
                        <a:ea typeface="KaiTi"/>
                        <a:cs typeface="KaiTi"/>
                      </a:endParaRPr>
                    </a:p>
                    <a:p>
                      <a:pPr marL="905510" algn="l" rtl="0" eaLnBrk="0">
                        <a:lnSpc>
                          <a:spcPct val="85000"/>
                        </a:lnSpc>
                        <a:spcBef>
                          <a:spcPts val="200"/>
                        </a:spcBef>
                        <a:tabLst/>
                      </a:pPr>
                      <a:r>
                        <a:rPr sz="1200" kern="0" spc="-20" dirty="0">
                          <a:solidFill>
                            <a:srgbClr val="000000">
                              <a:alpha val="100000"/>
                            </a:srgbClr>
                          </a:solidFill>
                          <a:latin typeface="KaiTi"/>
                          <a:ea typeface="KaiTi"/>
                          <a:cs typeface="KaiTi"/>
                        </a:rPr>
                        <a:t>合作</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16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13970" algn="l" rtl="0" eaLnBrk="0">
                        <a:lnSpc>
                          <a:spcPct val="89000"/>
                        </a:lnSpc>
                        <a:spcBef>
                          <a:spcPts val="2"/>
                        </a:spcBef>
                        <a:tabLst/>
                      </a:pPr>
                      <a:r>
                        <a:rPr sz="1200" kern="0" spc="-30" dirty="0">
                          <a:solidFill>
                            <a:srgbClr val="000000">
                              <a:alpha val="100000"/>
                            </a:srgbClr>
                          </a:solidFill>
                          <a:latin typeface="Arial"/>
                          <a:ea typeface="Arial"/>
                          <a:cs typeface="Arial"/>
                        </a:rPr>
                        <a:t>•</a:t>
                      </a:r>
                      <a:r>
                        <a:rPr sz="1200" kern="0" spc="180" dirty="0">
                          <a:solidFill>
                            <a:srgbClr val="000000">
                              <a:alpha val="100000"/>
                            </a:srgbClr>
                          </a:solidFill>
                          <a:latin typeface="Arial"/>
                          <a:ea typeface="Arial"/>
                          <a:cs typeface="Arial"/>
                        </a:rPr>
                        <a:t>  </a:t>
                      </a:r>
                      <a:r>
                        <a:rPr sz="1200" kern="0" spc="-30" dirty="0">
                          <a:solidFill>
                            <a:srgbClr val="000000">
                              <a:alpha val="100000"/>
                            </a:srgbClr>
                          </a:solidFill>
                          <a:latin typeface="KaiTi"/>
                          <a:ea typeface="KaiTi"/>
                          <a:cs typeface="KaiTi"/>
                        </a:rPr>
                        <a:t>技术授权费</a:t>
                      </a:r>
                      <a:endParaRPr sz="1200" dirty="0">
                        <a:latin typeface="KaiTi"/>
                        <a:ea typeface="KaiTi"/>
                        <a:cs typeface="KaiTi"/>
                      </a:endParaRPr>
                    </a:p>
                    <a:p>
                      <a:pPr marL="184150" indent="-170179" algn="l" rtl="0" eaLnBrk="0">
                        <a:lnSpc>
                          <a:spcPct val="92000"/>
                        </a:lnSpc>
                        <a:spcBef>
                          <a:spcPts val="148"/>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交付收入：L4</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无人物流车</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a:t>
                      </a:r>
                      <a:r>
                        <a:rPr sz="1200" kern="0" spc="3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Robotaxi</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运营</a:t>
                      </a:r>
                      <a:endParaRPr sz="1200" dirty="0">
                        <a:latin typeface="KaiTi"/>
                        <a:ea typeface="KaiTi"/>
                        <a:cs typeface="KaiTi"/>
                      </a:endParaRPr>
                    </a:p>
                    <a:p>
                      <a:pPr marL="191770" indent="-177800" algn="l" rtl="0" eaLnBrk="0">
                        <a:lnSpc>
                          <a:spcPct val="92000"/>
                        </a:lnSpc>
                        <a:spcBef>
                          <a:spcPts val="231"/>
                        </a:spcBef>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数据服务收入：场景数据标</a:t>
                      </a:r>
                      <a:r>
                        <a:rPr sz="1200" kern="0" spc="-20" dirty="0">
                          <a:solidFill>
                            <a:srgbClr val="000000">
                              <a:alpha val="100000"/>
                            </a:srgbClr>
                          </a:solidFill>
                          <a:latin typeface="KaiTi"/>
                          <a:ea typeface="KaiTi"/>
                          <a:cs typeface="KaiTi"/>
                        </a:rPr>
                        <a:t>注</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模型优化</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1260475">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353695" algn="l" rtl="0" eaLnBrk="0">
                        <a:lnSpc>
                          <a:spcPct val="86000"/>
                        </a:lnSpc>
                        <a:spcBef>
                          <a:spcPts val="6"/>
                        </a:spcBef>
                        <a:tabLst/>
                      </a:pPr>
                      <a:r>
                        <a:rPr sz="1200" kern="0" spc="-30" dirty="0">
                          <a:solidFill>
                            <a:srgbClr val="000000">
                              <a:alpha val="100000"/>
                            </a:srgbClr>
                          </a:solidFill>
                          <a:latin typeface="KaiTi"/>
                          <a:ea typeface="KaiTi"/>
                          <a:cs typeface="KaiTi"/>
                        </a:rPr>
                        <a:t>商汤科技</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9160"/>
                        </a:lnSpc>
                        <a:tabLst/>
                      </a:pPr>
                      <a:endParaRPr sz="100" dirty="0">
                        <a:latin typeface="Arial"/>
                        <a:ea typeface="Arial"/>
                        <a:cs typeface="Arial"/>
                      </a:endParaRPr>
                    </a:p>
                    <a:p>
                      <a:pPr marL="434340" algn="l" rtl="0" eaLnBrk="0">
                        <a:lnSpc>
                          <a:spcPct val="86000"/>
                        </a:lnSpc>
                        <a:tabLst/>
                      </a:pPr>
                      <a:r>
                        <a:rPr sz="1200" kern="0" spc="-20" dirty="0">
                          <a:solidFill>
                            <a:srgbClr val="000000">
                              <a:alpha val="100000"/>
                            </a:srgbClr>
                          </a:solidFill>
                          <a:latin typeface="KaiTi"/>
                          <a:ea typeface="KaiTi"/>
                          <a:cs typeface="KaiTi"/>
                        </a:rPr>
                        <a:t>智能驾驶</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3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655319" algn="l" rtl="0" eaLnBrk="0">
                        <a:lnSpc>
                          <a:spcPct val="85000"/>
                        </a:lnSpc>
                        <a:spcBef>
                          <a:spcPts val="7"/>
                        </a:spcBef>
                        <a:tabLst/>
                      </a:pPr>
                      <a:r>
                        <a:rPr sz="1200" kern="0" spc="-80" dirty="0">
                          <a:solidFill>
                            <a:srgbClr val="000000">
                              <a:alpha val="100000"/>
                            </a:srgbClr>
                          </a:solidFill>
                          <a:latin typeface="KaiTi"/>
                          <a:ea typeface="KaiTi"/>
                          <a:cs typeface="KaiTi"/>
                        </a:rPr>
                        <a:t>已上市</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algn="l" rtl="0" eaLnBrk="0">
                        <a:lnSpc>
                          <a:spcPct val="124000"/>
                        </a:lnSpc>
                        <a:tabLst/>
                      </a:pPr>
                      <a:endParaRPr sz="1000" dirty="0">
                        <a:latin typeface="Arial"/>
                        <a:ea typeface="Arial"/>
                        <a:cs typeface="Arial"/>
                      </a:endParaRPr>
                    </a:p>
                    <a:p>
                      <a:pPr marL="507365" algn="l" rtl="0" eaLnBrk="0">
                        <a:lnSpc>
                          <a:spcPct val="83000"/>
                        </a:lnSpc>
                        <a:spcBef>
                          <a:spcPts val="1"/>
                        </a:spcBef>
                        <a:tabLst/>
                      </a:pPr>
                      <a:r>
                        <a:rPr sz="1200" kern="0" spc="-10" dirty="0">
                          <a:solidFill>
                            <a:srgbClr val="000000">
                              <a:alpha val="100000"/>
                            </a:srgbClr>
                          </a:solidFill>
                          <a:latin typeface="KaiTi"/>
                          <a:ea typeface="KaiTi"/>
                          <a:cs typeface="KaiTi"/>
                        </a:rPr>
                        <a:t>软银、阿里巴巴</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25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algn="l" rtl="0" eaLnBrk="0">
                        <a:lnSpc>
                          <a:spcPct val="9045"/>
                        </a:lnSpc>
                        <a:tabLst/>
                      </a:pPr>
                      <a:endParaRPr sz="100" dirty="0">
                        <a:latin typeface="Arial"/>
                        <a:ea typeface="Arial"/>
                        <a:cs typeface="Arial"/>
                      </a:endParaRPr>
                    </a:p>
                    <a:p>
                      <a:pPr marL="76835" algn="l" rtl="0" eaLnBrk="0">
                        <a:lnSpc>
                          <a:spcPct val="86000"/>
                        </a:lnSpc>
                        <a:tabLst/>
                      </a:pPr>
                      <a:r>
                        <a:rPr sz="1200" kern="0" spc="-10" dirty="0">
                          <a:solidFill>
                            <a:srgbClr val="000000">
                              <a:alpha val="100000"/>
                            </a:srgbClr>
                          </a:solidFill>
                          <a:latin typeface="KaiTi"/>
                          <a:ea typeface="KaiTi"/>
                          <a:cs typeface="KaiTi"/>
                        </a:rPr>
                        <a:t>多模态数据融合能力强，在视</a:t>
                      </a:r>
                      <a:endParaRPr sz="1200" dirty="0">
                        <a:latin typeface="KaiTi"/>
                        <a:ea typeface="KaiTi"/>
                        <a:cs typeface="KaiTi"/>
                      </a:endParaRPr>
                    </a:p>
                    <a:p>
                      <a:pPr marL="38734" algn="l" rtl="0" eaLnBrk="0">
                        <a:lnSpc>
                          <a:spcPct val="86000"/>
                        </a:lnSpc>
                        <a:spcBef>
                          <a:spcPts val="202"/>
                        </a:spcBef>
                        <a:tabLst/>
                      </a:pPr>
                      <a:r>
                        <a:rPr sz="1200" kern="0" spc="-20" dirty="0">
                          <a:solidFill>
                            <a:srgbClr val="000000">
                              <a:alpha val="100000"/>
                            </a:srgbClr>
                          </a:solidFill>
                          <a:latin typeface="KaiTi"/>
                          <a:ea typeface="KaiTi"/>
                          <a:cs typeface="KaiTi"/>
                        </a:rPr>
                        <a:t>觉</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a:t>
                      </a:r>
                      <a:r>
                        <a:rPr sz="1200" kern="0" spc="17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空间世界模型领域技术领</a:t>
                      </a:r>
                      <a:endParaRPr sz="1200" dirty="0">
                        <a:latin typeface="KaiTi"/>
                        <a:ea typeface="KaiTi"/>
                        <a:cs typeface="KaiTi"/>
                      </a:endParaRPr>
                    </a:p>
                    <a:p>
                      <a:pPr marL="224790" algn="l" rtl="0" eaLnBrk="0">
                        <a:lnSpc>
                          <a:spcPct val="86000"/>
                        </a:lnSpc>
                        <a:spcBef>
                          <a:spcPts val="202"/>
                        </a:spcBef>
                        <a:tabLst/>
                      </a:pPr>
                      <a:r>
                        <a:rPr sz="1200" kern="0" spc="-10" dirty="0">
                          <a:solidFill>
                            <a:srgbClr val="000000">
                              <a:alpha val="100000"/>
                            </a:srgbClr>
                          </a:solidFill>
                          <a:latin typeface="KaiTi"/>
                          <a:ea typeface="KaiTi"/>
                          <a:cs typeface="KaiTi"/>
                        </a:rPr>
                        <a:t>先，已落地多款量产车型</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90000"/>
                        </a:lnSpc>
                        <a:tabLst/>
                      </a:pPr>
                      <a:endParaRPr sz="1000" dirty="0">
                        <a:latin typeface="Arial"/>
                        <a:ea typeface="Arial"/>
                        <a:cs typeface="Arial"/>
                      </a:endParaRPr>
                    </a:p>
                    <a:p>
                      <a:pPr algn="l" rtl="0" eaLnBrk="0">
                        <a:lnSpc>
                          <a:spcPct val="8388"/>
                        </a:lnSpc>
                        <a:tabLst/>
                      </a:pPr>
                      <a:endParaRPr sz="100" dirty="0">
                        <a:latin typeface="Arial"/>
                        <a:ea typeface="Arial"/>
                        <a:cs typeface="Arial"/>
                      </a:endParaRPr>
                    </a:p>
                    <a:p>
                      <a:pPr marL="179704" indent="-165735" algn="l" rtl="0" eaLnBrk="0">
                        <a:lnSpc>
                          <a:spcPct val="92000"/>
                        </a:lnSpc>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智能驾驶解决方案：完</a:t>
                      </a:r>
                      <a:r>
                        <a:rPr sz="1200" kern="0" spc="-20" dirty="0">
                          <a:solidFill>
                            <a:srgbClr val="000000">
                              <a:alpha val="100000"/>
                            </a:srgbClr>
                          </a:solidFill>
                          <a:latin typeface="KaiTi"/>
                          <a:ea typeface="KaiTi"/>
                          <a:cs typeface="KaiTi"/>
                        </a:rPr>
                        <a:t>整</a:t>
                      </a:r>
                      <a:r>
                        <a:rPr sz="1200" kern="0" spc="-10" dirty="0">
                          <a:solidFill>
                            <a:srgbClr val="000000">
                              <a:alpha val="100000"/>
                            </a:srgbClr>
                          </a:solidFill>
                          <a:latin typeface="KaiTi"/>
                          <a:ea typeface="KaiTi"/>
                          <a:cs typeface="KaiTi"/>
                        </a:rPr>
                        <a:t>   </a:t>
                      </a:r>
                      <a:r>
                        <a:rPr sz="1200" kern="0" spc="-30" dirty="0">
                          <a:solidFill>
                            <a:srgbClr val="000000">
                              <a:alpha val="100000"/>
                            </a:srgbClr>
                          </a:solidFill>
                          <a:latin typeface="KaiTi"/>
                          <a:ea typeface="KaiTi"/>
                          <a:cs typeface="KaiTi"/>
                        </a:rPr>
                        <a:t>ADAS</a:t>
                      </a:r>
                      <a:r>
                        <a:rPr sz="1200" kern="0" spc="250" dirty="0">
                          <a:solidFill>
                            <a:srgbClr val="000000">
                              <a:alpha val="100000"/>
                            </a:srgbClr>
                          </a:solidFill>
                          <a:latin typeface="KaiTi"/>
                          <a:ea typeface="KaiTi"/>
                          <a:cs typeface="KaiTi"/>
                        </a:rPr>
                        <a:t> </a:t>
                      </a:r>
                      <a:r>
                        <a:rPr sz="1200" kern="0" spc="-30" dirty="0">
                          <a:solidFill>
                            <a:srgbClr val="000000">
                              <a:alpha val="100000"/>
                            </a:srgbClr>
                          </a:solidFill>
                          <a:latin typeface="KaiTi"/>
                          <a:ea typeface="KaiTi"/>
                          <a:cs typeface="KaiTi"/>
                        </a:rPr>
                        <a:t>系统</a:t>
                      </a:r>
                      <a:endParaRPr sz="1200" dirty="0">
                        <a:latin typeface="KaiTi"/>
                        <a:ea typeface="KaiTi"/>
                        <a:cs typeface="KaiTi"/>
                      </a:endParaRPr>
                    </a:p>
                    <a:p>
                      <a:pPr marL="13970" algn="l" rtl="0" eaLnBrk="0">
                        <a:lnSpc>
                          <a:spcPct val="89000"/>
                        </a:lnSpc>
                        <a:spcBef>
                          <a:spcPts val="241"/>
                        </a:spcBef>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技术授权：车企定</a:t>
                      </a:r>
                      <a:r>
                        <a:rPr sz="1200" kern="0" spc="-20" dirty="0">
                          <a:solidFill>
                            <a:srgbClr val="000000">
                              <a:alpha val="100000"/>
                            </a:srgbClr>
                          </a:solidFill>
                          <a:latin typeface="KaiTi"/>
                          <a:ea typeface="KaiTi"/>
                          <a:cs typeface="KaiTi"/>
                        </a:rPr>
                        <a:t>制化</a:t>
                      </a:r>
                      <a:endParaRPr sz="1200" dirty="0">
                        <a:latin typeface="KaiTi"/>
                        <a:ea typeface="KaiTi"/>
                        <a:cs typeface="KaiTi"/>
                      </a:endParaRPr>
                    </a:p>
                    <a:p>
                      <a:pPr marL="13970" algn="l" rtl="0" eaLnBrk="0">
                        <a:lnSpc>
                          <a:spcPct val="89000"/>
                        </a:lnSpc>
                        <a:spcBef>
                          <a:spcPts val="159"/>
                        </a:spcBef>
                        <a:tabLst/>
                      </a:pPr>
                      <a:r>
                        <a:rPr sz="1200" kern="0" spc="-20" dirty="0">
                          <a:solidFill>
                            <a:srgbClr val="000000">
                              <a:alpha val="100000"/>
                            </a:srgbClr>
                          </a:solidFill>
                          <a:latin typeface="Arial"/>
                          <a:ea typeface="Arial"/>
                          <a:cs typeface="Arial"/>
                        </a:rPr>
                        <a:t>•</a:t>
                      </a:r>
                      <a:r>
                        <a:rPr sz="1200" kern="0" spc="160" dirty="0">
                          <a:solidFill>
                            <a:srgbClr val="000000">
                              <a:alpha val="100000"/>
                            </a:srgbClr>
                          </a:solidFill>
                          <a:latin typeface="Arial"/>
                          <a:ea typeface="Arial"/>
                          <a:cs typeface="Arial"/>
                        </a:rPr>
                        <a:t>  </a:t>
                      </a:r>
                      <a:r>
                        <a:rPr sz="1200" kern="0" spc="-20" dirty="0">
                          <a:solidFill>
                            <a:srgbClr val="000000">
                              <a:alpha val="100000"/>
                            </a:srgbClr>
                          </a:solidFill>
                          <a:latin typeface="KaiTi"/>
                          <a:ea typeface="KaiTi"/>
                          <a:cs typeface="KaiTi"/>
                        </a:rPr>
                        <a:t>数据闭环服务</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30859">
                <a:tc>
                  <a:txBody>
                    <a:bodyPr/>
                    <a:lstStyle/>
                    <a:p>
                      <a:pPr algn="l" rtl="0" eaLnBrk="0">
                        <a:lnSpc>
                          <a:spcPct val="131000"/>
                        </a:lnSpc>
                        <a:tabLst/>
                      </a:pPr>
                      <a:endParaRPr sz="1000" dirty="0">
                        <a:latin typeface="Arial"/>
                        <a:ea typeface="Arial"/>
                        <a:cs typeface="Arial"/>
                      </a:endParaRPr>
                    </a:p>
                    <a:p>
                      <a:pPr algn="l" rtl="0" eaLnBrk="0">
                        <a:lnSpc>
                          <a:spcPct val="6158"/>
                        </a:lnSpc>
                        <a:tabLst/>
                      </a:pPr>
                      <a:endParaRPr sz="100" dirty="0">
                        <a:latin typeface="Arial"/>
                        <a:ea typeface="Arial"/>
                        <a:cs typeface="Arial"/>
                      </a:endParaRPr>
                    </a:p>
                    <a:p>
                      <a:pPr marL="508000" algn="l" rtl="0" eaLnBrk="0">
                        <a:lnSpc>
                          <a:spcPct val="84000"/>
                        </a:lnSpc>
                        <a:tabLst/>
                      </a:pPr>
                      <a:r>
                        <a:rPr sz="1200" kern="0" spc="-40" dirty="0">
                          <a:solidFill>
                            <a:srgbClr val="000000">
                              <a:alpha val="100000"/>
                            </a:srgbClr>
                          </a:solidFill>
                          <a:latin typeface="KaiTi"/>
                          <a:ea typeface="KaiTi"/>
                          <a:cs typeface="KaiTi"/>
                        </a:rPr>
                        <a:t>百度</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1000"/>
                        </a:lnSpc>
                        <a:tabLst/>
                      </a:pPr>
                      <a:endParaRPr sz="1000" dirty="0">
                        <a:latin typeface="Arial"/>
                        <a:ea typeface="Arial"/>
                        <a:cs typeface="Arial"/>
                      </a:endParaRPr>
                    </a:p>
                    <a:p>
                      <a:pPr marL="83185" algn="l" rtl="0" eaLnBrk="0">
                        <a:lnSpc>
                          <a:spcPct val="86000"/>
                        </a:lnSpc>
                        <a:spcBef>
                          <a:spcPts val="7"/>
                        </a:spcBef>
                        <a:tabLst/>
                      </a:pPr>
                      <a:r>
                        <a:rPr sz="1200" kern="0" spc="-30" dirty="0">
                          <a:solidFill>
                            <a:srgbClr val="000000">
                              <a:alpha val="100000"/>
                            </a:srgbClr>
                          </a:solidFill>
                          <a:latin typeface="KaiTi"/>
                          <a:ea typeface="KaiTi"/>
                          <a:cs typeface="KaiTi"/>
                        </a:rPr>
                        <a:t>自动驾驶（Apollo）</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0000"/>
                        </a:lnSpc>
                        <a:tabLst/>
                      </a:pPr>
                      <a:endParaRPr sz="1000" dirty="0">
                        <a:latin typeface="Arial"/>
                        <a:ea typeface="Arial"/>
                        <a:cs typeface="Arial"/>
                      </a:endParaRPr>
                    </a:p>
                    <a:p>
                      <a:pPr algn="l" rtl="0" eaLnBrk="0">
                        <a:lnSpc>
                          <a:spcPct val="7785"/>
                        </a:lnSpc>
                        <a:tabLst/>
                      </a:pPr>
                      <a:endParaRPr sz="100" dirty="0">
                        <a:latin typeface="Arial"/>
                        <a:ea typeface="Arial"/>
                        <a:cs typeface="Arial"/>
                      </a:endParaRPr>
                    </a:p>
                    <a:p>
                      <a:pPr marL="567690" algn="l" rtl="0" eaLnBrk="0">
                        <a:lnSpc>
                          <a:spcPct val="86000"/>
                        </a:lnSpc>
                        <a:tabLst/>
                      </a:pPr>
                      <a:r>
                        <a:rPr sz="1200" kern="0" spc="-30" dirty="0">
                          <a:solidFill>
                            <a:srgbClr val="000000">
                              <a:alpha val="100000"/>
                            </a:srgbClr>
                          </a:solidFill>
                          <a:latin typeface="KaiTi"/>
                          <a:ea typeface="KaiTi"/>
                          <a:cs typeface="KaiTi"/>
                        </a:rPr>
                        <a:t>战略投资</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0000"/>
                        </a:lnSpc>
                        <a:tabLst/>
                      </a:pPr>
                      <a:endParaRPr sz="1000" dirty="0">
                        <a:latin typeface="Arial"/>
                        <a:ea typeface="Arial"/>
                        <a:cs typeface="Arial"/>
                      </a:endParaRPr>
                    </a:p>
                    <a:p>
                      <a:pPr algn="l" rtl="0" eaLnBrk="0">
                        <a:lnSpc>
                          <a:spcPct val="8065"/>
                        </a:lnSpc>
                        <a:tabLst/>
                      </a:pPr>
                      <a:endParaRPr sz="100" dirty="0">
                        <a:latin typeface="Arial"/>
                        <a:ea typeface="Arial"/>
                        <a:cs typeface="Arial"/>
                      </a:endParaRPr>
                    </a:p>
                    <a:p>
                      <a:pPr marL="742950" algn="l" rtl="0" eaLnBrk="0">
                        <a:lnSpc>
                          <a:spcPct val="85000"/>
                        </a:lnSpc>
                        <a:tabLst/>
                      </a:pPr>
                      <a:r>
                        <a:rPr sz="1200" kern="0" spc="-30" dirty="0">
                          <a:solidFill>
                            <a:srgbClr val="000000">
                              <a:alpha val="100000"/>
                            </a:srgbClr>
                          </a:solidFill>
                          <a:latin typeface="KaiTi"/>
                          <a:ea typeface="KaiTi"/>
                          <a:cs typeface="KaiTi"/>
                        </a:rPr>
                        <a:t>百度集团</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30000"/>
                        </a:lnSpc>
                        <a:tabLst/>
                      </a:pPr>
                      <a:endParaRPr sz="1000" dirty="0">
                        <a:latin typeface="Arial"/>
                        <a:ea typeface="Arial"/>
                        <a:cs typeface="Arial"/>
                      </a:endParaRPr>
                    </a:p>
                    <a:p>
                      <a:pPr algn="l" rtl="0" eaLnBrk="0">
                        <a:lnSpc>
                          <a:spcPct val="7785"/>
                        </a:lnSpc>
                        <a:tabLst/>
                      </a:pPr>
                      <a:endParaRPr sz="100" dirty="0">
                        <a:latin typeface="Arial"/>
                        <a:ea typeface="Arial"/>
                        <a:cs typeface="Arial"/>
                      </a:endParaRPr>
                    </a:p>
                    <a:p>
                      <a:pPr marL="425450" algn="l" rtl="0" eaLnBrk="0">
                        <a:lnSpc>
                          <a:spcPct val="86000"/>
                        </a:lnSpc>
                        <a:tabLst/>
                      </a:pPr>
                      <a:r>
                        <a:rPr sz="1200" kern="0" spc="-20" dirty="0">
                          <a:solidFill>
                            <a:srgbClr val="000000">
                              <a:alpha val="100000"/>
                            </a:srgbClr>
                          </a:solidFill>
                          <a:latin typeface="KaiTi"/>
                          <a:ea typeface="KaiTi"/>
                          <a:cs typeface="KaiTi"/>
                        </a:rPr>
                        <a:t>大厂资源+先发布局</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l" rtl="0" eaLnBrk="0">
                        <a:lnSpc>
                          <a:spcPct val="177000"/>
                        </a:lnSpc>
                        <a:tabLst/>
                      </a:pPr>
                      <a:endParaRPr sz="1000" dirty="0">
                        <a:latin typeface="Arial"/>
                        <a:ea typeface="Arial"/>
                        <a:cs typeface="Arial"/>
                      </a:endParaRPr>
                    </a:p>
                    <a:p>
                      <a:pPr algn="l" rtl="0" eaLnBrk="0">
                        <a:lnSpc>
                          <a:spcPct val="6833"/>
                        </a:lnSpc>
                        <a:tabLst/>
                      </a:pPr>
                      <a:endParaRPr sz="100" dirty="0">
                        <a:latin typeface="Arial"/>
                        <a:ea typeface="Arial"/>
                        <a:cs typeface="Arial"/>
                      </a:endParaRPr>
                    </a:p>
                    <a:p>
                      <a:pPr marL="1010919" algn="l" rtl="0" eaLnBrk="0">
                        <a:lnSpc>
                          <a:spcPts val="539"/>
                        </a:lnSpc>
                        <a:tabLst/>
                      </a:pPr>
                      <a:r>
                        <a:rPr sz="1200" kern="0" spc="-10" dirty="0">
                          <a:solidFill>
                            <a:srgbClr val="000000">
                              <a:alpha val="100000"/>
                            </a:srgbClr>
                          </a:solidFill>
                          <a:latin typeface="KaiTi"/>
                          <a:ea typeface="KaiTi"/>
                          <a:cs typeface="KaiTi"/>
                        </a:rPr>
                        <a:t>-</a:t>
                      </a:r>
                      <a:endParaRPr sz="1200" dirty="0">
                        <a:latin typeface="KaiTi"/>
                        <a:ea typeface="KaiTi"/>
                        <a:cs typeface="KaiTi"/>
                      </a:endParaRPr>
                    </a:p>
                  </a:txBody>
                  <a:tcPr marL="0" marR="0" marT="0" marB="0" vert="horz">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84" name="textbox 584"/>
          <p:cNvSpPr/>
          <p:nvPr/>
        </p:nvSpPr>
        <p:spPr>
          <a:xfrm>
            <a:off x="554049" y="401828"/>
            <a:ext cx="11190605" cy="440055"/>
          </a:xfrm>
          <a:prstGeom prst="rect">
            <a:avLst/>
          </a:prstGeom>
          <a:noFill/>
          <a:ln w="0" cap="flat">
            <a:noFill/>
            <a:prstDash val="solid"/>
            <a:miter lim="0"/>
          </a:ln>
        </p:spPr>
        <p:txBody>
          <a:bodyPr vert="horz" wrap="square" lIns="0" tIns="0" rIns="0" bIns="0"/>
          <a:lstStyle/>
          <a:p>
            <a:pPr algn="l" rtl="0" eaLnBrk="0">
              <a:lnSpc>
                <a:spcPct val="120000"/>
              </a:lnSpc>
              <a:tabLst/>
            </a:pPr>
            <a:endParaRPr sz="400" dirty="0">
              <a:latin typeface="Arial"/>
              <a:ea typeface="Arial"/>
              <a:cs typeface="Arial"/>
            </a:endParaRPr>
          </a:p>
          <a:p>
            <a:pPr marL="12700" algn="l" rtl="0" eaLnBrk="0">
              <a:lnSpc>
                <a:spcPct val="86000"/>
              </a:lnSpc>
              <a:spcBef>
                <a:spcPts val="2"/>
              </a:spcBef>
              <a:tabLst/>
            </a:pPr>
            <a:r>
              <a:rPr sz="2700" b="1" kern="0" spc="60" dirty="0">
                <a:solidFill>
                  <a:srgbClr val="BF756D">
                    <a:alpha val="100000"/>
                  </a:srgbClr>
                </a:solidFill>
                <a:latin typeface="KaiTi"/>
                <a:ea typeface="KaiTi"/>
                <a:cs typeface="KaiTi"/>
              </a:rPr>
              <a:t>市场玩家格局</a:t>
            </a:r>
            <a:r>
              <a:rPr sz="2700" kern="0" spc="0" dirty="0">
                <a:solidFill>
                  <a:srgbClr val="BF756D">
                    <a:alpha val="100000"/>
                  </a:srgbClr>
                </a:solidFill>
                <a:latin typeface="KaiTi"/>
                <a:ea typeface="KaiTi"/>
                <a:cs typeface="KaiTi"/>
              </a:rPr>
              <a:t>                                            </a:t>
            </a:r>
            <a:endParaRPr sz="2700" dirty="0">
              <a:latin typeface="KaiTi"/>
              <a:ea typeface="KaiTi"/>
              <a:cs typeface="KaiTi"/>
            </a:endParaRPr>
          </a:p>
        </p:txBody>
      </p:sp>
      <p:pic>
        <p:nvPicPr>
          <p:cNvPr id="586" name="picture 586"/>
          <p:cNvPicPr>
            <a:picLocks noChangeAspect="1"/>
          </p:cNvPicPr>
          <p:nvPr/>
        </p:nvPicPr>
        <p:blipFill>
          <a:blip r:embed="rId2"/>
          <a:stretch>
            <a:fillRect/>
          </a:stretch>
        </p:blipFill>
        <p:spPr>
          <a:xfrm rot="21600000">
            <a:off x="10096588" y="414528"/>
            <a:ext cx="1616964" cy="365759"/>
          </a:xfrm>
          <a:prstGeom prst="rect">
            <a:avLst/>
          </a:prstGeom>
        </p:spPr>
      </p:pic>
      <p:sp>
        <p:nvSpPr>
          <p:cNvPr id="588" name="textbox 588"/>
          <p:cNvSpPr/>
          <p:nvPr/>
        </p:nvSpPr>
        <p:spPr>
          <a:xfrm>
            <a:off x="283718" y="1521205"/>
            <a:ext cx="601980" cy="3072129"/>
          </a:xfrm>
          <a:prstGeom prst="roundRect">
            <a:avLst>
              <a:gd name="adj" fmla="val 19334"/>
            </a:avLst>
          </a:prstGeom>
          <a:noFill/>
          <a:ln w="19050" cap="flat">
            <a:solidFill>
              <a:srgbClr val="BF756D"/>
            </a:solidFill>
            <a:prstDash val="solid"/>
            <a:miter lim="0"/>
          </a:ln>
        </p:spPr>
        <p:txBody>
          <a:bodyPr vert="horz" wrap="square" lIns="0" tIns="0" rIns="0" bIns="0"/>
          <a:lstStyle/>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9140"/>
              </a:lnSpc>
              <a:tabLst/>
            </a:pPr>
            <a:endParaRPr sz="100" dirty="0">
              <a:latin typeface="Arial"/>
              <a:ea typeface="Arial"/>
              <a:cs typeface="Arial"/>
            </a:endParaRPr>
          </a:p>
          <a:p>
            <a:pPr marL="186054" algn="l" rtl="0" eaLnBrk="0">
              <a:lnSpc>
                <a:spcPct val="89000"/>
              </a:lnSpc>
              <a:tabLst/>
            </a:pPr>
            <a:r>
              <a:rPr sz="1500" b="1" kern="0" spc="-20" dirty="0">
                <a:solidFill>
                  <a:srgbClr val="BF756D">
                    <a:alpha val="100000"/>
                  </a:srgbClr>
                </a:solidFill>
                <a:latin typeface="KaiTi"/>
                <a:ea typeface="KaiTi"/>
                <a:cs typeface="KaiTi"/>
              </a:rPr>
              <a:t>车</a:t>
            </a:r>
            <a:endParaRPr sz="1500" dirty="0">
              <a:latin typeface="KaiTi"/>
              <a:ea typeface="KaiTi"/>
              <a:cs typeface="KaiTi"/>
            </a:endParaRPr>
          </a:p>
          <a:p>
            <a:pPr marL="176529" algn="l" rtl="0" eaLnBrk="0">
              <a:lnSpc>
                <a:spcPct val="87000"/>
              </a:lnSpc>
              <a:spcBef>
                <a:spcPts val="6"/>
              </a:spcBef>
              <a:tabLst/>
            </a:pPr>
            <a:r>
              <a:rPr sz="1500" b="1" kern="0" spc="-10" dirty="0">
                <a:solidFill>
                  <a:srgbClr val="BF756D">
                    <a:alpha val="100000"/>
                  </a:srgbClr>
                </a:solidFill>
                <a:latin typeface="KaiTi"/>
                <a:ea typeface="KaiTi"/>
                <a:cs typeface="KaiTi"/>
              </a:rPr>
              <a:t>载</a:t>
            </a:r>
            <a:endParaRPr sz="1500" dirty="0">
              <a:latin typeface="KaiTi"/>
              <a:ea typeface="KaiTi"/>
              <a:cs typeface="KaiT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44"/>
          <p:cNvGrpSpPr/>
          <p:nvPr/>
        </p:nvGrpSpPr>
        <p:grpSpPr>
          <a:xfrm rot="21600000">
            <a:off x="656844" y="1839468"/>
            <a:ext cx="10737315" cy="4535876"/>
            <a:chOff x="0" y="0"/>
            <a:chExt cx="10737315" cy="4535876"/>
          </a:xfrm>
        </p:grpSpPr>
        <p:pic>
          <p:nvPicPr>
            <p:cNvPr id="590" name="picture 590"/>
            <p:cNvPicPr>
              <a:picLocks noChangeAspect="1"/>
            </p:cNvPicPr>
            <p:nvPr/>
          </p:nvPicPr>
          <p:blipFill>
            <a:blip r:embed="rId2"/>
            <a:stretch>
              <a:fillRect/>
            </a:stretch>
          </p:blipFill>
          <p:spPr>
            <a:xfrm rot="21600000">
              <a:off x="0" y="0"/>
              <a:ext cx="10485119" cy="4029455"/>
            </a:xfrm>
            <a:prstGeom prst="rect">
              <a:avLst/>
            </a:prstGeom>
          </p:spPr>
        </p:pic>
        <p:sp>
          <p:nvSpPr>
            <p:cNvPr id="592" name="textbox 592"/>
            <p:cNvSpPr/>
            <p:nvPr/>
          </p:nvSpPr>
          <p:spPr>
            <a:xfrm>
              <a:off x="519938" y="-1625"/>
              <a:ext cx="2329179" cy="4340859"/>
            </a:xfrm>
            <a:prstGeom prst="rect">
              <a:avLst/>
            </a:prstGeom>
            <a:noFill/>
            <a:ln w="0" cap="flat">
              <a:noFill/>
              <a:prstDash val="solid"/>
              <a:miter lim="0"/>
            </a:ln>
          </p:spPr>
          <p:txBody>
            <a:bodyPr vert="horz" wrap="square" lIns="0" tIns="0" rIns="0" bIns="0"/>
            <a:lstStyle/>
            <a:p>
              <a:pPr algn="l" rtl="0" eaLnBrk="0">
                <a:lnSpc>
                  <a:spcPct val="81682"/>
                </a:lnSpc>
                <a:tabLst/>
              </a:pPr>
              <a:endParaRPr sz="100" dirty="0">
                <a:latin typeface="Arial"/>
                <a:ea typeface="Arial"/>
                <a:cs typeface="Arial"/>
              </a:endParaRPr>
            </a:p>
            <a:p>
              <a:pPr marL="12700" algn="l" rtl="0" eaLnBrk="0">
                <a:lnSpc>
                  <a:spcPct val="88000"/>
                </a:lnSpc>
                <a:tabLst/>
              </a:pPr>
              <a:r>
                <a:rPr sz="1200" kern="0" spc="-20" dirty="0">
                  <a:solidFill>
                    <a:srgbClr val="7F7F7F">
                      <a:alpha val="100000"/>
                    </a:srgbClr>
                  </a:solidFill>
                  <a:latin typeface="KaiTi"/>
                  <a:ea typeface="KaiTi"/>
                  <a:cs typeface="KaiTi"/>
                </a:rPr>
                <a:t>单位：亿美元</a:t>
              </a:r>
              <a:endParaRPr sz="1200" dirty="0">
                <a:latin typeface="KaiTi"/>
                <a:ea typeface="KaiTi"/>
                <a:cs typeface="KaiTi"/>
              </a:endParaRPr>
            </a:p>
            <a:p>
              <a:pPr marL="12700" algn="l" rtl="0" eaLnBrk="0">
                <a:lnSpc>
                  <a:spcPct val="88000"/>
                </a:lnSpc>
                <a:spcBef>
                  <a:spcPts val="1378"/>
                </a:spcBef>
                <a:tabLst/>
              </a:pPr>
              <a:r>
                <a:rPr sz="1200" kern="0" spc="-20" dirty="0">
                  <a:solidFill>
                    <a:srgbClr val="7F7F7F">
                      <a:alpha val="100000"/>
                    </a:srgbClr>
                  </a:solidFill>
                  <a:latin typeface="KaiTi"/>
                  <a:ea typeface="KaiTi"/>
                  <a:cs typeface="KaiTi"/>
                </a:rPr>
                <a:t>单位：亿人民币</a:t>
              </a:r>
              <a:endParaRPr sz="1200" dirty="0">
                <a:latin typeface="KaiTi"/>
                <a:ea typeface="KaiTi"/>
                <a:cs typeface="KaiTi"/>
              </a:endParaRPr>
            </a:p>
            <a:p>
              <a:pPr algn="l" rtl="0" eaLnBrk="0">
                <a:lnSpc>
                  <a:spcPct val="117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algn="l" rtl="0" eaLnBrk="0">
                <a:lnSpc>
                  <a:spcPct val="117000"/>
                </a:lnSpc>
                <a:tabLst/>
              </a:pPr>
              <a:endParaRPr sz="1000" dirty="0">
                <a:latin typeface="Arial"/>
                <a:ea typeface="Arial"/>
                <a:cs typeface="Arial"/>
              </a:endParaRPr>
            </a:p>
            <a:p>
              <a:pPr marL="70485" algn="l" rtl="0" eaLnBrk="0">
                <a:lnSpc>
                  <a:spcPct val="77000"/>
                </a:lnSpc>
                <a:spcBef>
                  <a:spcPts val="849"/>
                </a:spcBef>
                <a:tabLst/>
              </a:pPr>
              <a:r>
                <a:rPr sz="2100" kern="0" spc="20" baseline="17362" dirty="0">
                  <a:solidFill>
                    <a:srgbClr val="000000">
                      <a:alpha val="100000"/>
                    </a:srgbClr>
                  </a:solidFill>
                  <a:latin typeface="Times New Roman"/>
                  <a:ea typeface="Times New Roman"/>
                  <a:cs typeface="Times New Roman"/>
                </a:rPr>
                <a:t>2025.10</a:t>
              </a:r>
              <a:r>
                <a:rPr sz="1300" kern="0" spc="20" dirty="0">
                  <a:solidFill>
                    <a:srgbClr val="000000">
                      <a:alpha val="100000"/>
                    </a:srgbClr>
                  </a:solidFill>
                  <a:latin typeface="Times New Roman"/>
                  <a:ea typeface="Times New Roman"/>
                  <a:cs typeface="Times New Roman"/>
                </a:rPr>
                <a:t>   </a:t>
              </a:r>
              <a:r>
                <a:rPr sz="2100" kern="0" spc="10" baseline="-22323" dirty="0">
                  <a:solidFill>
                    <a:srgbClr val="000000">
                      <a:alpha val="100000"/>
                    </a:srgbClr>
                  </a:solidFill>
                  <a:latin typeface="Times New Roman"/>
                  <a:ea typeface="Times New Roman"/>
                  <a:cs typeface="Times New Roman"/>
                </a:rPr>
                <a:t>2</a:t>
              </a:r>
              <a:r>
                <a:rPr sz="2100" kern="0" spc="10" baseline="-22323" dirty="0">
                  <a:solidFill>
                    <a:srgbClr val="000000">
                      <a:alpha val="100000"/>
                    </a:srgbClr>
                  </a:solidFill>
                  <a:latin typeface="KaiTi"/>
                  <a:ea typeface="KaiTi"/>
                  <a:cs typeface="KaiTi"/>
                </a:rPr>
                <a:t>个月</a:t>
              </a:r>
              <a:r>
                <a:rPr sz="1300" kern="0" spc="-260" dirty="0">
                  <a:solidFill>
                    <a:srgbClr val="000000">
                      <a:alpha val="100000"/>
                    </a:srgbClr>
                  </a:solidFill>
                  <a:latin typeface="KaiTi"/>
                  <a:ea typeface="KaiTi"/>
                  <a:cs typeface="KaiTi"/>
                </a:rPr>
                <a:t> </a:t>
              </a:r>
              <a:r>
                <a:rPr sz="4300" b="1" kern="0" spc="10" baseline="-10902" dirty="0">
                  <a:solidFill>
                    <a:srgbClr val="C00000">
                      <a:alpha val="100000"/>
                    </a:srgbClr>
                  </a:solidFill>
                  <a:latin typeface="Times New Roman"/>
                  <a:ea typeface="Times New Roman"/>
                  <a:cs typeface="Times New Roman"/>
                </a:rPr>
                <a:t>4</a:t>
              </a:r>
              <a:r>
                <a:rPr sz="2700" b="1" kern="0" spc="50" dirty="0">
                  <a:solidFill>
                    <a:srgbClr val="C00000">
                      <a:alpha val="100000"/>
                    </a:srgbClr>
                  </a:solidFill>
                  <a:latin typeface="Times New Roman"/>
                  <a:ea typeface="Times New Roman"/>
                  <a:cs typeface="Times New Roman"/>
                </a:rPr>
                <a:t> </a:t>
              </a:r>
              <a:r>
                <a:rPr sz="2100" kern="0" spc="10" baseline="-22323" dirty="0">
                  <a:solidFill>
                    <a:srgbClr val="000000">
                      <a:alpha val="100000"/>
                    </a:srgbClr>
                  </a:solidFill>
                  <a:latin typeface="KaiTi"/>
                  <a:ea typeface="KaiTi"/>
                  <a:cs typeface="KaiTi"/>
                </a:rPr>
                <a:t>倍</a:t>
              </a:r>
              <a:r>
                <a:rPr sz="1300" kern="0" spc="180" dirty="0">
                  <a:solidFill>
                    <a:srgbClr val="000000">
                      <a:alpha val="100000"/>
                    </a:srgbClr>
                  </a:solidFill>
                  <a:latin typeface="KaiTi"/>
                  <a:ea typeface="KaiTi"/>
                  <a:cs typeface="KaiTi"/>
                </a:rPr>
                <a:t> </a:t>
              </a:r>
              <a:r>
                <a:rPr sz="2100" kern="0" spc="10" baseline="14882" dirty="0">
                  <a:solidFill>
                    <a:srgbClr val="000000">
                      <a:alpha val="100000"/>
                    </a:srgbClr>
                  </a:solidFill>
                  <a:latin typeface="Times New Roman"/>
                  <a:ea typeface="Times New Roman"/>
                  <a:cs typeface="Times New Roman"/>
                </a:rPr>
                <a:t>2026.1</a:t>
              </a:r>
              <a:endParaRPr sz="2100" baseline="14882" dirty="0">
                <a:latin typeface="Times New Roman"/>
                <a:ea typeface="Times New Roman"/>
                <a:cs typeface="Times New Roman"/>
              </a:endParaRPr>
            </a:p>
            <a:p>
              <a:pPr algn="l" rtl="0" eaLnBrk="0">
                <a:lnSpc>
                  <a:spcPct val="166000"/>
                </a:lnSpc>
                <a:tabLst/>
              </a:pPr>
              <a:endParaRPr sz="1000" dirty="0">
                <a:latin typeface="Arial"/>
                <a:ea typeface="Arial"/>
                <a:cs typeface="Arial"/>
              </a:endParaRPr>
            </a:p>
            <a:p>
              <a:pPr marL="1654175" algn="l" rtl="0" eaLnBrk="0">
                <a:lnSpc>
                  <a:spcPct val="76000"/>
                </a:lnSpc>
                <a:spcBef>
                  <a:spcPts val="425"/>
                </a:spcBef>
                <a:tabLst/>
              </a:pPr>
              <a:r>
                <a:rPr sz="1400" kern="0" spc="-20" dirty="0">
                  <a:solidFill>
                    <a:srgbClr val="000000">
                      <a:alpha val="100000"/>
                    </a:srgbClr>
                  </a:solidFill>
                  <a:latin typeface="Times New Roman"/>
                  <a:ea typeface="Times New Roman"/>
                  <a:cs typeface="Times New Roman"/>
                </a:rPr>
                <a:t>2.0</a:t>
              </a:r>
              <a:endParaRPr sz="1400" dirty="0">
                <a:latin typeface="Times New Roman"/>
                <a:ea typeface="Times New Roman"/>
                <a:cs typeface="Times New Roman"/>
              </a:endParaRPr>
            </a:p>
            <a:p>
              <a:pPr marL="1104264" algn="l" rtl="0" eaLnBrk="0">
                <a:lnSpc>
                  <a:spcPct val="76000"/>
                </a:lnSpc>
                <a:spcBef>
                  <a:spcPts val="1147"/>
                </a:spcBef>
                <a:tabLst/>
              </a:pPr>
              <a:r>
                <a:rPr sz="1400" kern="0" spc="-60" dirty="0">
                  <a:solidFill>
                    <a:srgbClr val="000000">
                      <a:alpha val="100000"/>
                    </a:srgbClr>
                  </a:solidFill>
                  <a:latin typeface="Times New Roman"/>
                  <a:ea typeface="Times New Roman"/>
                  <a:cs typeface="Times New Roman"/>
                </a:rPr>
                <a:t>1.5</a:t>
              </a:r>
              <a:endParaRPr sz="1400" dirty="0">
                <a:latin typeface="Times New Roman"/>
                <a:ea typeface="Times New Roman"/>
                <a:cs typeface="Times New Roman"/>
              </a:endParaRPr>
            </a:p>
            <a:p>
              <a:pPr algn="l" rtl="0" eaLnBrk="0">
                <a:lnSpc>
                  <a:spcPct val="116000"/>
                </a:lnSpc>
                <a:tabLst/>
              </a:pPr>
              <a:endParaRPr sz="1000" dirty="0">
                <a:latin typeface="Arial"/>
                <a:ea typeface="Arial"/>
                <a:cs typeface="Arial"/>
              </a:endParaRPr>
            </a:p>
            <a:p>
              <a:pPr algn="l" rtl="0" eaLnBrk="0">
                <a:lnSpc>
                  <a:spcPct val="116000"/>
                </a:lnSpc>
                <a:tabLst/>
              </a:pPr>
              <a:endParaRPr sz="1000" dirty="0">
                <a:latin typeface="Arial"/>
                <a:ea typeface="Arial"/>
                <a:cs typeface="Arial"/>
              </a:endParaRPr>
            </a:p>
            <a:p>
              <a:pPr marL="566419" algn="l" rtl="0" eaLnBrk="0">
                <a:lnSpc>
                  <a:spcPct val="76000"/>
                </a:lnSpc>
                <a:spcBef>
                  <a:spcPts val="431"/>
                </a:spcBef>
                <a:tabLst/>
              </a:pPr>
              <a:r>
                <a:rPr sz="1400" kern="0" spc="-20" dirty="0">
                  <a:solidFill>
                    <a:srgbClr val="000000">
                      <a:alpha val="100000"/>
                    </a:srgbClr>
                  </a:solidFill>
                  <a:latin typeface="Times New Roman"/>
                  <a:ea typeface="Times New Roman"/>
                  <a:cs typeface="Times New Roman"/>
                </a:rPr>
                <a:t>0.5</a:t>
              </a:r>
              <a:endParaRPr sz="1400" dirty="0">
                <a:latin typeface="Times New Roman"/>
                <a:ea typeface="Times New Roman"/>
                <a:cs typeface="Times New Roman"/>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marL="626744" algn="l" rtl="0" eaLnBrk="0">
                <a:lnSpc>
                  <a:spcPct val="90000"/>
                </a:lnSpc>
                <a:spcBef>
                  <a:spcPts val="421"/>
                </a:spcBef>
                <a:tabLst/>
              </a:pPr>
              <a:r>
                <a:rPr sz="1400" kern="0" spc="0" dirty="0">
                  <a:solidFill>
                    <a:srgbClr val="000000">
                      <a:alpha val="100000"/>
                    </a:srgbClr>
                  </a:solidFill>
                  <a:latin typeface="Times New Roman"/>
                  <a:ea typeface="Times New Roman"/>
                  <a:cs typeface="Times New Roman"/>
                </a:rPr>
                <a:t>Founder</a:t>
              </a:r>
              <a:r>
                <a:rPr sz="1400" kern="0" spc="-10" dirty="0">
                  <a:solidFill>
                    <a:srgbClr val="000000">
                      <a:alpha val="100000"/>
                    </a:srgbClr>
                  </a:solidFill>
                  <a:latin typeface="Times New Roman"/>
                  <a:ea typeface="Times New Roman"/>
                  <a:cs typeface="Times New Roman"/>
                </a:rPr>
                <a:t>:</a:t>
              </a:r>
              <a:r>
                <a:rPr sz="1400" kern="0" spc="-10" dirty="0">
                  <a:solidFill>
                    <a:srgbClr val="000000">
                      <a:alpha val="100000"/>
                    </a:srgbClr>
                  </a:solidFill>
                  <a:latin typeface="KaiTi"/>
                  <a:ea typeface="KaiTi"/>
                  <a:cs typeface="KaiTi"/>
                </a:rPr>
                <a:t>李银川</a:t>
              </a:r>
              <a:endParaRPr sz="1400" dirty="0">
                <a:latin typeface="KaiTi"/>
                <a:ea typeface="KaiTi"/>
                <a:cs typeface="KaiTi"/>
              </a:endParaRPr>
            </a:p>
            <a:p>
              <a:pPr marL="433069" algn="l" rtl="0" eaLnBrk="0">
                <a:lnSpc>
                  <a:spcPct val="85000"/>
                </a:lnSpc>
                <a:spcBef>
                  <a:spcPts val="176"/>
                </a:spcBef>
                <a:tabLst/>
              </a:pPr>
              <a:r>
                <a:rPr sz="1400" kern="0" spc="-90" dirty="0">
                  <a:solidFill>
                    <a:srgbClr val="000000">
                      <a:alpha val="100000"/>
                    </a:srgbClr>
                  </a:solidFill>
                  <a:latin typeface="KaiTi"/>
                  <a:ea typeface="KaiTi"/>
                  <a:cs typeface="KaiTi"/>
                </a:rPr>
                <a:t>（华为诺亚方舟首席）</a:t>
              </a:r>
              <a:endParaRPr sz="1400" dirty="0">
                <a:latin typeface="KaiTi"/>
                <a:ea typeface="KaiTi"/>
                <a:cs typeface="KaiTi"/>
              </a:endParaRPr>
            </a:p>
          </p:txBody>
        </p:sp>
        <p:sp>
          <p:nvSpPr>
            <p:cNvPr id="594" name="textbox 594"/>
            <p:cNvSpPr/>
            <p:nvPr/>
          </p:nvSpPr>
          <p:spPr>
            <a:xfrm>
              <a:off x="3029905" y="1034222"/>
              <a:ext cx="1076960" cy="3220085"/>
            </a:xfrm>
            <a:prstGeom prst="rect">
              <a:avLst/>
            </a:prstGeom>
            <a:noFill/>
            <a:ln w="0" cap="flat">
              <a:noFill/>
              <a:prstDash val="solid"/>
              <a:miter lim="0"/>
            </a:ln>
          </p:spPr>
          <p:txBody>
            <a:bodyPr vert="horz" wrap="square" lIns="0" tIns="0" rIns="0" bIns="0"/>
            <a:lstStyle/>
            <a:p>
              <a:pPr algn="l" rtl="0" eaLnBrk="0">
                <a:lnSpc>
                  <a:spcPct val="91015"/>
                </a:lnSpc>
                <a:tabLst/>
              </a:pPr>
              <a:endParaRPr sz="100" dirty="0">
                <a:latin typeface="Arial"/>
                <a:ea typeface="Arial"/>
                <a:cs typeface="Arial"/>
              </a:endParaRPr>
            </a:p>
            <a:p>
              <a:pPr algn="r" rtl="0" eaLnBrk="0">
                <a:lnSpc>
                  <a:spcPct val="83000"/>
                </a:lnSpc>
                <a:tabLst/>
              </a:pPr>
              <a:r>
                <a:rPr sz="2500" b="1" kern="0" spc="60" dirty="0">
                  <a:solidFill>
                    <a:srgbClr val="C00000">
                      <a:alpha val="100000"/>
                    </a:srgbClr>
                  </a:solidFill>
                  <a:latin typeface="Times New Roman"/>
                  <a:ea typeface="Times New Roman"/>
                  <a:cs typeface="Times New Roman"/>
                </a:rPr>
                <a:t>4</a:t>
              </a:r>
              <a:r>
                <a:rPr sz="2500" b="1" kern="0" spc="130" dirty="0">
                  <a:solidFill>
                    <a:srgbClr val="C00000">
                      <a:alpha val="100000"/>
                    </a:srgbClr>
                  </a:solidFill>
                  <a:latin typeface="Times New Roman"/>
                  <a:ea typeface="Times New Roman"/>
                  <a:cs typeface="Times New Roman"/>
                </a:rPr>
                <a:t> </a:t>
              </a:r>
              <a:r>
                <a:rPr sz="1300" kern="0" spc="-160" dirty="0">
                  <a:solidFill>
                    <a:srgbClr val="000000">
                      <a:alpha val="100000"/>
                    </a:srgbClr>
                  </a:solidFill>
                  <a:latin typeface="KaiTi"/>
                  <a:ea typeface="KaiTi"/>
                  <a:cs typeface="KaiTi"/>
                </a:rPr>
                <a:t>倍飞跃，</a:t>
              </a:r>
              <a:endParaRPr sz="1300" dirty="0">
                <a:latin typeface="KaiTi"/>
                <a:ea typeface="KaiTi"/>
                <a:cs typeface="KaiTi"/>
              </a:endParaRPr>
            </a:p>
            <a:p>
              <a:pPr marL="132714" algn="l" rtl="0" eaLnBrk="0">
                <a:lnSpc>
                  <a:spcPct val="84000"/>
                </a:lnSpc>
                <a:spcBef>
                  <a:spcPts val="212"/>
                </a:spcBef>
                <a:tabLst/>
              </a:pPr>
              <a:r>
                <a:rPr sz="1400" kern="0" spc="-20" dirty="0">
                  <a:solidFill>
                    <a:srgbClr val="000000">
                      <a:alpha val="100000"/>
                    </a:srgbClr>
                  </a:solidFill>
                  <a:latin typeface="KaiTi"/>
                  <a:ea typeface="KaiTi"/>
                  <a:cs typeface="KaiTi"/>
                </a:rPr>
                <a:t>全程无</a:t>
              </a:r>
              <a:r>
                <a:rPr sz="1400" kern="0" spc="-20" dirty="0">
                  <a:solidFill>
                    <a:srgbClr val="000000">
                      <a:alpha val="100000"/>
                    </a:srgbClr>
                  </a:solidFill>
                  <a:latin typeface="Times New Roman"/>
                  <a:ea typeface="Times New Roman"/>
                  <a:cs typeface="Times New Roman"/>
                </a:rPr>
                <a:t>BP</a:t>
              </a:r>
              <a:endParaRPr sz="1400" dirty="0">
                <a:latin typeface="Times New Roman"/>
                <a:ea typeface="Times New Roman"/>
                <a:cs typeface="Times New Roman"/>
              </a:endParaRPr>
            </a:p>
            <a:p>
              <a:pPr algn="l" rtl="0" eaLnBrk="0">
                <a:lnSpc>
                  <a:spcPct val="147000"/>
                </a:lnSpc>
                <a:tabLst/>
              </a:pPr>
              <a:endParaRPr sz="1000" dirty="0">
                <a:latin typeface="Arial"/>
                <a:ea typeface="Arial"/>
                <a:cs typeface="Arial"/>
              </a:endParaRPr>
            </a:p>
            <a:p>
              <a:pPr marL="304165" algn="l" rtl="0" eaLnBrk="0">
                <a:lnSpc>
                  <a:spcPct val="76000"/>
                </a:lnSpc>
                <a:spcBef>
                  <a:spcPts val="425"/>
                </a:spcBef>
                <a:tabLst/>
              </a:pPr>
              <a:r>
                <a:rPr sz="1400" kern="0" spc="-20" dirty="0">
                  <a:solidFill>
                    <a:srgbClr val="000000">
                      <a:alpha val="100000"/>
                    </a:srgbClr>
                  </a:solidFill>
                  <a:latin typeface="Times New Roman"/>
                  <a:ea typeface="Times New Roman"/>
                  <a:cs typeface="Times New Roman"/>
                </a:rPr>
                <a:t>2.0</a:t>
              </a:r>
              <a:endParaRPr sz="1400" dirty="0">
                <a:latin typeface="Times New Roman"/>
                <a:ea typeface="Times New Roman"/>
                <a:cs typeface="Times New Roman"/>
              </a:endParaRPr>
            </a:p>
            <a:p>
              <a:pPr algn="l" rtl="0" eaLnBrk="0">
                <a:lnSpc>
                  <a:spcPct val="114000"/>
                </a:lnSpc>
                <a:tabLst/>
              </a:pPr>
              <a:endParaRPr sz="1000" dirty="0">
                <a:latin typeface="Arial"/>
                <a:ea typeface="Arial"/>
                <a:cs typeface="Arial"/>
              </a:endParaRPr>
            </a:p>
            <a:p>
              <a:pPr algn="l" rtl="0" eaLnBrk="0">
                <a:lnSpc>
                  <a:spcPct val="114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marL="65405" algn="l" rtl="0" eaLnBrk="0">
                <a:lnSpc>
                  <a:spcPct val="76000"/>
                </a:lnSpc>
                <a:spcBef>
                  <a:spcPts val="423"/>
                </a:spcBef>
                <a:tabLst/>
              </a:pPr>
              <a:r>
                <a:rPr sz="1400" kern="0" spc="-20" dirty="0">
                  <a:solidFill>
                    <a:srgbClr val="000000">
                      <a:alpha val="100000"/>
                    </a:srgbClr>
                  </a:solidFill>
                  <a:latin typeface="Times New Roman"/>
                  <a:ea typeface="Times New Roman"/>
                  <a:cs typeface="Times New Roman"/>
                </a:rPr>
                <a:t>0.5</a:t>
              </a:r>
              <a:endParaRPr sz="1400" dirty="0">
                <a:latin typeface="Times New Roman"/>
                <a:ea typeface="Times New Roman"/>
                <a:cs typeface="Times New Roman"/>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02000"/>
                </a:lnSpc>
                <a:tabLst/>
              </a:pPr>
              <a:endParaRPr sz="1000" dirty="0">
                <a:latin typeface="Arial"/>
                <a:ea typeface="Arial"/>
                <a:cs typeface="Arial"/>
              </a:endParaRPr>
            </a:p>
            <a:p>
              <a:pPr algn="l" rtl="0" eaLnBrk="0">
                <a:lnSpc>
                  <a:spcPct val="119000"/>
                </a:lnSpc>
                <a:tabLst/>
              </a:pPr>
              <a:endParaRPr sz="300" dirty="0">
                <a:latin typeface="Arial"/>
                <a:ea typeface="Arial"/>
                <a:cs typeface="Arial"/>
              </a:endParaRPr>
            </a:p>
            <a:p>
              <a:pPr marL="12700" algn="l" rtl="0" eaLnBrk="0">
                <a:lnSpc>
                  <a:spcPct val="84000"/>
                </a:lnSpc>
                <a:tabLst/>
              </a:pPr>
              <a:r>
                <a:rPr sz="1400" kern="0" spc="-30" dirty="0">
                  <a:solidFill>
                    <a:srgbClr val="000000">
                      <a:alpha val="100000"/>
                    </a:srgbClr>
                  </a:solidFill>
                  <a:latin typeface="KaiTi"/>
                  <a:ea typeface="KaiTi"/>
                  <a:cs typeface="KaiTi"/>
                </a:rPr>
                <a:t>周顺波</a:t>
              </a:r>
              <a:r>
                <a:rPr sz="1400" kern="0" spc="-320" dirty="0">
                  <a:solidFill>
                    <a:srgbClr val="000000">
                      <a:alpha val="100000"/>
                    </a:srgbClr>
                  </a:solidFill>
                  <a:latin typeface="KaiTi"/>
                  <a:ea typeface="KaiTi"/>
                  <a:cs typeface="KaiTi"/>
                </a:rPr>
                <a:t> </a:t>
              </a:r>
              <a:r>
                <a:rPr sz="1400" kern="0" spc="-30" dirty="0">
                  <a:solidFill>
                    <a:srgbClr val="000000">
                      <a:alpha val="100000"/>
                    </a:srgbClr>
                  </a:solidFill>
                  <a:latin typeface="Times New Roman"/>
                  <a:ea typeface="Times New Roman"/>
                  <a:cs typeface="Times New Roman"/>
                </a:rPr>
                <a:t>-</a:t>
              </a:r>
              <a:r>
                <a:rPr sz="1400" kern="0" spc="110" dirty="0">
                  <a:solidFill>
                    <a:srgbClr val="000000">
                      <a:alpha val="100000"/>
                    </a:srgbClr>
                  </a:solidFill>
                  <a:latin typeface="Times New Roman"/>
                  <a:ea typeface="Times New Roman"/>
                  <a:cs typeface="Times New Roman"/>
                </a:rPr>
                <a:t> </a:t>
              </a:r>
              <a:r>
                <a:rPr sz="1400" kern="0" spc="-30" dirty="0">
                  <a:solidFill>
                    <a:srgbClr val="000000">
                      <a:alpha val="100000"/>
                    </a:srgbClr>
                  </a:solidFill>
                  <a:latin typeface="KaiTi"/>
                  <a:ea typeface="KaiTi"/>
                  <a:cs typeface="KaiTi"/>
                </a:rPr>
                <a:t>华为</a:t>
              </a:r>
              <a:endParaRPr sz="1400" dirty="0">
                <a:latin typeface="KaiTi"/>
                <a:ea typeface="KaiTi"/>
                <a:cs typeface="KaiTi"/>
              </a:endParaRPr>
            </a:p>
          </p:txBody>
        </p:sp>
        <p:sp>
          <p:nvSpPr>
            <p:cNvPr id="596" name="textbox 596"/>
            <p:cNvSpPr/>
            <p:nvPr/>
          </p:nvSpPr>
          <p:spPr>
            <a:xfrm>
              <a:off x="7757955" y="334648"/>
              <a:ext cx="1962785" cy="625475"/>
            </a:xfrm>
            <a:prstGeom prst="rect">
              <a:avLst/>
            </a:prstGeom>
            <a:noFill/>
            <a:ln w="0" cap="flat">
              <a:noFill/>
              <a:prstDash val="solid"/>
              <a:miter lim="0"/>
            </a:ln>
          </p:spPr>
          <p:txBody>
            <a:bodyPr vert="horz" wrap="square" lIns="0" tIns="0" rIns="0" bIns="0"/>
            <a:lstStyle/>
            <a:p>
              <a:pPr algn="l" rtl="0" eaLnBrk="0">
                <a:lnSpc>
                  <a:spcPct val="82972"/>
                </a:lnSpc>
                <a:tabLst/>
              </a:pPr>
              <a:endParaRPr sz="100" dirty="0">
                <a:latin typeface="Arial"/>
                <a:ea typeface="Arial"/>
                <a:cs typeface="Arial"/>
              </a:endParaRPr>
            </a:p>
            <a:p>
              <a:pPr algn="r" rtl="0" eaLnBrk="0">
                <a:lnSpc>
                  <a:spcPct val="76000"/>
                </a:lnSpc>
                <a:tabLst/>
              </a:pPr>
              <a:r>
                <a:rPr sz="1400" kern="0" spc="-10" dirty="0">
                  <a:solidFill>
                    <a:srgbClr val="000000">
                      <a:alpha val="100000"/>
                    </a:srgbClr>
                  </a:solidFill>
                  <a:latin typeface="Times New Roman"/>
                  <a:ea typeface="Times New Roman"/>
                  <a:cs typeface="Times New Roman"/>
                </a:rPr>
                <a:t>20.0</a:t>
              </a:r>
              <a:endParaRPr sz="1400" dirty="0">
                <a:latin typeface="Times New Roman"/>
                <a:ea typeface="Times New Roman"/>
                <a:cs typeface="Times New Roman"/>
              </a:endParaRPr>
            </a:p>
            <a:p>
              <a:pPr marL="12700" algn="l" rtl="0" eaLnBrk="0">
                <a:lnSpc>
                  <a:spcPts val="3443"/>
                </a:lnSpc>
                <a:tabLst/>
              </a:pPr>
              <a:r>
                <a:rPr sz="1400" kern="0" spc="-40" dirty="0">
                  <a:solidFill>
                    <a:srgbClr val="000000">
                      <a:alpha val="100000"/>
                    </a:srgbClr>
                  </a:solidFill>
                  <a:latin typeface="Times New Roman"/>
                  <a:ea typeface="Times New Roman"/>
                  <a:cs typeface="Times New Roman"/>
                </a:rPr>
                <a:t>15.0</a:t>
              </a:r>
              <a:endParaRPr sz="1400" dirty="0">
                <a:latin typeface="Times New Roman"/>
                <a:ea typeface="Times New Roman"/>
                <a:cs typeface="Times New Roman"/>
              </a:endParaRPr>
            </a:p>
          </p:txBody>
        </p:sp>
        <p:sp>
          <p:nvSpPr>
            <p:cNvPr id="598" name="textbox 598"/>
            <p:cNvSpPr/>
            <p:nvPr/>
          </p:nvSpPr>
          <p:spPr>
            <a:xfrm>
              <a:off x="4152594" y="1003430"/>
              <a:ext cx="1016000" cy="11842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1902"/>
                </a:lnSpc>
                <a:tabLst/>
              </a:pPr>
              <a:r>
                <a:rPr sz="1800" kern="0" spc="-10" baseline="-12063" dirty="0">
                  <a:solidFill>
                    <a:srgbClr val="000000">
                      <a:alpha val="100000"/>
                    </a:srgbClr>
                  </a:solidFill>
                  <a:latin typeface="KaiTi"/>
                  <a:ea typeface="KaiTi"/>
                  <a:cs typeface="KaiTi"/>
                </a:rPr>
                <a:t>现在</a:t>
              </a:r>
              <a:r>
                <a:rPr sz="1100" kern="0" spc="450" dirty="0">
                  <a:solidFill>
                    <a:srgbClr val="000000">
                      <a:alpha val="100000"/>
                    </a:srgbClr>
                  </a:solidFill>
                  <a:latin typeface="KaiTi"/>
                  <a:ea typeface="KaiTi"/>
                  <a:cs typeface="KaiTi"/>
                </a:rPr>
                <a:t> </a:t>
              </a:r>
              <a:r>
                <a:rPr sz="2100" kern="0" spc="-10" baseline="26865" dirty="0">
                  <a:solidFill>
                    <a:srgbClr val="000000">
                      <a:alpha val="100000"/>
                    </a:srgbClr>
                  </a:solidFill>
                  <a:latin typeface="Times New Roman"/>
                  <a:ea typeface="Times New Roman"/>
                  <a:cs typeface="Times New Roman"/>
                </a:rPr>
                <a:t>7.0</a:t>
              </a:r>
              <a:endParaRPr sz="2100" baseline="26865" dirty="0">
                <a:latin typeface="Times New Roman"/>
                <a:ea typeface="Times New Roman"/>
                <a:cs typeface="Times New Roman"/>
              </a:endParaRPr>
            </a:p>
            <a:p>
              <a:pPr marL="559434" algn="l" rtl="0" eaLnBrk="0">
                <a:lnSpc>
                  <a:spcPct val="76000"/>
                </a:lnSpc>
                <a:spcBef>
                  <a:spcPts val="701"/>
                </a:spcBef>
                <a:tabLst/>
              </a:pPr>
              <a:r>
                <a:rPr sz="1400" kern="0" spc="-10" dirty="0">
                  <a:solidFill>
                    <a:srgbClr val="000000">
                      <a:alpha val="100000"/>
                    </a:srgbClr>
                  </a:solidFill>
                  <a:latin typeface="Times New Roman"/>
                  <a:ea typeface="Times New Roman"/>
                  <a:cs typeface="Times New Roman"/>
                </a:rPr>
                <a:t>4.0</a:t>
              </a:r>
              <a:endParaRPr sz="1400" dirty="0">
                <a:latin typeface="Times New Roman"/>
                <a:ea typeface="Times New Roman"/>
                <a:cs typeface="Times New Roman"/>
              </a:endParaRPr>
            </a:p>
            <a:p>
              <a:pPr marL="160020" algn="l" rtl="0" eaLnBrk="0">
                <a:lnSpc>
                  <a:spcPct val="78000"/>
                </a:lnSpc>
                <a:spcBef>
                  <a:spcPts val="204"/>
                </a:spcBef>
                <a:tabLst/>
              </a:pPr>
              <a:r>
                <a:rPr sz="1200" kern="0" spc="-40" dirty="0">
                  <a:solidFill>
                    <a:srgbClr val="000000">
                      <a:alpha val="100000"/>
                    </a:srgbClr>
                  </a:solidFill>
                  <a:latin typeface="KaiTi"/>
                  <a:ea typeface="KaiTi"/>
                  <a:cs typeface="KaiTi"/>
                </a:rPr>
                <a:t>年后</a:t>
              </a:r>
              <a:endParaRPr sz="1200" dirty="0">
                <a:latin typeface="KaiTi"/>
                <a:ea typeface="KaiTi"/>
                <a:cs typeface="KaiTi"/>
              </a:endParaRPr>
            </a:p>
            <a:p>
              <a:pPr marL="464819" algn="l" rtl="0" eaLnBrk="0">
                <a:lnSpc>
                  <a:spcPct val="76000"/>
                </a:lnSpc>
                <a:spcBef>
                  <a:spcPts val="1347"/>
                </a:spcBef>
                <a:tabLst/>
              </a:pPr>
              <a:r>
                <a:rPr sz="1400" kern="0" spc="-20" dirty="0">
                  <a:solidFill>
                    <a:srgbClr val="000000">
                      <a:alpha val="100000"/>
                    </a:srgbClr>
                  </a:solidFill>
                  <a:latin typeface="Times New Roman"/>
                  <a:ea typeface="Times New Roman"/>
                  <a:cs typeface="Times New Roman"/>
                </a:rPr>
                <a:t>2.0</a:t>
              </a:r>
              <a:endParaRPr sz="1400" dirty="0">
                <a:latin typeface="Times New Roman"/>
                <a:ea typeface="Times New Roman"/>
                <a:cs typeface="Times New Roman"/>
              </a:endParaRPr>
            </a:p>
            <a:p>
              <a:pPr marL="12700" algn="l" rtl="0" eaLnBrk="0">
                <a:lnSpc>
                  <a:spcPct val="81000"/>
                </a:lnSpc>
                <a:spcBef>
                  <a:spcPts val="125"/>
                </a:spcBef>
                <a:tabLst/>
              </a:pPr>
              <a:r>
                <a:rPr sz="1200" kern="0" spc="-40" dirty="0">
                  <a:solidFill>
                    <a:srgbClr val="000000">
                      <a:alpha val="100000"/>
                    </a:srgbClr>
                  </a:solidFill>
                  <a:latin typeface="KaiTi"/>
                  <a:ea typeface="KaiTi"/>
                  <a:cs typeface="KaiTi"/>
                </a:rPr>
                <a:t>年前</a:t>
              </a:r>
              <a:endParaRPr sz="1200" dirty="0">
                <a:latin typeface="KaiTi"/>
                <a:ea typeface="KaiTi"/>
                <a:cs typeface="KaiTi"/>
              </a:endParaRPr>
            </a:p>
          </p:txBody>
        </p:sp>
        <p:sp>
          <p:nvSpPr>
            <p:cNvPr id="600" name="textbox 600"/>
            <p:cNvSpPr/>
            <p:nvPr/>
          </p:nvSpPr>
          <p:spPr>
            <a:xfrm>
              <a:off x="5692328" y="360302"/>
              <a:ext cx="890269" cy="1143635"/>
            </a:xfrm>
            <a:prstGeom prst="rect">
              <a:avLst/>
            </a:prstGeom>
            <a:noFill/>
            <a:ln w="0" cap="flat">
              <a:noFill/>
              <a:prstDash val="solid"/>
              <a:miter lim="0"/>
            </a:ln>
          </p:spPr>
          <p:txBody>
            <a:bodyPr vert="horz" wrap="square" lIns="0" tIns="0" rIns="0" bIns="0"/>
            <a:lstStyle/>
            <a:p>
              <a:pPr algn="l" rtl="0" eaLnBrk="0">
                <a:lnSpc>
                  <a:spcPct val="82972"/>
                </a:lnSpc>
                <a:tabLst/>
              </a:pPr>
              <a:endParaRPr sz="100" dirty="0">
                <a:latin typeface="Arial"/>
                <a:ea typeface="Arial"/>
                <a:cs typeface="Arial"/>
              </a:endParaRPr>
            </a:p>
            <a:p>
              <a:pPr algn="r" rtl="0" eaLnBrk="0">
                <a:lnSpc>
                  <a:spcPct val="76000"/>
                </a:lnSpc>
                <a:tabLst/>
              </a:pPr>
              <a:r>
                <a:rPr sz="1400" kern="0" spc="-10" dirty="0">
                  <a:solidFill>
                    <a:srgbClr val="000000">
                      <a:alpha val="100000"/>
                    </a:srgbClr>
                  </a:solidFill>
                  <a:latin typeface="Times New Roman"/>
                  <a:ea typeface="Times New Roman"/>
                  <a:cs typeface="Times New Roman"/>
                </a:rPr>
                <a:t>40.0</a:t>
              </a:r>
              <a:endParaRPr sz="1400" dirty="0">
                <a:latin typeface="Times New Roman"/>
                <a:ea typeface="Times New Roman"/>
                <a:cs typeface="Times New Roman"/>
              </a:endParaRPr>
            </a:p>
            <a:p>
              <a:pPr algn="l" rtl="0" eaLnBrk="0">
                <a:lnSpc>
                  <a:spcPct val="122000"/>
                </a:lnSpc>
                <a:tabLst/>
              </a:pPr>
              <a:endParaRPr sz="1000" dirty="0">
                <a:latin typeface="Arial"/>
                <a:ea typeface="Arial"/>
                <a:cs typeface="Arial"/>
              </a:endParaRPr>
            </a:p>
            <a:p>
              <a:pPr marL="278129" algn="l" rtl="0" eaLnBrk="0">
                <a:lnSpc>
                  <a:spcPct val="76000"/>
                </a:lnSpc>
                <a:spcBef>
                  <a:spcPts val="424"/>
                </a:spcBef>
                <a:tabLst/>
              </a:pPr>
              <a:r>
                <a:rPr sz="1400" kern="0" spc="-20" dirty="0">
                  <a:solidFill>
                    <a:srgbClr val="000000">
                      <a:alpha val="100000"/>
                    </a:srgbClr>
                  </a:solidFill>
                  <a:latin typeface="Times New Roman"/>
                  <a:ea typeface="Times New Roman"/>
                  <a:cs typeface="Times New Roman"/>
                </a:rPr>
                <a:t>30.0</a:t>
              </a:r>
              <a:endParaRPr sz="1400" dirty="0">
                <a:latin typeface="Times New Roman"/>
                <a:ea typeface="Times New Roman"/>
                <a:cs typeface="Times New Roman"/>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6000"/>
                </a:lnSpc>
                <a:tabLst/>
              </a:pPr>
              <a:endParaRPr sz="300" dirty="0">
                <a:latin typeface="Arial"/>
                <a:ea typeface="Arial"/>
                <a:cs typeface="Arial"/>
              </a:endParaRPr>
            </a:p>
            <a:p>
              <a:pPr marL="12700" algn="l" rtl="0" eaLnBrk="0">
                <a:lnSpc>
                  <a:spcPct val="76000"/>
                </a:lnSpc>
                <a:spcBef>
                  <a:spcPts val="3"/>
                </a:spcBef>
                <a:tabLst/>
              </a:pPr>
              <a:r>
                <a:rPr sz="1400" kern="0" spc="-10" dirty="0">
                  <a:solidFill>
                    <a:srgbClr val="000000">
                      <a:alpha val="100000"/>
                    </a:srgbClr>
                  </a:solidFill>
                  <a:latin typeface="Times New Roman"/>
                  <a:ea typeface="Times New Roman"/>
                  <a:cs typeface="Times New Roman"/>
                </a:rPr>
                <a:t>20.0</a:t>
              </a:r>
              <a:endParaRPr sz="1400" dirty="0">
                <a:latin typeface="Times New Roman"/>
                <a:ea typeface="Times New Roman"/>
                <a:cs typeface="Times New Roman"/>
              </a:endParaRPr>
            </a:p>
          </p:txBody>
        </p:sp>
        <p:sp>
          <p:nvSpPr>
            <p:cNvPr id="602" name="textbox 602"/>
            <p:cNvSpPr/>
            <p:nvPr/>
          </p:nvSpPr>
          <p:spPr>
            <a:xfrm>
              <a:off x="8679448" y="4037368"/>
              <a:ext cx="2070735" cy="437515"/>
            </a:xfrm>
            <a:prstGeom prst="rect">
              <a:avLst/>
            </a:prstGeom>
            <a:noFill/>
            <a:ln w="0" cap="flat">
              <a:noFill/>
              <a:prstDash val="solid"/>
              <a:miter lim="0"/>
            </a:ln>
          </p:spPr>
          <p:txBody>
            <a:bodyPr vert="horz" wrap="square" lIns="0" tIns="0" rIns="0" bIns="0"/>
            <a:lstStyle/>
            <a:p>
              <a:pPr algn="l" rtl="0" eaLnBrk="0">
                <a:lnSpc>
                  <a:spcPct val="96845"/>
                </a:lnSpc>
                <a:tabLst/>
              </a:pPr>
              <a:endParaRPr sz="100" dirty="0">
                <a:latin typeface="Arial"/>
                <a:ea typeface="Arial"/>
                <a:cs typeface="Arial"/>
              </a:endParaRPr>
            </a:p>
            <a:p>
              <a:pPr marL="12700" indent="133985" algn="l" rtl="0" eaLnBrk="0">
                <a:lnSpc>
                  <a:spcPct val="96000"/>
                </a:lnSpc>
                <a:tabLst/>
              </a:pPr>
              <a:r>
                <a:rPr sz="1400" kern="0" spc="20" dirty="0">
                  <a:solidFill>
                    <a:srgbClr val="000000">
                      <a:alpha val="100000"/>
                    </a:srgbClr>
                  </a:solidFill>
                  <a:latin typeface="KaiTi"/>
                  <a:ea typeface="KaiTi"/>
                  <a:cs typeface="KaiTi"/>
                </a:rPr>
                <a:t>韩峰涛（珞石联创）</a:t>
              </a:r>
              <a:r>
                <a:rPr sz="1400" kern="0" spc="-330" dirty="0">
                  <a:solidFill>
                    <a:srgbClr val="000000">
                      <a:alpha val="100000"/>
                    </a:srgbClr>
                  </a:solidFill>
                  <a:latin typeface="KaiTi"/>
                  <a:ea typeface="KaiTi"/>
                  <a:cs typeface="KaiTi"/>
                </a:rPr>
                <a:t> </a:t>
              </a:r>
              <a:r>
                <a:rPr sz="1400" kern="0" spc="20" dirty="0">
                  <a:solidFill>
                    <a:srgbClr val="000000">
                      <a:alpha val="100000"/>
                    </a:srgbClr>
                  </a:solidFill>
                  <a:latin typeface="Calibri"/>
                  <a:ea typeface="Calibri"/>
                  <a:cs typeface="Calibri"/>
                </a:rPr>
                <a:t>+</a:t>
              </a:r>
              <a:r>
                <a:rPr sz="1400" kern="0" spc="-60" dirty="0">
                  <a:solidFill>
                    <a:srgbClr val="000000">
                      <a:alpha val="100000"/>
                    </a:srgbClr>
                  </a:solidFill>
                  <a:latin typeface="KaiTi"/>
                  <a:ea typeface="KaiTi"/>
                  <a:cs typeface="KaiTi"/>
                </a:rPr>
                <a:t>高阳（师从</a:t>
              </a:r>
              <a:r>
                <a:rPr sz="1400" kern="0" spc="-270" dirty="0">
                  <a:solidFill>
                    <a:srgbClr val="000000">
                      <a:alpha val="100000"/>
                    </a:srgbClr>
                  </a:solidFill>
                  <a:latin typeface="KaiTi"/>
                  <a:ea typeface="KaiTi"/>
                  <a:cs typeface="KaiTi"/>
                </a:rPr>
                <a:t> </a:t>
              </a:r>
              <a:r>
                <a:rPr sz="1400" kern="0" spc="-60" dirty="0">
                  <a:solidFill>
                    <a:srgbClr val="000000">
                      <a:alpha val="100000"/>
                    </a:srgbClr>
                  </a:solidFill>
                  <a:latin typeface="Calibri"/>
                  <a:ea typeface="Calibri"/>
                  <a:cs typeface="Calibri"/>
                </a:rPr>
                <a:t>Pieter Ab</a:t>
              </a:r>
              <a:r>
                <a:rPr sz="1400" kern="0" spc="-70" dirty="0">
                  <a:solidFill>
                    <a:srgbClr val="000000">
                      <a:alpha val="100000"/>
                    </a:srgbClr>
                  </a:solidFill>
                  <a:latin typeface="Calibri"/>
                  <a:ea typeface="Calibri"/>
                  <a:cs typeface="Calibri"/>
                </a:rPr>
                <a:t>beel</a:t>
              </a:r>
              <a:r>
                <a:rPr sz="1400" kern="0" spc="-70" dirty="0">
                  <a:solidFill>
                    <a:srgbClr val="000000">
                      <a:alpha val="100000"/>
                    </a:srgbClr>
                  </a:solidFill>
                  <a:latin typeface="KaiTi"/>
                  <a:ea typeface="KaiTi"/>
                  <a:cs typeface="KaiTi"/>
                </a:rPr>
                <a:t>）</a:t>
              </a:r>
              <a:endParaRPr sz="1400" dirty="0">
                <a:latin typeface="KaiTi"/>
                <a:ea typeface="KaiTi"/>
                <a:cs typeface="KaiTi"/>
              </a:endParaRPr>
            </a:p>
          </p:txBody>
        </p:sp>
        <p:sp>
          <p:nvSpPr>
            <p:cNvPr id="604" name="textbox 604"/>
            <p:cNvSpPr/>
            <p:nvPr/>
          </p:nvSpPr>
          <p:spPr>
            <a:xfrm>
              <a:off x="7327827" y="3918148"/>
              <a:ext cx="1075055" cy="630555"/>
            </a:xfrm>
            <a:prstGeom prst="rect">
              <a:avLst/>
            </a:prstGeom>
            <a:noFill/>
            <a:ln w="0" cap="flat">
              <a:noFill/>
              <a:prstDash val="solid"/>
              <a:miter lim="0"/>
            </a:ln>
          </p:spPr>
          <p:txBody>
            <a:bodyPr vert="horz" wrap="square" lIns="0" tIns="0" rIns="0" bIns="0"/>
            <a:lstStyle/>
            <a:p>
              <a:pPr algn="l" rtl="0" eaLnBrk="0">
                <a:lnSpc>
                  <a:spcPct val="88025"/>
                </a:lnSpc>
                <a:tabLst/>
              </a:pPr>
              <a:endParaRPr sz="100" dirty="0">
                <a:latin typeface="Arial"/>
                <a:ea typeface="Arial"/>
                <a:cs typeface="Arial"/>
              </a:endParaRPr>
            </a:p>
            <a:p>
              <a:pPr marL="374015" algn="l" rtl="0" eaLnBrk="0">
                <a:lnSpc>
                  <a:spcPct val="84000"/>
                </a:lnSpc>
                <a:tabLst/>
              </a:pPr>
              <a:r>
                <a:rPr sz="1400" kern="0" spc="-100" dirty="0">
                  <a:solidFill>
                    <a:srgbClr val="000000">
                      <a:alpha val="100000"/>
                    </a:srgbClr>
                  </a:solidFill>
                  <a:latin typeface="KaiTi"/>
                  <a:ea typeface="KaiTi"/>
                  <a:cs typeface="KaiTi"/>
                </a:rPr>
                <a:t>贾鹏</a:t>
              </a:r>
              <a:endParaRPr sz="1400" dirty="0">
                <a:latin typeface="KaiTi"/>
                <a:ea typeface="KaiTi"/>
                <a:cs typeface="KaiTi"/>
              </a:endParaRPr>
            </a:p>
            <a:p>
              <a:pPr marL="97155" indent="3810" algn="l" rtl="0" eaLnBrk="0">
                <a:lnSpc>
                  <a:spcPct val="93000"/>
                </a:lnSpc>
                <a:spcBef>
                  <a:spcPts val="334"/>
                </a:spcBef>
                <a:tabLst/>
              </a:pPr>
              <a:r>
                <a:rPr sz="1300" kern="0" spc="-50" dirty="0">
                  <a:solidFill>
                    <a:srgbClr val="000000">
                      <a:alpha val="100000"/>
                    </a:srgbClr>
                  </a:solidFill>
                  <a:latin typeface="KaiTi"/>
                  <a:ea typeface="KaiTi"/>
                  <a:cs typeface="KaiTi"/>
                </a:rPr>
                <a:t>（理想智驾研</a:t>
              </a:r>
              <a:r>
                <a:rPr sz="1400" kern="0" spc="-20" dirty="0">
                  <a:solidFill>
                    <a:srgbClr val="000000">
                      <a:alpha val="100000"/>
                    </a:srgbClr>
                  </a:solidFill>
                  <a:latin typeface="KaiTi"/>
                  <a:ea typeface="KaiTi"/>
                  <a:cs typeface="KaiTi"/>
                </a:rPr>
                <a:t>发负责人）</a:t>
              </a:r>
              <a:endParaRPr sz="1400" dirty="0">
                <a:latin typeface="KaiTi"/>
                <a:ea typeface="KaiTi"/>
                <a:cs typeface="KaiTi"/>
              </a:endParaRPr>
            </a:p>
          </p:txBody>
        </p:sp>
        <p:sp>
          <p:nvSpPr>
            <p:cNvPr id="606" name="textbox 606"/>
            <p:cNvSpPr/>
            <p:nvPr/>
          </p:nvSpPr>
          <p:spPr>
            <a:xfrm>
              <a:off x="4400597" y="4035191"/>
              <a:ext cx="1264285" cy="408305"/>
            </a:xfrm>
            <a:prstGeom prst="rect">
              <a:avLst/>
            </a:prstGeom>
            <a:noFill/>
            <a:ln w="0" cap="flat">
              <a:noFill/>
              <a:prstDash val="solid"/>
              <a:miter lim="0"/>
            </a:ln>
          </p:spPr>
          <p:txBody>
            <a:bodyPr vert="horz" wrap="square" lIns="0" tIns="0" rIns="0" bIns="0"/>
            <a:lstStyle/>
            <a:p>
              <a:pPr algn="l" rtl="0" eaLnBrk="0">
                <a:lnSpc>
                  <a:spcPct val="83140"/>
                </a:lnSpc>
                <a:tabLst/>
              </a:pPr>
              <a:endParaRPr sz="100" dirty="0">
                <a:latin typeface="Arial"/>
                <a:ea typeface="Arial"/>
                <a:cs typeface="Arial"/>
              </a:endParaRPr>
            </a:p>
            <a:p>
              <a:pPr marL="12700" algn="l" rtl="0" eaLnBrk="0">
                <a:lnSpc>
                  <a:spcPct val="85000"/>
                </a:lnSpc>
                <a:tabLst/>
              </a:pPr>
              <a:r>
                <a:rPr sz="1400" kern="0" spc="-10" dirty="0">
                  <a:solidFill>
                    <a:srgbClr val="000000">
                      <a:alpha val="100000"/>
                    </a:srgbClr>
                  </a:solidFill>
                  <a:latin typeface="KaiTi"/>
                  <a:ea typeface="KaiTi"/>
                  <a:cs typeface="KaiTi"/>
                </a:rPr>
                <a:t>许怀哲（前星海</a:t>
              </a:r>
              <a:endParaRPr sz="1400" dirty="0">
                <a:latin typeface="KaiTi"/>
                <a:ea typeface="KaiTi"/>
                <a:cs typeface="KaiTi"/>
              </a:endParaRPr>
            </a:p>
            <a:p>
              <a:pPr marL="299720" algn="l" rtl="0" eaLnBrk="0">
                <a:lnSpc>
                  <a:spcPct val="84000"/>
                </a:lnSpc>
                <a:spcBef>
                  <a:spcPts val="173"/>
                </a:spcBef>
                <a:tabLst/>
              </a:pPr>
              <a:r>
                <a:rPr sz="1400" kern="0" spc="-60" dirty="0">
                  <a:solidFill>
                    <a:srgbClr val="000000">
                      <a:alpha val="100000"/>
                    </a:srgbClr>
                  </a:solidFill>
                  <a:latin typeface="KaiTi"/>
                  <a:ea typeface="KaiTi"/>
                  <a:cs typeface="KaiTi"/>
                </a:rPr>
                <a:t>图联创）</a:t>
              </a:r>
              <a:endParaRPr sz="1400" dirty="0">
                <a:latin typeface="KaiTi"/>
                <a:ea typeface="KaiTi"/>
                <a:cs typeface="KaiTi"/>
              </a:endParaRPr>
            </a:p>
          </p:txBody>
        </p:sp>
        <p:sp>
          <p:nvSpPr>
            <p:cNvPr id="608" name="textbox 608"/>
            <p:cNvSpPr/>
            <p:nvPr/>
          </p:nvSpPr>
          <p:spPr>
            <a:xfrm>
              <a:off x="5905811" y="4079082"/>
              <a:ext cx="1233805" cy="417194"/>
            </a:xfrm>
            <a:prstGeom prst="rect">
              <a:avLst/>
            </a:prstGeom>
            <a:noFill/>
            <a:ln w="0" cap="flat">
              <a:noFill/>
              <a:prstDash val="solid"/>
              <a:miter lim="0"/>
            </a:ln>
          </p:spPr>
          <p:txBody>
            <a:bodyPr vert="horz" wrap="square" lIns="0" tIns="0" rIns="0" bIns="0"/>
            <a:lstStyle/>
            <a:p>
              <a:pPr algn="l" rtl="0" eaLnBrk="0">
                <a:lnSpc>
                  <a:spcPct val="49585"/>
                </a:lnSpc>
                <a:tabLst/>
              </a:pPr>
              <a:endParaRPr sz="100" dirty="0">
                <a:latin typeface="Arial"/>
                <a:ea typeface="Arial"/>
                <a:cs typeface="Arial"/>
              </a:endParaRPr>
            </a:p>
            <a:p>
              <a:pPr marL="352425" indent="-339725" algn="l" rtl="0" eaLnBrk="0">
                <a:lnSpc>
                  <a:spcPct val="93000"/>
                </a:lnSpc>
                <a:tabLst/>
              </a:pPr>
              <a:r>
                <a:rPr sz="1400" kern="0" spc="-20" dirty="0">
                  <a:solidFill>
                    <a:srgbClr val="000000">
                      <a:alpha val="100000"/>
                    </a:srgbClr>
                  </a:solidFill>
                  <a:latin typeface="KaiTi"/>
                  <a:ea typeface="KaiTi"/>
                  <a:cs typeface="KaiTi"/>
                </a:rPr>
                <a:t>武伟</a:t>
              </a:r>
              <a:r>
                <a:rPr sz="1400" kern="0" spc="-260" dirty="0">
                  <a:solidFill>
                    <a:srgbClr val="000000">
                      <a:alpha val="100000"/>
                    </a:srgbClr>
                  </a:solidFill>
                  <a:latin typeface="KaiTi"/>
                  <a:ea typeface="KaiTi"/>
                  <a:cs typeface="KaiTi"/>
                </a:rPr>
                <a:t> </a:t>
              </a:r>
              <a:r>
                <a:rPr sz="1400" kern="0" spc="-20" dirty="0">
                  <a:solidFill>
                    <a:srgbClr val="000000">
                      <a:alpha val="100000"/>
                    </a:srgbClr>
                  </a:solidFill>
                  <a:latin typeface="Times New Roman"/>
                  <a:ea typeface="Times New Roman"/>
                  <a:cs typeface="Times New Roman"/>
                </a:rPr>
                <a:t>- </a:t>
              </a:r>
              <a:r>
                <a:rPr sz="1400" kern="0" spc="-20" dirty="0">
                  <a:solidFill>
                    <a:srgbClr val="000000">
                      <a:alpha val="100000"/>
                    </a:srgbClr>
                  </a:solidFill>
                  <a:latin typeface="KaiTi"/>
                  <a:ea typeface="KaiTi"/>
                  <a:cs typeface="KaiTi"/>
                </a:rPr>
                <a:t>前商汤科</a:t>
              </a:r>
              <a:r>
                <a:rPr sz="1400" kern="0" spc="-30" dirty="0">
                  <a:solidFill>
                    <a:srgbClr val="000000">
                      <a:alpha val="100000"/>
                    </a:srgbClr>
                  </a:solidFill>
                  <a:latin typeface="KaiTi"/>
                  <a:ea typeface="KaiTi"/>
                  <a:cs typeface="KaiTi"/>
                </a:rPr>
                <a:t>技高管</a:t>
              </a:r>
              <a:endParaRPr sz="1400" dirty="0">
                <a:latin typeface="KaiTi"/>
                <a:ea typeface="KaiTi"/>
                <a:cs typeface="KaiTi"/>
              </a:endParaRPr>
            </a:p>
          </p:txBody>
        </p:sp>
      </p:grpSp>
      <p:sp>
        <p:nvSpPr>
          <p:cNvPr id="610" name="textbox 610"/>
          <p:cNvSpPr/>
          <p:nvPr/>
        </p:nvSpPr>
        <p:spPr>
          <a:xfrm>
            <a:off x="554065" y="269270"/>
            <a:ext cx="8571230" cy="765175"/>
          </a:xfrm>
          <a:prstGeom prst="rect">
            <a:avLst/>
          </a:prstGeom>
          <a:noFill/>
          <a:ln w="0" cap="flat">
            <a:noFill/>
            <a:prstDash val="solid"/>
            <a:miter lim="0"/>
          </a:ln>
        </p:spPr>
        <p:txBody>
          <a:bodyPr vert="horz" wrap="square" lIns="0" tIns="0" rIns="0" bIns="0"/>
          <a:lstStyle/>
          <a:p>
            <a:pPr algn="l" rtl="0" eaLnBrk="0">
              <a:lnSpc>
                <a:spcPct val="74080"/>
              </a:lnSpc>
              <a:tabLst/>
            </a:pPr>
            <a:endParaRPr sz="100" dirty="0">
              <a:latin typeface="Arial"/>
              <a:ea typeface="Arial"/>
              <a:cs typeface="Arial"/>
            </a:endParaRPr>
          </a:p>
          <a:p>
            <a:pPr marL="12700" indent="10795" algn="l" rtl="0" eaLnBrk="0">
              <a:lnSpc>
                <a:spcPct val="90000"/>
              </a:lnSpc>
              <a:tabLst/>
            </a:pPr>
            <a:r>
              <a:rPr sz="2700" b="1" kern="0" spc="80" dirty="0">
                <a:solidFill>
                  <a:srgbClr val="BF756D">
                    <a:alpha val="100000"/>
                  </a:srgbClr>
                </a:solidFill>
                <a:latin typeface="KaiTi"/>
                <a:ea typeface="KaiTi"/>
                <a:cs typeface="KaiTi"/>
              </a:rPr>
              <a:t>资本面提前于产业爆发，</a:t>
            </a:r>
            <a:r>
              <a:rPr sz="2700" kern="0" spc="-1150" dirty="0">
                <a:solidFill>
                  <a:srgbClr val="BF756D">
                    <a:alpha val="100000"/>
                  </a:srgbClr>
                </a:solidFill>
                <a:latin typeface="KaiTi"/>
                <a:ea typeface="KaiTi"/>
                <a:cs typeface="KaiTi"/>
              </a:rPr>
              <a:t> </a:t>
            </a:r>
            <a:r>
              <a:rPr sz="2700" b="1" kern="0" spc="70" dirty="0">
                <a:solidFill>
                  <a:srgbClr val="BF756D">
                    <a:alpha val="100000"/>
                  </a:srgbClr>
                </a:solidFill>
                <a:latin typeface="KaiTi"/>
                <a:ea typeface="KaiTi"/>
                <a:cs typeface="KaiTi"/>
              </a:rPr>
              <a:t>“用钱投票”+“看人买单”</a:t>
            </a:r>
            <a:r>
              <a:rPr sz="2700" b="1" kern="0" spc="50" dirty="0">
                <a:solidFill>
                  <a:srgbClr val="BF756D">
                    <a:alpha val="100000"/>
                  </a:srgbClr>
                </a:solidFill>
                <a:latin typeface="KaiTi"/>
                <a:ea typeface="KaiTi"/>
                <a:cs typeface="KaiTi"/>
              </a:rPr>
              <a:t>逻辑清晰</a:t>
            </a:r>
            <a:endParaRPr sz="2700" dirty="0">
              <a:latin typeface="KaiTi"/>
              <a:ea typeface="KaiTi"/>
              <a:cs typeface="KaiTi"/>
            </a:endParaRPr>
          </a:p>
        </p:txBody>
      </p:sp>
      <p:sp>
        <p:nvSpPr>
          <p:cNvPr id="612" name="textbox 612"/>
          <p:cNvSpPr/>
          <p:nvPr/>
        </p:nvSpPr>
        <p:spPr>
          <a:xfrm>
            <a:off x="3710365" y="1375287"/>
            <a:ext cx="4326254" cy="228600"/>
          </a:xfrm>
          <a:prstGeom prst="rect">
            <a:avLst/>
          </a:prstGeom>
          <a:noFill/>
          <a:ln w="0" cap="flat">
            <a:noFill/>
            <a:prstDash val="solid"/>
            <a:miter lim="0"/>
          </a:ln>
        </p:spPr>
        <p:txBody>
          <a:bodyPr vert="horz" wrap="square" lIns="0" tIns="0" rIns="0" bIns="0"/>
          <a:lstStyle/>
          <a:p>
            <a:pPr algn="l" rtl="0" eaLnBrk="0">
              <a:lnSpc>
                <a:spcPct val="78469"/>
              </a:lnSpc>
              <a:tabLst/>
            </a:pPr>
            <a:endParaRPr sz="100" dirty="0">
              <a:latin typeface="Arial"/>
              <a:ea typeface="Arial"/>
              <a:cs typeface="Arial"/>
            </a:endParaRPr>
          </a:p>
          <a:p>
            <a:pPr marL="12700" algn="l" rtl="0" eaLnBrk="0">
              <a:lnSpc>
                <a:spcPct val="89000"/>
              </a:lnSpc>
              <a:tabLst/>
            </a:pPr>
            <a:r>
              <a:rPr sz="1500" b="1" kern="0" spc="80" dirty="0">
                <a:solidFill>
                  <a:srgbClr val="000000">
                    <a:alpha val="100000"/>
                  </a:srgbClr>
                </a:solidFill>
                <a:latin typeface="KaiTi"/>
                <a:ea typeface="KaiTi"/>
                <a:cs typeface="KaiTi"/>
              </a:rPr>
              <a:t>2025-2026中国具身公司“团队←→估值”</a:t>
            </a:r>
            <a:r>
              <a:rPr sz="1500" kern="0" spc="80" dirty="0">
                <a:solidFill>
                  <a:srgbClr val="000000">
                    <a:alpha val="100000"/>
                  </a:srgbClr>
                </a:solidFill>
                <a:latin typeface="KaiTi"/>
                <a:ea typeface="KaiTi"/>
                <a:cs typeface="KaiTi"/>
              </a:rPr>
              <a:t> </a:t>
            </a:r>
            <a:r>
              <a:rPr sz="1500" b="1" kern="0" spc="80" dirty="0">
                <a:solidFill>
                  <a:srgbClr val="000000">
                    <a:alpha val="100000"/>
                  </a:srgbClr>
                </a:solidFill>
                <a:latin typeface="KaiTi"/>
                <a:ea typeface="KaiTi"/>
                <a:cs typeface="KaiTi"/>
              </a:rPr>
              <a:t>分析</a:t>
            </a:r>
            <a:endParaRPr sz="1500" dirty="0">
              <a:latin typeface="KaiTi"/>
              <a:ea typeface="KaiTi"/>
              <a:cs typeface="KaiTi"/>
            </a:endParaRPr>
          </a:p>
        </p:txBody>
      </p:sp>
      <p:pic>
        <p:nvPicPr>
          <p:cNvPr id="614" name="picture 614"/>
          <p:cNvPicPr>
            <a:picLocks noChangeAspect="1"/>
          </p:cNvPicPr>
          <p:nvPr/>
        </p:nvPicPr>
        <p:blipFill>
          <a:blip r:embed="rId3"/>
          <a:stretch>
            <a:fillRect/>
          </a:stretch>
        </p:blipFill>
        <p:spPr>
          <a:xfrm rot="21600000">
            <a:off x="10114788" y="414528"/>
            <a:ext cx="1616964" cy="36575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6" name="picture 616"/>
          <p:cNvPicPr>
            <a:picLocks noChangeAspect="1"/>
          </p:cNvPicPr>
          <p:nvPr/>
        </p:nvPicPr>
        <p:blipFill>
          <a:blip r:embed="rId2"/>
          <a:stretch>
            <a:fillRect/>
          </a:stretch>
        </p:blipFill>
        <p:spPr>
          <a:xfrm rot="21600000">
            <a:off x="679704" y="1778508"/>
            <a:ext cx="10838688" cy="4351019"/>
          </a:xfrm>
          <a:prstGeom prst="rect">
            <a:avLst/>
          </a:prstGeom>
        </p:spPr>
      </p:pic>
      <p:grpSp>
        <p:nvGrpSpPr>
          <p:cNvPr id="46" name="group 46"/>
          <p:cNvGrpSpPr/>
          <p:nvPr/>
        </p:nvGrpSpPr>
        <p:grpSpPr>
          <a:xfrm rot="21600000">
            <a:off x="3805173" y="2636266"/>
            <a:ext cx="4567935" cy="2893059"/>
            <a:chOff x="0" y="0"/>
            <a:chExt cx="4567935" cy="2893059"/>
          </a:xfrm>
        </p:grpSpPr>
        <p:sp>
          <p:nvSpPr>
            <p:cNvPr id="618" name="path 618"/>
            <p:cNvSpPr/>
            <p:nvPr/>
          </p:nvSpPr>
          <p:spPr>
            <a:xfrm>
              <a:off x="1682750" y="6350"/>
              <a:ext cx="2878835" cy="2880359"/>
            </a:xfrm>
            <a:custGeom>
              <a:avLst/>
              <a:gdLst/>
              <a:ahLst/>
              <a:cxnLst/>
              <a:rect l="0" t="0" r="0" b="0"/>
              <a:pathLst>
                <a:path w="4533" h="4535">
                  <a:moveTo>
                    <a:pt x="0" y="2267"/>
                  </a:moveTo>
                  <a:cubicBezTo>
                    <a:pt x="0" y="1015"/>
                    <a:pt x="1014" y="0"/>
                    <a:pt x="2266" y="0"/>
                  </a:cubicBezTo>
                  <a:cubicBezTo>
                    <a:pt x="3518" y="0"/>
                    <a:pt x="4533" y="1015"/>
                    <a:pt x="4533" y="2267"/>
                  </a:cubicBezTo>
                  <a:cubicBezTo>
                    <a:pt x="4533" y="3520"/>
                    <a:pt x="3518" y="4535"/>
                    <a:pt x="2266" y="4535"/>
                  </a:cubicBezTo>
                  <a:cubicBezTo>
                    <a:pt x="1014" y="4535"/>
                    <a:pt x="0" y="3520"/>
                    <a:pt x="0" y="2267"/>
                  </a:cubicBezTo>
                </a:path>
              </a:pathLst>
            </a:custGeom>
            <a:solidFill>
              <a:srgbClr val="FEFFFF">
                <a:alpha val="100000"/>
              </a:srgbClr>
            </a:solidFill>
            <a:ln w="0" cap="flat">
              <a:noFill/>
              <a:prstDash val="solid"/>
              <a:miter lim="0"/>
            </a:ln>
          </p:spPr>
          <p:txBody>
            <a:bodyPr rtlCol="0"/>
            <a:lstStyle/>
            <a:p>
              <a:pPr algn="ctr"/>
              <a:endParaRPr lang="zh-CN" altLang="en-US"/>
            </a:p>
          </p:txBody>
        </p:sp>
        <p:sp>
          <p:nvSpPr>
            <p:cNvPr id="620" name="path 620"/>
            <p:cNvSpPr/>
            <p:nvPr/>
          </p:nvSpPr>
          <p:spPr>
            <a:xfrm>
              <a:off x="1676400" y="0"/>
              <a:ext cx="2891535" cy="2893059"/>
            </a:xfrm>
            <a:custGeom>
              <a:avLst/>
              <a:gdLst/>
              <a:ahLst/>
              <a:cxnLst/>
              <a:rect l="0" t="0" r="0" b="0"/>
              <a:pathLst>
                <a:path w="4553" h="4555">
                  <a:moveTo>
                    <a:pt x="10" y="2277"/>
                  </a:moveTo>
                  <a:cubicBezTo>
                    <a:pt x="10" y="1025"/>
                    <a:pt x="1024" y="10"/>
                    <a:pt x="2276" y="10"/>
                  </a:cubicBezTo>
                  <a:cubicBezTo>
                    <a:pt x="3528" y="10"/>
                    <a:pt x="4543" y="1025"/>
                    <a:pt x="4543" y="2277"/>
                  </a:cubicBezTo>
                  <a:cubicBezTo>
                    <a:pt x="4543" y="3530"/>
                    <a:pt x="3528" y="4545"/>
                    <a:pt x="2276" y="4545"/>
                  </a:cubicBezTo>
                  <a:cubicBezTo>
                    <a:pt x="1024" y="4545"/>
                    <a:pt x="10" y="3530"/>
                    <a:pt x="10" y="2277"/>
                  </a:cubicBezTo>
                </a:path>
              </a:pathLst>
            </a:custGeom>
            <a:noFill/>
            <a:ln w="12700" cap="sq">
              <a:solidFill>
                <a:srgbClr val="969696"/>
              </a:solidFill>
              <a:prstDash val="dash"/>
              <a:round/>
            </a:ln>
          </p:spPr>
          <p:txBody>
            <a:bodyPr rtlCol="0"/>
            <a:lstStyle/>
            <a:p>
              <a:pPr algn="ctr"/>
              <a:endParaRPr lang="zh-CN" altLang="en-US"/>
            </a:p>
          </p:txBody>
        </p:sp>
        <p:sp>
          <p:nvSpPr>
            <p:cNvPr id="622" name="path 622"/>
            <p:cNvSpPr/>
            <p:nvPr/>
          </p:nvSpPr>
          <p:spPr>
            <a:xfrm>
              <a:off x="6350" y="6350"/>
              <a:ext cx="2880360" cy="2880359"/>
            </a:xfrm>
            <a:custGeom>
              <a:avLst/>
              <a:gdLst/>
              <a:ahLst/>
              <a:cxnLst/>
              <a:rect l="0" t="0" r="0" b="0"/>
              <a:pathLst>
                <a:path w="4536" h="4535">
                  <a:moveTo>
                    <a:pt x="0" y="2267"/>
                  </a:moveTo>
                  <a:cubicBezTo>
                    <a:pt x="0" y="1015"/>
                    <a:pt x="1015" y="0"/>
                    <a:pt x="2267" y="0"/>
                  </a:cubicBezTo>
                  <a:cubicBezTo>
                    <a:pt x="3520" y="0"/>
                    <a:pt x="4536" y="1015"/>
                    <a:pt x="4536" y="2267"/>
                  </a:cubicBezTo>
                  <a:cubicBezTo>
                    <a:pt x="4536" y="3520"/>
                    <a:pt x="3520" y="4535"/>
                    <a:pt x="2267" y="4535"/>
                  </a:cubicBezTo>
                  <a:cubicBezTo>
                    <a:pt x="1015" y="4535"/>
                    <a:pt x="0" y="3520"/>
                    <a:pt x="0" y="2267"/>
                  </a:cubicBezTo>
                </a:path>
              </a:pathLst>
            </a:custGeom>
            <a:solidFill>
              <a:srgbClr val="FEFFFF">
                <a:alpha val="100000"/>
              </a:srgbClr>
            </a:solidFill>
            <a:ln w="0" cap="flat">
              <a:noFill/>
              <a:prstDash val="solid"/>
              <a:miter lim="0"/>
            </a:ln>
          </p:spPr>
          <p:txBody>
            <a:bodyPr rtlCol="0"/>
            <a:lstStyle/>
            <a:p>
              <a:pPr algn="ctr"/>
              <a:endParaRPr lang="zh-CN" altLang="en-US"/>
            </a:p>
          </p:txBody>
        </p:sp>
        <p:sp>
          <p:nvSpPr>
            <p:cNvPr id="624" name="path 624"/>
            <p:cNvSpPr/>
            <p:nvPr/>
          </p:nvSpPr>
          <p:spPr>
            <a:xfrm>
              <a:off x="0" y="0"/>
              <a:ext cx="2893060" cy="2893059"/>
            </a:xfrm>
            <a:custGeom>
              <a:avLst/>
              <a:gdLst/>
              <a:ahLst/>
              <a:cxnLst/>
              <a:rect l="0" t="0" r="0" b="0"/>
              <a:pathLst>
                <a:path w="4556" h="4555">
                  <a:moveTo>
                    <a:pt x="10" y="2277"/>
                  </a:moveTo>
                  <a:cubicBezTo>
                    <a:pt x="10" y="1025"/>
                    <a:pt x="1025" y="10"/>
                    <a:pt x="2277" y="10"/>
                  </a:cubicBezTo>
                  <a:cubicBezTo>
                    <a:pt x="3530" y="10"/>
                    <a:pt x="4546" y="1025"/>
                    <a:pt x="4546" y="2277"/>
                  </a:cubicBezTo>
                  <a:cubicBezTo>
                    <a:pt x="4546" y="3530"/>
                    <a:pt x="3530" y="4545"/>
                    <a:pt x="2277" y="4545"/>
                  </a:cubicBezTo>
                  <a:cubicBezTo>
                    <a:pt x="1025" y="4545"/>
                    <a:pt x="10" y="3530"/>
                    <a:pt x="10" y="2277"/>
                  </a:cubicBezTo>
                </a:path>
              </a:pathLst>
            </a:custGeom>
            <a:noFill/>
            <a:ln w="12700" cap="sq">
              <a:solidFill>
                <a:srgbClr val="BF756D"/>
              </a:solidFill>
              <a:prstDash val="dash"/>
              <a:round/>
            </a:ln>
          </p:spPr>
          <p:txBody>
            <a:bodyPr rtlCol="0"/>
            <a:lstStyle/>
            <a:p>
              <a:pPr algn="ctr"/>
              <a:endParaRPr lang="zh-CN" altLang="en-US"/>
            </a:p>
          </p:txBody>
        </p:sp>
        <p:sp>
          <p:nvSpPr>
            <p:cNvPr id="626" name="path 626"/>
            <p:cNvSpPr/>
            <p:nvPr/>
          </p:nvSpPr>
          <p:spPr>
            <a:xfrm>
              <a:off x="298958" y="263905"/>
              <a:ext cx="4012691" cy="2359152"/>
            </a:xfrm>
            <a:custGeom>
              <a:avLst/>
              <a:gdLst/>
              <a:ahLst/>
              <a:cxnLst/>
              <a:rect l="0" t="0" r="0" b="0"/>
              <a:pathLst>
                <a:path w="6319" h="3715">
                  <a:moveTo>
                    <a:pt x="4412" y="0"/>
                  </a:moveTo>
                  <a:lnTo>
                    <a:pt x="4460" y="0"/>
                  </a:lnTo>
                  <a:lnTo>
                    <a:pt x="4508" y="0"/>
                  </a:lnTo>
                  <a:lnTo>
                    <a:pt x="4555" y="2"/>
                  </a:lnTo>
                  <a:lnTo>
                    <a:pt x="4603" y="4"/>
                  </a:lnTo>
                  <a:lnTo>
                    <a:pt x="4649" y="9"/>
                  </a:lnTo>
                  <a:lnTo>
                    <a:pt x="4697" y="14"/>
                  </a:lnTo>
                  <a:lnTo>
                    <a:pt x="4742" y="21"/>
                  </a:lnTo>
                  <a:lnTo>
                    <a:pt x="4788" y="28"/>
                  </a:lnTo>
                  <a:lnTo>
                    <a:pt x="4834" y="37"/>
                  </a:lnTo>
                  <a:lnTo>
                    <a:pt x="4879" y="46"/>
                  </a:lnTo>
                  <a:lnTo>
                    <a:pt x="4924" y="58"/>
                  </a:lnTo>
                  <a:lnTo>
                    <a:pt x="4969" y="70"/>
                  </a:lnTo>
                  <a:lnTo>
                    <a:pt x="5012" y="83"/>
                  </a:lnTo>
                  <a:lnTo>
                    <a:pt x="5056" y="97"/>
                  </a:lnTo>
                  <a:lnTo>
                    <a:pt x="5099" y="112"/>
                  </a:lnTo>
                  <a:lnTo>
                    <a:pt x="5142" y="128"/>
                  </a:lnTo>
                  <a:lnTo>
                    <a:pt x="5184" y="145"/>
                  </a:lnTo>
                  <a:lnTo>
                    <a:pt x="5225" y="163"/>
                  </a:lnTo>
                  <a:lnTo>
                    <a:pt x="5266" y="183"/>
                  </a:lnTo>
                  <a:lnTo>
                    <a:pt x="5305" y="202"/>
                  </a:lnTo>
                  <a:lnTo>
                    <a:pt x="5345" y="224"/>
                  </a:lnTo>
                  <a:lnTo>
                    <a:pt x="5386" y="246"/>
                  </a:lnTo>
                  <a:lnTo>
                    <a:pt x="5424" y="268"/>
                  </a:lnTo>
                  <a:lnTo>
                    <a:pt x="5462" y="291"/>
                  </a:lnTo>
                  <a:lnTo>
                    <a:pt x="5499" y="316"/>
                  </a:lnTo>
                  <a:lnTo>
                    <a:pt x="5535" y="342"/>
                  </a:lnTo>
                  <a:lnTo>
                    <a:pt x="5572" y="369"/>
                  </a:lnTo>
                  <a:lnTo>
                    <a:pt x="5607" y="396"/>
                  </a:lnTo>
                  <a:lnTo>
                    <a:pt x="5642" y="424"/>
                  </a:lnTo>
                  <a:lnTo>
                    <a:pt x="5676" y="452"/>
                  </a:lnTo>
                  <a:lnTo>
                    <a:pt x="5710" y="483"/>
                  </a:lnTo>
                  <a:lnTo>
                    <a:pt x="5742" y="512"/>
                  </a:lnTo>
                  <a:lnTo>
                    <a:pt x="5775" y="544"/>
                  </a:lnTo>
                  <a:lnTo>
                    <a:pt x="5805" y="575"/>
                  </a:lnTo>
                  <a:lnTo>
                    <a:pt x="5836" y="608"/>
                  </a:lnTo>
                  <a:lnTo>
                    <a:pt x="5865" y="642"/>
                  </a:lnTo>
                  <a:lnTo>
                    <a:pt x="5894" y="676"/>
                  </a:lnTo>
                  <a:lnTo>
                    <a:pt x="5922" y="710"/>
                  </a:lnTo>
                  <a:lnTo>
                    <a:pt x="5949" y="745"/>
                  </a:lnTo>
                  <a:lnTo>
                    <a:pt x="5977" y="782"/>
                  </a:lnTo>
                  <a:lnTo>
                    <a:pt x="6001" y="819"/>
                  </a:lnTo>
                  <a:lnTo>
                    <a:pt x="6026" y="856"/>
                  </a:lnTo>
                  <a:lnTo>
                    <a:pt x="6049" y="894"/>
                  </a:lnTo>
                  <a:lnTo>
                    <a:pt x="6073" y="933"/>
                  </a:lnTo>
                  <a:lnTo>
                    <a:pt x="6095" y="971"/>
                  </a:lnTo>
                  <a:lnTo>
                    <a:pt x="6116" y="1011"/>
                  </a:lnTo>
                  <a:lnTo>
                    <a:pt x="6136" y="1052"/>
                  </a:lnTo>
                  <a:lnTo>
                    <a:pt x="6155" y="1093"/>
                  </a:lnTo>
                  <a:lnTo>
                    <a:pt x="6172" y="1134"/>
                  </a:lnTo>
                  <a:lnTo>
                    <a:pt x="6190" y="1176"/>
                  </a:lnTo>
                  <a:lnTo>
                    <a:pt x="6207" y="1219"/>
                  </a:lnTo>
                  <a:lnTo>
                    <a:pt x="6221" y="1262"/>
                  </a:lnTo>
                  <a:lnTo>
                    <a:pt x="6236" y="1305"/>
                  </a:lnTo>
                  <a:lnTo>
                    <a:pt x="6248" y="1348"/>
                  </a:lnTo>
                  <a:lnTo>
                    <a:pt x="6261" y="1393"/>
                  </a:lnTo>
                  <a:lnTo>
                    <a:pt x="6271" y="1437"/>
                  </a:lnTo>
                  <a:lnTo>
                    <a:pt x="6282" y="1484"/>
                  </a:lnTo>
                  <a:lnTo>
                    <a:pt x="6290" y="1528"/>
                  </a:lnTo>
                  <a:lnTo>
                    <a:pt x="6297" y="1575"/>
                  </a:lnTo>
                  <a:lnTo>
                    <a:pt x="6304" y="1620"/>
                  </a:lnTo>
                  <a:lnTo>
                    <a:pt x="6310" y="1667"/>
                  </a:lnTo>
                  <a:lnTo>
                    <a:pt x="6313" y="1715"/>
                  </a:lnTo>
                  <a:lnTo>
                    <a:pt x="6317" y="1761"/>
                  </a:lnTo>
                  <a:lnTo>
                    <a:pt x="6317" y="1809"/>
                  </a:lnTo>
                  <a:lnTo>
                    <a:pt x="6319" y="1857"/>
                  </a:lnTo>
                  <a:lnTo>
                    <a:pt x="5203" y="1857"/>
                  </a:lnTo>
                  <a:lnTo>
                    <a:pt x="5202" y="1819"/>
                  </a:lnTo>
                  <a:lnTo>
                    <a:pt x="5200" y="1781"/>
                  </a:lnTo>
                  <a:lnTo>
                    <a:pt x="5195" y="1743"/>
                  </a:lnTo>
                  <a:lnTo>
                    <a:pt x="5188" y="1707"/>
                  </a:lnTo>
                  <a:lnTo>
                    <a:pt x="5180" y="1672"/>
                  </a:lnTo>
                  <a:lnTo>
                    <a:pt x="5169" y="1636"/>
                  </a:lnTo>
                  <a:lnTo>
                    <a:pt x="5157" y="1602"/>
                  </a:lnTo>
                  <a:lnTo>
                    <a:pt x="5145" y="1568"/>
                  </a:lnTo>
                  <a:lnTo>
                    <a:pt x="5129" y="1535"/>
                  </a:lnTo>
                  <a:lnTo>
                    <a:pt x="5113" y="1503"/>
                  </a:lnTo>
                  <a:lnTo>
                    <a:pt x="5095" y="1471"/>
                  </a:lnTo>
                  <a:lnTo>
                    <a:pt x="5077" y="1441"/>
                  </a:lnTo>
                  <a:lnTo>
                    <a:pt x="5056" y="1413"/>
                  </a:lnTo>
                  <a:lnTo>
                    <a:pt x="5033" y="1385"/>
                  </a:lnTo>
                  <a:lnTo>
                    <a:pt x="5010" y="1358"/>
                  </a:lnTo>
                  <a:lnTo>
                    <a:pt x="4985" y="1332"/>
                  </a:lnTo>
                  <a:lnTo>
                    <a:pt x="4959" y="1308"/>
                  </a:lnTo>
                  <a:lnTo>
                    <a:pt x="4933" y="1284"/>
                  </a:lnTo>
                  <a:lnTo>
                    <a:pt x="4905" y="1262"/>
                  </a:lnTo>
                  <a:lnTo>
                    <a:pt x="4875" y="1241"/>
                  </a:lnTo>
                  <a:lnTo>
                    <a:pt x="4846" y="1222"/>
                  </a:lnTo>
                  <a:lnTo>
                    <a:pt x="4814" y="1203"/>
                  </a:lnTo>
                  <a:lnTo>
                    <a:pt x="4782" y="1187"/>
                  </a:lnTo>
                  <a:lnTo>
                    <a:pt x="4749" y="1173"/>
                  </a:lnTo>
                  <a:lnTo>
                    <a:pt x="4716" y="1158"/>
                  </a:lnTo>
                  <a:lnTo>
                    <a:pt x="4680" y="1147"/>
                  </a:lnTo>
                  <a:lnTo>
                    <a:pt x="4645" y="1137"/>
                  </a:lnTo>
                  <a:lnTo>
                    <a:pt x="4608" y="1130"/>
                  </a:lnTo>
                  <a:lnTo>
                    <a:pt x="4573" y="1123"/>
                  </a:lnTo>
                  <a:lnTo>
                    <a:pt x="4536" y="1117"/>
                  </a:lnTo>
                  <a:lnTo>
                    <a:pt x="4497" y="1116"/>
                  </a:lnTo>
                  <a:lnTo>
                    <a:pt x="4460" y="1114"/>
                  </a:lnTo>
                  <a:lnTo>
                    <a:pt x="4421" y="1116"/>
                  </a:lnTo>
                  <a:lnTo>
                    <a:pt x="4384" y="1117"/>
                  </a:lnTo>
                  <a:lnTo>
                    <a:pt x="4346" y="1123"/>
                  </a:lnTo>
                  <a:lnTo>
                    <a:pt x="4309" y="1130"/>
                  </a:lnTo>
                  <a:lnTo>
                    <a:pt x="4274" y="1137"/>
                  </a:lnTo>
                  <a:lnTo>
                    <a:pt x="4238" y="1147"/>
                  </a:lnTo>
                  <a:lnTo>
                    <a:pt x="4205" y="1158"/>
                  </a:lnTo>
                  <a:lnTo>
                    <a:pt x="4170" y="1173"/>
                  </a:lnTo>
                  <a:lnTo>
                    <a:pt x="4137" y="1187"/>
                  </a:lnTo>
                  <a:lnTo>
                    <a:pt x="4105" y="1203"/>
                  </a:lnTo>
                  <a:lnTo>
                    <a:pt x="4074" y="1222"/>
                  </a:lnTo>
                  <a:lnTo>
                    <a:pt x="4044" y="1241"/>
                  </a:lnTo>
                  <a:lnTo>
                    <a:pt x="4015" y="1262"/>
                  </a:lnTo>
                  <a:lnTo>
                    <a:pt x="3987" y="1284"/>
                  </a:lnTo>
                  <a:lnTo>
                    <a:pt x="3959" y="1308"/>
                  </a:lnTo>
                  <a:lnTo>
                    <a:pt x="3933" y="1332"/>
                  </a:lnTo>
                  <a:lnTo>
                    <a:pt x="3909" y="1358"/>
                  </a:lnTo>
                  <a:lnTo>
                    <a:pt x="3885" y="1385"/>
                  </a:lnTo>
                  <a:lnTo>
                    <a:pt x="3864" y="1413"/>
                  </a:lnTo>
                  <a:lnTo>
                    <a:pt x="3843" y="1441"/>
                  </a:lnTo>
                  <a:lnTo>
                    <a:pt x="3823" y="1471"/>
                  </a:lnTo>
                  <a:lnTo>
                    <a:pt x="3806" y="1503"/>
                  </a:lnTo>
                  <a:lnTo>
                    <a:pt x="3789" y="1535"/>
                  </a:lnTo>
                  <a:lnTo>
                    <a:pt x="3774" y="1568"/>
                  </a:lnTo>
                  <a:lnTo>
                    <a:pt x="3761" y="1602"/>
                  </a:lnTo>
                  <a:lnTo>
                    <a:pt x="3750" y="1636"/>
                  </a:lnTo>
                  <a:lnTo>
                    <a:pt x="3740" y="1672"/>
                  </a:lnTo>
                  <a:lnTo>
                    <a:pt x="3731" y="1707"/>
                  </a:lnTo>
                  <a:lnTo>
                    <a:pt x="3725" y="1743"/>
                  </a:lnTo>
                  <a:lnTo>
                    <a:pt x="3720" y="1781"/>
                  </a:lnTo>
                  <a:lnTo>
                    <a:pt x="3717" y="1819"/>
                  </a:lnTo>
                  <a:lnTo>
                    <a:pt x="3717" y="1857"/>
                  </a:lnTo>
                  <a:lnTo>
                    <a:pt x="2601" y="1857"/>
                  </a:lnTo>
                  <a:lnTo>
                    <a:pt x="2602" y="1809"/>
                  </a:lnTo>
                  <a:lnTo>
                    <a:pt x="2604" y="1761"/>
                  </a:lnTo>
                  <a:lnTo>
                    <a:pt x="2607" y="1715"/>
                  </a:lnTo>
                  <a:lnTo>
                    <a:pt x="2612" y="1667"/>
                  </a:lnTo>
                  <a:lnTo>
                    <a:pt x="2617" y="1620"/>
                  </a:lnTo>
                  <a:lnTo>
                    <a:pt x="2623" y="1575"/>
                  </a:lnTo>
                  <a:lnTo>
                    <a:pt x="2631" y="1528"/>
                  </a:lnTo>
                  <a:lnTo>
                    <a:pt x="2640" y="1484"/>
                  </a:lnTo>
                  <a:lnTo>
                    <a:pt x="2649" y="1437"/>
                  </a:lnTo>
                  <a:lnTo>
                    <a:pt x="2660" y="1393"/>
                  </a:lnTo>
                  <a:lnTo>
                    <a:pt x="2673" y="1348"/>
                  </a:lnTo>
                  <a:lnTo>
                    <a:pt x="2685" y="1305"/>
                  </a:lnTo>
                  <a:lnTo>
                    <a:pt x="2700" y="1262"/>
                  </a:lnTo>
                  <a:lnTo>
                    <a:pt x="2715" y="1219"/>
                  </a:lnTo>
                  <a:lnTo>
                    <a:pt x="2730" y="1176"/>
                  </a:lnTo>
                  <a:lnTo>
                    <a:pt x="2748" y="1134"/>
                  </a:lnTo>
                  <a:lnTo>
                    <a:pt x="2765" y="1093"/>
                  </a:lnTo>
                  <a:lnTo>
                    <a:pt x="2785" y="1052"/>
                  </a:lnTo>
                  <a:lnTo>
                    <a:pt x="2805" y="1011"/>
                  </a:lnTo>
                  <a:lnTo>
                    <a:pt x="2826" y="971"/>
                  </a:lnTo>
                  <a:lnTo>
                    <a:pt x="2847" y="933"/>
                  </a:lnTo>
                  <a:lnTo>
                    <a:pt x="2871" y="894"/>
                  </a:lnTo>
                  <a:lnTo>
                    <a:pt x="2894" y="856"/>
                  </a:lnTo>
                  <a:lnTo>
                    <a:pt x="2919" y="819"/>
                  </a:lnTo>
                  <a:lnTo>
                    <a:pt x="2945" y="782"/>
                  </a:lnTo>
                  <a:lnTo>
                    <a:pt x="2970" y="745"/>
                  </a:lnTo>
                  <a:lnTo>
                    <a:pt x="2999" y="710"/>
                  </a:lnTo>
                  <a:lnTo>
                    <a:pt x="3025" y="676"/>
                  </a:lnTo>
                  <a:lnTo>
                    <a:pt x="3055" y="642"/>
                  </a:lnTo>
                  <a:lnTo>
                    <a:pt x="3084" y="608"/>
                  </a:lnTo>
                  <a:lnTo>
                    <a:pt x="3114" y="575"/>
                  </a:lnTo>
                  <a:lnTo>
                    <a:pt x="3146" y="544"/>
                  </a:lnTo>
                  <a:lnTo>
                    <a:pt x="3178" y="512"/>
                  </a:lnTo>
                  <a:lnTo>
                    <a:pt x="3211" y="483"/>
                  </a:lnTo>
                  <a:lnTo>
                    <a:pt x="3243" y="452"/>
                  </a:lnTo>
                  <a:lnTo>
                    <a:pt x="3277" y="424"/>
                  </a:lnTo>
                  <a:lnTo>
                    <a:pt x="3313" y="396"/>
                  </a:lnTo>
                  <a:lnTo>
                    <a:pt x="3348" y="369"/>
                  </a:lnTo>
                  <a:lnTo>
                    <a:pt x="3384" y="342"/>
                  </a:lnTo>
                  <a:lnTo>
                    <a:pt x="3420" y="316"/>
                  </a:lnTo>
                  <a:lnTo>
                    <a:pt x="3458" y="291"/>
                  </a:lnTo>
                  <a:lnTo>
                    <a:pt x="3496" y="268"/>
                  </a:lnTo>
                  <a:lnTo>
                    <a:pt x="3535" y="246"/>
                  </a:lnTo>
                  <a:lnTo>
                    <a:pt x="3574" y="224"/>
                  </a:lnTo>
                  <a:lnTo>
                    <a:pt x="3614" y="202"/>
                  </a:lnTo>
                  <a:lnTo>
                    <a:pt x="3654" y="183"/>
                  </a:lnTo>
                  <a:lnTo>
                    <a:pt x="3695" y="163"/>
                  </a:lnTo>
                  <a:lnTo>
                    <a:pt x="3737" y="145"/>
                  </a:lnTo>
                  <a:lnTo>
                    <a:pt x="3778" y="128"/>
                  </a:lnTo>
                  <a:lnTo>
                    <a:pt x="3821" y="112"/>
                  </a:lnTo>
                  <a:lnTo>
                    <a:pt x="3863" y="97"/>
                  </a:lnTo>
                  <a:lnTo>
                    <a:pt x="3907" y="83"/>
                  </a:lnTo>
                  <a:lnTo>
                    <a:pt x="3951" y="70"/>
                  </a:lnTo>
                  <a:lnTo>
                    <a:pt x="3996" y="58"/>
                  </a:lnTo>
                  <a:lnTo>
                    <a:pt x="4040" y="46"/>
                  </a:lnTo>
                  <a:lnTo>
                    <a:pt x="4085" y="37"/>
                  </a:lnTo>
                  <a:lnTo>
                    <a:pt x="4130" y="28"/>
                  </a:lnTo>
                  <a:lnTo>
                    <a:pt x="4177" y="21"/>
                  </a:lnTo>
                  <a:lnTo>
                    <a:pt x="4223" y="14"/>
                  </a:lnTo>
                  <a:lnTo>
                    <a:pt x="4270" y="9"/>
                  </a:lnTo>
                  <a:lnTo>
                    <a:pt x="4317" y="4"/>
                  </a:lnTo>
                  <a:lnTo>
                    <a:pt x="4364" y="2"/>
                  </a:lnTo>
                  <a:lnTo>
                    <a:pt x="4412" y="0"/>
                  </a:lnTo>
                  <a:close/>
                </a:path>
                <a:path w="6319" h="3715">
                  <a:moveTo>
                    <a:pt x="0" y="1857"/>
                  </a:moveTo>
                  <a:lnTo>
                    <a:pt x="1115" y="1857"/>
                  </a:lnTo>
                  <a:lnTo>
                    <a:pt x="1116" y="1896"/>
                  </a:lnTo>
                  <a:lnTo>
                    <a:pt x="1119" y="1933"/>
                  </a:lnTo>
                  <a:lnTo>
                    <a:pt x="1123" y="1971"/>
                  </a:lnTo>
                  <a:lnTo>
                    <a:pt x="1130" y="2007"/>
                  </a:lnTo>
                  <a:lnTo>
                    <a:pt x="1138" y="2042"/>
                  </a:lnTo>
                  <a:lnTo>
                    <a:pt x="1149" y="2079"/>
                  </a:lnTo>
                  <a:lnTo>
                    <a:pt x="1161" y="2113"/>
                  </a:lnTo>
                  <a:lnTo>
                    <a:pt x="1173" y="2146"/>
                  </a:lnTo>
                  <a:lnTo>
                    <a:pt x="1189" y="2180"/>
                  </a:lnTo>
                  <a:lnTo>
                    <a:pt x="1205" y="2211"/>
                  </a:lnTo>
                  <a:lnTo>
                    <a:pt x="1223" y="2243"/>
                  </a:lnTo>
                  <a:lnTo>
                    <a:pt x="1242" y="2273"/>
                  </a:lnTo>
                  <a:lnTo>
                    <a:pt x="1263" y="2301"/>
                  </a:lnTo>
                  <a:lnTo>
                    <a:pt x="1285" y="2329"/>
                  </a:lnTo>
                  <a:lnTo>
                    <a:pt x="1308" y="2356"/>
                  </a:lnTo>
                  <a:lnTo>
                    <a:pt x="1333" y="2383"/>
                  </a:lnTo>
                  <a:lnTo>
                    <a:pt x="1359" y="2407"/>
                  </a:lnTo>
                  <a:lnTo>
                    <a:pt x="1385" y="2431"/>
                  </a:lnTo>
                  <a:lnTo>
                    <a:pt x="1414" y="2452"/>
                  </a:lnTo>
                  <a:lnTo>
                    <a:pt x="1443" y="2473"/>
                  </a:lnTo>
                  <a:lnTo>
                    <a:pt x="1473" y="2493"/>
                  </a:lnTo>
                  <a:lnTo>
                    <a:pt x="1504" y="2511"/>
                  </a:lnTo>
                  <a:lnTo>
                    <a:pt x="1536" y="2528"/>
                  </a:lnTo>
                  <a:lnTo>
                    <a:pt x="1569" y="2542"/>
                  </a:lnTo>
                  <a:lnTo>
                    <a:pt x="1603" y="2556"/>
                  </a:lnTo>
                  <a:lnTo>
                    <a:pt x="1638" y="2567"/>
                  </a:lnTo>
                  <a:lnTo>
                    <a:pt x="1673" y="2577"/>
                  </a:lnTo>
                  <a:lnTo>
                    <a:pt x="1710" y="2585"/>
                  </a:lnTo>
                  <a:lnTo>
                    <a:pt x="1745" y="2592"/>
                  </a:lnTo>
                  <a:lnTo>
                    <a:pt x="1782" y="2597"/>
                  </a:lnTo>
                  <a:lnTo>
                    <a:pt x="1821" y="2599"/>
                  </a:lnTo>
                  <a:lnTo>
                    <a:pt x="1858" y="2600"/>
                  </a:lnTo>
                  <a:lnTo>
                    <a:pt x="1897" y="2599"/>
                  </a:lnTo>
                  <a:lnTo>
                    <a:pt x="1935" y="2597"/>
                  </a:lnTo>
                  <a:lnTo>
                    <a:pt x="1972" y="2592"/>
                  </a:lnTo>
                  <a:lnTo>
                    <a:pt x="2009" y="2585"/>
                  </a:lnTo>
                  <a:lnTo>
                    <a:pt x="2045" y="2577"/>
                  </a:lnTo>
                  <a:lnTo>
                    <a:pt x="2080" y="2567"/>
                  </a:lnTo>
                  <a:lnTo>
                    <a:pt x="2114" y="2556"/>
                  </a:lnTo>
                  <a:lnTo>
                    <a:pt x="2148" y="2542"/>
                  </a:lnTo>
                  <a:lnTo>
                    <a:pt x="2181" y="2528"/>
                  </a:lnTo>
                  <a:lnTo>
                    <a:pt x="2213" y="2511"/>
                  </a:lnTo>
                  <a:lnTo>
                    <a:pt x="2244" y="2493"/>
                  </a:lnTo>
                  <a:lnTo>
                    <a:pt x="2274" y="2473"/>
                  </a:lnTo>
                  <a:lnTo>
                    <a:pt x="2304" y="2452"/>
                  </a:lnTo>
                  <a:lnTo>
                    <a:pt x="2332" y="2431"/>
                  </a:lnTo>
                  <a:lnTo>
                    <a:pt x="2359" y="2407"/>
                  </a:lnTo>
                  <a:lnTo>
                    <a:pt x="2385" y="2383"/>
                  </a:lnTo>
                  <a:lnTo>
                    <a:pt x="2409" y="2356"/>
                  </a:lnTo>
                  <a:lnTo>
                    <a:pt x="2433" y="2329"/>
                  </a:lnTo>
                  <a:lnTo>
                    <a:pt x="2454" y="2301"/>
                  </a:lnTo>
                  <a:lnTo>
                    <a:pt x="2475" y="2273"/>
                  </a:lnTo>
                  <a:lnTo>
                    <a:pt x="2495" y="2243"/>
                  </a:lnTo>
                  <a:lnTo>
                    <a:pt x="2512" y="2211"/>
                  </a:lnTo>
                  <a:lnTo>
                    <a:pt x="2529" y="2180"/>
                  </a:lnTo>
                  <a:lnTo>
                    <a:pt x="2544" y="2146"/>
                  </a:lnTo>
                  <a:lnTo>
                    <a:pt x="2557" y="2113"/>
                  </a:lnTo>
                  <a:lnTo>
                    <a:pt x="2569" y="2079"/>
                  </a:lnTo>
                  <a:lnTo>
                    <a:pt x="2578" y="2042"/>
                  </a:lnTo>
                  <a:lnTo>
                    <a:pt x="2587" y="2007"/>
                  </a:lnTo>
                  <a:lnTo>
                    <a:pt x="2593" y="1971"/>
                  </a:lnTo>
                  <a:lnTo>
                    <a:pt x="2598" y="1933"/>
                  </a:lnTo>
                  <a:lnTo>
                    <a:pt x="2601" y="1896"/>
                  </a:lnTo>
                  <a:lnTo>
                    <a:pt x="2601" y="1857"/>
                  </a:lnTo>
                  <a:lnTo>
                    <a:pt x="3717" y="1857"/>
                  </a:lnTo>
                  <a:lnTo>
                    <a:pt x="3716" y="1905"/>
                  </a:lnTo>
                  <a:lnTo>
                    <a:pt x="3715" y="1953"/>
                  </a:lnTo>
                  <a:lnTo>
                    <a:pt x="3711" y="2000"/>
                  </a:lnTo>
                  <a:lnTo>
                    <a:pt x="3706" y="2047"/>
                  </a:lnTo>
                  <a:lnTo>
                    <a:pt x="3702" y="2094"/>
                  </a:lnTo>
                  <a:lnTo>
                    <a:pt x="3695" y="2139"/>
                  </a:lnTo>
                  <a:lnTo>
                    <a:pt x="3688" y="2187"/>
                  </a:lnTo>
                  <a:lnTo>
                    <a:pt x="3678" y="2231"/>
                  </a:lnTo>
                  <a:lnTo>
                    <a:pt x="3669" y="2277"/>
                  </a:lnTo>
                  <a:lnTo>
                    <a:pt x="3658" y="2321"/>
                  </a:lnTo>
                  <a:lnTo>
                    <a:pt x="3645" y="2366"/>
                  </a:lnTo>
                  <a:lnTo>
                    <a:pt x="3633" y="2409"/>
                  </a:lnTo>
                  <a:lnTo>
                    <a:pt x="3619" y="2452"/>
                  </a:lnTo>
                  <a:lnTo>
                    <a:pt x="3603" y="2496"/>
                  </a:lnTo>
                  <a:lnTo>
                    <a:pt x="3588" y="2538"/>
                  </a:lnTo>
                  <a:lnTo>
                    <a:pt x="3571" y="2580"/>
                  </a:lnTo>
                  <a:lnTo>
                    <a:pt x="3553" y="2621"/>
                  </a:lnTo>
                  <a:lnTo>
                    <a:pt x="3533" y="2662"/>
                  </a:lnTo>
                  <a:lnTo>
                    <a:pt x="3513" y="2703"/>
                  </a:lnTo>
                  <a:lnTo>
                    <a:pt x="3492" y="2743"/>
                  </a:lnTo>
                  <a:lnTo>
                    <a:pt x="3471" y="2782"/>
                  </a:lnTo>
                  <a:lnTo>
                    <a:pt x="3447" y="2821"/>
                  </a:lnTo>
                  <a:lnTo>
                    <a:pt x="3424" y="2858"/>
                  </a:lnTo>
                  <a:lnTo>
                    <a:pt x="3399" y="2896"/>
                  </a:lnTo>
                  <a:lnTo>
                    <a:pt x="3373" y="2933"/>
                  </a:lnTo>
                  <a:lnTo>
                    <a:pt x="3348" y="2969"/>
                  </a:lnTo>
                  <a:lnTo>
                    <a:pt x="3320" y="3005"/>
                  </a:lnTo>
                  <a:lnTo>
                    <a:pt x="3293" y="3038"/>
                  </a:lnTo>
                  <a:lnTo>
                    <a:pt x="3263" y="3072"/>
                  </a:lnTo>
                  <a:lnTo>
                    <a:pt x="3234" y="3106"/>
                  </a:lnTo>
                  <a:lnTo>
                    <a:pt x="3204" y="3140"/>
                  </a:lnTo>
                  <a:lnTo>
                    <a:pt x="3172" y="3171"/>
                  </a:lnTo>
                  <a:lnTo>
                    <a:pt x="3141" y="3203"/>
                  </a:lnTo>
                  <a:lnTo>
                    <a:pt x="3107" y="3232"/>
                  </a:lnTo>
                  <a:lnTo>
                    <a:pt x="3075" y="3262"/>
                  </a:lnTo>
                  <a:lnTo>
                    <a:pt x="3041" y="3291"/>
                  </a:lnTo>
                  <a:lnTo>
                    <a:pt x="3005" y="3319"/>
                  </a:lnTo>
                  <a:lnTo>
                    <a:pt x="2970" y="3346"/>
                  </a:lnTo>
                  <a:lnTo>
                    <a:pt x="2934" y="3372"/>
                  </a:lnTo>
                  <a:lnTo>
                    <a:pt x="2898" y="3398"/>
                  </a:lnTo>
                  <a:lnTo>
                    <a:pt x="2860" y="3423"/>
                  </a:lnTo>
                  <a:lnTo>
                    <a:pt x="2822" y="3447"/>
                  </a:lnTo>
                  <a:lnTo>
                    <a:pt x="2783" y="3468"/>
                  </a:lnTo>
                  <a:lnTo>
                    <a:pt x="2745" y="3491"/>
                  </a:lnTo>
                  <a:lnTo>
                    <a:pt x="2704" y="3512"/>
                  </a:lnTo>
                  <a:lnTo>
                    <a:pt x="2665" y="3532"/>
                  </a:lnTo>
                  <a:lnTo>
                    <a:pt x="2623" y="3551"/>
                  </a:lnTo>
                  <a:lnTo>
                    <a:pt x="2581" y="3570"/>
                  </a:lnTo>
                  <a:lnTo>
                    <a:pt x="2540" y="3586"/>
                  </a:lnTo>
                  <a:lnTo>
                    <a:pt x="2497" y="3602"/>
                  </a:lnTo>
                  <a:lnTo>
                    <a:pt x="2455" y="3618"/>
                  </a:lnTo>
                  <a:lnTo>
                    <a:pt x="2412" y="3632"/>
                  </a:lnTo>
                  <a:lnTo>
                    <a:pt x="2367" y="3644"/>
                  </a:lnTo>
                  <a:lnTo>
                    <a:pt x="2322" y="3656"/>
                  </a:lnTo>
                  <a:lnTo>
                    <a:pt x="2278" y="3668"/>
                  </a:lnTo>
                  <a:lnTo>
                    <a:pt x="2233" y="3677"/>
                  </a:lnTo>
                  <a:lnTo>
                    <a:pt x="2188" y="3687"/>
                  </a:lnTo>
                  <a:lnTo>
                    <a:pt x="2142" y="3694"/>
                  </a:lnTo>
                  <a:lnTo>
                    <a:pt x="2095" y="3701"/>
                  </a:lnTo>
                  <a:lnTo>
                    <a:pt x="2048" y="3705"/>
                  </a:lnTo>
                  <a:lnTo>
                    <a:pt x="2002" y="3710"/>
                  </a:lnTo>
                  <a:lnTo>
                    <a:pt x="1954" y="3712"/>
                  </a:lnTo>
                  <a:lnTo>
                    <a:pt x="1906" y="3715"/>
                  </a:lnTo>
                  <a:lnTo>
                    <a:pt x="1858" y="3715"/>
                  </a:lnTo>
                  <a:lnTo>
                    <a:pt x="1810" y="3715"/>
                  </a:lnTo>
                  <a:lnTo>
                    <a:pt x="1763" y="3712"/>
                  </a:lnTo>
                  <a:lnTo>
                    <a:pt x="1715" y="3710"/>
                  </a:lnTo>
                  <a:lnTo>
                    <a:pt x="1669" y="3705"/>
                  </a:lnTo>
                  <a:lnTo>
                    <a:pt x="1621" y="3701"/>
                  </a:lnTo>
                  <a:lnTo>
                    <a:pt x="1576" y="3694"/>
                  </a:lnTo>
                  <a:lnTo>
                    <a:pt x="1530" y="3687"/>
                  </a:lnTo>
                  <a:lnTo>
                    <a:pt x="1484" y="3677"/>
                  </a:lnTo>
                  <a:lnTo>
                    <a:pt x="1439" y="3668"/>
                  </a:lnTo>
                  <a:lnTo>
                    <a:pt x="1394" y="3656"/>
                  </a:lnTo>
                  <a:lnTo>
                    <a:pt x="1349" y="3644"/>
                  </a:lnTo>
                  <a:lnTo>
                    <a:pt x="1306" y="3632"/>
                  </a:lnTo>
                  <a:lnTo>
                    <a:pt x="1263" y="3618"/>
                  </a:lnTo>
                  <a:lnTo>
                    <a:pt x="1219" y="3602"/>
                  </a:lnTo>
                  <a:lnTo>
                    <a:pt x="1177" y="3586"/>
                  </a:lnTo>
                  <a:lnTo>
                    <a:pt x="1135" y="3570"/>
                  </a:lnTo>
                  <a:lnTo>
                    <a:pt x="1093" y="3551"/>
                  </a:lnTo>
                  <a:lnTo>
                    <a:pt x="1052" y="3532"/>
                  </a:lnTo>
                  <a:lnTo>
                    <a:pt x="1013" y="3512"/>
                  </a:lnTo>
                  <a:lnTo>
                    <a:pt x="973" y="3491"/>
                  </a:lnTo>
                  <a:lnTo>
                    <a:pt x="933" y="3468"/>
                  </a:lnTo>
                  <a:lnTo>
                    <a:pt x="894" y="3447"/>
                  </a:lnTo>
                  <a:lnTo>
                    <a:pt x="857" y="3423"/>
                  </a:lnTo>
                  <a:lnTo>
                    <a:pt x="819" y="3398"/>
                  </a:lnTo>
                  <a:lnTo>
                    <a:pt x="783" y="3372"/>
                  </a:lnTo>
                  <a:lnTo>
                    <a:pt x="746" y="3346"/>
                  </a:lnTo>
                  <a:lnTo>
                    <a:pt x="711" y="3319"/>
                  </a:lnTo>
                  <a:lnTo>
                    <a:pt x="676" y="3291"/>
                  </a:lnTo>
                  <a:lnTo>
                    <a:pt x="642" y="3262"/>
                  </a:lnTo>
                  <a:lnTo>
                    <a:pt x="608" y="3232"/>
                  </a:lnTo>
                  <a:lnTo>
                    <a:pt x="577" y="3203"/>
                  </a:lnTo>
                  <a:lnTo>
                    <a:pt x="543" y="3171"/>
                  </a:lnTo>
                  <a:lnTo>
                    <a:pt x="513" y="3140"/>
                  </a:lnTo>
                  <a:lnTo>
                    <a:pt x="482" y="3106"/>
                  </a:lnTo>
                  <a:lnTo>
                    <a:pt x="453" y="3072"/>
                  </a:lnTo>
                  <a:lnTo>
                    <a:pt x="424" y="3038"/>
                  </a:lnTo>
                  <a:lnTo>
                    <a:pt x="396" y="3005"/>
                  </a:lnTo>
                  <a:lnTo>
                    <a:pt x="369" y="2969"/>
                  </a:lnTo>
                  <a:lnTo>
                    <a:pt x="342" y="2933"/>
                  </a:lnTo>
                  <a:lnTo>
                    <a:pt x="317" y="2896"/>
                  </a:lnTo>
                  <a:lnTo>
                    <a:pt x="292" y="2858"/>
                  </a:lnTo>
                  <a:lnTo>
                    <a:pt x="269" y="2821"/>
                  </a:lnTo>
                  <a:lnTo>
                    <a:pt x="245" y="2782"/>
                  </a:lnTo>
                  <a:lnTo>
                    <a:pt x="223" y="2743"/>
                  </a:lnTo>
                  <a:lnTo>
                    <a:pt x="202" y="2703"/>
                  </a:lnTo>
                  <a:lnTo>
                    <a:pt x="182" y="2662"/>
                  </a:lnTo>
                  <a:lnTo>
                    <a:pt x="163" y="2621"/>
                  </a:lnTo>
                  <a:lnTo>
                    <a:pt x="146" y="2580"/>
                  </a:lnTo>
                  <a:lnTo>
                    <a:pt x="128" y="2538"/>
                  </a:lnTo>
                  <a:lnTo>
                    <a:pt x="112" y="2496"/>
                  </a:lnTo>
                  <a:lnTo>
                    <a:pt x="97" y="2452"/>
                  </a:lnTo>
                  <a:lnTo>
                    <a:pt x="83" y="2409"/>
                  </a:lnTo>
                  <a:lnTo>
                    <a:pt x="70" y="2366"/>
                  </a:lnTo>
                  <a:lnTo>
                    <a:pt x="58" y="2321"/>
                  </a:lnTo>
                  <a:lnTo>
                    <a:pt x="47" y="2277"/>
                  </a:lnTo>
                  <a:lnTo>
                    <a:pt x="37" y="2231"/>
                  </a:lnTo>
                  <a:lnTo>
                    <a:pt x="28" y="2187"/>
                  </a:lnTo>
                  <a:lnTo>
                    <a:pt x="21" y="2139"/>
                  </a:lnTo>
                  <a:lnTo>
                    <a:pt x="14" y="2094"/>
                  </a:lnTo>
                  <a:lnTo>
                    <a:pt x="9" y="2047"/>
                  </a:lnTo>
                  <a:lnTo>
                    <a:pt x="5" y="2000"/>
                  </a:lnTo>
                  <a:lnTo>
                    <a:pt x="2" y="1953"/>
                  </a:lnTo>
                  <a:lnTo>
                    <a:pt x="1" y="1905"/>
                  </a:lnTo>
                  <a:lnTo>
                    <a:pt x="0" y="1857"/>
                  </a:lnTo>
                  <a:close/>
                </a:path>
              </a:pathLst>
            </a:custGeom>
            <a:solidFill>
              <a:srgbClr val="DFA87F">
                <a:alpha val="100000"/>
              </a:srgbClr>
            </a:solidFill>
            <a:ln w="0" cap="flat">
              <a:noFill/>
              <a:prstDash val="solid"/>
              <a:miter lim="0"/>
            </a:ln>
          </p:spPr>
          <p:txBody>
            <a:bodyPr rtlCol="0"/>
            <a:lstStyle/>
            <a:p>
              <a:pPr algn="ctr"/>
              <a:endParaRPr lang="zh-CN" altLang="en-US"/>
            </a:p>
          </p:txBody>
        </p:sp>
        <p:sp>
          <p:nvSpPr>
            <p:cNvPr id="628" name="path 628"/>
            <p:cNvSpPr/>
            <p:nvPr/>
          </p:nvSpPr>
          <p:spPr>
            <a:xfrm>
              <a:off x="298958" y="263905"/>
              <a:ext cx="4012691" cy="2359152"/>
            </a:xfrm>
            <a:custGeom>
              <a:avLst/>
              <a:gdLst/>
              <a:ahLst/>
              <a:cxnLst/>
              <a:rect l="0" t="0" r="0" b="0"/>
              <a:pathLst>
                <a:path w="6319" h="3715">
                  <a:moveTo>
                    <a:pt x="1810" y="0"/>
                  </a:moveTo>
                  <a:lnTo>
                    <a:pt x="1858" y="0"/>
                  </a:lnTo>
                  <a:lnTo>
                    <a:pt x="1858" y="0"/>
                  </a:lnTo>
                  <a:lnTo>
                    <a:pt x="1906" y="0"/>
                  </a:lnTo>
                  <a:lnTo>
                    <a:pt x="1954" y="2"/>
                  </a:lnTo>
                  <a:lnTo>
                    <a:pt x="2002" y="4"/>
                  </a:lnTo>
                  <a:lnTo>
                    <a:pt x="2049" y="9"/>
                  </a:lnTo>
                  <a:lnTo>
                    <a:pt x="2095" y="14"/>
                  </a:lnTo>
                  <a:lnTo>
                    <a:pt x="2142" y="21"/>
                  </a:lnTo>
                  <a:lnTo>
                    <a:pt x="2188" y="28"/>
                  </a:lnTo>
                  <a:lnTo>
                    <a:pt x="2233" y="37"/>
                  </a:lnTo>
                  <a:lnTo>
                    <a:pt x="2278" y="46"/>
                  </a:lnTo>
                  <a:lnTo>
                    <a:pt x="2322" y="58"/>
                  </a:lnTo>
                  <a:lnTo>
                    <a:pt x="2367" y="70"/>
                  </a:lnTo>
                  <a:lnTo>
                    <a:pt x="2412" y="83"/>
                  </a:lnTo>
                  <a:lnTo>
                    <a:pt x="2455" y="97"/>
                  </a:lnTo>
                  <a:lnTo>
                    <a:pt x="2497" y="112"/>
                  </a:lnTo>
                  <a:lnTo>
                    <a:pt x="2541" y="128"/>
                  </a:lnTo>
                  <a:lnTo>
                    <a:pt x="2582" y="145"/>
                  </a:lnTo>
                  <a:lnTo>
                    <a:pt x="2624" y="163"/>
                  </a:lnTo>
                  <a:lnTo>
                    <a:pt x="2665" y="183"/>
                  </a:lnTo>
                  <a:lnTo>
                    <a:pt x="2704" y="203"/>
                  </a:lnTo>
                  <a:lnTo>
                    <a:pt x="2745" y="224"/>
                  </a:lnTo>
                  <a:lnTo>
                    <a:pt x="2783" y="246"/>
                  </a:lnTo>
                  <a:lnTo>
                    <a:pt x="2822" y="268"/>
                  </a:lnTo>
                  <a:lnTo>
                    <a:pt x="2861" y="291"/>
                  </a:lnTo>
                  <a:lnTo>
                    <a:pt x="2898" y="316"/>
                  </a:lnTo>
                  <a:lnTo>
                    <a:pt x="2934" y="342"/>
                  </a:lnTo>
                  <a:lnTo>
                    <a:pt x="2971" y="369"/>
                  </a:lnTo>
                  <a:lnTo>
                    <a:pt x="3006" y="396"/>
                  </a:lnTo>
                  <a:lnTo>
                    <a:pt x="3041" y="424"/>
                  </a:lnTo>
                  <a:lnTo>
                    <a:pt x="3075" y="452"/>
                  </a:lnTo>
                  <a:lnTo>
                    <a:pt x="3107" y="483"/>
                  </a:lnTo>
                  <a:lnTo>
                    <a:pt x="3141" y="512"/>
                  </a:lnTo>
                  <a:lnTo>
                    <a:pt x="3172" y="544"/>
                  </a:lnTo>
                  <a:lnTo>
                    <a:pt x="3204" y="575"/>
                  </a:lnTo>
                  <a:lnTo>
                    <a:pt x="3234" y="608"/>
                  </a:lnTo>
                  <a:lnTo>
                    <a:pt x="3263" y="642"/>
                  </a:lnTo>
                  <a:lnTo>
                    <a:pt x="3293" y="676"/>
                  </a:lnTo>
                  <a:lnTo>
                    <a:pt x="3320" y="710"/>
                  </a:lnTo>
                  <a:lnTo>
                    <a:pt x="3348" y="745"/>
                  </a:lnTo>
                  <a:lnTo>
                    <a:pt x="3374" y="782"/>
                  </a:lnTo>
                  <a:lnTo>
                    <a:pt x="3399" y="819"/>
                  </a:lnTo>
                  <a:lnTo>
                    <a:pt x="3424" y="857"/>
                  </a:lnTo>
                  <a:lnTo>
                    <a:pt x="3447" y="894"/>
                  </a:lnTo>
                  <a:lnTo>
                    <a:pt x="3471" y="933"/>
                  </a:lnTo>
                  <a:lnTo>
                    <a:pt x="3492" y="971"/>
                  </a:lnTo>
                  <a:lnTo>
                    <a:pt x="3513" y="1012"/>
                  </a:lnTo>
                  <a:lnTo>
                    <a:pt x="3533" y="1053"/>
                  </a:lnTo>
                  <a:lnTo>
                    <a:pt x="3553" y="1094"/>
                  </a:lnTo>
                  <a:lnTo>
                    <a:pt x="3571" y="1135"/>
                  </a:lnTo>
                  <a:lnTo>
                    <a:pt x="3588" y="1177"/>
                  </a:lnTo>
                  <a:lnTo>
                    <a:pt x="3603" y="1219"/>
                  </a:lnTo>
                  <a:lnTo>
                    <a:pt x="3619" y="1263"/>
                  </a:lnTo>
                  <a:lnTo>
                    <a:pt x="3633" y="1305"/>
                  </a:lnTo>
                  <a:lnTo>
                    <a:pt x="3646" y="1349"/>
                  </a:lnTo>
                  <a:lnTo>
                    <a:pt x="3659" y="1394"/>
                  </a:lnTo>
                  <a:lnTo>
                    <a:pt x="3669" y="1438"/>
                  </a:lnTo>
                  <a:lnTo>
                    <a:pt x="3678" y="1484"/>
                  </a:lnTo>
                  <a:lnTo>
                    <a:pt x="3688" y="1528"/>
                  </a:lnTo>
                  <a:lnTo>
                    <a:pt x="3695" y="1576"/>
                  </a:lnTo>
                  <a:lnTo>
                    <a:pt x="3702" y="1621"/>
                  </a:lnTo>
                  <a:lnTo>
                    <a:pt x="3706" y="1668"/>
                  </a:lnTo>
                  <a:lnTo>
                    <a:pt x="3712" y="1715"/>
                  </a:lnTo>
                  <a:lnTo>
                    <a:pt x="3715" y="1762"/>
                  </a:lnTo>
                  <a:lnTo>
                    <a:pt x="3716" y="1810"/>
                  </a:lnTo>
                  <a:lnTo>
                    <a:pt x="3717" y="1858"/>
                  </a:lnTo>
                  <a:lnTo>
                    <a:pt x="3717" y="1858"/>
                  </a:lnTo>
                  <a:lnTo>
                    <a:pt x="3717" y="1896"/>
                  </a:lnTo>
                  <a:lnTo>
                    <a:pt x="3720" y="1934"/>
                  </a:lnTo>
                  <a:lnTo>
                    <a:pt x="3725" y="1972"/>
                  </a:lnTo>
                  <a:lnTo>
                    <a:pt x="3731" y="2008"/>
                  </a:lnTo>
                  <a:lnTo>
                    <a:pt x="3740" y="2043"/>
                  </a:lnTo>
                  <a:lnTo>
                    <a:pt x="3750" y="2079"/>
                  </a:lnTo>
                  <a:lnTo>
                    <a:pt x="3761" y="2113"/>
                  </a:lnTo>
                  <a:lnTo>
                    <a:pt x="3774" y="2147"/>
                  </a:lnTo>
                  <a:lnTo>
                    <a:pt x="3789" y="2180"/>
                  </a:lnTo>
                  <a:lnTo>
                    <a:pt x="3806" y="2212"/>
                  </a:lnTo>
                  <a:lnTo>
                    <a:pt x="3823" y="2244"/>
                  </a:lnTo>
                  <a:lnTo>
                    <a:pt x="3843" y="2274"/>
                  </a:lnTo>
                  <a:lnTo>
                    <a:pt x="3864" y="2302"/>
                  </a:lnTo>
                  <a:lnTo>
                    <a:pt x="3885" y="2330"/>
                  </a:lnTo>
                  <a:lnTo>
                    <a:pt x="3909" y="2357"/>
                  </a:lnTo>
                  <a:lnTo>
                    <a:pt x="3933" y="2383"/>
                  </a:lnTo>
                  <a:lnTo>
                    <a:pt x="3959" y="2407"/>
                  </a:lnTo>
                  <a:lnTo>
                    <a:pt x="3986" y="2431"/>
                  </a:lnTo>
                  <a:lnTo>
                    <a:pt x="4015" y="2453"/>
                  </a:lnTo>
                  <a:lnTo>
                    <a:pt x="4044" y="2474"/>
                  </a:lnTo>
                  <a:lnTo>
                    <a:pt x="4074" y="2493"/>
                  </a:lnTo>
                  <a:lnTo>
                    <a:pt x="4105" y="2512"/>
                  </a:lnTo>
                  <a:lnTo>
                    <a:pt x="4137" y="2528"/>
                  </a:lnTo>
                  <a:lnTo>
                    <a:pt x="4170" y="2542"/>
                  </a:lnTo>
                  <a:lnTo>
                    <a:pt x="4205" y="2556"/>
                  </a:lnTo>
                  <a:lnTo>
                    <a:pt x="4238" y="2568"/>
                  </a:lnTo>
                  <a:lnTo>
                    <a:pt x="4274" y="2577"/>
                  </a:lnTo>
                  <a:lnTo>
                    <a:pt x="4309" y="2585"/>
                  </a:lnTo>
                  <a:lnTo>
                    <a:pt x="4346" y="2592"/>
                  </a:lnTo>
                  <a:lnTo>
                    <a:pt x="4384" y="2597"/>
                  </a:lnTo>
                  <a:lnTo>
                    <a:pt x="4421" y="2599"/>
                  </a:lnTo>
                  <a:lnTo>
                    <a:pt x="4460" y="2600"/>
                  </a:lnTo>
                  <a:lnTo>
                    <a:pt x="4497" y="2599"/>
                  </a:lnTo>
                  <a:lnTo>
                    <a:pt x="4536" y="2597"/>
                  </a:lnTo>
                  <a:lnTo>
                    <a:pt x="4572" y="2592"/>
                  </a:lnTo>
                  <a:lnTo>
                    <a:pt x="4608" y="2585"/>
                  </a:lnTo>
                  <a:lnTo>
                    <a:pt x="4645" y="2577"/>
                  </a:lnTo>
                  <a:lnTo>
                    <a:pt x="4680" y="2568"/>
                  </a:lnTo>
                  <a:lnTo>
                    <a:pt x="4715" y="2556"/>
                  </a:lnTo>
                  <a:lnTo>
                    <a:pt x="4749" y="2542"/>
                  </a:lnTo>
                  <a:lnTo>
                    <a:pt x="4782" y="2528"/>
                  </a:lnTo>
                  <a:lnTo>
                    <a:pt x="4814" y="2512"/>
                  </a:lnTo>
                  <a:lnTo>
                    <a:pt x="4846" y="2493"/>
                  </a:lnTo>
                  <a:lnTo>
                    <a:pt x="4875" y="2474"/>
                  </a:lnTo>
                  <a:lnTo>
                    <a:pt x="4904" y="2453"/>
                  </a:lnTo>
                  <a:lnTo>
                    <a:pt x="4932" y="2431"/>
                  </a:lnTo>
                  <a:lnTo>
                    <a:pt x="4959" y="2407"/>
                  </a:lnTo>
                  <a:lnTo>
                    <a:pt x="4985" y="2383"/>
                  </a:lnTo>
                  <a:lnTo>
                    <a:pt x="5010" y="2357"/>
                  </a:lnTo>
                  <a:lnTo>
                    <a:pt x="5033" y="2330"/>
                  </a:lnTo>
                  <a:lnTo>
                    <a:pt x="5056" y="2302"/>
                  </a:lnTo>
                  <a:lnTo>
                    <a:pt x="5077" y="2274"/>
                  </a:lnTo>
                  <a:lnTo>
                    <a:pt x="5095" y="2244"/>
                  </a:lnTo>
                  <a:lnTo>
                    <a:pt x="5113" y="2212"/>
                  </a:lnTo>
                  <a:lnTo>
                    <a:pt x="5129" y="2180"/>
                  </a:lnTo>
                  <a:lnTo>
                    <a:pt x="5145" y="2147"/>
                  </a:lnTo>
                  <a:lnTo>
                    <a:pt x="5157" y="2113"/>
                  </a:lnTo>
                  <a:lnTo>
                    <a:pt x="5169" y="2079"/>
                  </a:lnTo>
                  <a:lnTo>
                    <a:pt x="5180" y="2043"/>
                  </a:lnTo>
                  <a:lnTo>
                    <a:pt x="5188" y="2008"/>
                  </a:lnTo>
                  <a:lnTo>
                    <a:pt x="5195" y="1972"/>
                  </a:lnTo>
                  <a:lnTo>
                    <a:pt x="5200" y="1934"/>
                  </a:lnTo>
                  <a:lnTo>
                    <a:pt x="5202" y="1896"/>
                  </a:lnTo>
                  <a:lnTo>
                    <a:pt x="5203" y="1858"/>
                  </a:lnTo>
                  <a:lnTo>
                    <a:pt x="6319" y="1858"/>
                  </a:lnTo>
                  <a:lnTo>
                    <a:pt x="6317" y="1906"/>
                  </a:lnTo>
                  <a:lnTo>
                    <a:pt x="6317" y="1954"/>
                  </a:lnTo>
                  <a:lnTo>
                    <a:pt x="6313" y="2000"/>
                  </a:lnTo>
                  <a:lnTo>
                    <a:pt x="6310" y="2048"/>
                  </a:lnTo>
                  <a:lnTo>
                    <a:pt x="6304" y="2095"/>
                  </a:lnTo>
                  <a:lnTo>
                    <a:pt x="6297" y="2140"/>
                  </a:lnTo>
                  <a:lnTo>
                    <a:pt x="6290" y="2187"/>
                  </a:lnTo>
                  <a:lnTo>
                    <a:pt x="6282" y="2231"/>
                  </a:lnTo>
                  <a:lnTo>
                    <a:pt x="6271" y="2277"/>
                  </a:lnTo>
                  <a:lnTo>
                    <a:pt x="6261" y="2322"/>
                  </a:lnTo>
                  <a:lnTo>
                    <a:pt x="6248" y="2366"/>
                  </a:lnTo>
                  <a:lnTo>
                    <a:pt x="6236" y="2410"/>
                  </a:lnTo>
                  <a:lnTo>
                    <a:pt x="6221" y="2453"/>
                  </a:lnTo>
                  <a:lnTo>
                    <a:pt x="6207" y="2496"/>
                  </a:lnTo>
                  <a:lnTo>
                    <a:pt x="6190" y="2538"/>
                  </a:lnTo>
                  <a:lnTo>
                    <a:pt x="6172" y="2581"/>
                  </a:lnTo>
                  <a:lnTo>
                    <a:pt x="6155" y="2622"/>
                  </a:lnTo>
                  <a:lnTo>
                    <a:pt x="6136" y="2663"/>
                  </a:lnTo>
                  <a:lnTo>
                    <a:pt x="6116" y="2703"/>
                  </a:lnTo>
                  <a:lnTo>
                    <a:pt x="6095" y="2744"/>
                  </a:lnTo>
                  <a:lnTo>
                    <a:pt x="6073" y="2782"/>
                  </a:lnTo>
                  <a:lnTo>
                    <a:pt x="6049" y="2821"/>
                  </a:lnTo>
                  <a:lnTo>
                    <a:pt x="6026" y="2858"/>
                  </a:lnTo>
                  <a:lnTo>
                    <a:pt x="6001" y="2896"/>
                  </a:lnTo>
                  <a:lnTo>
                    <a:pt x="5977" y="2933"/>
                  </a:lnTo>
                  <a:lnTo>
                    <a:pt x="5949" y="2970"/>
                  </a:lnTo>
                  <a:lnTo>
                    <a:pt x="5922" y="3005"/>
                  </a:lnTo>
                  <a:lnTo>
                    <a:pt x="5894" y="3039"/>
                  </a:lnTo>
                  <a:lnTo>
                    <a:pt x="5865" y="3073"/>
                  </a:lnTo>
                  <a:lnTo>
                    <a:pt x="5836" y="3106"/>
                  </a:lnTo>
                  <a:lnTo>
                    <a:pt x="5805" y="3140"/>
                  </a:lnTo>
                  <a:lnTo>
                    <a:pt x="5775" y="3171"/>
                  </a:lnTo>
                  <a:lnTo>
                    <a:pt x="5742" y="3203"/>
                  </a:lnTo>
                  <a:lnTo>
                    <a:pt x="5710" y="3232"/>
                  </a:lnTo>
                  <a:lnTo>
                    <a:pt x="5676" y="3263"/>
                  </a:lnTo>
                  <a:lnTo>
                    <a:pt x="5642" y="3291"/>
                  </a:lnTo>
                  <a:lnTo>
                    <a:pt x="5607" y="3319"/>
                  </a:lnTo>
                  <a:lnTo>
                    <a:pt x="5572" y="3346"/>
                  </a:lnTo>
                  <a:lnTo>
                    <a:pt x="5535" y="3373"/>
                  </a:lnTo>
                  <a:lnTo>
                    <a:pt x="5499" y="3398"/>
                  </a:lnTo>
                  <a:lnTo>
                    <a:pt x="5462" y="3423"/>
                  </a:lnTo>
                  <a:lnTo>
                    <a:pt x="5424" y="3447"/>
                  </a:lnTo>
                  <a:lnTo>
                    <a:pt x="5386" y="3469"/>
                  </a:lnTo>
                  <a:lnTo>
                    <a:pt x="5345" y="3491"/>
                  </a:lnTo>
                  <a:lnTo>
                    <a:pt x="5305" y="3512"/>
                  </a:lnTo>
                  <a:lnTo>
                    <a:pt x="5266" y="3532"/>
                  </a:lnTo>
                  <a:lnTo>
                    <a:pt x="5225" y="3551"/>
                  </a:lnTo>
                  <a:lnTo>
                    <a:pt x="5184" y="3570"/>
                  </a:lnTo>
                  <a:lnTo>
                    <a:pt x="5141" y="3586"/>
                  </a:lnTo>
                  <a:lnTo>
                    <a:pt x="5099" y="3602"/>
                  </a:lnTo>
                  <a:lnTo>
                    <a:pt x="5056" y="3618"/>
                  </a:lnTo>
                  <a:lnTo>
                    <a:pt x="5012" y="3632"/>
                  </a:lnTo>
                  <a:lnTo>
                    <a:pt x="4969" y="3644"/>
                  </a:lnTo>
                  <a:lnTo>
                    <a:pt x="4924" y="3656"/>
                  </a:lnTo>
                  <a:lnTo>
                    <a:pt x="4879" y="3668"/>
                  </a:lnTo>
                  <a:lnTo>
                    <a:pt x="4834" y="3677"/>
                  </a:lnTo>
                  <a:lnTo>
                    <a:pt x="4788" y="3687"/>
                  </a:lnTo>
                  <a:lnTo>
                    <a:pt x="4742" y="3694"/>
                  </a:lnTo>
                  <a:lnTo>
                    <a:pt x="4697" y="3701"/>
                  </a:lnTo>
                  <a:lnTo>
                    <a:pt x="4649" y="3705"/>
                  </a:lnTo>
                  <a:lnTo>
                    <a:pt x="4603" y="3710"/>
                  </a:lnTo>
                  <a:lnTo>
                    <a:pt x="4555" y="3712"/>
                  </a:lnTo>
                  <a:lnTo>
                    <a:pt x="4508" y="3715"/>
                  </a:lnTo>
                  <a:lnTo>
                    <a:pt x="4460" y="3715"/>
                  </a:lnTo>
                  <a:lnTo>
                    <a:pt x="4412" y="3715"/>
                  </a:lnTo>
                  <a:lnTo>
                    <a:pt x="4364" y="3712"/>
                  </a:lnTo>
                  <a:lnTo>
                    <a:pt x="4317" y="3710"/>
                  </a:lnTo>
                  <a:lnTo>
                    <a:pt x="4270" y="3705"/>
                  </a:lnTo>
                  <a:lnTo>
                    <a:pt x="4223" y="3701"/>
                  </a:lnTo>
                  <a:lnTo>
                    <a:pt x="4176" y="3694"/>
                  </a:lnTo>
                  <a:lnTo>
                    <a:pt x="4130" y="3687"/>
                  </a:lnTo>
                  <a:lnTo>
                    <a:pt x="4085" y="3677"/>
                  </a:lnTo>
                  <a:lnTo>
                    <a:pt x="4040" y="3668"/>
                  </a:lnTo>
                  <a:lnTo>
                    <a:pt x="3996" y="3656"/>
                  </a:lnTo>
                  <a:lnTo>
                    <a:pt x="3951" y="3644"/>
                  </a:lnTo>
                  <a:lnTo>
                    <a:pt x="3906" y="3632"/>
                  </a:lnTo>
                  <a:lnTo>
                    <a:pt x="3863" y="3618"/>
                  </a:lnTo>
                  <a:lnTo>
                    <a:pt x="3821" y="3602"/>
                  </a:lnTo>
                  <a:lnTo>
                    <a:pt x="3778" y="3586"/>
                  </a:lnTo>
                  <a:lnTo>
                    <a:pt x="3737" y="3570"/>
                  </a:lnTo>
                  <a:lnTo>
                    <a:pt x="3695" y="3551"/>
                  </a:lnTo>
                  <a:lnTo>
                    <a:pt x="3653" y="3532"/>
                  </a:lnTo>
                  <a:lnTo>
                    <a:pt x="3614" y="3512"/>
                  </a:lnTo>
                  <a:lnTo>
                    <a:pt x="3573" y="3491"/>
                  </a:lnTo>
                  <a:lnTo>
                    <a:pt x="3535" y="3469"/>
                  </a:lnTo>
                  <a:lnTo>
                    <a:pt x="3496" y="3447"/>
                  </a:lnTo>
                  <a:lnTo>
                    <a:pt x="3458" y="3423"/>
                  </a:lnTo>
                  <a:lnTo>
                    <a:pt x="3420" y="3398"/>
                  </a:lnTo>
                  <a:lnTo>
                    <a:pt x="3384" y="3373"/>
                  </a:lnTo>
                  <a:lnTo>
                    <a:pt x="3348" y="3346"/>
                  </a:lnTo>
                  <a:lnTo>
                    <a:pt x="3312" y="3319"/>
                  </a:lnTo>
                  <a:lnTo>
                    <a:pt x="3277" y="3291"/>
                  </a:lnTo>
                  <a:lnTo>
                    <a:pt x="3243" y="3263"/>
                  </a:lnTo>
                  <a:lnTo>
                    <a:pt x="3211" y="3232"/>
                  </a:lnTo>
                  <a:lnTo>
                    <a:pt x="3177" y="3203"/>
                  </a:lnTo>
                  <a:lnTo>
                    <a:pt x="3146" y="3171"/>
                  </a:lnTo>
                  <a:lnTo>
                    <a:pt x="3114" y="3140"/>
                  </a:lnTo>
                  <a:lnTo>
                    <a:pt x="3084" y="3106"/>
                  </a:lnTo>
                  <a:lnTo>
                    <a:pt x="3055" y="3073"/>
                  </a:lnTo>
                  <a:lnTo>
                    <a:pt x="3025" y="3039"/>
                  </a:lnTo>
                  <a:lnTo>
                    <a:pt x="2998" y="3005"/>
                  </a:lnTo>
                  <a:lnTo>
                    <a:pt x="2970" y="2970"/>
                  </a:lnTo>
                  <a:lnTo>
                    <a:pt x="2945" y="2933"/>
                  </a:lnTo>
                  <a:lnTo>
                    <a:pt x="2919" y="2896"/>
                  </a:lnTo>
                  <a:lnTo>
                    <a:pt x="2894" y="2858"/>
                  </a:lnTo>
                  <a:lnTo>
                    <a:pt x="2871" y="2821"/>
                  </a:lnTo>
                  <a:lnTo>
                    <a:pt x="2847" y="2782"/>
                  </a:lnTo>
                  <a:lnTo>
                    <a:pt x="2826" y="2744"/>
                  </a:lnTo>
                  <a:lnTo>
                    <a:pt x="2805" y="2703"/>
                  </a:lnTo>
                  <a:lnTo>
                    <a:pt x="2785" y="2663"/>
                  </a:lnTo>
                  <a:lnTo>
                    <a:pt x="2765" y="2622"/>
                  </a:lnTo>
                  <a:lnTo>
                    <a:pt x="2747" y="2581"/>
                  </a:lnTo>
                  <a:lnTo>
                    <a:pt x="2730" y="2538"/>
                  </a:lnTo>
                  <a:lnTo>
                    <a:pt x="2715" y="2496"/>
                  </a:lnTo>
                  <a:lnTo>
                    <a:pt x="2700" y="2453"/>
                  </a:lnTo>
                  <a:lnTo>
                    <a:pt x="2685" y="2410"/>
                  </a:lnTo>
                  <a:lnTo>
                    <a:pt x="2672" y="2366"/>
                  </a:lnTo>
                  <a:lnTo>
                    <a:pt x="2660" y="2322"/>
                  </a:lnTo>
                  <a:lnTo>
                    <a:pt x="2649" y="2277"/>
                  </a:lnTo>
                  <a:lnTo>
                    <a:pt x="2640" y="2231"/>
                  </a:lnTo>
                  <a:lnTo>
                    <a:pt x="2630" y="2187"/>
                  </a:lnTo>
                  <a:lnTo>
                    <a:pt x="2623" y="2140"/>
                  </a:lnTo>
                  <a:lnTo>
                    <a:pt x="2616" y="2095"/>
                  </a:lnTo>
                  <a:lnTo>
                    <a:pt x="2612" y="2048"/>
                  </a:lnTo>
                  <a:lnTo>
                    <a:pt x="2607" y="2000"/>
                  </a:lnTo>
                  <a:lnTo>
                    <a:pt x="2603" y="1954"/>
                  </a:lnTo>
                  <a:lnTo>
                    <a:pt x="2602" y="1906"/>
                  </a:lnTo>
                  <a:lnTo>
                    <a:pt x="2601" y="1858"/>
                  </a:lnTo>
                  <a:lnTo>
                    <a:pt x="2601" y="1858"/>
                  </a:lnTo>
                  <a:lnTo>
                    <a:pt x="2601" y="1819"/>
                  </a:lnTo>
                  <a:lnTo>
                    <a:pt x="2598" y="1782"/>
                  </a:lnTo>
                  <a:lnTo>
                    <a:pt x="2593" y="1744"/>
                  </a:lnTo>
                  <a:lnTo>
                    <a:pt x="2587" y="1708"/>
                  </a:lnTo>
                  <a:lnTo>
                    <a:pt x="2578" y="1673"/>
                  </a:lnTo>
                  <a:lnTo>
                    <a:pt x="2569" y="1636"/>
                  </a:lnTo>
                  <a:lnTo>
                    <a:pt x="2557" y="1602"/>
                  </a:lnTo>
                  <a:lnTo>
                    <a:pt x="2544" y="1569"/>
                  </a:lnTo>
                  <a:lnTo>
                    <a:pt x="2529" y="1535"/>
                  </a:lnTo>
                  <a:lnTo>
                    <a:pt x="2512" y="1504"/>
                  </a:lnTo>
                  <a:lnTo>
                    <a:pt x="2495" y="1472"/>
                  </a:lnTo>
                  <a:lnTo>
                    <a:pt x="2475" y="1442"/>
                  </a:lnTo>
                  <a:lnTo>
                    <a:pt x="2454" y="1414"/>
                  </a:lnTo>
                  <a:lnTo>
                    <a:pt x="2433" y="1385"/>
                  </a:lnTo>
                  <a:lnTo>
                    <a:pt x="2409" y="1359"/>
                  </a:lnTo>
                  <a:lnTo>
                    <a:pt x="2385" y="1332"/>
                  </a:lnTo>
                  <a:lnTo>
                    <a:pt x="2359" y="1308"/>
                  </a:lnTo>
                  <a:lnTo>
                    <a:pt x="2332" y="1284"/>
                  </a:lnTo>
                  <a:lnTo>
                    <a:pt x="2304" y="1263"/>
                  </a:lnTo>
                  <a:lnTo>
                    <a:pt x="2274" y="1241"/>
                  </a:lnTo>
                  <a:lnTo>
                    <a:pt x="2244" y="1222"/>
                  </a:lnTo>
                  <a:lnTo>
                    <a:pt x="2213" y="1204"/>
                  </a:lnTo>
                  <a:lnTo>
                    <a:pt x="2181" y="1187"/>
                  </a:lnTo>
                  <a:lnTo>
                    <a:pt x="2148" y="1173"/>
                  </a:lnTo>
                  <a:lnTo>
                    <a:pt x="2114" y="1159"/>
                  </a:lnTo>
                  <a:lnTo>
                    <a:pt x="2080" y="1147"/>
                  </a:lnTo>
                  <a:lnTo>
                    <a:pt x="2045" y="1138"/>
                  </a:lnTo>
                  <a:lnTo>
                    <a:pt x="2009" y="1130"/>
                  </a:lnTo>
                  <a:lnTo>
                    <a:pt x="1972" y="1123"/>
                  </a:lnTo>
                  <a:lnTo>
                    <a:pt x="1935" y="1118"/>
                  </a:lnTo>
                  <a:lnTo>
                    <a:pt x="1897" y="1116"/>
                  </a:lnTo>
                  <a:lnTo>
                    <a:pt x="1858" y="1115"/>
                  </a:lnTo>
                  <a:lnTo>
                    <a:pt x="1821" y="1116"/>
                  </a:lnTo>
                  <a:lnTo>
                    <a:pt x="1782" y="1118"/>
                  </a:lnTo>
                  <a:lnTo>
                    <a:pt x="1746" y="1123"/>
                  </a:lnTo>
                  <a:lnTo>
                    <a:pt x="1710" y="1130"/>
                  </a:lnTo>
                  <a:lnTo>
                    <a:pt x="1673" y="1138"/>
                  </a:lnTo>
                  <a:lnTo>
                    <a:pt x="1638" y="1147"/>
                  </a:lnTo>
                  <a:lnTo>
                    <a:pt x="1603" y="1159"/>
                  </a:lnTo>
                  <a:lnTo>
                    <a:pt x="1569" y="1173"/>
                  </a:lnTo>
                  <a:lnTo>
                    <a:pt x="1536" y="1187"/>
                  </a:lnTo>
                  <a:lnTo>
                    <a:pt x="1504" y="1204"/>
                  </a:lnTo>
                  <a:lnTo>
                    <a:pt x="1473" y="1222"/>
                  </a:lnTo>
                  <a:lnTo>
                    <a:pt x="1443" y="1241"/>
                  </a:lnTo>
                  <a:lnTo>
                    <a:pt x="1414" y="1263"/>
                  </a:lnTo>
                  <a:lnTo>
                    <a:pt x="1386" y="1284"/>
                  </a:lnTo>
                  <a:lnTo>
                    <a:pt x="1359" y="1308"/>
                  </a:lnTo>
                  <a:lnTo>
                    <a:pt x="1333" y="1332"/>
                  </a:lnTo>
                  <a:lnTo>
                    <a:pt x="1308" y="1359"/>
                  </a:lnTo>
                  <a:lnTo>
                    <a:pt x="1285" y="1385"/>
                  </a:lnTo>
                  <a:lnTo>
                    <a:pt x="1263" y="1414"/>
                  </a:lnTo>
                  <a:lnTo>
                    <a:pt x="1242" y="1442"/>
                  </a:lnTo>
                  <a:lnTo>
                    <a:pt x="1223" y="1472"/>
                  </a:lnTo>
                  <a:lnTo>
                    <a:pt x="1205" y="1504"/>
                  </a:lnTo>
                  <a:lnTo>
                    <a:pt x="1189" y="1535"/>
                  </a:lnTo>
                  <a:lnTo>
                    <a:pt x="1174" y="1569"/>
                  </a:lnTo>
                  <a:lnTo>
                    <a:pt x="1161" y="1602"/>
                  </a:lnTo>
                  <a:lnTo>
                    <a:pt x="1149" y="1636"/>
                  </a:lnTo>
                  <a:lnTo>
                    <a:pt x="1139" y="1673"/>
                  </a:lnTo>
                  <a:lnTo>
                    <a:pt x="1130" y="1708"/>
                  </a:lnTo>
                  <a:lnTo>
                    <a:pt x="1123" y="1744"/>
                  </a:lnTo>
                  <a:lnTo>
                    <a:pt x="1119" y="1782"/>
                  </a:lnTo>
                  <a:lnTo>
                    <a:pt x="1116" y="1819"/>
                  </a:lnTo>
                  <a:lnTo>
                    <a:pt x="1115" y="1858"/>
                  </a:lnTo>
                  <a:lnTo>
                    <a:pt x="0" y="1858"/>
                  </a:lnTo>
                  <a:lnTo>
                    <a:pt x="1" y="1810"/>
                  </a:lnTo>
                  <a:lnTo>
                    <a:pt x="2" y="1762"/>
                  </a:lnTo>
                  <a:lnTo>
                    <a:pt x="5" y="1715"/>
                  </a:lnTo>
                  <a:lnTo>
                    <a:pt x="9" y="1668"/>
                  </a:lnTo>
                  <a:lnTo>
                    <a:pt x="14" y="1621"/>
                  </a:lnTo>
                  <a:lnTo>
                    <a:pt x="21" y="1576"/>
                  </a:lnTo>
                  <a:lnTo>
                    <a:pt x="28" y="1528"/>
                  </a:lnTo>
                  <a:lnTo>
                    <a:pt x="37" y="1484"/>
                  </a:lnTo>
                  <a:lnTo>
                    <a:pt x="47" y="1438"/>
                  </a:lnTo>
                  <a:lnTo>
                    <a:pt x="58" y="1394"/>
                  </a:lnTo>
                  <a:lnTo>
                    <a:pt x="70" y="1349"/>
                  </a:lnTo>
                  <a:lnTo>
                    <a:pt x="83" y="1305"/>
                  </a:lnTo>
                  <a:lnTo>
                    <a:pt x="97" y="1263"/>
                  </a:lnTo>
                  <a:lnTo>
                    <a:pt x="112" y="1219"/>
                  </a:lnTo>
                  <a:lnTo>
                    <a:pt x="128" y="1177"/>
                  </a:lnTo>
                  <a:lnTo>
                    <a:pt x="146" y="1135"/>
                  </a:lnTo>
                  <a:lnTo>
                    <a:pt x="163" y="1094"/>
                  </a:lnTo>
                  <a:lnTo>
                    <a:pt x="182" y="1053"/>
                  </a:lnTo>
                  <a:lnTo>
                    <a:pt x="202" y="1012"/>
                  </a:lnTo>
                  <a:lnTo>
                    <a:pt x="223" y="971"/>
                  </a:lnTo>
                  <a:lnTo>
                    <a:pt x="245" y="933"/>
                  </a:lnTo>
                  <a:lnTo>
                    <a:pt x="269" y="894"/>
                  </a:lnTo>
                  <a:lnTo>
                    <a:pt x="292" y="857"/>
                  </a:lnTo>
                  <a:lnTo>
                    <a:pt x="317" y="819"/>
                  </a:lnTo>
                  <a:lnTo>
                    <a:pt x="342" y="782"/>
                  </a:lnTo>
                  <a:lnTo>
                    <a:pt x="369" y="745"/>
                  </a:lnTo>
                  <a:lnTo>
                    <a:pt x="396" y="710"/>
                  </a:lnTo>
                  <a:lnTo>
                    <a:pt x="424" y="676"/>
                  </a:lnTo>
                  <a:lnTo>
                    <a:pt x="453" y="642"/>
                  </a:lnTo>
                  <a:lnTo>
                    <a:pt x="482" y="608"/>
                  </a:lnTo>
                  <a:lnTo>
                    <a:pt x="513" y="575"/>
                  </a:lnTo>
                  <a:lnTo>
                    <a:pt x="543" y="544"/>
                  </a:lnTo>
                  <a:lnTo>
                    <a:pt x="577" y="512"/>
                  </a:lnTo>
                  <a:lnTo>
                    <a:pt x="608" y="483"/>
                  </a:lnTo>
                  <a:lnTo>
                    <a:pt x="642" y="452"/>
                  </a:lnTo>
                  <a:lnTo>
                    <a:pt x="676" y="424"/>
                  </a:lnTo>
                  <a:lnTo>
                    <a:pt x="711" y="396"/>
                  </a:lnTo>
                  <a:lnTo>
                    <a:pt x="746" y="369"/>
                  </a:lnTo>
                  <a:lnTo>
                    <a:pt x="783" y="342"/>
                  </a:lnTo>
                  <a:lnTo>
                    <a:pt x="820" y="316"/>
                  </a:lnTo>
                  <a:lnTo>
                    <a:pt x="857" y="291"/>
                  </a:lnTo>
                  <a:lnTo>
                    <a:pt x="894" y="268"/>
                  </a:lnTo>
                  <a:lnTo>
                    <a:pt x="933" y="246"/>
                  </a:lnTo>
                  <a:lnTo>
                    <a:pt x="973" y="224"/>
                  </a:lnTo>
                  <a:lnTo>
                    <a:pt x="1013" y="203"/>
                  </a:lnTo>
                  <a:lnTo>
                    <a:pt x="1052" y="183"/>
                  </a:lnTo>
                  <a:lnTo>
                    <a:pt x="1093" y="163"/>
                  </a:lnTo>
                  <a:lnTo>
                    <a:pt x="1135" y="145"/>
                  </a:lnTo>
                  <a:lnTo>
                    <a:pt x="1177" y="128"/>
                  </a:lnTo>
                  <a:lnTo>
                    <a:pt x="1219" y="112"/>
                  </a:lnTo>
                  <a:lnTo>
                    <a:pt x="1263" y="97"/>
                  </a:lnTo>
                  <a:lnTo>
                    <a:pt x="1306" y="83"/>
                  </a:lnTo>
                  <a:lnTo>
                    <a:pt x="1349" y="70"/>
                  </a:lnTo>
                  <a:lnTo>
                    <a:pt x="1394" y="58"/>
                  </a:lnTo>
                  <a:lnTo>
                    <a:pt x="1439" y="46"/>
                  </a:lnTo>
                  <a:lnTo>
                    <a:pt x="1484" y="37"/>
                  </a:lnTo>
                  <a:lnTo>
                    <a:pt x="1531" y="28"/>
                  </a:lnTo>
                  <a:lnTo>
                    <a:pt x="1576" y="21"/>
                  </a:lnTo>
                  <a:lnTo>
                    <a:pt x="1621" y="14"/>
                  </a:lnTo>
                  <a:lnTo>
                    <a:pt x="1669" y="9"/>
                  </a:lnTo>
                  <a:lnTo>
                    <a:pt x="1715" y="4"/>
                  </a:lnTo>
                  <a:lnTo>
                    <a:pt x="1763" y="2"/>
                  </a:lnTo>
                  <a:lnTo>
                    <a:pt x="1810" y="0"/>
                  </a:lnTo>
                  <a:close/>
                </a:path>
              </a:pathLst>
            </a:custGeom>
            <a:solidFill>
              <a:srgbClr val="E9E9E9">
                <a:alpha val="100000"/>
              </a:srgbClr>
            </a:solidFill>
            <a:ln w="0" cap="flat">
              <a:noFill/>
              <a:prstDash val="solid"/>
              <a:miter lim="0"/>
            </a:ln>
          </p:spPr>
          <p:txBody>
            <a:bodyPr rtlCol="0"/>
            <a:lstStyle/>
            <a:p>
              <a:pPr algn="ctr"/>
              <a:endParaRPr lang="zh-CN" altLang="en-US"/>
            </a:p>
          </p:txBody>
        </p:sp>
        <p:sp>
          <p:nvSpPr>
            <p:cNvPr id="630" name="path 630"/>
            <p:cNvSpPr/>
            <p:nvPr/>
          </p:nvSpPr>
          <p:spPr>
            <a:xfrm>
              <a:off x="995426" y="957325"/>
              <a:ext cx="2619756" cy="970788"/>
            </a:xfrm>
            <a:custGeom>
              <a:avLst/>
              <a:gdLst/>
              <a:ahLst/>
              <a:cxnLst/>
              <a:rect l="0" t="0" r="0" b="0"/>
              <a:pathLst>
                <a:path w="4125" h="1528">
                  <a:moveTo>
                    <a:pt x="0" y="764"/>
                  </a:moveTo>
                  <a:cubicBezTo>
                    <a:pt x="0" y="342"/>
                    <a:pt x="341" y="0"/>
                    <a:pt x="762" y="0"/>
                  </a:cubicBezTo>
                  <a:cubicBezTo>
                    <a:pt x="1182" y="0"/>
                    <a:pt x="1524" y="342"/>
                    <a:pt x="1524" y="764"/>
                  </a:cubicBezTo>
                  <a:cubicBezTo>
                    <a:pt x="1524" y="1186"/>
                    <a:pt x="1182" y="1528"/>
                    <a:pt x="762" y="1528"/>
                  </a:cubicBezTo>
                  <a:cubicBezTo>
                    <a:pt x="341" y="1528"/>
                    <a:pt x="0" y="1186"/>
                    <a:pt x="0" y="764"/>
                  </a:cubicBezTo>
                </a:path>
                <a:path w="4125" h="1528">
                  <a:moveTo>
                    <a:pt x="2601" y="764"/>
                  </a:moveTo>
                  <a:cubicBezTo>
                    <a:pt x="2601" y="342"/>
                    <a:pt x="2942" y="0"/>
                    <a:pt x="3363" y="0"/>
                  </a:cubicBezTo>
                  <a:cubicBezTo>
                    <a:pt x="3784" y="0"/>
                    <a:pt x="4125" y="342"/>
                    <a:pt x="4125" y="764"/>
                  </a:cubicBezTo>
                  <a:cubicBezTo>
                    <a:pt x="4125" y="1186"/>
                    <a:pt x="3784" y="1528"/>
                    <a:pt x="3363" y="1528"/>
                  </a:cubicBezTo>
                  <a:cubicBezTo>
                    <a:pt x="2942" y="1528"/>
                    <a:pt x="2601" y="1186"/>
                    <a:pt x="2601" y="764"/>
                  </a:cubicBezTo>
                </a:path>
              </a:pathLst>
            </a:custGeom>
            <a:solidFill>
              <a:srgbClr val="FFFFFF">
                <a:alpha val="100000"/>
              </a:srgbClr>
            </a:solidFill>
            <a:ln w="0" cap="flat">
              <a:noFill/>
              <a:prstDash val="solid"/>
              <a:miter lim="0"/>
            </a:ln>
          </p:spPr>
          <p:txBody>
            <a:bodyPr rtlCol="0"/>
            <a:lstStyle/>
            <a:p>
              <a:pPr algn="ctr"/>
              <a:endParaRPr lang="zh-CN" altLang="en-US"/>
            </a:p>
          </p:txBody>
        </p:sp>
        <p:sp>
          <p:nvSpPr>
            <p:cNvPr id="632" name="path 632"/>
            <p:cNvSpPr/>
            <p:nvPr/>
          </p:nvSpPr>
          <p:spPr>
            <a:xfrm>
              <a:off x="1256220" y="1219644"/>
              <a:ext cx="446151" cy="447675"/>
            </a:xfrm>
            <a:custGeom>
              <a:avLst/>
              <a:gdLst/>
              <a:ahLst/>
              <a:cxnLst/>
              <a:rect l="0" t="0" r="0" b="0"/>
              <a:pathLst>
                <a:path w="702" h="705">
                  <a:moveTo>
                    <a:pt x="22" y="352"/>
                  </a:moveTo>
                  <a:cubicBezTo>
                    <a:pt x="22" y="170"/>
                    <a:pt x="169" y="22"/>
                    <a:pt x="351" y="22"/>
                  </a:cubicBezTo>
                  <a:cubicBezTo>
                    <a:pt x="532" y="22"/>
                    <a:pt x="680" y="170"/>
                    <a:pt x="680" y="352"/>
                  </a:cubicBezTo>
                  <a:cubicBezTo>
                    <a:pt x="680" y="534"/>
                    <a:pt x="532" y="682"/>
                    <a:pt x="351" y="682"/>
                  </a:cubicBezTo>
                  <a:cubicBezTo>
                    <a:pt x="169" y="682"/>
                    <a:pt x="22" y="534"/>
                    <a:pt x="22" y="352"/>
                  </a:cubicBezTo>
                </a:path>
              </a:pathLst>
            </a:custGeom>
            <a:noFill/>
            <a:ln w="28575" cap="flat">
              <a:solidFill>
                <a:srgbClr val="BF756D"/>
              </a:solidFill>
              <a:prstDash val="solid"/>
              <a:round/>
            </a:ln>
          </p:spPr>
          <p:txBody>
            <a:bodyPr rtlCol="0"/>
            <a:lstStyle/>
            <a:p>
              <a:pPr algn="ctr"/>
              <a:endParaRPr lang="zh-CN" altLang="en-US"/>
            </a:p>
          </p:txBody>
        </p:sp>
        <p:sp>
          <p:nvSpPr>
            <p:cNvPr id="634" name="path 634"/>
            <p:cNvSpPr/>
            <p:nvPr/>
          </p:nvSpPr>
          <p:spPr>
            <a:xfrm>
              <a:off x="1384046" y="1336801"/>
              <a:ext cx="190500" cy="213360"/>
            </a:xfrm>
            <a:custGeom>
              <a:avLst/>
              <a:gdLst/>
              <a:ahLst/>
              <a:cxnLst/>
              <a:rect l="0" t="0" r="0" b="0"/>
              <a:pathLst>
                <a:path w="300" h="336">
                  <a:moveTo>
                    <a:pt x="280" y="183"/>
                  </a:moveTo>
                  <a:cubicBezTo>
                    <a:pt x="273" y="175"/>
                    <a:pt x="262" y="167"/>
                    <a:pt x="258" y="157"/>
                  </a:cubicBezTo>
                  <a:cubicBezTo>
                    <a:pt x="252" y="143"/>
                    <a:pt x="259" y="129"/>
                    <a:pt x="259" y="114"/>
                  </a:cubicBezTo>
                  <a:cubicBezTo>
                    <a:pt x="258" y="103"/>
                    <a:pt x="255" y="89"/>
                    <a:pt x="251" y="78"/>
                  </a:cubicBezTo>
                  <a:cubicBezTo>
                    <a:pt x="245" y="60"/>
                    <a:pt x="233" y="45"/>
                    <a:pt x="219" y="34"/>
                  </a:cubicBezTo>
                  <a:cubicBezTo>
                    <a:pt x="195" y="13"/>
                    <a:pt x="163" y="0"/>
                    <a:pt x="128" y="0"/>
                  </a:cubicBezTo>
                  <a:cubicBezTo>
                    <a:pt x="57" y="0"/>
                    <a:pt x="0" y="52"/>
                    <a:pt x="0" y="117"/>
                  </a:cubicBezTo>
                  <a:cubicBezTo>
                    <a:pt x="0" y="121"/>
                    <a:pt x="0" y="125"/>
                    <a:pt x="0" y="130"/>
                  </a:cubicBezTo>
                  <a:cubicBezTo>
                    <a:pt x="1" y="158"/>
                    <a:pt x="10" y="191"/>
                    <a:pt x="35" y="229"/>
                  </a:cubicBezTo>
                  <a:cubicBezTo>
                    <a:pt x="35" y="229"/>
                    <a:pt x="70" y="299"/>
                    <a:pt x="0" y="335"/>
                  </a:cubicBezTo>
                  <a:lnTo>
                    <a:pt x="155" y="336"/>
                  </a:lnTo>
                  <a:cubicBezTo>
                    <a:pt x="155" y="336"/>
                    <a:pt x="167" y="289"/>
                    <a:pt x="186" y="289"/>
                  </a:cubicBezTo>
                  <a:cubicBezTo>
                    <a:pt x="202" y="289"/>
                    <a:pt x="218" y="290"/>
                    <a:pt x="234" y="290"/>
                  </a:cubicBezTo>
                  <a:cubicBezTo>
                    <a:pt x="237" y="290"/>
                    <a:pt x="240" y="290"/>
                    <a:pt x="242" y="289"/>
                  </a:cubicBezTo>
                  <a:cubicBezTo>
                    <a:pt x="242" y="289"/>
                    <a:pt x="242" y="289"/>
                    <a:pt x="242" y="289"/>
                  </a:cubicBezTo>
                  <a:lnTo>
                    <a:pt x="242" y="289"/>
                  </a:lnTo>
                  <a:cubicBezTo>
                    <a:pt x="253" y="283"/>
                    <a:pt x="245" y="258"/>
                    <a:pt x="245" y="258"/>
                  </a:cubicBezTo>
                  <a:cubicBezTo>
                    <a:pt x="252" y="255"/>
                    <a:pt x="256" y="251"/>
                    <a:pt x="256" y="247"/>
                  </a:cubicBezTo>
                  <a:lnTo>
                    <a:pt x="256" y="247"/>
                  </a:lnTo>
                  <a:cubicBezTo>
                    <a:pt x="256" y="243"/>
                    <a:pt x="250" y="239"/>
                    <a:pt x="241" y="238"/>
                  </a:cubicBezTo>
                  <a:lnTo>
                    <a:pt x="245" y="238"/>
                  </a:lnTo>
                  <a:cubicBezTo>
                    <a:pt x="251" y="238"/>
                    <a:pt x="257" y="234"/>
                    <a:pt x="257" y="230"/>
                  </a:cubicBezTo>
                  <a:lnTo>
                    <a:pt x="257" y="229"/>
                  </a:lnTo>
                  <a:cubicBezTo>
                    <a:pt x="257" y="228"/>
                    <a:pt x="256" y="227"/>
                    <a:pt x="255" y="226"/>
                  </a:cubicBezTo>
                  <a:cubicBezTo>
                    <a:pt x="257" y="221"/>
                    <a:pt x="261" y="198"/>
                    <a:pt x="262" y="198"/>
                  </a:cubicBezTo>
                  <a:cubicBezTo>
                    <a:pt x="300" y="196"/>
                    <a:pt x="280" y="183"/>
                    <a:pt x="280" y="183"/>
                  </a:cubicBezTo>
                  <a:moveTo>
                    <a:pt x="150" y="89"/>
                  </a:moveTo>
                  <a:lnTo>
                    <a:pt x="132" y="100"/>
                  </a:lnTo>
                  <a:cubicBezTo>
                    <a:pt x="134" y="104"/>
                    <a:pt x="135" y="110"/>
                    <a:pt x="135" y="115"/>
                  </a:cubicBezTo>
                  <a:cubicBezTo>
                    <a:pt x="135" y="123"/>
                    <a:pt x="133" y="130"/>
                    <a:pt x="129" y="135"/>
                  </a:cubicBezTo>
                  <a:lnTo>
                    <a:pt x="163" y="155"/>
                  </a:lnTo>
                  <a:cubicBezTo>
                    <a:pt x="165" y="153"/>
                    <a:pt x="168" y="151"/>
                    <a:pt x="171" y="151"/>
                  </a:cubicBezTo>
                  <a:cubicBezTo>
                    <a:pt x="178" y="151"/>
                    <a:pt x="183" y="157"/>
                    <a:pt x="183" y="163"/>
                  </a:cubicBezTo>
                  <a:cubicBezTo>
                    <a:pt x="183" y="170"/>
                    <a:pt x="178" y="175"/>
                    <a:pt x="171" y="175"/>
                  </a:cubicBezTo>
                  <a:cubicBezTo>
                    <a:pt x="165" y="175"/>
                    <a:pt x="159" y="170"/>
                    <a:pt x="159" y="163"/>
                  </a:cubicBezTo>
                  <a:cubicBezTo>
                    <a:pt x="159" y="162"/>
                    <a:pt x="160" y="161"/>
                    <a:pt x="160" y="160"/>
                  </a:cubicBezTo>
                  <a:lnTo>
                    <a:pt x="125" y="140"/>
                  </a:lnTo>
                  <a:cubicBezTo>
                    <a:pt x="118" y="147"/>
                    <a:pt x="109" y="151"/>
                    <a:pt x="99" y="151"/>
                  </a:cubicBezTo>
                  <a:cubicBezTo>
                    <a:pt x="79" y="151"/>
                    <a:pt x="63" y="135"/>
                    <a:pt x="63" y="115"/>
                  </a:cubicBezTo>
                  <a:cubicBezTo>
                    <a:pt x="63" y="95"/>
                    <a:pt x="79" y="79"/>
                    <a:pt x="99" y="79"/>
                  </a:cubicBezTo>
                  <a:cubicBezTo>
                    <a:pt x="111" y="79"/>
                    <a:pt x="122" y="85"/>
                    <a:pt x="128" y="95"/>
                  </a:cubicBezTo>
                  <a:lnTo>
                    <a:pt x="147" y="83"/>
                  </a:lnTo>
                  <a:cubicBezTo>
                    <a:pt x="147" y="82"/>
                    <a:pt x="147" y="81"/>
                    <a:pt x="147" y="79"/>
                  </a:cubicBezTo>
                  <a:cubicBezTo>
                    <a:pt x="147" y="66"/>
                    <a:pt x="158" y="55"/>
                    <a:pt x="171" y="55"/>
                  </a:cubicBezTo>
                  <a:cubicBezTo>
                    <a:pt x="184" y="55"/>
                    <a:pt x="195" y="66"/>
                    <a:pt x="195" y="79"/>
                  </a:cubicBezTo>
                  <a:cubicBezTo>
                    <a:pt x="195" y="92"/>
                    <a:pt x="185" y="103"/>
                    <a:pt x="171" y="103"/>
                  </a:cubicBezTo>
                  <a:cubicBezTo>
                    <a:pt x="162" y="103"/>
                    <a:pt x="153" y="98"/>
                    <a:pt x="150" y="89"/>
                  </a:cubicBezTo>
                </a:path>
              </a:pathLst>
            </a:custGeom>
            <a:solidFill>
              <a:srgbClr val="DFA87F">
                <a:alpha val="100000"/>
              </a:srgbClr>
            </a:solidFill>
            <a:ln w="0" cap="flat">
              <a:noFill/>
              <a:prstDash val="solid"/>
              <a:miter lim="0"/>
            </a:ln>
          </p:spPr>
          <p:txBody>
            <a:bodyPr rtlCol="0"/>
            <a:lstStyle/>
            <a:p>
              <a:pPr algn="ctr"/>
              <a:endParaRPr lang="zh-CN" altLang="en-US"/>
            </a:p>
          </p:txBody>
        </p:sp>
        <p:sp>
          <p:nvSpPr>
            <p:cNvPr id="636" name="path 636"/>
            <p:cNvSpPr/>
            <p:nvPr/>
          </p:nvSpPr>
          <p:spPr>
            <a:xfrm>
              <a:off x="2922523" y="1233931"/>
              <a:ext cx="417576" cy="419100"/>
            </a:xfrm>
            <a:custGeom>
              <a:avLst/>
              <a:gdLst/>
              <a:ahLst/>
              <a:cxnLst/>
              <a:rect l="0" t="0" r="0" b="0"/>
              <a:pathLst>
                <a:path w="657" h="660">
                  <a:moveTo>
                    <a:pt x="0" y="330"/>
                  </a:moveTo>
                  <a:cubicBezTo>
                    <a:pt x="0" y="147"/>
                    <a:pt x="147" y="0"/>
                    <a:pt x="328" y="0"/>
                  </a:cubicBezTo>
                  <a:cubicBezTo>
                    <a:pt x="510" y="0"/>
                    <a:pt x="657" y="147"/>
                    <a:pt x="657" y="330"/>
                  </a:cubicBezTo>
                  <a:cubicBezTo>
                    <a:pt x="657" y="512"/>
                    <a:pt x="510" y="660"/>
                    <a:pt x="328" y="660"/>
                  </a:cubicBezTo>
                  <a:cubicBezTo>
                    <a:pt x="147" y="660"/>
                    <a:pt x="0" y="512"/>
                    <a:pt x="0" y="330"/>
                  </a:cubicBezTo>
                </a:path>
              </a:pathLst>
            </a:custGeom>
            <a:solidFill>
              <a:srgbClr val="E9E9E9">
                <a:alpha val="100000"/>
              </a:srgbClr>
            </a:solidFill>
            <a:ln w="0" cap="flat">
              <a:noFill/>
              <a:prstDash val="solid"/>
              <a:miter lim="0"/>
            </a:ln>
          </p:spPr>
          <p:txBody>
            <a:bodyPr rtlCol="0"/>
            <a:lstStyle/>
            <a:p>
              <a:pPr algn="ctr"/>
              <a:endParaRPr lang="zh-CN" altLang="en-US"/>
            </a:p>
          </p:txBody>
        </p:sp>
        <p:sp>
          <p:nvSpPr>
            <p:cNvPr id="638" name="path 638"/>
            <p:cNvSpPr/>
            <p:nvPr/>
          </p:nvSpPr>
          <p:spPr>
            <a:xfrm>
              <a:off x="2908236" y="1219644"/>
              <a:ext cx="446151" cy="447675"/>
            </a:xfrm>
            <a:custGeom>
              <a:avLst/>
              <a:gdLst/>
              <a:ahLst/>
              <a:cxnLst/>
              <a:rect l="0" t="0" r="0" b="0"/>
              <a:pathLst>
                <a:path w="702" h="705">
                  <a:moveTo>
                    <a:pt x="22" y="352"/>
                  </a:moveTo>
                  <a:cubicBezTo>
                    <a:pt x="22" y="170"/>
                    <a:pt x="169" y="22"/>
                    <a:pt x="351" y="22"/>
                  </a:cubicBezTo>
                  <a:cubicBezTo>
                    <a:pt x="532" y="22"/>
                    <a:pt x="680" y="170"/>
                    <a:pt x="680" y="352"/>
                  </a:cubicBezTo>
                  <a:cubicBezTo>
                    <a:pt x="680" y="534"/>
                    <a:pt x="532" y="682"/>
                    <a:pt x="351" y="682"/>
                  </a:cubicBezTo>
                  <a:cubicBezTo>
                    <a:pt x="169" y="682"/>
                    <a:pt x="22" y="534"/>
                    <a:pt x="22" y="352"/>
                  </a:cubicBezTo>
                </a:path>
              </a:pathLst>
            </a:custGeom>
            <a:noFill/>
            <a:ln w="28575" cap="flat">
              <a:solidFill>
                <a:srgbClr val="969696"/>
              </a:solidFill>
              <a:prstDash val="solid"/>
              <a:round/>
            </a:ln>
          </p:spPr>
          <p:txBody>
            <a:bodyPr rtlCol="0"/>
            <a:lstStyle/>
            <a:p>
              <a:pPr algn="ctr"/>
              <a:endParaRPr lang="zh-CN" altLang="en-US"/>
            </a:p>
          </p:txBody>
        </p:sp>
        <p:sp>
          <p:nvSpPr>
            <p:cNvPr id="640" name="path 640"/>
            <p:cNvSpPr/>
            <p:nvPr/>
          </p:nvSpPr>
          <p:spPr>
            <a:xfrm>
              <a:off x="3023870" y="1336801"/>
              <a:ext cx="213359" cy="213360"/>
            </a:xfrm>
            <a:custGeom>
              <a:avLst/>
              <a:gdLst/>
              <a:ahLst/>
              <a:cxnLst/>
              <a:rect l="0" t="0" r="0" b="0"/>
              <a:pathLst>
                <a:path w="335" h="336">
                  <a:moveTo>
                    <a:pt x="335" y="145"/>
                  </a:moveTo>
                  <a:lnTo>
                    <a:pt x="255" y="145"/>
                  </a:lnTo>
                  <a:lnTo>
                    <a:pt x="243" y="101"/>
                  </a:lnTo>
                  <a:lnTo>
                    <a:pt x="149" y="145"/>
                  </a:lnTo>
                  <a:lnTo>
                    <a:pt x="127" y="145"/>
                  </a:lnTo>
                  <a:lnTo>
                    <a:pt x="115" y="101"/>
                  </a:lnTo>
                  <a:lnTo>
                    <a:pt x="17" y="145"/>
                  </a:lnTo>
                  <a:lnTo>
                    <a:pt x="0" y="145"/>
                  </a:lnTo>
                  <a:lnTo>
                    <a:pt x="0" y="201"/>
                  </a:lnTo>
                  <a:lnTo>
                    <a:pt x="335" y="201"/>
                  </a:lnTo>
                  <a:lnTo>
                    <a:pt x="335" y="145"/>
                  </a:lnTo>
                  <a:close/>
                  <a:moveTo>
                    <a:pt x="111" y="0"/>
                  </a:moveTo>
                  <a:lnTo>
                    <a:pt x="56" y="0"/>
                  </a:lnTo>
                  <a:lnTo>
                    <a:pt x="56" y="115"/>
                  </a:lnTo>
                  <a:lnTo>
                    <a:pt x="111" y="90"/>
                  </a:lnTo>
                  <a:lnTo>
                    <a:pt x="111" y="0"/>
                  </a:lnTo>
                  <a:close/>
                  <a:moveTo>
                    <a:pt x="234" y="0"/>
                  </a:moveTo>
                  <a:lnTo>
                    <a:pt x="179" y="0"/>
                  </a:lnTo>
                  <a:lnTo>
                    <a:pt x="179" y="119"/>
                  </a:lnTo>
                  <a:lnTo>
                    <a:pt x="234" y="91"/>
                  </a:lnTo>
                  <a:lnTo>
                    <a:pt x="234" y="0"/>
                  </a:lnTo>
                  <a:close/>
                  <a:moveTo>
                    <a:pt x="0" y="213"/>
                  </a:moveTo>
                  <a:lnTo>
                    <a:pt x="0" y="336"/>
                  </a:lnTo>
                  <a:lnTo>
                    <a:pt x="335" y="336"/>
                  </a:lnTo>
                  <a:lnTo>
                    <a:pt x="335" y="213"/>
                  </a:lnTo>
                  <a:lnTo>
                    <a:pt x="0" y="213"/>
                  </a:lnTo>
                  <a:close/>
                  <a:moveTo>
                    <a:pt x="67" y="290"/>
                  </a:moveTo>
                  <a:lnTo>
                    <a:pt x="34" y="290"/>
                  </a:lnTo>
                  <a:lnTo>
                    <a:pt x="34" y="234"/>
                  </a:lnTo>
                  <a:lnTo>
                    <a:pt x="67" y="234"/>
                  </a:lnTo>
                  <a:lnTo>
                    <a:pt x="67" y="290"/>
                  </a:lnTo>
                  <a:close/>
                  <a:moveTo>
                    <a:pt x="133" y="290"/>
                  </a:moveTo>
                  <a:lnTo>
                    <a:pt x="100" y="290"/>
                  </a:lnTo>
                  <a:lnTo>
                    <a:pt x="100" y="234"/>
                  </a:lnTo>
                  <a:lnTo>
                    <a:pt x="134" y="234"/>
                  </a:lnTo>
                  <a:lnTo>
                    <a:pt x="133" y="290"/>
                  </a:lnTo>
                  <a:close/>
                  <a:moveTo>
                    <a:pt x="199" y="290"/>
                  </a:moveTo>
                  <a:lnTo>
                    <a:pt x="166" y="290"/>
                  </a:lnTo>
                  <a:lnTo>
                    <a:pt x="166" y="234"/>
                  </a:lnTo>
                  <a:lnTo>
                    <a:pt x="199" y="234"/>
                  </a:lnTo>
                  <a:lnTo>
                    <a:pt x="199" y="290"/>
                  </a:lnTo>
                  <a:close/>
                </a:path>
              </a:pathLst>
            </a:custGeom>
            <a:solidFill>
              <a:srgbClr val="969696">
                <a:alpha val="100000"/>
              </a:srgbClr>
            </a:solidFill>
            <a:ln w="0" cap="flat">
              <a:noFill/>
              <a:prstDash val="solid"/>
              <a:miter lim="0"/>
            </a:ln>
          </p:spPr>
          <p:txBody>
            <a:bodyPr rtlCol="0"/>
            <a:lstStyle/>
            <a:p>
              <a:pPr algn="ctr"/>
              <a:endParaRPr lang="zh-CN" altLang="en-US"/>
            </a:p>
          </p:txBody>
        </p:sp>
      </p:grpSp>
      <p:sp>
        <p:nvSpPr>
          <p:cNvPr id="642" name="textbox 642"/>
          <p:cNvSpPr/>
          <p:nvPr/>
        </p:nvSpPr>
        <p:spPr>
          <a:xfrm rot="16200000">
            <a:off x="8933853" y="3814889"/>
            <a:ext cx="111125" cy="25400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1800"/>
              </a:lnSpc>
              <a:tabLst/>
            </a:pPr>
            <a:r>
              <a:rPr sz="1400" kern="0" spc="-40" dirty="0">
                <a:solidFill>
                  <a:srgbClr val="FEFFFF">
                    <a:alpha val="100000"/>
                  </a:srgbClr>
                </a:solidFill>
                <a:latin typeface="KaiTi"/>
                <a:ea typeface="KaiTi"/>
                <a:cs typeface="KaiTi"/>
              </a:rPr>
              <a:t>`</a:t>
            </a:r>
            <a:endParaRPr sz="1400" dirty="0">
              <a:latin typeface="KaiTi"/>
              <a:ea typeface="KaiTi"/>
              <a:cs typeface="KaiTi"/>
            </a:endParaRPr>
          </a:p>
        </p:txBody>
      </p:sp>
      <p:sp>
        <p:nvSpPr>
          <p:cNvPr id="644" name="textbox 644"/>
          <p:cNvSpPr/>
          <p:nvPr/>
        </p:nvSpPr>
        <p:spPr>
          <a:xfrm>
            <a:off x="8556649" y="3782466"/>
            <a:ext cx="2475864" cy="1854200"/>
          </a:xfrm>
          <a:prstGeom prst="rect">
            <a:avLst/>
          </a:prstGeom>
          <a:noFill/>
          <a:ln w="0" cap="flat">
            <a:noFill/>
            <a:prstDash val="solid"/>
            <a:miter lim="0"/>
          </a:ln>
        </p:spPr>
        <p:txBody>
          <a:bodyPr vert="horz" wrap="square" lIns="0" tIns="0" rIns="0" bIns="0"/>
          <a:lstStyle/>
          <a:p>
            <a:pPr algn="l" rtl="0" eaLnBrk="0">
              <a:lnSpc>
                <a:spcPct val="82436"/>
              </a:lnSpc>
              <a:tabLst/>
            </a:pPr>
            <a:endParaRPr sz="100" dirty="0">
              <a:latin typeface="Arial"/>
              <a:ea typeface="Arial"/>
              <a:cs typeface="Arial"/>
            </a:endParaRPr>
          </a:p>
          <a:p>
            <a:pPr marL="12700" algn="l" rtl="0" eaLnBrk="0">
              <a:lnSpc>
                <a:spcPct val="91000"/>
              </a:lnSpc>
              <a:tabLst/>
            </a:pPr>
            <a:r>
              <a:rPr sz="1100" b="1" kern="0" spc="-50" dirty="0">
                <a:solidFill>
                  <a:srgbClr val="000000">
                    <a:alpha val="100000"/>
                  </a:srgbClr>
                </a:solidFill>
                <a:latin typeface="KaiTi"/>
                <a:ea typeface="KaiTi"/>
                <a:cs typeface="KaiTi"/>
              </a:rPr>
              <a:t>代表案例：</a:t>
            </a:r>
            <a:endParaRPr sz="1100" dirty="0">
              <a:latin typeface="KaiTi"/>
              <a:ea typeface="KaiTi"/>
              <a:cs typeface="KaiTi"/>
            </a:endParaRPr>
          </a:p>
          <a:p>
            <a:pPr algn="l" rtl="0" eaLnBrk="0">
              <a:lnSpc>
                <a:spcPct val="119000"/>
              </a:lnSpc>
              <a:tabLst/>
            </a:pPr>
            <a:endParaRPr sz="1000" dirty="0">
              <a:latin typeface="Arial"/>
              <a:ea typeface="Arial"/>
              <a:cs typeface="Arial"/>
            </a:endParaRPr>
          </a:p>
          <a:p>
            <a:pPr algn="l" rtl="0" eaLnBrk="0">
              <a:lnSpc>
                <a:spcPct val="120000"/>
              </a:lnSpc>
              <a:tabLst/>
            </a:pPr>
            <a:endParaRPr sz="1000" dirty="0">
              <a:latin typeface="Arial"/>
              <a:ea typeface="Arial"/>
              <a:cs typeface="Arial"/>
            </a:endParaRPr>
          </a:p>
          <a:p>
            <a:pPr marL="17145" algn="l" rtl="0" eaLnBrk="0">
              <a:lnSpc>
                <a:spcPct val="91000"/>
              </a:lnSpc>
              <a:spcBef>
                <a:spcPts val="338"/>
              </a:spcBef>
              <a:tabLst/>
            </a:pPr>
            <a:r>
              <a:rPr sz="1100" b="1" kern="0" spc="-40" dirty="0">
                <a:solidFill>
                  <a:srgbClr val="000000">
                    <a:alpha val="100000"/>
                  </a:srgbClr>
                </a:solidFill>
                <a:latin typeface="KaiTi"/>
                <a:ea typeface="KaiTi"/>
                <a:cs typeface="KaiTi"/>
              </a:rPr>
              <a:t>案例要素：</a:t>
            </a:r>
            <a:endParaRPr sz="1100" dirty="0">
              <a:latin typeface="KaiTi"/>
              <a:ea typeface="KaiTi"/>
              <a:cs typeface="KaiTi"/>
            </a:endParaRPr>
          </a:p>
          <a:p>
            <a:pPr marL="12700" algn="l" rtl="0" eaLnBrk="0">
              <a:lnSpc>
                <a:spcPct val="89000"/>
              </a:lnSpc>
              <a:spcBef>
                <a:spcPts val="529"/>
              </a:spcBef>
              <a:tabLst/>
            </a:pPr>
            <a:r>
              <a:rPr sz="1200" kern="0" spc="-10" dirty="0">
                <a:solidFill>
                  <a:srgbClr val="000000">
                    <a:alpha val="100000"/>
                  </a:srgbClr>
                </a:solidFill>
                <a:latin typeface="Arial"/>
                <a:ea typeface="Arial"/>
                <a:cs typeface="Arial"/>
              </a:rPr>
              <a:t>•</a:t>
            </a:r>
            <a:r>
              <a:rPr sz="1200" kern="0" spc="15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Founder于骞（清华</a:t>
            </a:r>
            <a:r>
              <a:rPr sz="1200" kern="0" spc="-2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x</a:t>
            </a:r>
            <a:r>
              <a:rPr sz="1200" kern="0" spc="150" dirty="0">
                <a:solidFill>
                  <a:srgbClr val="000000">
                    <a:alpha val="100000"/>
                  </a:srgbClr>
                </a:solidFill>
                <a:latin typeface="KaiTi"/>
                <a:ea typeface="KaiTi"/>
                <a:cs typeface="KaiTi"/>
              </a:rPr>
              <a:t> </a:t>
            </a:r>
            <a:r>
              <a:rPr sz="1200" kern="0" spc="-20" dirty="0">
                <a:solidFill>
                  <a:srgbClr val="000000">
                    <a:alpha val="100000"/>
                  </a:srgbClr>
                </a:solidFill>
                <a:latin typeface="KaiTi"/>
                <a:ea typeface="KaiTi"/>
                <a:cs typeface="KaiTi"/>
              </a:rPr>
              <a:t>南加</a:t>
            </a:r>
            <a:endParaRPr sz="1200" dirty="0">
              <a:latin typeface="KaiTi"/>
              <a:ea typeface="KaiTi"/>
              <a:cs typeface="KaiTi"/>
            </a:endParaRPr>
          </a:p>
          <a:p>
            <a:pPr marL="185420" indent="3175" algn="l" rtl="0" eaLnBrk="0">
              <a:lnSpc>
                <a:spcPct val="117000"/>
              </a:lnSpc>
              <a:spcBef>
                <a:spcPts val="125"/>
              </a:spcBef>
              <a:tabLst/>
            </a:pPr>
            <a:r>
              <a:rPr sz="1200" kern="0" spc="-10" dirty="0">
                <a:solidFill>
                  <a:srgbClr val="000000">
                    <a:alpha val="100000"/>
                  </a:srgbClr>
                </a:solidFill>
                <a:latin typeface="KaiTi"/>
                <a:ea typeface="KaiTi"/>
                <a:cs typeface="KaiTi"/>
              </a:rPr>
              <a:t>州）,Waymo</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感知模块机器学习负</a:t>
            </a:r>
            <a:r>
              <a:rPr sz="1200" kern="0" spc="-10" dirty="0">
                <a:solidFill>
                  <a:srgbClr val="000000">
                    <a:alpha val="100000"/>
                  </a:srgbClr>
                </a:solidFill>
                <a:latin typeface="KaiTi"/>
                <a:ea typeface="KaiTi"/>
                <a:cs typeface="KaiTi"/>
              </a:rPr>
              <a:t>责人，Google</a:t>
            </a:r>
            <a:r>
              <a:rPr sz="1200" kern="0" spc="-10" dirty="0">
                <a:solidFill>
                  <a:srgbClr val="000000">
                    <a:alpha val="100000"/>
                  </a:srgbClr>
                </a:solidFill>
                <a:latin typeface="KaiTi"/>
                <a:ea typeface="KaiTi"/>
                <a:cs typeface="KaiTi"/>
              </a:rPr>
              <a:t> </a:t>
            </a:r>
            <a:r>
              <a:rPr sz="1200" kern="0" spc="-10" dirty="0">
                <a:solidFill>
                  <a:srgbClr val="000000">
                    <a:alpha val="100000"/>
                  </a:srgbClr>
                </a:solidFill>
                <a:latin typeface="KaiTi"/>
                <a:ea typeface="KaiTi"/>
                <a:cs typeface="KaiTi"/>
              </a:rPr>
              <a:t>街景组</a:t>
            </a:r>
            <a:endParaRPr sz="1200" dirty="0">
              <a:latin typeface="KaiTi"/>
              <a:ea typeface="KaiTi"/>
              <a:cs typeface="KaiTi"/>
            </a:endParaRPr>
          </a:p>
          <a:p>
            <a:pPr marL="193039" indent="-180339" algn="l" rtl="0" eaLnBrk="0">
              <a:lnSpc>
                <a:spcPct val="115000"/>
              </a:lnSpc>
              <a:spcBef>
                <a:spcPts val="172"/>
              </a:spcBef>
              <a:tabLst/>
            </a:pPr>
            <a:r>
              <a:rPr sz="1200" kern="0" spc="-10" dirty="0">
                <a:solidFill>
                  <a:srgbClr val="000000">
                    <a:alpha val="100000"/>
                  </a:srgbClr>
                </a:solidFill>
                <a:latin typeface="Arial"/>
                <a:ea typeface="Arial"/>
                <a:cs typeface="Arial"/>
              </a:rPr>
              <a:t>•   </a:t>
            </a:r>
            <a:r>
              <a:rPr sz="1200" kern="0" spc="-10" dirty="0">
                <a:solidFill>
                  <a:srgbClr val="000000">
                    <a:alpha val="100000"/>
                  </a:srgbClr>
                </a:solidFill>
                <a:latin typeface="KaiTi"/>
                <a:ea typeface="KaiTi"/>
                <a:cs typeface="KaiTi"/>
              </a:rPr>
              <a:t>团队画像：核心成员来自多家国际</a:t>
            </a:r>
            <a:r>
              <a:rPr sz="1200" kern="0" spc="-30" dirty="0">
                <a:solidFill>
                  <a:srgbClr val="000000">
                    <a:alpha val="100000"/>
                  </a:srgbClr>
                </a:solidFill>
                <a:latin typeface="KaiTi"/>
                <a:ea typeface="KaiTi"/>
                <a:cs typeface="KaiTi"/>
              </a:rPr>
              <a:t>头部AI企业</a:t>
            </a:r>
            <a:endParaRPr sz="1200" dirty="0">
              <a:latin typeface="KaiTi"/>
              <a:ea typeface="KaiTi"/>
              <a:cs typeface="KaiTi"/>
            </a:endParaRPr>
          </a:p>
        </p:txBody>
      </p:sp>
      <p:pic>
        <p:nvPicPr>
          <p:cNvPr id="646" name="picture 646"/>
          <p:cNvPicPr>
            <a:picLocks noChangeAspect="1"/>
          </p:cNvPicPr>
          <p:nvPr/>
        </p:nvPicPr>
        <p:blipFill>
          <a:blip r:embed="rId3"/>
          <a:stretch>
            <a:fillRect/>
          </a:stretch>
        </p:blipFill>
        <p:spPr>
          <a:xfrm rot="21600000">
            <a:off x="982980" y="3328416"/>
            <a:ext cx="2615184" cy="1050035"/>
          </a:xfrm>
          <a:prstGeom prst="rect">
            <a:avLst/>
          </a:prstGeom>
        </p:spPr>
      </p:pic>
      <p:sp>
        <p:nvSpPr>
          <p:cNvPr id="648" name="textbox 648"/>
          <p:cNvSpPr/>
          <p:nvPr/>
        </p:nvSpPr>
        <p:spPr>
          <a:xfrm>
            <a:off x="993432" y="2738467"/>
            <a:ext cx="10034269" cy="207645"/>
          </a:xfrm>
          <a:prstGeom prst="rect">
            <a:avLst/>
          </a:prstGeom>
          <a:noFill/>
          <a:ln w="0" cap="flat">
            <a:noFill/>
            <a:prstDash val="solid"/>
            <a:miter lim="0"/>
          </a:ln>
        </p:spPr>
        <p:txBody>
          <a:bodyPr vert="horz" wrap="square" lIns="0" tIns="0" rIns="0" bIns="0"/>
          <a:lstStyle/>
          <a:p>
            <a:pPr algn="l" rtl="0" eaLnBrk="0">
              <a:lnSpc>
                <a:spcPct val="85832"/>
              </a:lnSpc>
              <a:tabLst/>
            </a:pPr>
            <a:endParaRPr sz="100" dirty="0">
              <a:latin typeface="Arial"/>
              <a:ea typeface="Arial"/>
              <a:cs typeface="Arial"/>
            </a:endParaRPr>
          </a:p>
          <a:p>
            <a:pPr marL="12700" algn="l" rtl="0" eaLnBrk="0">
              <a:lnSpc>
                <a:spcPct val="85000"/>
              </a:lnSpc>
              <a:tabLst/>
            </a:pPr>
            <a:r>
              <a:rPr sz="1200" b="1" kern="0" spc="10" dirty="0">
                <a:solidFill>
                  <a:srgbClr val="000000">
                    <a:alpha val="100000"/>
                  </a:srgbClr>
                </a:solidFill>
                <a:latin typeface="KaiTi"/>
                <a:ea typeface="KaiTi"/>
                <a:cs typeface="KaiTi"/>
              </a:rPr>
              <a:t>本土</a:t>
            </a:r>
            <a:r>
              <a:rPr sz="1200" kern="0" spc="10" dirty="0">
                <a:solidFill>
                  <a:srgbClr val="000000">
                    <a:alpha val="100000"/>
                  </a:srgbClr>
                </a:solidFill>
                <a:latin typeface="KaiTi"/>
                <a:ea typeface="KaiTi"/>
                <a:cs typeface="KaiTi"/>
              </a:rPr>
              <a:t> </a:t>
            </a:r>
            <a:r>
              <a:rPr sz="1200" b="1" kern="0" spc="10" dirty="0">
                <a:solidFill>
                  <a:srgbClr val="000000">
                    <a:alpha val="100000"/>
                  </a:srgbClr>
                </a:solidFill>
                <a:latin typeface="KaiTi"/>
                <a:ea typeface="KaiTi"/>
                <a:cs typeface="KaiTi"/>
              </a:rPr>
              <a:t>&amp;</a:t>
            </a:r>
            <a:r>
              <a:rPr sz="1200" kern="0" spc="10" dirty="0">
                <a:solidFill>
                  <a:srgbClr val="000000">
                    <a:alpha val="100000"/>
                  </a:srgbClr>
                </a:solidFill>
                <a:latin typeface="KaiTi"/>
                <a:ea typeface="KaiTi"/>
                <a:cs typeface="KaiTi"/>
              </a:rPr>
              <a:t> </a:t>
            </a:r>
            <a:r>
              <a:rPr sz="1200" b="1" kern="0" spc="10" dirty="0">
                <a:solidFill>
                  <a:srgbClr val="000000">
                    <a:alpha val="100000"/>
                  </a:srgbClr>
                </a:solidFill>
                <a:latin typeface="KaiTi"/>
                <a:ea typeface="KaiTi"/>
                <a:cs typeface="KaiTi"/>
              </a:rPr>
              <a:t>年轻</a:t>
            </a:r>
            <a:r>
              <a:rPr sz="1200" kern="0" spc="70" dirty="0">
                <a:solidFill>
                  <a:srgbClr val="000000">
                    <a:alpha val="100000"/>
                  </a:srgbClr>
                </a:solidFill>
                <a:latin typeface="KaiTi"/>
                <a:ea typeface="KaiTi"/>
                <a:cs typeface="KaiTi"/>
              </a:rPr>
              <a:t> </a:t>
            </a:r>
            <a:r>
              <a:rPr sz="1200" b="1" kern="0" spc="10" dirty="0">
                <a:solidFill>
                  <a:srgbClr val="000000">
                    <a:alpha val="100000"/>
                  </a:srgbClr>
                </a:solidFill>
                <a:latin typeface="KaiTi"/>
                <a:ea typeface="KaiTi"/>
                <a:cs typeface="KaiTi"/>
              </a:rPr>
              <a:t>&amp;</a:t>
            </a:r>
            <a:r>
              <a:rPr sz="1200" kern="0" spc="180" dirty="0">
                <a:solidFill>
                  <a:srgbClr val="000000">
                    <a:alpha val="100000"/>
                  </a:srgbClr>
                </a:solidFill>
                <a:latin typeface="KaiTi"/>
                <a:ea typeface="KaiTi"/>
                <a:cs typeface="KaiTi"/>
              </a:rPr>
              <a:t> </a:t>
            </a:r>
            <a:r>
              <a:rPr sz="1200" b="1" kern="0" spc="10" dirty="0">
                <a:solidFill>
                  <a:srgbClr val="000000">
                    <a:alpha val="100000"/>
                  </a:srgbClr>
                </a:solidFill>
                <a:latin typeface="KaiTi"/>
                <a:ea typeface="KaiTi"/>
                <a:cs typeface="KaiTi"/>
              </a:rPr>
              <a:t>学术底色</a:t>
            </a:r>
            <a:r>
              <a:rPr sz="1200" kern="0" spc="10" dirty="0">
                <a:solidFill>
                  <a:srgbClr val="000000">
                    <a:alpha val="100000"/>
                  </a:srgbClr>
                </a:solidFill>
                <a:latin typeface="KaiTi"/>
                <a:ea typeface="KaiTi"/>
                <a:cs typeface="KaiTi"/>
              </a:rPr>
              <a:t>                                                      </a:t>
            </a:r>
            <a:r>
              <a:rPr sz="1200" kern="0" spc="0" dirty="0">
                <a:solidFill>
                  <a:srgbClr val="000000">
                    <a:alpha val="100000"/>
                  </a:srgbClr>
                </a:solidFill>
                <a:latin typeface="KaiTi"/>
                <a:ea typeface="KaiTi"/>
                <a:cs typeface="KaiTi"/>
              </a:rPr>
              <a:t>                             </a:t>
            </a:r>
            <a:r>
              <a:rPr sz="1400" b="1" kern="0" spc="0" dirty="0">
                <a:solidFill>
                  <a:srgbClr val="000000">
                    <a:alpha val="100000"/>
                  </a:srgbClr>
                </a:solidFill>
                <a:latin typeface="KaiTi"/>
                <a:ea typeface="KaiTi"/>
                <a:cs typeface="KaiTi"/>
              </a:rPr>
              <a:t>大厂</a:t>
            </a:r>
            <a:r>
              <a:rPr sz="1400" kern="0" spc="0" dirty="0">
                <a:solidFill>
                  <a:srgbClr val="000000">
                    <a:alpha val="100000"/>
                  </a:srgbClr>
                </a:solidFill>
                <a:latin typeface="KaiTi"/>
                <a:ea typeface="KaiTi"/>
                <a:cs typeface="KaiTi"/>
              </a:rPr>
              <a:t> </a:t>
            </a:r>
            <a:r>
              <a:rPr sz="1400" b="1" kern="0" spc="0" dirty="0">
                <a:solidFill>
                  <a:srgbClr val="000000">
                    <a:alpha val="100000"/>
                  </a:srgbClr>
                </a:solidFill>
                <a:latin typeface="KaiTi"/>
                <a:ea typeface="KaiTi"/>
                <a:cs typeface="KaiTi"/>
              </a:rPr>
              <a:t>&amp;</a:t>
            </a:r>
            <a:r>
              <a:rPr sz="1400" kern="0" spc="0" dirty="0">
                <a:solidFill>
                  <a:srgbClr val="000000">
                    <a:alpha val="100000"/>
                  </a:srgbClr>
                </a:solidFill>
                <a:latin typeface="KaiTi"/>
                <a:ea typeface="KaiTi"/>
                <a:cs typeface="KaiTi"/>
              </a:rPr>
              <a:t> </a:t>
            </a:r>
            <a:r>
              <a:rPr sz="1400" b="1" kern="0" spc="0" dirty="0">
                <a:solidFill>
                  <a:srgbClr val="000000">
                    <a:alpha val="100000"/>
                  </a:srgbClr>
                </a:solidFill>
                <a:latin typeface="KaiTi"/>
                <a:ea typeface="KaiTi"/>
                <a:cs typeface="KaiTi"/>
              </a:rPr>
              <a:t>资源</a:t>
            </a:r>
            <a:r>
              <a:rPr sz="1400" kern="0" spc="0" dirty="0">
                <a:solidFill>
                  <a:srgbClr val="000000">
                    <a:alpha val="100000"/>
                  </a:srgbClr>
                </a:solidFill>
                <a:latin typeface="KaiTi"/>
                <a:ea typeface="KaiTi"/>
                <a:cs typeface="KaiTi"/>
              </a:rPr>
              <a:t> </a:t>
            </a:r>
            <a:r>
              <a:rPr sz="1400" b="1" kern="0" spc="0" dirty="0">
                <a:solidFill>
                  <a:srgbClr val="000000">
                    <a:alpha val="100000"/>
                  </a:srgbClr>
                </a:solidFill>
                <a:latin typeface="KaiTi"/>
                <a:ea typeface="KaiTi"/>
                <a:cs typeface="KaiTi"/>
              </a:rPr>
              <a:t>&amp;</a:t>
            </a:r>
            <a:r>
              <a:rPr sz="1400" kern="0" spc="0" dirty="0">
                <a:solidFill>
                  <a:srgbClr val="000000">
                    <a:alpha val="100000"/>
                  </a:srgbClr>
                </a:solidFill>
                <a:latin typeface="KaiTi"/>
                <a:ea typeface="KaiTi"/>
                <a:cs typeface="KaiTi"/>
              </a:rPr>
              <a:t> </a:t>
            </a:r>
            <a:r>
              <a:rPr sz="1400" b="1" kern="0" spc="0" dirty="0">
                <a:solidFill>
                  <a:srgbClr val="000000">
                    <a:alpha val="100000"/>
                  </a:srgbClr>
                </a:solidFill>
                <a:latin typeface="KaiTi"/>
                <a:ea typeface="KaiTi"/>
                <a:cs typeface="KaiTi"/>
              </a:rPr>
              <a:t>Knowhow</a:t>
            </a:r>
            <a:endParaRPr sz="1400" dirty="0">
              <a:latin typeface="KaiTi"/>
              <a:ea typeface="KaiTi"/>
              <a:cs typeface="KaiTi"/>
            </a:endParaRPr>
          </a:p>
        </p:txBody>
      </p:sp>
      <p:sp>
        <p:nvSpPr>
          <p:cNvPr id="650" name="textbox 650"/>
          <p:cNvSpPr/>
          <p:nvPr/>
        </p:nvSpPr>
        <p:spPr>
          <a:xfrm>
            <a:off x="6633052" y="1427732"/>
            <a:ext cx="4900929" cy="258445"/>
          </a:xfrm>
          <a:prstGeom prst="rect">
            <a:avLst/>
          </a:prstGeom>
          <a:solidFill>
            <a:srgbClr val="B47455">
              <a:alpha val="9411"/>
            </a:srgbClr>
          </a:solidFill>
          <a:ln w="0" cap="flat">
            <a:noFill/>
            <a:prstDash val="solid"/>
            <a:miter lim="0"/>
          </a:ln>
        </p:spPr>
        <p:txBody>
          <a:bodyPr vert="horz" wrap="square" lIns="0" tIns="0" rIns="0" bIns="0"/>
          <a:lstStyle/>
          <a:p>
            <a:pPr algn="l" rtl="0" eaLnBrk="0">
              <a:lnSpc>
                <a:spcPct val="36596"/>
              </a:lnSpc>
              <a:tabLst/>
            </a:pPr>
            <a:endParaRPr sz="100" dirty="0">
              <a:latin typeface="Arial"/>
              <a:ea typeface="Arial"/>
              <a:cs typeface="Arial"/>
            </a:endParaRPr>
          </a:p>
          <a:p>
            <a:pPr marL="345440" algn="l" rtl="0" eaLnBrk="0">
              <a:lnSpc>
                <a:spcPct val="84000"/>
              </a:lnSpc>
              <a:tabLst/>
            </a:pPr>
            <a:r>
              <a:rPr sz="1400" b="1" kern="0" spc="-40" dirty="0">
                <a:solidFill>
                  <a:srgbClr val="000000">
                    <a:alpha val="100000"/>
                  </a:srgbClr>
                </a:solidFill>
                <a:latin typeface="KaiTi"/>
                <a:ea typeface="KaiTi"/>
                <a:cs typeface="KaiTi"/>
              </a:rPr>
              <a:t>大厂创业团队</a:t>
            </a:r>
            <a:endParaRPr sz="1400" dirty="0">
              <a:latin typeface="KaiTi"/>
              <a:ea typeface="KaiTi"/>
              <a:cs typeface="KaiTi"/>
            </a:endParaRPr>
          </a:p>
        </p:txBody>
      </p:sp>
      <p:sp>
        <p:nvSpPr>
          <p:cNvPr id="652" name="rect 652"/>
          <p:cNvSpPr/>
          <p:nvPr/>
        </p:nvSpPr>
        <p:spPr>
          <a:xfrm>
            <a:off x="6579107" y="1377696"/>
            <a:ext cx="4916423" cy="266700"/>
          </a:xfrm>
          <a:prstGeom prst="rect">
            <a:avLst/>
          </a:prstGeom>
          <a:solidFill>
            <a:srgbClr val="DFA87F">
              <a:alpha val="27450"/>
            </a:srgbClr>
          </a:solidFill>
          <a:ln w="0" cap="flat">
            <a:noFill/>
            <a:prstDash val="solid"/>
            <a:miter lim="0"/>
          </a:ln>
        </p:spPr>
        <p:txBody>
          <a:bodyPr rtlCol="0"/>
          <a:lstStyle/>
          <a:p>
            <a:pPr algn="ctr"/>
            <a:endParaRPr lang="zh-CN" altLang="en-US"/>
          </a:p>
        </p:txBody>
      </p:sp>
      <p:sp>
        <p:nvSpPr>
          <p:cNvPr id="654" name="textbox 654"/>
          <p:cNvSpPr/>
          <p:nvPr/>
        </p:nvSpPr>
        <p:spPr>
          <a:xfrm>
            <a:off x="567898" y="441481"/>
            <a:ext cx="3667125" cy="381000"/>
          </a:xfrm>
          <a:prstGeom prst="rect">
            <a:avLst/>
          </a:prstGeom>
          <a:noFill/>
          <a:ln w="0" cap="flat">
            <a:noFill/>
            <a:prstDash val="solid"/>
            <a:miter lim="0"/>
          </a:ln>
        </p:spPr>
        <p:txBody>
          <a:bodyPr vert="horz" wrap="square" lIns="0" tIns="0" rIns="0" bIns="0"/>
          <a:lstStyle/>
          <a:p>
            <a:pPr algn="l" rtl="0" eaLnBrk="0">
              <a:lnSpc>
                <a:spcPct val="91562"/>
              </a:lnSpc>
              <a:tabLst/>
            </a:pPr>
            <a:endParaRPr sz="100" dirty="0">
              <a:latin typeface="Arial"/>
              <a:ea typeface="Arial"/>
              <a:cs typeface="Arial"/>
            </a:endParaRPr>
          </a:p>
          <a:p>
            <a:pPr marL="12700" algn="l" rtl="0" eaLnBrk="0">
              <a:lnSpc>
                <a:spcPct val="86000"/>
              </a:lnSpc>
              <a:tabLst/>
            </a:pPr>
            <a:r>
              <a:rPr sz="2700" b="1" kern="0" spc="70" dirty="0">
                <a:solidFill>
                  <a:srgbClr val="BF756D">
                    <a:alpha val="100000"/>
                  </a:srgbClr>
                </a:solidFill>
                <a:latin typeface="KaiTi"/>
                <a:ea typeface="KaiTi"/>
                <a:cs typeface="KaiTi"/>
              </a:rPr>
              <a:t>最强大脑</a:t>
            </a:r>
            <a:r>
              <a:rPr sz="2700" kern="0" spc="70" dirty="0">
                <a:solidFill>
                  <a:srgbClr val="BF756D">
                    <a:alpha val="100000"/>
                  </a:srgbClr>
                </a:solidFill>
                <a:latin typeface="KaiTi"/>
                <a:ea typeface="KaiTi"/>
                <a:cs typeface="KaiTi"/>
              </a:rPr>
              <a:t> </a:t>
            </a:r>
            <a:r>
              <a:rPr sz="2700" b="1" kern="0" spc="0" dirty="0">
                <a:solidFill>
                  <a:srgbClr val="BF756D">
                    <a:alpha val="100000"/>
                  </a:srgbClr>
                </a:solidFill>
                <a:latin typeface="Times New Roman"/>
                <a:ea typeface="Times New Roman"/>
                <a:cs typeface="Times New Roman"/>
              </a:rPr>
              <a:t>VS</a:t>
            </a:r>
            <a:r>
              <a:rPr sz="2700" b="1" kern="0" spc="70" dirty="0">
                <a:solidFill>
                  <a:srgbClr val="BF756D">
                    <a:alpha val="100000"/>
                  </a:srgbClr>
                </a:solidFill>
                <a:latin typeface="Times New Roman"/>
                <a:ea typeface="Times New Roman"/>
                <a:cs typeface="Times New Roman"/>
              </a:rPr>
              <a:t>  </a:t>
            </a:r>
            <a:r>
              <a:rPr sz="2700" b="1" kern="0" spc="70" dirty="0">
                <a:solidFill>
                  <a:srgbClr val="BF756D">
                    <a:alpha val="100000"/>
                  </a:srgbClr>
                </a:solidFill>
                <a:latin typeface="KaiTi"/>
                <a:ea typeface="KaiTi"/>
                <a:cs typeface="KaiTi"/>
              </a:rPr>
              <a:t>产业大佬</a:t>
            </a:r>
            <a:endParaRPr sz="2700" dirty="0">
              <a:latin typeface="KaiTi"/>
              <a:ea typeface="KaiTi"/>
              <a:cs typeface="KaiTi"/>
            </a:endParaRPr>
          </a:p>
        </p:txBody>
      </p:sp>
      <p:sp>
        <p:nvSpPr>
          <p:cNvPr id="656" name="rect 656"/>
          <p:cNvSpPr/>
          <p:nvPr/>
        </p:nvSpPr>
        <p:spPr>
          <a:xfrm>
            <a:off x="832709" y="1449921"/>
            <a:ext cx="4900444" cy="235333"/>
          </a:xfrm>
          <a:prstGeom prst="rect">
            <a:avLst/>
          </a:prstGeom>
          <a:solidFill>
            <a:srgbClr val="B4744A">
              <a:alpha val="9411"/>
            </a:srgbClr>
          </a:solidFill>
          <a:ln w="0" cap="flat">
            <a:noFill/>
            <a:prstDash val="solid"/>
            <a:miter lim="0"/>
          </a:ln>
        </p:spPr>
        <p:txBody>
          <a:bodyPr rtlCol="0"/>
          <a:lstStyle/>
          <a:p>
            <a:pPr algn="ctr"/>
            <a:endParaRPr lang="zh-CN" altLang="en-US"/>
          </a:p>
        </p:txBody>
      </p:sp>
      <p:pic>
        <p:nvPicPr>
          <p:cNvPr id="658" name="picture 658"/>
          <p:cNvPicPr>
            <a:picLocks noChangeAspect="1"/>
          </p:cNvPicPr>
          <p:nvPr/>
        </p:nvPicPr>
        <p:blipFill>
          <a:blip r:embed="rId4"/>
          <a:stretch>
            <a:fillRect/>
          </a:stretch>
        </p:blipFill>
        <p:spPr>
          <a:xfrm rot="21600000">
            <a:off x="1201749" y="1490655"/>
            <a:ext cx="1280803" cy="161976"/>
          </a:xfrm>
          <a:prstGeom prst="rect">
            <a:avLst/>
          </a:prstGeom>
        </p:spPr>
      </p:pic>
      <p:sp>
        <p:nvSpPr>
          <p:cNvPr id="660" name="rect 660"/>
          <p:cNvSpPr/>
          <p:nvPr/>
        </p:nvSpPr>
        <p:spPr>
          <a:xfrm>
            <a:off x="778763" y="1399032"/>
            <a:ext cx="4916423" cy="245364"/>
          </a:xfrm>
          <a:prstGeom prst="rect">
            <a:avLst/>
          </a:prstGeom>
          <a:solidFill>
            <a:srgbClr val="DFA87F">
              <a:alpha val="27450"/>
            </a:srgbClr>
          </a:solidFill>
          <a:ln w="0" cap="flat">
            <a:noFill/>
            <a:prstDash val="solid"/>
            <a:miter lim="0"/>
          </a:ln>
        </p:spPr>
        <p:txBody>
          <a:bodyPr rtlCol="0"/>
          <a:lstStyle/>
          <a:p>
            <a:pPr algn="ctr"/>
            <a:endParaRPr lang="zh-CN" altLang="en-US"/>
          </a:p>
        </p:txBody>
      </p:sp>
      <p:sp>
        <p:nvSpPr>
          <p:cNvPr id="662" name="path 662"/>
          <p:cNvSpPr/>
          <p:nvPr/>
        </p:nvSpPr>
        <p:spPr>
          <a:xfrm>
            <a:off x="4523058" y="5595858"/>
            <a:ext cx="1578449" cy="740353"/>
          </a:xfrm>
          <a:custGeom>
            <a:avLst/>
            <a:gdLst/>
            <a:ahLst/>
            <a:cxnLst/>
            <a:rect l="0" t="0" r="0" b="0"/>
            <a:pathLst>
              <a:path w="2485" h="1165">
                <a:moveTo>
                  <a:pt x="6" y="1152"/>
                </a:moveTo>
                <a:lnTo>
                  <a:pt x="2479" y="13"/>
                </a:lnTo>
              </a:path>
            </a:pathLst>
          </a:custGeom>
          <a:noFill/>
          <a:ln w="19050" cap="flat">
            <a:solidFill>
              <a:srgbClr val="C00000"/>
            </a:solidFill>
            <a:prstDash val="solid"/>
            <a:miter lim="800000"/>
          </a:ln>
        </p:spPr>
        <p:txBody>
          <a:bodyPr rtlCol="0"/>
          <a:lstStyle/>
          <a:p>
            <a:pPr algn="ctr"/>
            <a:endParaRPr lang="zh-CN" altLang="en-US"/>
          </a:p>
        </p:txBody>
      </p:sp>
      <p:sp>
        <p:nvSpPr>
          <p:cNvPr id="664" name="path 664"/>
          <p:cNvSpPr/>
          <p:nvPr/>
        </p:nvSpPr>
        <p:spPr>
          <a:xfrm>
            <a:off x="6092831" y="5585165"/>
            <a:ext cx="1558529" cy="719764"/>
          </a:xfrm>
          <a:custGeom>
            <a:avLst/>
            <a:gdLst/>
            <a:ahLst/>
            <a:cxnLst/>
            <a:rect l="0" t="0" r="0" b="0"/>
            <a:pathLst>
              <a:path w="2454" h="1133">
                <a:moveTo>
                  <a:pt x="6" y="13"/>
                </a:moveTo>
                <a:lnTo>
                  <a:pt x="2448" y="1119"/>
                </a:lnTo>
              </a:path>
            </a:pathLst>
          </a:custGeom>
          <a:noFill/>
          <a:ln w="19050" cap="flat">
            <a:solidFill>
              <a:srgbClr val="C00000"/>
            </a:solidFill>
            <a:prstDash val="solid"/>
            <a:miter lim="800000"/>
          </a:ln>
        </p:spPr>
        <p:txBody>
          <a:bodyPr rtlCol="0"/>
          <a:lstStyle/>
          <a:p>
            <a:pPr algn="ctr"/>
            <a:endParaRPr lang="zh-CN" altLang="en-US"/>
          </a:p>
        </p:txBody>
      </p:sp>
      <p:sp>
        <p:nvSpPr>
          <p:cNvPr id="666" name="textbox 666"/>
          <p:cNvSpPr/>
          <p:nvPr/>
        </p:nvSpPr>
        <p:spPr>
          <a:xfrm>
            <a:off x="1960702" y="5146192"/>
            <a:ext cx="2287270" cy="515619"/>
          </a:xfrm>
          <a:prstGeom prst="rect">
            <a:avLst/>
          </a:prstGeom>
          <a:noFill/>
          <a:ln w="0" cap="flat">
            <a:noFill/>
            <a:prstDash val="solid"/>
            <a:miter lim="0"/>
          </a:ln>
        </p:spPr>
        <p:txBody>
          <a:bodyPr vert="horz" wrap="square" lIns="0" tIns="0" rIns="0" bIns="0"/>
          <a:lstStyle/>
          <a:p>
            <a:pPr algn="l" rtl="0" eaLnBrk="0">
              <a:lnSpc>
                <a:spcPct val="86150"/>
              </a:lnSpc>
              <a:tabLst/>
            </a:pPr>
            <a:endParaRPr sz="100" dirty="0">
              <a:latin typeface="Arial"/>
              <a:ea typeface="Arial"/>
              <a:cs typeface="Arial"/>
            </a:endParaRPr>
          </a:p>
          <a:p>
            <a:pPr algn="r" rtl="0" eaLnBrk="0">
              <a:lnSpc>
                <a:spcPct val="86000"/>
              </a:lnSpc>
              <a:tabLst/>
            </a:pPr>
            <a:r>
              <a:rPr sz="1200" kern="0" spc="-40" dirty="0">
                <a:solidFill>
                  <a:srgbClr val="000000">
                    <a:alpha val="100000"/>
                  </a:srgbClr>
                </a:solidFill>
                <a:latin typeface="KaiTi"/>
                <a:ea typeface="KaiTi"/>
                <a:cs typeface="KaiTi"/>
              </a:rPr>
              <a:t>吉嘉铭（1998）</a:t>
            </a:r>
            <a:r>
              <a:rPr sz="1200" kern="0" spc="-50" dirty="0">
                <a:solidFill>
                  <a:srgbClr val="000000">
                    <a:alpha val="100000"/>
                  </a:srgbClr>
                </a:solidFill>
                <a:latin typeface="KaiTi"/>
                <a:ea typeface="KaiTi"/>
                <a:cs typeface="KaiTi"/>
              </a:rPr>
              <a:t>、陈博远（2004）</a:t>
            </a:r>
            <a:endParaRPr sz="1200" dirty="0">
              <a:latin typeface="KaiTi"/>
              <a:ea typeface="KaiTi"/>
              <a:cs typeface="KaiTi"/>
            </a:endParaRPr>
          </a:p>
          <a:p>
            <a:pPr algn="l" rtl="0" eaLnBrk="0">
              <a:lnSpc>
                <a:spcPct val="105000"/>
              </a:lnSpc>
              <a:tabLst/>
            </a:pPr>
            <a:endParaRPr sz="1100" dirty="0">
              <a:latin typeface="Arial"/>
              <a:ea typeface="Arial"/>
              <a:cs typeface="Arial"/>
            </a:endParaRPr>
          </a:p>
          <a:p>
            <a:pPr marL="12700" algn="l" rtl="0" eaLnBrk="0">
              <a:lnSpc>
                <a:spcPct val="85000"/>
              </a:lnSpc>
              <a:spcBef>
                <a:spcPts val="4"/>
              </a:spcBef>
              <a:tabLst/>
            </a:pPr>
            <a:r>
              <a:rPr sz="1200" kern="0" spc="-80" dirty="0">
                <a:solidFill>
                  <a:srgbClr val="000000">
                    <a:alpha val="100000"/>
                  </a:srgbClr>
                </a:solidFill>
                <a:latin typeface="KaiTi"/>
                <a:ea typeface="KaiTi"/>
                <a:cs typeface="KaiTi"/>
              </a:rPr>
              <a:t>首轮</a:t>
            </a:r>
            <a:r>
              <a:rPr sz="1200" b="1" kern="0" spc="-80" dirty="0">
                <a:solidFill>
                  <a:srgbClr val="000000">
                    <a:alpha val="100000"/>
                  </a:srgbClr>
                </a:solidFill>
                <a:latin typeface="KaiTi"/>
                <a:ea typeface="KaiTi"/>
                <a:cs typeface="KaiTi"/>
              </a:rPr>
              <a:t>千万美元（高瓴）</a:t>
            </a:r>
            <a:endParaRPr sz="1200" dirty="0">
              <a:latin typeface="KaiTi"/>
              <a:ea typeface="KaiTi"/>
              <a:cs typeface="KaiTi"/>
            </a:endParaRPr>
          </a:p>
        </p:txBody>
      </p:sp>
      <p:pic>
        <p:nvPicPr>
          <p:cNvPr id="668" name="picture 668"/>
          <p:cNvPicPr>
            <a:picLocks noChangeAspect="1"/>
          </p:cNvPicPr>
          <p:nvPr/>
        </p:nvPicPr>
        <p:blipFill>
          <a:blip r:embed="rId5"/>
          <a:stretch>
            <a:fillRect/>
          </a:stretch>
        </p:blipFill>
        <p:spPr>
          <a:xfrm rot="21600000">
            <a:off x="270509" y="6483858"/>
            <a:ext cx="11591797" cy="76200"/>
          </a:xfrm>
          <a:prstGeom prst="rect">
            <a:avLst/>
          </a:prstGeom>
        </p:spPr>
      </p:pic>
      <p:sp>
        <p:nvSpPr>
          <p:cNvPr id="670" name="path 670"/>
          <p:cNvSpPr/>
          <p:nvPr/>
        </p:nvSpPr>
        <p:spPr>
          <a:xfrm>
            <a:off x="7646214" y="6280795"/>
            <a:ext cx="3873140" cy="204067"/>
          </a:xfrm>
          <a:custGeom>
            <a:avLst/>
            <a:gdLst/>
            <a:ahLst/>
            <a:cxnLst/>
            <a:rect l="0" t="0" r="0" b="0"/>
            <a:pathLst>
              <a:path w="6099" h="321">
                <a:moveTo>
                  <a:pt x="0" y="14"/>
                </a:moveTo>
                <a:lnTo>
                  <a:pt x="6098" y="306"/>
                </a:lnTo>
              </a:path>
            </a:pathLst>
          </a:custGeom>
          <a:noFill/>
          <a:ln w="19050" cap="flat">
            <a:solidFill>
              <a:srgbClr val="C00000"/>
            </a:solidFill>
            <a:prstDash val="solid"/>
            <a:miter lim="800000"/>
          </a:ln>
        </p:spPr>
        <p:txBody>
          <a:bodyPr rtlCol="0"/>
          <a:lstStyle/>
          <a:p>
            <a:pPr algn="ctr"/>
            <a:endParaRPr lang="zh-CN" altLang="en-US"/>
          </a:p>
        </p:txBody>
      </p:sp>
      <p:pic>
        <p:nvPicPr>
          <p:cNvPr id="672" name="picture 672"/>
          <p:cNvPicPr>
            <a:picLocks noChangeAspect="1"/>
          </p:cNvPicPr>
          <p:nvPr/>
        </p:nvPicPr>
        <p:blipFill>
          <a:blip r:embed="rId6"/>
          <a:stretch>
            <a:fillRect/>
          </a:stretch>
        </p:blipFill>
        <p:spPr>
          <a:xfrm rot="21600000">
            <a:off x="1396884" y="4575047"/>
            <a:ext cx="1959586" cy="374904"/>
          </a:xfrm>
          <a:prstGeom prst="rect">
            <a:avLst/>
          </a:prstGeom>
        </p:spPr>
      </p:pic>
      <p:sp>
        <p:nvSpPr>
          <p:cNvPr id="674" name="path 674"/>
          <p:cNvSpPr/>
          <p:nvPr/>
        </p:nvSpPr>
        <p:spPr>
          <a:xfrm>
            <a:off x="773057" y="6318892"/>
            <a:ext cx="3758674" cy="165987"/>
          </a:xfrm>
          <a:custGeom>
            <a:avLst/>
            <a:gdLst/>
            <a:ahLst/>
            <a:cxnLst/>
            <a:rect l="0" t="0" r="0" b="0"/>
            <a:pathLst>
              <a:path w="5919" h="261">
                <a:moveTo>
                  <a:pt x="0" y="246"/>
                </a:moveTo>
                <a:lnTo>
                  <a:pt x="5918" y="14"/>
                </a:lnTo>
              </a:path>
            </a:pathLst>
          </a:custGeom>
          <a:noFill/>
          <a:ln w="19050" cap="flat">
            <a:solidFill>
              <a:srgbClr val="C00000"/>
            </a:solidFill>
            <a:prstDash val="solid"/>
            <a:miter lim="800000"/>
          </a:ln>
        </p:spPr>
        <p:txBody>
          <a:bodyPr rtlCol="0"/>
          <a:lstStyle/>
          <a:p>
            <a:pPr algn="ctr"/>
            <a:endParaRPr lang="zh-CN" altLang="en-US"/>
          </a:p>
        </p:txBody>
      </p:sp>
      <p:pic>
        <p:nvPicPr>
          <p:cNvPr id="676" name="picture 676"/>
          <p:cNvPicPr>
            <a:picLocks noChangeAspect="1"/>
          </p:cNvPicPr>
          <p:nvPr/>
        </p:nvPicPr>
        <p:blipFill>
          <a:blip r:embed="rId7"/>
          <a:stretch>
            <a:fillRect/>
          </a:stretch>
        </p:blipFill>
        <p:spPr>
          <a:xfrm rot="21600000">
            <a:off x="10114788" y="414528"/>
            <a:ext cx="1616964" cy="365759"/>
          </a:xfrm>
          <a:prstGeom prst="rect">
            <a:avLst/>
          </a:prstGeom>
        </p:spPr>
      </p:pic>
      <p:pic>
        <p:nvPicPr>
          <p:cNvPr id="678" name="picture 678"/>
          <p:cNvPicPr>
            <a:picLocks noChangeAspect="1"/>
          </p:cNvPicPr>
          <p:nvPr/>
        </p:nvPicPr>
        <p:blipFill>
          <a:blip r:embed="rId8"/>
          <a:stretch>
            <a:fillRect/>
          </a:stretch>
        </p:blipFill>
        <p:spPr>
          <a:xfrm rot="21600000">
            <a:off x="812292" y="5161788"/>
            <a:ext cx="1062227" cy="419100"/>
          </a:xfrm>
          <a:prstGeom prst="rect">
            <a:avLst/>
          </a:prstGeom>
        </p:spPr>
      </p:pic>
      <p:pic>
        <p:nvPicPr>
          <p:cNvPr id="680" name="picture 680"/>
          <p:cNvPicPr>
            <a:picLocks noChangeAspect="1"/>
          </p:cNvPicPr>
          <p:nvPr/>
        </p:nvPicPr>
        <p:blipFill>
          <a:blip r:embed="rId9"/>
          <a:stretch>
            <a:fillRect/>
          </a:stretch>
        </p:blipFill>
        <p:spPr>
          <a:xfrm rot="21600000">
            <a:off x="9563100" y="3724656"/>
            <a:ext cx="1559052" cy="257555"/>
          </a:xfrm>
          <a:prstGeom prst="rect">
            <a:avLst/>
          </a:prstGeom>
        </p:spPr>
      </p:pic>
      <p:sp>
        <p:nvSpPr>
          <p:cNvPr id="682" name="path 682"/>
          <p:cNvSpPr/>
          <p:nvPr/>
        </p:nvSpPr>
        <p:spPr>
          <a:xfrm>
            <a:off x="1050036" y="1984247"/>
            <a:ext cx="609600" cy="608076"/>
          </a:xfrm>
          <a:custGeom>
            <a:avLst/>
            <a:gdLst/>
            <a:ahLst/>
            <a:cxnLst/>
            <a:rect l="0" t="0" r="0" b="0"/>
            <a:pathLst>
              <a:path w="960" h="957">
                <a:moveTo>
                  <a:pt x="703" y="547"/>
                </a:moveTo>
                <a:cubicBezTo>
                  <a:pt x="674" y="547"/>
                  <a:pt x="651" y="570"/>
                  <a:pt x="651" y="598"/>
                </a:cubicBezTo>
                <a:lnTo>
                  <a:pt x="651" y="701"/>
                </a:lnTo>
                <a:lnTo>
                  <a:pt x="685" y="701"/>
                </a:lnTo>
                <a:lnTo>
                  <a:pt x="685" y="598"/>
                </a:lnTo>
                <a:lnTo>
                  <a:pt x="719" y="598"/>
                </a:lnTo>
                <a:lnTo>
                  <a:pt x="719" y="922"/>
                </a:lnTo>
                <a:lnTo>
                  <a:pt x="770" y="922"/>
                </a:lnTo>
                <a:lnTo>
                  <a:pt x="770" y="734"/>
                </a:lnTo>
                <a:lnTo>
                  <a:pt x="805" y="734"/>
                </a:lnTo>
                <a:lnTo>
                  <a:pt x="805" y="922"/>
                </a:lnTo>
                <a:lnTo>
                  <a:pt x="857" y="922"/>
                </a:lnTo>
                <a:lnTo>
                  <a:pt x="857" y="598"/>
                </a:lnTo>
                <a:lnTo>
                  <a:pt x="890" y="598"/>
                </a:lnTo>
                <a:lnTo>
                  <a:pt x="890" y="701"/>
                </a:lnTo>
                <a:lnTo>
                  <a:pt x="925" y="701"/>
                </a:lnTo>
                <a:lnTo>
                  <a:pt x="925" y="598"/>
                </a:lnTo>
                <a:cubicBezTo>
                  <a:pt x="925" y="570"/>
                  <a:pt x="902" y="547"/>
                  <a:pt x="873" y="547"/>
                </a:cubicBezTo>
                <a:lnTo>
                  <a:pt x="703" y="547"/>
                </a:lnTo>
                <a:close/>
                <a:moveTo>
                  <a:pt x="86" y="547"/>
                </a:moveTo>
                <a:cubicBezTo>
                  <a:pt x="57" y="547"/>
                  <a:pt x="34" y="570"/>
                  <a:pt x="34" y="598"/>
                </a:cubicBezTo>
                <a:lnTo>
                  <a:pt x="34" y="701"/>
                </a:lnTo>
                <a:lnTo>
                  <a:pt x="68" y="701"/>
                </a:lnTo>
                <a:lnTo>
                  <a:pt x="68" y="598"/>
                </a:lnTo>
                <a:lnTo>
                  <a:pt x="102" y="598"/>
                </a:lnTo>
                <a:lnTo>
                  <a:pt x="102" y="922"/>
                </a:lnTo>
                <a:lnTo>
                  <a:pt x="154" y="922"/>
                </a:lnTo>
                <a:lnTo>
                  <a:pt x="154" y="734"/>
                </a:lnTo>
                <a:lnTo>
                  <a:pt x="188" y="734"/>
                </a:lnTo>
                <a:lnTo>
                  <a:pt x="188" y="922"/>
                </a:lnTo>
                <a:lnTo>
                  <a:pt x="240" y="922"/>
                </a:lnTo>
                <a:lnTo>
                  <a:pt x="240" y="598"/>
                </a:lnTo>
                <a:lnTo>
                  <a:pt x="273" y="598"/>
                </a:lnTo>
                <a:lnTo>
                  <a:pt x="273" y="701"/>
                </a:lnTo>
                <a:lnTo>
                  <a:pt x="308" y="701"/>
                </a:lnTo>
                <a:lnTo>
                  <a:pt x="308" y="598"/>
                </a:lnTo>
                <a:cubicBezTo>
                  <a:pt x="308" y="570"/>
                  <a:pt x="285" y="547"/>
                  <a:pt x="257" y="547"/>
                </a:cubicBezTo>
                <a:lnTo>
                  <a:pt x="86" y="547"/>
                </a:lnTo>
                <a:close/>
                <a:moveTo>
                  <a:pt x="458" y="426"/>
                </a:moveTo>
                <a:lnTo>
                  <a:pt x="479" y="462"/>
                </a:lnTo>
                <a:lnTo>
                  <a:pt x="501" y="426"/>
                </a:lnTo>
                <a:lnTo>
                  <a:pt x="458" y="426"/>
                </a:lnTo>
                <a:close/>
                <a:moveTo>
                  <a:pt x="394" y="426"/>
                </a:moveTo>
                <a:cubicBezTo>
                  <a:pt x="366" y="426"/>
                  <a:pt x="343" y="450"/>
                  <a:pt x="343" y="478"/>
                </a:cubicBezTo>
                <a:lnTo>
                  <a:pt x="343" y="580"/>
                </a:lnTo>
                <a:lnTo>
                  <a:pt x="376" y="580"/>
                </a:lnTo>
                <a:lnTo>
                  <a:pt x="376" y="478"/>
                </a:lnTo>
                <a:lnTo>
                  <a:pt x="411" y="478"/>
                </a:lnTo>
                <a:lnTo>
                  <a:pt x="411" y="803"/>
                </a:lnTo>
                <a:lnTo>
                  <a:pt x="462" y="803"/>
                </a:lnTo>
                <a:lnTo>
                  <a:pt x="462" y="615"/>
                </a:lnTo>
                <a:lnTo>
                  <a:pt x="497" y="615"/>
                </a:lnTo>
                <a:lnTo>
                  <a:pt x="497" y="803"/>
                </a:lnTo>
                <a:lnTo>
                  <a:pt x="548" y="803"/>
                </a:lnTo>
                <a:lnTo>
                  <a:pt x="548" y="478"/>
                </a:lnTo>
                <a:lnTo>
                  <a:pt x="582" y="478"/>
                </a:lnTo>
                <a:lnTo>
                  <a:pt x="582" y="580"/>
                </a:lnTo>
                <a:lnTo>
                  <a:pt x="616" y="580"/>
                </a:lnTo>
                <a:lnTo>
                  <a:pt x="616" y="478"/>
                </a:lnTo>
                <a:cubicBezTo>
                  <a:pt x="616" y="450"/>
                  <a:pt x="593" y="426"/>
                  <a:pt x="565" y="426"/>
                </a:cubicBezTo>
                <a:lnTo>
                  <a:pt x="540" y="426"/>
                </a:lnTo>
                <a:lnTo>
                  <a:pt x="494" y="505"/>
                </a:lnTo>
                <a:cubicBezTo>
                  <a:pt x="490" y="510"/>
                  <a:pt x="485" y="512"/>
                  <a:pt x="479" y="512"/>
                </a:cubicBezTo>
                <a:cubicBezTo>
                  <a:pt x="474" y="512"/>
                  <a:pt x="467" y="510"/>
                  <a:pt x="465" y="505"/>
                </a:cubicBezTo>
                <a:lnTo>
                  <a:pt x="418" y="426"/>
                </a:lnTo>
                <a:lnTo>
                  <a:pt x="394" y="426"/>
                </a:lnTo>
                <a:close/>
                <a:moveTo>
                  <a:pt x="787" y="375"/>
                </a:moveTo>
                <a:cubicBezTo>
                  <a:pt x="750" y="375"/>
                  <a:pt x="719" y="406"/>
                  <a:pt x="719" y="444"/>
                </a:cubicBezTo>
                <a:cubicBezTo>
                  <a:pt x="719" y="482"/>
                  <a:pt x="750" y="512"/>
                  <a:pt x="787" y="512"/>
                </a:cubicBezTo>
                <a:cubicBezTo>
                  <a:pt x="826" y="512"/>
                  <a:pt x="857" y="482"/>
                  <a:pt x="857" y="444"/>
                </a:cubicBezTo>
                <a:cubicBezTo>
                  <a:pt x="857" y="406"/>
                  <a:pt x="826" y="375"/>
                  <a:pt x="787" y="375"/>
                </a:cubicBezTo>
                <a:moveTo>
                  <a:pt x="170" y="375"/>
                </a:moveTo>
                <a:cubicBezTo>
                  <a:pt x="133" y="375"/>
                  <a:pt x="102" y="406"/>
                  <a:pt x="102" y="444"/>
                </a:cubicBezTo>
                <a:cubicBezTo>
                  <a:pt x="102" y="482"/>
                  <a:pt x="133" y="512"/>
                  <a:pt x="170" y="512"/>
                </a:cubicBezTo>
                <a:cubicBezTo>
                  <a:pt x="209" y="512"/>
                  <a:pt x="240" y="482"/>
                  <a:pt x="240" y="444"/>
                </a:cubicBezTo>
                <a:cubicBezTo>
                  <a:pt x="240" y="406"/>
                  <a:pt x="209" y="375"/>
                  <a:pt x="170" y="375"/>
                </a:cubicBezTo>
                <a:moveTo>
                  <a:pt x="479" y="256"/>
                </a:moveTo>
                <a:cubicBezTo>
                  <a:pt x="464" y="256"/>
                  <a:pt x="450" y="261"/>
                  <a:pt x="439" y="270"/>
                </a:cubicBezTo>
                <a:cubicBezTo>
                  <a:pt x="434" y="272"/>
                  <a:pt x="430" y="276"/>
                  <a:pt x="428" y="280"/>
                </a:cubicBezTo>
                <a:cubicBezTo>
                  <a:pt x="428" y="280"/>
                  <a:pt x="426" y="280"/>
                  <a:pt x="426" y="282"/>
                </a:cubicBezTo>
                <a:cubicBezTo>
                  <a:pt x="424" y="285"/>
                  <a:pt x="420" y="289"/>
                  <a:pt x="418" y="294"/>
                </a:cubicBezTo>
                <a:cubicBezTo>
                  <a:pt x="418" y="294"/>
                  <a:pt x="417" y="294"/>
                  <a:pt x="417" y="294"/>
                </a:cubicBezTo>
                <a:cubicBezTo>
                  <a:pt x="413" y="303"/>
                  <a:pt x="411" y="314"/>
                  <a:pt x="411" y="324"/>
                </a:cubicBezTo>
                <a:cubicBezTo>
                  <a:pt x="411" y="362"/>
                  <a:pt x="441" y="393"/>
                  <a:pt x="479" y="393"/>
                </a:cubicBezTo>
                <a:cubicBezTo>
                  <a:pt x="518" y="393"/>
                  <a:pt x="548" y="362"/>
                  <a:pt x="548" y="324"/>
                </a:cubicBezTo>
                <a:cubicBezTo>
                  <a:pt x="548" y="314"/>
                  <a:pt x="546" y="303"/>
                  <a:pt x="540" y="296"/>
                </a:cubicBezTo>
                <a:cubicBezTo>
                  <a:pt x="540" y="294"/>
                  <a:pt x="540" y="294"/>
                  <a:pt x="540" y="294"/>
                </a:cubicBezTo>
                <a:cubicBezTo>
                  <a:pt x="538" y="289"/>
                  <a:pt x="536" y="285"/>
                  <a:pt x="531" y="282"/>
                </a:cubicBezTo>
                <a:cubicBezTo>
                  <a:pt x="531" y="282"/>
                  <a:pt x="531" y="280"/>
                  <a:pt x="531" y="280"/>
                </a:cubicBezTo>
                <a:cubicBezTo>
                  <a:pt x="528" y="276"/>
                  <a:pt x="524" y="272"/>
                  <a:pt x="520" y="270"/>
                </a:cubicBezTo>
                <a:cubicBezTo>
                  <a:pt x="508" y="261"/>
                  <a:pt x="494" y="256"/>
                  <a:pt x="479" y="256"/>
                </a:cubicBezTo>
                <a:moveTo>
                  <a:pt x="480" y="160"/>
                </a:moveTo>
                <a:cubicBezTo>
                  <a:pt x="466" y="160"/>
                  <a:pt x="453" y="164"/>
                  <a:pt x="443" y="174"/>
                </a:cubicBezTo>
                <a:cubicBezTo>
                  <a:pt x="428" y="190"/>
                  <a:pt x="424" y="214"/>
                  <a:pt x="434" y="233"/>
                </a:cubicBezTo>
                <a:cubicBezTo>
                  <a:pt x="447" y="225"/>
                  <a:pt x="462" y="221"/>
                  <a:pt x="479" y="221"/>
                </a:cubicBezTo>
                <a:cubicBezTo>
                  <a:pt x="496" y="221"/>
                  <a:pt x="511" y="225"/>
                  <a:pt x="525" y="233"/>
                </a:cubicBezTo>
                <a:cubicBezTo>
                  <a:pt x="534" y="214"/>
                  <a:pt x="531" y="190"/>
                  <a:pt x="516" y="174"/>
                </a:cubicBezTo>
                <a:cubicBezTo>
                  <a:pt x="506" y="164"/>
                  <a:pt x="493" y="160"/>
                  <a:pt x="480" y="160"/>
                </a:cubicBezTo>
                <a:moveTo>
                  <a:pt x="479" y="90"/>
                </a:moveTo>
                <a:cubicBezTo>
                  <a:pt x="447" y="90"/>
                  <a:pt x="417" y="103"/>
                  <a:pt x="394" y="127"/>
                </a:cubicBezTo>
                <a:cubicBezTo>
                  <a:pt x="352" y="169"/>
                  <a:pt x="348" y="235"/>
                  <a:pt x="384" y="282"/>
                </a:cubicBezTo>
                <a:lnTo>
                  <a:pt x="388" y="278"/>
                </a:lnTo>
                <a:cubicBezTo>
                  <a:pt x="393" y="269"/>
                  <a:pt x="398" y="260"/>
                  <a:pt x="406" y="253"/>
                </a:cubicBezTo>
                <a:cubicBezTo>
                  <a:pt x="386" y="220"/>
                  <a:pt x="390" y="178"/>
                  <a:pt x="418" y="150"/>
                </a:cubicBezTo>
                <a:cubicBezTo>
                  <a:pt x="452" y="116"/>
                  <a:pt x="506" y="116"/>
                  <a:pt x="539" y="150"/>
                </a:cubicBezTo>
                <a:cubicBezTo>
                  <a:pt x="568" y="178"/>
                  <a:pt x="573" y="220"/>
                  <a:pt x="553" y="253"/>
                </a:cubicBezTo>
                <a:cubicBezTo>
                  <a:pt x="560" y="260"/>
                  <a:pt x="566" y="269"/>
                  <a:pt x="570" y="278"/>
                </a:cubicBezTo>
                <a:lnTo>
                  <a:pt x="575" y="282"/>
                </a:lnTo>
                <a:cubicBezTo>
                  <a:pt x="610" y="235"/>
                  <a:pt x="606" y="169"/>
                  <a:pt x="564" y="127"/>
                </a:cubicBezTo>
                <a:cubicBezTo>
                  <a:pt x="542" y="103"/>
                  <a:pt x="511" y="90"/>
                  <a:pt x="479" y="90"/>
                </a:cubicBezTo>
                <a:moveTo>
                  <a:pt x="291" y="68"/>
                </a:moveTo>
                <a:lnTo>
                  <a:pt x="325" y="68"/>
                </a:lnTo>
                <a:lnTo>
                  <a:pt x="325" y="102"/>
                </a:lnTo>
                <a:lnTo>
                  <a:pt x="291" y="102"/>
                </a:lnTo>
                <a:lnTo>
                  <a:pt x="291" y="68"/>
                </a:lnTo>
                <a:close/>
                <a:moveTo>
                  <a:pt x="222" y="68"/>
                </a:moveTo>
                <a:lnTo>
                  <a:pt x="257" y="68"/>
                </a:lnTo>
                <a:lnTo>
                  <a:pt x="257" y="102"/>
                </a:lnTo>
                <a:lnTo>
                  <a:pt x="222" y="102"/>
                </a:lnTo>
                <a:lnTo>
                  <a:pt x="222" y="68"/>
                </a:lnTo>
                <a:close/>
                <a:moveTo>
                  <a:pt x="154" y="68"/>
                </a:moveTo>
                <a:lnTo>
                  <a:pt x="188" y="68"/>
                </a:lnTo>
                <a:lnTo>
                  <a:pt x="188" y="102"/>
                </a:lnTo>
                <a:lnTo>
                  <a:pt x="154" y="102"/>
                </a:lnTo>
                <a:lnTo>
                  <a:pt x="154" y="68"/>
                </a:lnTo>
                <a:close/>
                <a:moveTo>
                  <a:pt x="0" y="0"/>
                </a:moveTo>
                <a:lnTo>
                  <a:pt x="446" y="0"/>
                </a:lnTo>
                <a:cubicBezTo>
                  <a:pt x="474" y="0"/>
                  <a:pt x="497" y="22"/>
                  <a:pt x="497" y="51"/>
                </a:cubicBezTo>
                <a:lnTo>
                  <a:pt x="497" y="57"/>
                </a:lnTo>
                <a:cubicBezTo>
                  <a:pt x="530" y="61"/>
                  <a:pt x="562" y="77"/>
                  <a:pt x="588" y="102"/>
                </a:cubicBezTo>
                <a:cubicBezTo>
                  <a:pt x="648" y="162"/>
                  <a:pt x="648" y="260"/>
                  <a:pt x="588" y="319"/>
                </a:cubicBezTo>
                <a:cubicBezTo>
                  <a:pt x="587" y="321"/>
                  <a:pt x="584" y="322"/>
                  <a:pt x="582" y="322"/>
                </a:cubicBezTo>
                <a:cubicBezTo>
                  <a:pt x="582" y="324"/>
                  <a:pt x="582" y="324"/>
                  <a:pt x="582" y="324"/>
                </a:cubicBezTo>
                <a:cubicBezTo>
                  <a:pt x="582" y="351"/>
                  <a:pt x="573" y="374"/>
                  <a:pt x="556" y="393"/>
                </a:cubicBezTo>
                <a:lnTo>
                  <a:pt x="565" y="393"/>
                </a:lnTo>
                <a:cubicBezTo>
                  <a:pt x="613" y="393"/>
                  <a:pt x="651" y="432"/>
                  <a:pt x="651" y="478"/>
                </a:cubicBezTo>
                <a:lnTo>
                  <a:pt x="651" y="530"/>
                </a:lnTo>
                <a:cubicBezTo>
                  <a:pt x="665" y="519"/>
                  <a:pt x="683" y="512"/>
                  <a:pt x="703" y="512"/>
                </a:cubicBezTo>
                <a:lnTo>
                  <a:pt x="711" y="512"/>
                </a:lnTo>
                <a:cubicBezTo>
                  <a:pt x="695" y="494"/>
                  <a:pt x="685" y="470"/>
                  <a:pt x="685" y="444"/>
                </a:cubicBezTo>
                <a:cubicBezTo>
                  <a:pt x="685" y="388"/>
                  <a:pt x="731" y="342"/>
                  <a:pt x="787" y="342"/>
                </a:cubicBezTo>
                <a:cubicBezTo>
                  <a:pt x="844" y="342"/>
                  <a:pt x="890" y="388"/>
                  <a:pt x="890" y="444"/>
                </a:cubicBezTo>
                <a:cubicBezTo>
                  <a:pt x="890" y="470"/>
                  <a:pt x="881" y="494"/>
                  <a:pt x="864" y="512"/>
                </a:cubicBezTo>
                <a:lnTo>
                  <a:pt x="873" y="512"/>
                </a:lnTo>
                <a:cubicBezTo>
                  <a:pt x="921" y="512"/>
                  <a:pt x="960" y="551"/>
                  <a:pt x="960" y="598"/>
                </a:cubicBezTo>
                <a:lnTo>
                  <a:pt x="960" y="717"/>
                </a:lnTo>
                <a:cubicBezTo>
                  <a:pt x="960" y="726"/>
                  <a:pt x="952" y="734"/>
                  <a:pt x="941" y="734"/>
                </a:cubicBezTo>
                <a:lnTo>
                  <a:pt x="890" y="734"/>
                </a:lnTo>
                <a:lnTo>
                  <a:pt x="890" y="939"/>
                </a:lnTo>
                <a:cubicBezTo>
                  <a:pt x="890" y="950"/>
                  <a:pt x="882" y="957"/>
                  <a:pt x="873" y="957"/>
                </a:cubicBezTo>
                <a:lnTo>
                  <a:pt x="787" y="957"/>
                </a:lnTo>
                <a:lnTo>
                  <a:pt x="703" y="957"/>
                </a:lnTo>
                <a:cubicBezTo>
                  <a:pt x="692" y="957"/>
                  <a:pt x="685" y="950"/>
                  <a:pt x="685" y="939"/>
                </a:cubicBezTo>
                <a:lnTo>
                  <a:pt x="685" y="734"/>
                </a:lnTo>
                <a:lnTo>
                  <a:pt x="633" y="734"/>
                </a:lnTo>
                <a:cubicBezTo>
                  <a:pt x="624" y="734"/>
                  <a:pt x="616" y="726"/>
                  <a:pt x="616" y="717"/>
                </a:cubicBezTo>
                <a:lnTo>
                  <a:pt x="616" y="615"/>
                </a:lnTo>
                <a:lnTo>
                  <a:pt x="582" y="615"/>
                </a:lnTo>
                <a:lnTo>
                  <a:pt x="582" y="820"/>
                </a:lnTo>
                <a:cubicBezTo>
                  <a:pt x="582" y="829"/>
                  <a:pt x="574" y="837"/>
                  <a:pt x="565" y="837"/>
                </a:cubicBezTo>
                <a:lnTo>
                  <a:pt x="479" y="837"/>
                </a:lnTo>
                <a:lnTo>
                  <a:pt x="394" y="837"/>
                </a:lnTo>
                <a:cubicBezTo>
                  <a:pt x="384" y="837"/>
                  <a:pt x="376" y="829"/>
                  <a:pt x="376" y="820"/>
                </a:cubicBezTo>
                <a:lnTo>
                  <a:pt x="376" y="615"/>
                </a:lnTo>
                <a:lnTo>
                  <a:pt x="343" y="615"/>
                </a:lnTo>
                <a:lnTo>
                  <a:pt x="343" y="717"/>
                </a:lnTo>
                <a:cubicBezTo>
                  <a:pt x="343" y="726"/>
                  <a:pt x="335" y="734"/>
                  <a:pt x="325" y="734"/>
                </a:cubicBezTo>
                <a:lnTo>
                  <a:pt x="273" y="734"/>
                </a:lnTo>
                <a:lnTo>
                  <a:pt x="273" y="939"/>
                </a:lnTo>
                <a:cubicBezTo>
                  <a:pt x="273" y="950"/>
                  <a:pt x="266" y="957"/>
                  <a:pt x="257" y="957"/>
                </a:cubicBezTo>
                <a:lnTo>
                  <a:pt x="170" y="957"/>
                </a:lnTo>
                <a:lnTo>
                  <a:pt x="86" y="957"/>
                </a:lnTo>
                <a:cubicBezTo>
                  <a:pt x="75" y="957"/>
                  <a:pt x="68" y="950"/>
                  <a:pt x="68" y="939"/>
                </a:cubicBezTo>
                <a:lnTo>
                  <a:pt x="68" y="734"/>
                </a:lnTo>
                <a:lnTo>
                  <a:pt x="16" y="734"/>
                </a:lnTo>
                <a:cubicBezTo>
                  <a:pt x="7" y="734"/>
                  <a:pt x="0" y="726"/>
                  <a:pt x="0" y="717"/>
                </a:cubicBezTo>
                <a:lnTo>
                  <a:pt x="0" y="598"/>
                </a:lnTo>
                <a:cubicBezTo>
                  <a:pt x="0" y="551"/>
                  <a:pt x="38" y="512"/>
                  <a:pt x="86" y="512"/>
                </a:cubicBezTo>
                <a:lnTo>
                  <a:pt x="95" y="512"/>
                </a:lnTo>
                <a:cubicBezTo>
                  <a:pt x="78" y="494"/>
                  <a:pt x="68" y="470"/>
                  <a:pt x="68" y="444"/>
                </a:cubicBezTo>
                <a:cubicBezTo>
                  <a:pt x="68" y="388"/>
                  <a:pt x="114" y="342"/>
                  <a:pt x="170" y="342"/>
                </a:cubicBezTo>
                <a:cubicBezTo>
                  <a:pt x="227" y="342"/>
                  <a:pt x="273" y="388"/>
                  <a:pt x="273" y="444"/>
                </a:cubicBezTo>
                <a:cubicBezTo>
                  <a:pt x="273" y="470"/>
                  <a:pt x="264" y="494"/>
                  <a:pt x="248" y="512"/>
                </a:cubicBezTo>
                <a:lnTo>
                  <a:pt x="257" y="512"/>
                </a:lnTo>
                <a:cubicBezTo>
                  <a:pt x="276" y="512"/>
                  <a:pt x="294" y="519"/>
                  <a:pt x="308" y="530"/>
                </a:cubicBezTo>
                <a:lnTo>
                  <a:pt x="308" y="478"/>
                </a:lnTo>
                <a:cubicBezTo>
                  <a:pt x="308" y="432"/>
                  <a:pt x="346" y="393"/>
                  <a:pt x="394" y="393"/>
                </a:cubicBezTo>
                <a:lnTo>
                  <a:pt x="403" y="393"/>
                </a:lnTo>
                <a:cubicBezTo>
                  <a:pt x="386" y="374"/>
                  <a:pt x="376" y="351"/>
                  <a:pt x="376" y="324"/>
                </a:cubicBezTo>
                <a:cubicBezTo>
                  <a:pt x="376" y="324"/>
                  <a:pt x="376" y="324"/>
                  <a:pt x="376" y="322"/>
                </a:cubicBezTo>
                <a:cubicBezTo>
                  <a:pt x="375" y="322"/>
                  <a:pt x="372" y="321"/>
                  <a:pt x="370" y="319"/>
                </a:cubicBezTo>
                <a:cubicBezTo>
                  <a:pt x="310" y="260"/>
                  <a:pt x="310" y="162"/>
                  <a:pt x="370" y="102"/>
                </a:cubicBezTo>
                <a:cubicBezTo>
                  <a:pt x="395" y="77"/>
                  <a:pt x="429" y="61"/>
                  <a:pt x="462" y="57"/>
                </a:cubicBezTo>
                <a:lnTo>
                  <a:pt x="462" y="51"/>
                </a:lnTo>
                <a:cubicBezTo>
                  <a:pt x="462" y="42"/>
                  <a:pt x="455" y="34"/>
                  <a:pt x="446" y="34"/>
                </a:cubicBezTo>
                <a:lnTo>
                  <a:pt x="0" y="34"/>
                </a:lnTo>
                <a:lnTo>
                  <a:pt x="0" y="0"/>
                </a:lnTo>
                <a:close/>
              </a:path>
            </a:pathLst>
          </a:custGeom>
          <a:solidFill>
            <a:srgbClr val="BF756D">
              <a:alpha val="100000"/>
            </a:srgbClr>
          </a:solidFill>
          <a:ln w="0" cap="flat">
            <a:noFill/>
            <a:prstDash val="solid"/>
            <a:miter lim="0"/>
          </a:ln>
        </p:spPr>
        <p:txBody>
          <a:bodyPr rtlCol="0"/>
          <a:lstStyle/>
          <a:p>
            <a:pPr algn="ctr"/>
            <a:endParaRPr lang="zh-CN" altLang="en-US"/>
          </a:p>
        </p:txBody>
      </p:sp>
      <p:sp>
        <p:nvSpPr>
          <p:cNvPr id="684" name="path 684"/>
          <p:cNvSpPr/>
          <p:nvPr/>
        </p:nvSpPr>
        <p:spPr>
          <a:xfrm>
            <a:off x="10668000" y="1982724"/>
            <a:ext cx="515111" cy="609600"/>
          </a:xfrm>
          <a:custGeom>
            <a:avLst/>
            <a:gdLst/>
            <a:ahLst/>
            <a:cxnLst/>
            <a:rect l="0" t="0" r="0" b="0"/>
            <a:pathLst>
              <a:path w="811" h="960">
                <a:moveTo>
                  <a:pt x="113" y="426"/>
                </a:moveTo>
                <a:cubicBezTo>
                  <a:pt x="50" y="426"/>
                  <a:pt x="0" y="476"/>
                  <a:pt x="0" y="539"/>
                </a:cubicBezTo>
                <a:lnTo>
                  <a:pt x="0" y="846"/>
                </a:lnTo>
                <a:cubicBezTo>
                  <a:pt x="0" y="908"/>
                  <a:pt x="50" y="960"/>
                  <a:pt x="113" y="960"/>
                </a:cubicBezTo>
                <a:lnTo>
                  <a:pt x="376" y="960"/>
                </a:lnTo>
                <a:lnTo>
                  <a:pt x="202" y="426"/>
                </a:lnTo>
                <a:lnTo>
                  <a:pt x="113" y="426"/>
                </a:lnTo>
                <a:close/>
                <a:moveTo>
                  <a:pt x="697" y="426"/>
                </a:moveTo>
                <a:lnTo>
                  <a:pt x="608" y="426"/>
                </a:lnTo>
                <a:lnTo>
                  <a:pt x="434" y="960"/>
                </a:lnTo>
                <a:lnTo>
                  <a:pt x="697" y="960"/>
                </a:lnTo>
                <a:cubicBezTo>
                  <a:pt x="760" y="960"/>
                  <a:pt x="811" y="908"/>
                  <a:pt x="811" y="846"/>
                </a:cubicBezTo>
                <a:lnTo>
                  <a:pt x="811" y="539"/>
                </a:lnTo>
                <a:cubicBezTo>
                  <a:pt x="811" y="476"/>
                  <a:pt x="760" y="426"/>
                  <a:pt x="697" y="426"/>
                </a:cubicBezTo>
                <a:moveTo>
                  <a:pt x="725" y="783"/>
                </a:moveTo>
                <a:lnTo>
                  <a:pt x="581" y="783"/>
                </a:lnTo>
                <a:cubicBezTo>
                  <a:pt x="573" y="783"/>
                  <a:pt x="565" y="775"/>
                  <a:pt x="565" y="767"/>
                </a:cubicBezTo>
                <a:cubicBezTo>
                  <a:pt x="565" y="758"/>
                  <a:pt x="573" y="751"/>
                  <a:pt x="581" y="751"/>
                </a:cubicBezTo>
                <a:lnTo>
                  <a:pt x="725" y="751"/>
                </a:lnTo>
                <a:cubicBezTo>
                  <a:pt x="734" y="751"/>
                  <a:pt x="741" y="758"/>
                  <a:pt x="741" y="767"/>
                </a:cubicBezTo>
                <a:cubicBezTo>
                  <a:pt x="741" y="775"/>
                  <a:pt x="734" y="783"/>
                  <a:pt x="725" y="783"/>
                </a:cubicBezTo>
                <a:moveTo>
                  <a:pt x="615" y="210"/>
                </a:moveTo>
                <a:cubicBezTo>
                  <a:pt x="615" y="93"/>
                  <a:pt x="521" y="0"/>
                  <a:pt x="405" y="0"/>
                </a:cubicBezTo>
                <a:cubicBezTo>
                  <a:pt x="289" y="0"/>
                  <a:pt x="195" y="93"/>
                  <a:pt x="195" y="210"/>
                </a:cubicBezTo>
                <a:cubicBezTo>
                  <a:pt x="195" y="325"/>
                  <a:pt x="289" y="420"/>
                  <a:pt x="405" y="420"/>
                </a:cubicBezTo>
                <a:cubicBezTo>
                  <a:pt x="521" y="420"/>
                  <a:pt x="615" y="325"/>
                  <a:pt x="615" y="210"/>
                </a:cubicBezTo>
                <a:moveTo>
                  <a:pt x="405" y="453"/>
                </a:moveTo>
                <a:lnTo>
                  <a:pt x="302" y="540"/>
                </a:lnTo>
                <a:lnTo>
                  <a:pt x="405" y="855"/>
                </a:lnTo>
                <a:lnTo>
                  <a:pt x="508" y="540"/>
                </a:lnTo>
                <a:lnTo>
                  <a:pt x="405" y="453"/>
                </a:lnTo>
                <a:close/>
              </a:path>
            </a:pathLst>
          </a:custGeom>
          <a:solidFill>
            <a:srgbClr val="BF756D">
              <a:alpha val="100000"/>
            </a:srgbClr>
          </a:solidFill>
          <a:ln w="0" cap="flat">
            <a:noFill/>
            <a:prstDash val="solid"/>
            <a:miter lim="0"/>
          </a:ln>
        </p:spPr>
        <p:txBody>
          <a:bodyPr rtlCol="0"/>
          <a:lstStyle/>
          <a:p>
            <a:pPr algn="ctr"/>
            <a:endParaRPr lang="zh-CN" altLang="en-US"/>
          </a:p>
        </p:txBody>
      </p:sp>
      <p:sp>
        <p:nvSpPr>
          <p:cNvPr id="686" name="textbox 686"/>
          <p:cNvSpPr/>
          <p:nvPr/>
        </p:nvSpPr>
        <p:spPr>
          <a:xfrm>
            <a:off x="1144074" y="1423665"/>
            <a:ext cx="1343660" cy="203834"/>
          </a:xfrm>
          <a:prstGeom prst="rect">
            <a:avLst/>
          </a:prstGeom>
          <a:noFill/>
          <a:ln w="0" cap="flat">
            <a:noFill/>
            <a:prstDash val="solid"/>
            <a:miter lim="0"/>
          </a:ln>
        </p:spPr>
        <p:txBody>
          <a:bodyPr vert="horz" wrap="square" lIns="0" tIns="0" rIns="0" bIns="0"/>
          <a:lstStyle/>
          <a:p>
            <a:pPr algn="l" rtl="0" eaLnBrk="0">
              <a:lnSpc>
                <a:spcPct val="77453"/>
              </a:lnSpc>
              <a:tabLst/>
            </a:pPr>
            <a:endParaRPr sz="100" dirty="0">
              <a:latin typeface="Arial"/>
              <a:ea typeface="Arial"/>
              <a:cs typeface="Arial"/>
            </a:endParaRPr>
          </a:p>
          <a:p>
            <a:pPr marL="12700" algn="l" rtl="0" eaLnBrk="0">
              <a:lnSpc>
                <a:spcPct val="84000"/>
              </a:lnSpc>
              <a:tabLst/>
            </a:pPr>
            <a:r>
              <a:rPr sz="1400" b="1" kern="0" spc="-10" dirty="0">
                <a:solidFill>
                  <a:srgbClr val="000000">
                    <a:alpha val="100000"/>
                  </a:srgbClr>
                </a:solidFill>
                <a:latin typeface="Times New Roman"/>
                <a:ea typeface="Times New Roman"/>
                <a:cs typeface="Times New Roman"/>
              </a:rPr>
              <a:t>NEO Lab</a:t>
            </a:r>
            <a:r>
              <a:rPr sz="1400" b="1" kern="0" spc="70" dirty="0">
                <a:solidFill>
                  <a:srgbClr val="000000">
                    <a:alpha val="100000"/>
                  </a:srgbClr>
                </a:solidFill>
                <a:latin typeface="Times New Roman"/>
                <a:ea typeface="Times New Roman"/>
                <a:cs typeface="Times New Roman"/>
              </a:rPr>
              <a:t> </a:t>
            </a:r>
            <a:r>
              <a:rPr sz="1400" b="1" kern="0" spc="-10" dirty="0">
                <a:solidFill>
                  <a:srgbClr val="000000">
                    <a:alpha val="100000"/>
                  </a:srgbClr>
                </a:solidFill>
                <a:latin typeface="KaiTi"/>
                <a:ea typeface="KaiTi"/>
                <a:cs typeface="KaiTi"/>
              </a:rPr>
              <a:t>型团队</a:t>
            </a:r>
            <a:endParaRPr sz="1400" dirty="0">
              <a:latin typeface="KaiTi"/>
              <a:ea typeface="KaiTi"/>
              <a:cs typeface="KaiTi"/>
            </a:endParaRPr>
          </a:p>
        </p:txBody>
      </p:sp>
      <p:sp>
        <p:nvSpPr>
          <p:cNvPr id="688" name="textbox 688"/>
          <p:cNvSpPr/>
          <p:nvPr/>
        </p:nvSpPr>
        <p:spPr>
          <a:xfrm>
            <a:off x="5757153" y="5944049"/>
            <a:ext cx="681990" cy="190500"/>
          </a:xfrm>
          <a:prstGeom prst="rect">
            <a:avLst/>
          </a:prstGeom>
          <a:noFill/>
          <a:ln w="0" cap="flat">
            <a:noFill/>
            <a:prstDash val="solid"/>
            <a:miter lim="0"/>
          </a:ln>
        </p:spPr>
        <p:txBody>
          <a:bodyPr vert="horz" wrap="square" lIns="0" tIns="0" rIns="0" bIns="0"/>
          <a:lstStyle/>
          <a:p>
            <a:pPr algn="l" rtl="0" eaLnBrk="0">
              <a:lnSpc>
                <a:spcPct val="83444"/>
              </a:lnSpc>
              <a:tabLst/>
            </a:pPr>
            <a:endParaRPr sz="100" dirty="0">
              <a:latin typeface="Arial"/>
              <a:ea typeface="Arial"/>
              <a:cs typeface="Arial"/>
            </a:endParaRPr>
          </a:p>
          <a:p>
            <a:pPr marL="12700" algn="l" rtl="0" eaLnBrk="0">
              <a:lnSpc>
                <a:spcPct val="90000"/>
              </a:lnSpc>
              <a:tabLst/>
            </a:pPr>
            <a:r>
              <a:rPr sz="1200" b="1" kern="0" spc="80" dirty="0">
                <a:solidFill>
                  <a:srgbClr val="C00000">
                    <a:alpha val="100000"/>
                  </a:srgbClr>
                </a:solidFill>
                <a:latin typeface="KaiTi"/>
                <a:ea typeface="KaiTi"/>
                <a:cs typeface="KaiTi"/>
              </a:rPr>
              <a:t>价值高点</a:t>
            </a:r>
            <a:endParaRPr sz="1200" dirty="0">
              <a:latin typeface="KaiTi"/>
              <a:ea typeface="KaiTi"/>
              <a:cs typeface="KaiTi"/>
            </a:endParaRPr>
          </a:p>
        </p:txBody>
      </p:sp>
      <p:pic>
        <p:nvPicPr>
          <p:cNvPr id="690" name="picture 690"/>
          <p:cNvPicPr>
            <a:picLocks noChangeAspect="1"/>
          </p:cNvPicPr>
          <p:nvPr/>
        </p:nvPicPr>
        <p:blipFill>
          <a:blip r:embed="rId10"/>
          <a:stretch>
            <a:fillRect/>
          </a:stretch>
        </p:blipFill>
        <p:spPr>
          <a:xfrm rot="21600000">
            <a:off x="8594597" y="3113532"/>
            <a:ext cx="2636901" cy="38100"/>
          </a:xfrm>
          <a:prstGeom prst="rect">
            <a:avLst/>
          </a:prstGeom>
        </p:spPr>
      </p:pic>
      <p:pic>
        <p:nvPicPr>
          <p:cNvPr id="692" name="picture 692"/>
          <p:cNvPicPr>
            <a:picLocks noChangeAspect="1"/>
          </p:cNvPicPr>
          <p:nvPr/>
        </p:nvPicPr>
        <p:blipFill>
          <a:blip r:embed="rId11"/>
          <a:stretch>
            <a:fillRect/>
          </a:stretch>
        </p:blipFill>
        <p:spPr>
          <a:xfrm rot="21600000">
            <a:off x="774954" y="3113532"/>
            <a:ext cx="2615183" cy="38100"/>
          </a:xfrm>
          <a:prstGeom prst="rect">
            <a:avLst/>
          </a:prstGeom>
        </p:spPr>
      </p:pic>
      <p:grpSp>
        <p:nvGrpSpPr>
          <p:cNvPr id="48" name="group 48"/>
          <p:cNvGrpSpPr/>
          <p:nvPr/>
        </p:nvGrpSpPr>
        <p:grpSpPr>
          <a:xfrm rot="21600000">
            <a:off x="614552" y="1390269"/>
            <a:ext cx="319277" cy="308610"/>
            <a:chOff x="0" y="0"/>
            <a:chExt cx="319277" cy="308610"/>
          </a:xfrm>
        </p:grpSpPr>
        <p:sp>
          <p:nvSpPr>
            <p:cNvPr id="694" name="path 694"/>
            <p:cNvSpPr/>
            <p:nvPr/>
          </p:nvSpPr>
          <p:spPr>
            <a:xfrm>
              <a:off x="9525" y="9525"/>
              <a:ext cx="300227" cy="289560"/>
            </a:xfrm>
            <a:custGeom>
              <a:avLst/>
              <a:gdLst/>
              <a:ahLst/>
              <a:cxnLst/>
              <a:rect l="0" t="0" r="0" b="0"/>
              <a:pathLst>
                <a:path w="472" h="456">
                  <a:moveTo>
                    <a:pt x="0" y="228"/>
                  </a:moveTo>
                  <a:cubicBezTo>
                    <a:pt x="0" y="102"/>
                    <a:pt x="105" y="0"/>
                    <a:pt x="236" y="0"/>
                  </a:cubicBezTo>
                  <a:cubicBezTo>
                    <a:pt x="366" y="0"/>
                    <a:pt x="472" y="102"/>
                    <a:pt x="472" y="228"/>
                  </a:cubicBezTo>
                  <a:cubicBezTo>
                    <a:pt x="472" y="354"/>
                    <a:pt x="366" y="456"/>
                    <a:pt x="236" y="456"/>
                  </a:cubicBezTo>
                  <a:cubicBezTo>
                    <a:pt x="105" y="456"/>
                    <a:pt x="0" y="354"/>
                    <a:pt x="0" y="228"/>
                  </a:cubicBezTo>
                </a:path>
              </a:pathLst>
            </a:custGeom>
            <a:solidFill>
              <a:srgbClr val="FEFFFF">
                <a:alpha val="100000"/>
              </a:srgbClr>
            </a:solidFill>
            <a:ln w="0" cap="flat">
              <a:noFill/>
              <a:prstDash val="solid"/>
              <a:miter lim="0"/>
            </a:ln>
          </p:spPr>
          <p:txBody>
            <a:bodyPr rtlCol="0"/>
            <a:lstStyle/>
            <a:p>
              <a:pPr algn="ctr"/>
              <a:endParaRPr lang="zh-CN" altLang="en-US"/>
            </a:p>
          </p:txBody>
        </p:sp>
        <p:sp>
          <p:nvSpPr>
            <p:cNvPr id="696" name="path 696"/>
            <p:cNvSpPr/>
            <p:nvPr/>
          </p:nvSpPr>
          <p:spPr>
            <a:xfrm>
              <a:off x="0" y="0"/>
              <a:ext cx="319277" cy="308610"/>
            </a:xfrm>
            <a:custGeom>
              <a:avLst/>
              <a:gdLst/>
              <a:ahLst/>
              <a:cxnLst/>
              <a:rect l="0" t="0" r="0" b="0"/>
              <a:pathLst>
                <a:path w="502" h="486">
                  <a:moveTo>
                    <a:pt x="15" y="243"/>
                  </a:moveTo>
                  <a:cubicBezTo>
                    <a:pt x="15" y="117"/>
                    <a:pt x="120" y="15"/>
                    <a:pt x="251" y="15"/>
                  </a:cubicBezTo>
                  <a:cubicBezTo>
                    <a:pt x="381" y="15"/>
                    <a:pt x="487" y="117"/>
                    <a:pt x="487" y="243"/>
                  </a:cubicBezTo>
                  <a:cubicBezTo>
                    <a:pt x="487" y="369"/>
                    <a:pt x="381" y="471"/>
                    <a:pt x="251" y="471"/>
                  </a:cubicBezTo>
                  <a:cubicBezTo>
                    <a:pt x="120" y="471"/>
                    <a:pt x="15" y="369"/>
                    <a:pt x="15" y="243"/>
                  </a:cubicBezTo>
                </a:path>
              </a:pathLst>
            </a:custGeom>
            <a:noFill/>
            <a:ln w="19050" cap="sq">
              <a:solidFill>
                <a:srgbClr val="BF756D"/>
              </a:solidFill>
              <a:prstDash val="dash"/>
              <a:round/>
            </a:ln>
          </p:spPr>
          <p:txBody>
            <a:bodyPr rtlCol="0"/>
            <a:lstStyle/>
            <a:p>
              <a:pPr algn="ctr"/>
              <a:endParaRPr lang="zh-CN" altLang="en-US"/>
            </a:p>
          </p:txBody>
        </p:sp>
        <p:sp>
          <p:nvSpPr>
            <p:cNvPr id="698" name="path 698"/>
            <p:cNvSpPr/>
            <p:nvPr/>
          </p:nvSpPr>
          <p:spPr>
            <a:xfrm>
              <a:off x="40766" y="59055"/>
              <a:ext cx="197180" cy="199643"/>
            </a:xfrm>
            <a:custGeom>
              <a:avLst/>
              <a:gdLst/>
              <a:ahLst/>
              <a:cxnLst/>
              <a:rect l="0" t="0" r="0" b="0"/>
              <a:pathLst>
                <a:path w="310" h="314">
                  <a:moveTo>
                    <a:pt x="288" y="36"/>
                  </a:moveTo>
                  <a:cubicBezTo>
                    <a:pt x="249" y="0"/>
                    <a:pt x="187" y="0"/>
                    <a:pt x="148" y="36"/>
                  </a:cubicBezTo>
                  <a:cubicBezTo>
                    <a:pt x="121" y="63"/>
                    <a:pt x="113" y="100"/>
                    <a:pt x="124" y="133"/>
                  </a:cubicBezTo>
                  <a:lnTo>
                    <a:pt x="12" y="241"/>
                  </a:lnTo>
                  <a:cubicBezTo>
                    <a:pt x="10" y="243"/>
                    <a:pt x="9" y="246"/>
                    <a:pt x="8" y="249"/>
                  </a:cubicBezTo>
                  <a:lnTo>
                    <a:pt x="0" y="296"/>
                  </a:lnTo>
                  <a:cubicBezTo>
                    <a:pt x="0" y="301"/>
                    <a:pt x="1" y="306"/>
                    <a:pt x="5" y="309"/>
                  </a:cubicBezTo>
                  <a:cubicBezTo>
                    <a:pt x="8" y="312"/>
                    <a:pt x="13" y="314"/>
                    <a:pt x="18" y="313"/>
                  </a:cubicBezTo>
                  <a:lnTo>
                    <a:pt x="67" y="305"/>
                  </a:lnTo>
                  <a:cubicBezTo>
                    <a:pt x="70" y="305"/>
                    <a:pt x="73" y="303"/>
                    <a:pt x="75" y="301"/>
                  </a:cubicBezTo>
                  <a:lnTo>
                    <a:pt x="80" y="297"/>
                  </a:lnTo>
                  <a:lnTo>
                    <a:pt x="66" y="283"/>
                  </a:lnTo>
                  <a:cubicBezTo>
                    <a:pt x="61" y="279"/>
                    <a:pt x="61" y="272"/>
                    <a:pt x="66" y="267"/>
                  </a:cubicBezTo>
                  <a:cubicBezTo>
                    <a:pt x="70" y="263"/>
                    <a:pt x="77" y="263"/>
                    <a:pt x="82" y="267"/>
                  </a:cubicBezTo>
                  <a:lnTo>
                    <a:pt x="96" y="281"/>
                  </a:lnTo>
                  <a:lnTo>
                    <a:pt x="107" y="271"/>
                  </a:lnTo>
                  <a:lnTo>
                    <a:pt x="83" y="249"/>
                  </a:lnTo>
                  <a:cubicBezTo>
                    <a:pt x="79" y="244"/>
                    <a:pt x="79" y="237"/>
                    <a:pt x="83" y="233"/>
                  </a:cubicBezTo>
                  <a:cubicBezTo>
                    <a:pt x="88" y="229"/>
                    <a:pt x="95" y="229"/>
                    <a:pt x="99" y="233"/>
                  </a:cubicBezTo>
                  <a:lnTo>
                    <a:pt x="123" y="256"/>
                  </a:lnTo>
                  <a:lnTo>
                    <a:pt x="133" y="245"/>
                  </a:lnTo>
                  <a:lnTo>
                    <a:pt x="119" y="232"/>
                  </a:lnTo>
                  <a:cubicBezTo>
                    <a:pt x="114" y="227"/>
                    <a:pt x="114" y="220"/>
                    <a:pt x="119" y="216"/>
                  </a:cubicBezTo>
                  <a:cubicBezTo>
                    <a:pt x="123" y="212"/>
                    <a:pt x="130" y="212"/>
                    <a:pt x="135" y="216"/>
                  </a:cubicBezTo>
                  <a:lnTo>
                    <a:pt x="149" y="230"/>
                  </a:lnTo>
                  <a:lnTo>
                    <a:pt x="187" y="194"/>
                  </a:lnTo>
                  <a:cubicBezTo>
                    <a:pt x="221" y="204"/>
                    <a:pt x="260" y="197"/>
                    <a:pt x="288" y="170"/>
                  </a:cubicBezTo>
                  <a:cubicBezTo>
                    <a:pt x="326" y="133"/>
                    <a:pt x="326" y="73"/>
                    <a:pt x="288" y="36"/>
                  </a:cubicBezTo>
                  <a:moveTo>
                    <a:pt x="259" y="125"/>
                  </a:moveTo>
                  <a:cubicBezTo>
                    <a:pt x="249" y="135"/>
                    <a:pt x="233" y="135"/>
                    <a:pt x="223" y="125"/>
                  </a:cubicBezTo>
                  <a:lnTo>
                    <a:pt x="196" y="99"/>
                  </a:lnTo>
                  <a:cubicBezTo>
                    <a:pt x="186" y="89"/>
                    <a:pt x="186" y="74"/>
                    <a:pt x="196" y="64"/>
                  </a:cubicBezTo>
                  <a:cubicBezTo>
                    <a:pt x="206" y="54"/>
                    <a:pt x="222" y="54"/>
                    <a:pt x="232" y="64"/>
                  </a:cubicBezTo>
                  <a:lnTo>
                    <a:pt x="259" y="90"/>
                  </a:lnTo>
                  <a:cubicBezTo>
                    <a:pt x="269" y="100"/>
                    <a:pt x="269" y="115"/>
                    <a:pt x="259" y="125"/>
                  </a:cubicBezTo>
                </a:path>
              </a:pathLst>
            </a:custGeom>
            <a:solidFill>
              <a:srgbClr val="BF756D">
                <a:alpha val="100000"/>
              </a:srgbClr>
            </a:solidFill>
            <a:ln w="0" cap="flat">
              <a:noFill/>
              <a:prstDash val="solid"/>
              <a:miter lim="0"/>
            </a:ln>
          </p:spPr>
          <p:txBody>
            <a:bodyPr rtlCol="0"/>
            <a:lstStyle/>
            <a:p>
              <a:pPr algn="ctr"/>
              <a:endParaRPr lang="zh-CN" altLang="en-US"/>
            </a:p>
          </p:txBody>
        </p:sp>
      </p:grpSp>
      <p:grpSp>
        <p:nvGrpSpPr>
          <p:cNvPr id="50" name="group 50"/>
          <p:cNvGrpSpPr/>
          <p:nvPr/>
        </p:nvGrpSpPr>
        <p:grpSpPr>
          <a:xfrm rot="21600000">
            <a:off x="6419469" y="1390269"/>
            <a:ext cx="317753" cy="308610"/>
            <a:chOff x="0" y="0"/>
            <a:chExt cx="317753" cy="308610"/>
          </a:xfrm>
        </p:grpSpPr>
        <p:sp>
          <p:nvSpPr>
            <p:cNvPr id="700" name="path 700"/>
            <p:cNvSpPr/>
            <p:nvPr/>
          </p:nvSpPr>
          <p:spPr>
            <a:xfrm>
              <a:off x="9525" y="9525"/>
              <a:ext cx="298703" cy="289560"/>
            </a:xfrm>
            <a:custGeom>
              <a:avLst/>
              <a:gdLst/>
              <a:ahLst/>
              <a:cxnLst/>
              <a:rect l="0" t="0" r="0" b="0"/>
              <a:pathLst>
                <a:path w="470" h="456">
                  <a:moveTo>
                    <a:pt x="0" y="228"/>
                  </a:moveTo>
                  <a:cubicBezTo>
                    <a:pt x="0" y="102"/>
                    <a:pt x="105" y="0"/>
                    <a:pt x="235" y="0"/>
                  </a:cubicBezTo>
                  <a:cubicBezTo>
                    <a:pt x="365" y="0"/>
                    <a:pt x="470" y="102"/>
                    <a:pt x="470" y="228"/>
                  </a:cubicBezTo>
                  <a:cubicBezTo>
                    <a:pt x="470" y="354"/>
                    <a:pt x="365" y="456"/>
                    <a:pt x="235" y="456"/>
                  </a:cubicBezTo>
                  <a:cubicBezTo>
                    <a:pt x="105" y="456"/>
                    <a:pt x="0" y="354"/>
                    <a:pt x="0" y="228"/>
                  </a:cubicBezTo>
                </a:path>
              </a:pathLst>
            </a:custGeom>
            <a:solidFill>
              <a:srgbClr val="FEFFFF">
                <a:alpha val="100000"/>
              </a:srgbClr>
            </a:solidFill>
            <a:ln w="0" cap="flat">
              <a:noFill/>
              <a:prstDash val="solid"/>
              <a:miter lim="0"/>
            </a:ln>
          </p:spPr>
          <p:txBody>
            <a:bodyPr rtlCol="0"/>
            <a:lstStyle/>
            <a:p>
              <a:pPr algn="ctr"/>
              <a:endParaRPr lang="zh-CN" altLang="en-US"/>
            </a:p>
          </p:txBody>
        </p:sp>
        <p:sp>
          <p:nvSpPr>
            <p:cNvPr id="702" name="path 702"/>
            <p:cNvSpPr/>
            <p:nvPr/>
          </p:nvSpPr>
          <p:spPr>
            <a:xfrm>
              <a:off x="0" y="0"/>
              <a:ext cx="317753" cy="308610"/>
            </a:xfrm>
            <a:custGeom>
              <a:avLst/>
              <a:gdLst/>
              <a:ahLst/>
              <a:cxnLst/>
              <a:rect l="0" t="0" r="0" b="0"/>
              <a:pathLst>
                <a:path w="500" h="486">
                  <a:moveTo>
                    <a:pt x="15" y="243"/>
                  </a:moveTo>
                  <a:cubicBezTo>
                    <a:pt x="15" y="117"/>
                    <a:pt x="120" y="15"/>
                    <a:pt x="250" y="15"/>
                  </a:cubicBezTo>
                  <a:cubicBezTo>
                    <a:pt x="380" y="15"/>
                    <a:pt x="485" y="117"/>
                    <a:pt x="485" y="243"/>
                  </a:cubicBezTo>
                  <a:cubicBezTo>
                    <a:pt x="485" y="369"/>
                    <a:pt x="380" y="471"/>
                    <a:pt x="250" y="471"/>
                  </a:cubicBezTo>
                  <a:cubicBezTo>
                    <a:pt x="120" y="471"/>
                    <a:pt x="15" y="369"/>
                    <a:pt x="15" y="243"/>
                  </a:cubicBezTo>
                </a:path>
              </a:pathLst>
            </a:custGeom>
            <a:noFill/>
            <a:ln w="19050" cap="sq">
              <a:solidFill>
                <a:srgbClr val="BF756D"/>
              </a:solidFill>
              <a:prstDash val="dash"/>
              <a:round/>
            </a:ln>
          </p:spPr>
          <p:txBody>
            <a:bodyPr rtlCol="0"/>
            <a:lstStyle/>
            <a:p>
              <a:pPr algn="ctr"/>
              <a:endParaRPr lang="zh-CN" altLang="en-US"/>
            </a:p>
          </p:txBody>
        </p:sp>
        <p:sp>
          <p:nvSpPr>
            <p:cNvPr id="704" name="path 704"/>
            <p:cNvSpPr/>
            <p:nvPr/>
          </p:nvSpPr>
          <p:spPr>
            <a:xfrm>
              <a:off x="40766" y="59055"/>
              <a:ext cx="195770" cy="199643"/>
            </a:xfrm>
            <a:custGeom>
              <a:avLst/>
              <a:gdLst/>
              <a:ahLst/>
              <a:cxnLst/>
              <a:rect l="0" t="0" r="0" b="0"/>
              <a:pathLst>
                <a:path w="308" h="314">
                  <a:moveTo>
                    <a:pt x="285" y="36"/>
                  </a:moveTo>
                  <a:cubicBezTo>
                    <a:pt x="247" y="0"/>
                    <a:pt x="185" y="0"/>
                    <a:pt x="147" y="36"/>
                  </a:cubicBezTo>
                  <a:cubicBezTo>
                    <a:pt x="120" y="63"/>
                    <a:pt x="112" y="100"/>
                    <a:pt x="124" y="133"/>
                  </a:cubicBezTo>
                  <a:lnTo>
                    <a:pt x="12" y="241"/>
                  </a:lnTo>
                  <a:cubicBezTo>
                    <a:pt x="10" y="243"/>
                    <a:pt x="9" y="246"/>
                    <a:pt x="8" y="249"/>
                  </a:cubicBezTo>
                  <a:lnTo>
                    <a:pt x="0" y="296"/>
                  </a:lnTo>
                  <a:cubicBezTo>
                    <a:pt x="0" y="301"/>
                    <a:pt x="1" y="306"/>
                    <a:pt x="5" y="309"/>
                  </a:cubicBezTo>
                  <a:cubicBezTo>
                    <a:pt x="8" y="312"/>
                    <a:pt x="13" y="314"/>
                    <a:pt x="17" y="313"/>
                  </a:cubicBezTo>
                  <a:lnTo>
                    <a:pt x="67" y="305"/>
                  </a:lnTo>
                  <a:cubicBezTo>
                    <a:pt x="70" y="305"/>
                    <a:pt x="72" y="303"/>
                    <a:pt x="75" y="301"/>
                  </a:cubicBezTo>
                  <a:lnTo>
                    <a:pt x="80" y="297"/>
                  </a:lnTo>
                  <a:lnTo>
                    <a:pt x="65" y="283"/>
                  </a:lnTo>
                  <a:cubicBezTo>
                    <a:pt x="61" y="279"/>
                    <a:pt x="61" y="272"/>
                    <a:pt x="65" y="267"/>
                  </a:cubicBezTo>
                  <a:cubicBezTo>
                    <a:pt x="70" y="263"/>
                    <a:pt x="77" y="263"/>
                    <a:pt x="81" y="267"/>
                  </a:cubicBezTo>
                  <a:lnTo>
                    <a:pt x="95" y="281"/>
                  </a:lnTo>
                  <a:lnTo>
                    <a:pt x="106" y="271"/>
                  </a:lnTo>
                  <a:lnTo>
                    <a:pt x="83" y="249"/>
                  </a:lnTo>
                  <a:cubicBezTo>
                    <a:pt x="78" y="244"/>
                    <a:pt x="78" y="237"/>
                    <a:pt x="83" y="233"/>
                  </a:cubicBezTo>
                  <a:cubicBezTo>
                    <a:pt x="87" y="229"/>
                    <a:pt x="94" y="229"/>
                    <a:pt x="98" y="233"/>
                  </a:cubicBezTo>
                  <a:lnTo>
                    <a:pt x="122" y="256"/>
                  </a:lnTo>
                  <a:lnTo>
                    <a:pt x="132" y="245"/>
                  </a:lnTo>
                  <a:lnTo>
                    <a:pt x="118" y="232"/>
                  </a:lnTo>
                  <a:cubicBezTo>
                    <a:pt x="114" y="227"/>
                    <a:pt x="114" y="220"/>
                    <a:pt x="118" y="216"/>
                  </a:cubicBezTo>
                  <a:cubicBezTo>
                    <a:pt x="122" y="212"/>
                    <a:pt x="129" y="212"/>
                    <a:pt x="134" y="216"/>
                  </a:cubicBezTo>
                  <a:lnTo>
                    <a:pt x="148" y="230"/>
                  </a:lnTo>
                  <a:lnTo>
                    <a:pt x="186" y="194"/>
                  </a:lnTo>
                  <a:cubicBezTo>
                    <a:pt x="220" y="204"/>
                    <a:pt x="259" y="197"/>
                    <a:pt x="285" y="170"/>
                  </a:cubicBezTo>
                  <a:cubicBezTo>
                    <a:pt x="324" y="133"/>
                    <a:pt x="324" y="73"/>
                    <a:pt x="285" y="36"/>
                  </a:cubicBezTo>
                  <a:moveTo>
                    <a:pt x="257" y="125"/>
                  </a:moveTo>
                  <a:cubicBezTo>
                    <a:pt x="247" y="135"/>
                    <a:pt x="231" y="135"/>
                    <a:pt x="221" y="125"/>
                  </a:cubicBezTo>
                  <a:lnTo>
                    <a:pt x="194" y="99"/>
                  </a:lnTo>
                  <a:cubicBezTo>
                    <a:pt x="184" y="89"/>
                    <a:pt x="184" y="74"/>
                    <a:pt x="194" y="64"/>
                  </a:cubicBezTo>
                  <a:cubicBezTo>
                    <a:pt x="204" y="54"/>
                    <a:pt x="220" y="54"/>
                    <a:pt x="230" y="64"/>
                  </a:cubicBezTo>
                  <a:lnTo>
                    <a:pt x="257" y="90"/>
                  </a:lnTo>
                  <a:cubicBezTo>
                    <a:pt x="267" y="100"/>
                    <a:pt x="267" y="115"/>
                    <a:pt x="257" y="125"/>
                  </a:cubicBezTo>
                </a:path>
              </a:pathLst>
            </a:custGeom>
            <a:solidFill>
              <a:srgbClr val="BF756D">
                <a:alpha val="100000"/>
              </a:srgbClr>
            </a:solidFill>
            <a:ln w="0" cap="flat">
              <a:noFill/>
              <a:prstDash val="solid"/>
              <a:miter lim="0"/>
            </a:ln>
          </p:spPr>
          <p:txBody>
            <a:bodyPr rtlCol="0"/>
            <a:lstStyle/>
            <a:p>
              <a:pPr algn="ctr"/>
              <a:endParaRPr lang="zh-CN" altLang="en-US"/>
            </a:p>
          </p:txBody>
        </p:sp>
      </p:grpSp>
      <p:sp>
        <p:nvSpPr>
          <p:cNvPr id="706" name="textbox 706"/>
          <p:cNvSpPr/>
          <p:nvPr/>
        </p:nvSpPr>
        <p:spPr>
          <a:xfrm>
            <a:off x="11320426" y="6585148"/>
            <a:ext cx="372745" cy="203834"/>
          </a:xfrm>
          <a:prstGeom prst="rect">
            <a:avLst/>
          </a:prstGeom>
          <a:noFill/>
          <a:ln w="0" cap="flat">
            <a:noFill/>
            <a:prstDash val="solid"/>
            <a:miter lim="0"/>
          </a:ln>
        </p:spPr>
        <p:txBody>
          <a:bodyPr vert="horz" wrap="square" lIns="0" tIns="0" rIns="0" bIns="0"/>
          <a:lstStyle/>
          <a:p>
            <a:pPr algn="l" rtl="0" eaLnBrk="0">
              <a:lnSpc>
                <a:spcPct val="77452"/>
              </a:lnSpc>
              <a:tabLst/>
            </a:pPr>
            <a:endParaRPr sz="100" dirty="0">
              <a:latin typeface="Arial"/>
              <a:ea typeface="Arial"/>
              <a:cs typeface="Arial"/>
            </a:endParaRPr>
          </a:p>
          <a:p>
            <a:pPr marL="12700" algn="l" rtl="0" eaLnBrk="0">
              <a:lnSpc>
                <a:spcPct val="84000"/>
              </a:lnSpc>
              <a:tabLst/>
            </a:pPr>
            <a:r>
              <a:rPr sz="1400" b="1" kern="0" spc="-50" dirty="0">
                <a:solidFill>
                  <a:srgbClr val="000000">
                    <a:alpha val="100000"/>
                  </a:srgbClr>
                </a:solidFill>
                <a:latin typeface="KaiTi"/>
                <a:ea typeface="KaiTi"/>
                <a:cs typeface="KaiTi"/>
              </a:rPr>
              <a:t>估值</a:t>
            </a:r>
            <a:endParaRPr sz="1400" dirty="0">
              <a:latin typeface="KaiTi"/>
              <a:ea typeface="KaiTi"/>
              <a:cs typeface="KaiTi"/>
            </a:endParaRPr>
          </a:p>
        </p:txBody>
      </p:sp>
      <p:sp>
        <p:nvSpPr>
          <p:cNvPr id="708" name="path 708"/>
          <p:cNvSpPr/>
          <p:nvPr/>
        </p:nvSpPr>
        <p:spPr>
          <a:xfrm>
            <a:off x="6048755" y="5561076"/>
            <a:ext cx="111252" cy="111251"/>
          </a:xfrm>
          <a:custGeom>
            <a:avLst/>
            <a:gdLst/>
            <a:ahLst/>
            <a:cxnLst/>
            <a:rect l="0" t="0" r="0" b="0"/>
            <a:pathLst>
              <a:path w="175" h="175">
                <a:moveTo>
                  <a:pt x="0" y="87"/>
                </a:moveTo>
                <a:cubicBezTo>
                  <a:pt x="0" y="39"/>
                  <a:pt x="39" y="0"/>
                  <a:pt x="87" y="0"/>
                </a:cubicBezTo>
                <a:cubicBezTo>
                  <a:pt x="135" y="0"/>
                  <a:pt x="175" y="39"/>
                  <a:pt x="175" y="87"/>
                </a:cubicBezTo>
                <a:cubicBezTo>
                  <a:pt x="175" y="135"/>
                  <a:pt x="135" y="175"/>
                  <a:pt x="87" y="175"/>
                </a:cubicBezTo>
                <a:cubicBezTo>
                  <a:pt x="39" y="175"/>
                  <a:pt x="0" y="135"/>
                  <a:pt x="0" y="87"/>
                </a:cubicBezTo>
              </a:path>
            </a:pathLst>
          </a:custGeom>
          <a:solidFill>
            <a:srgbClr val="C00000">
              <a:alpha val="100000"/>
            </a:srgbClr>
          </a:solidFill>
          <a:ln w="0" cap="flat">
            <a:noFill/>
            <a:prstDash val="solid"/>
            <a:miter lim="0"/>
          </a:ln>
        </p:spPr>
        <p:txBody>
          <a:bodyPr rtlCol="0"/>
          <a:lstStyle/>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0" name="table 710"/>
          <p:cNvGraphicFramePr>
            <a:graphicFrameLocks noGrp="1"/>
          </p:cNvGraphicFramePr>
          <p:nvPr/>
        </p:nvGraphicFramePr>
        <p:xfrm>
          <a:off x="1085367" y="2260384"/>
          <a:ext cx="10431779" cy="3817620"/>
        </p:xfrm>
        <a:graphic>
          <a:graphicData uri="http://schemas.openxmlformats.org/drawingml/2006/table">
            <a:tbl>
              <a:tblPr/>
              <a:tblGrid>
                <a:gridCol w="1489075"/>
                <a:gridCol w="6084569"/>
                <a:gridCol w="2858135"/>
              </a:tblGrid>
              <a:tr h="853439">
                <a:tc>
                  <a:txBody>
                    <a:bodyPr/>
                    <a:lstStyle/>
                    <a:p>
                      <a:pPr algn="l" rtl="0" eaLnBrk="0">
                        <a:lnSpc>
                          <a:spcPct val="199000"/>
                        </a:lnSpc>
                        <a:tabLst/>
                      </a:pPr>
                      <a:endParaRPr sz="1000" dirty="0">
                        <a:latin typeface="Arial"/>
                        <a:ea typeface="Arial"/>
                        <a:cs typeface="Arial"/>
                      </a:endParaRPr>
                    </a:p>
                    <a:p>
                      <a:pPr marL="501650" algn="l" rtl="0" eaLnBrk="0">
                        <a:lnSpc>
                          <a:spcPct val="98000"/>
                        </a:lnSpc>
                        <a:spcBef>
                          <a:spcPts val="3"/>
                        </a:spcBef>
                        <a:tabLst/>
                      </a:pPr>
                      <a:r>
                        <a:rPr sz="900" kern="0" spc="70" dirty="0">
                          <a:solidFill>
                            <a:srgbClr val="000000">
                              <a:alpha val="100000"/>
                            </a:srgbClr>
                          </a:solidFill>
                          <a:latin typeface="Microsoft YaHei"/>
                          <a:ea typeface="Microsoft YaHei"/>
                          <a:cs typeface="Microsoft YaHei"/>
                        </a:rPr>
                        <a:t>尚颀资本</a:t>
                      </a:r>
                      <a:endParaRPr sz="900" dirty="0">
                        <a:latin typeface="Microsoft YaHei"/>
                        <a:ea typeface="Microsoft YaHei"/>
                        <a:cs typeface="Microsoft YaHei"/>
                      </a:endParaRPr>
                    </a:p>
                    <a:p>
                      <a:pPr marL="462915" algn="l" rtl="0" eaLnBrk="0">
                        <a:lnSpc>
                          <a:spcPct val="98000"/>
                        </a:lnSpc>
                        <a:spcBef>
                          <a:spcPts val="142"/>
                        </a:spcBef>
                        <a:tabLst/>
                      </a:pPr>
                      <a:r>
                        <a:rPr sz="900" kern="0" spc="80" dirty="0">
                          <a:solidFill>
                            <a:srgbClr val="000000">
                              <a:alpha val="100000"/>
                            </a:srgbClr>
                          </a:solidFill>
                          <a:latin typeface="Microsoft YaHei"/>
                          <a:ea typeface="Microsoft YaHei"/>
                          <a:cs typeface="Microsoft YaHei"/>
                        </a:rPr>
                        <a:t>/恒旭资本</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95000"/>
                        </a:lnSpc>
                        <a:tabLst/>
                      </a:pPr>
                      <a:endParaRPr sz="1000" dirty="0">
                        <a:latin typeface="Arial"/>
                        <a:ea typeface="Arial"/>
                        <a:cs typeface="Arial"/>
                      </a:endParaRPr>
                    </a:p>
                    <a:p>
                      <a:pPr algn="l" rtl="0" eaLnBrk="0">
                        <a:lnSpc>
                          <a:spcPct val="6424"/>
                        </a:lnSpc>
                        <a:tabLst/>
                      </a:pPr>
                      <a:endParaRPr sz="100" dirty="0">
                        <a:latin typeface="Arial"/>
                        <a:ea typeface="Arial"/>
                        <a:cs typeface="Arial"/>
                      </a:endParaRPr>
                    </a:p>
                    <a:p>
                      <a:pPr marL="93344" algn="l" rtl="0" eaLnBrk="0">
                        <a:lnSpc>
                          <a:spcPct val="109000"/>
                        </a:lnSpc>
                        <a:tabLst/>
                      </a:pPr>
                      <a:r>
                        <a:rPr sz="900" kern="0" spc="90" dirty="0">
                          <a:solidFill>
                            <a:srgbClr val="000000">
                              <a:alpha val="100000"/>
                            </a:srgbClr>
                          </a:solidFill>
                          <a:latin typeface="Microsoft YaHei"/>
                          <a:ea typeface="Microsoft YaHei"/>
                          <a:cs typeface="Microsoft YaHei"/>
                        </a:rPr>
                        <a:t>均为上汽旗下投资平台，尚颀资本累计资产</a:t>
                      </a:r>
                      <a:r>
                        <a:rPr sz="900" kern="0" spc="80" dirty="0">
                          <a:solidFill>
                            <a:srgbClr val="000000">
                              <a:alpha val="100000"/>
                            </a:srgbClr>
                          </a:solidFill>
                          <a:latin typeface="Microsoft YaHei"/>
                          <a:ea typeface="Microsoft YaHei"/>
                          <a:cs typeface="Microsoft YaHei"/>
                        </a:rPr>
                        <a:t>管理规模430亿元，上汽恒旭40亿的盘子22年底开始投， 25年</a:t>
                      </a:r>
                      <a:r>
                        <a:rPr sz="900" kern="0" spc="-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全年要投10来亿，</a:t>
                      </a:r>
                      <a:r>
                        <a:rPr sz="900" kern="0" spc="90" dirty="0">
                          <a:solidFill>
                            <a:srgbClr val="000000">
                              <a:alpha val="100000"/>
                            </a:srgbClr>
                          </a:solidFill>
                          <a:latin typeface="Microsoft YaHei"/>
                          <a:ea typeface="Microsoft YaHei"/>
                          <a:cs typeface="Microsoft YaHei"/>
                        </a:rPr>
                        <a:t>近期关注</a:t>
                      </a:r>
                      <a:r>
                        <a:rPr sz="900" kern="0" spc="0" dirty="0">
                          <a:solidFill>
                            <a:srgbClr val="000000">
                              <a:alpha val="100000"/>
                            </a:srgbClr>
                          </a:solidFill>
                          <a:latin typeface="Microsoft YaHei"/>
                          <a:ea typeface="Microsoft YaHei"/>
                          <a:cs typeface="Microsoft YaHei"/>
                        </a:rPr>
                        <a:t>AI</a:t>
                      </a:r>
                      <a:r>
                        <a:rPr sz="900" kern="0" spc="90" dirty="0">
                          <a:solidFill>
                            <a:srgbClr val="000000">
                              <a:alpha val="100000"/>
                            </a:srgbClr>
                          </a:solidFill>
                          <a:latin typeface="Microsoft YaHei"/>
                          <a:ea typeface="Microsoft YaHei"/>
                          <a:cs typeface="Microsoft YaHei"/>
                        </a:rPr>
                        <a:t>和机器人</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95000"/>
                        </a:lnSpc>
                        <a:tabLst/>
                      </a:pPr>
                      <a:endParaRPr sz="1000" dirty="0">
                        <a:latin typeface="Arial"/>
                        <a:ea typeface="Arial"/>
                        <a:cs typeface="Arial"/>
                      </a:endParaRPr>
                    </a:p>
                    <a:p>
                      <a:pPr algn="l" rtl="0" eaLnBrk="0">
                        <a:lnSpc>
                          <a:spcPct val="9354"/>
                        </a:lnSpc>
                        <a:tabLst/>
                      </a:pPr>
                      <a:endParaRPr sz="100" dirty="0">
                        <a:latin typeface="Arial"/>
                        <a:ea typeface="Arial"/>
                        <a:cs typeface="Arial"/>
                      </a:endParaRPr>
                    </a:p>
                    <a:p>
                      <a:pPr marL="95250" indent="5714" algn="l" rtl="0" eaLnBrk="0">
                        <a:lnSpc>
                          <a:spcPct val="109000"/>
                        </a:lnSpc>
                        <a:tabLst/>
                      </a:pPr>
                      <a:r>
                        <a:rPr sz="900" kern="0" spc="90" dirty="0">
                          <a:solidFill>
                            <a:srgbClr val="000000">
                              <a:alpha val="100000"/>
                            </a:srgbClr>
                          </a:solidFill>
                          <a:latin typeface="Microsoft YaHei"/>
                          <a:ea typeface="Microsoft YaHei"/>
                          <a:cs typeface="Microsoft YaHei"/>
                        </a:rPr>
                        <a:t>固极智能、物科金硅、极氪汽车、睿蓝汽车、汉</a:t>
                      </a:r>
                      <a:r>
                        <a:rPr sz="900" kern="0" spc="90" dirty="0">
                          <a:solidFill>
                            <a:srgbClr val="000000">
                              <a:alpha val="100000"/>
                            </a:srgbClr>
                          </a:solidFill>
                          <a:latin typeface="Microsoft YaHei"/>
                          <a:ea typeface="Microsoft YaHei"/>
                          <a:cs typeface="Microsoft YaHei"/>
                        </a:rPr>
                        <a:t>马发动机、爱仕特</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595629">
                <a:tc>
                  <a:txBody>
                    <a:bodyPr/>
                    <a:lstStyle/>
                    <a:p>
                      <a:pPr algn="l" rtl="0" eaLnBrk="0">
                        <a:lnSpc>
                          <a:spcPct val="164000"/>
                        </a:lnSpc>
                        <a:tabLst/>
                      </a:pPr>
                      <a:endParaRPr sz="1000" dirty="0">
                        <a:latin typeface="Arial"/>
                        <a:ea typeface="Arial"/>
                        <a:cs typeface="Arial"/>
                      </a:endParaRPr>
                    </a:p>
                    <a:p>
                      <a:pPr algn="l" rtl="0" eaLnBrk="0">
                        <a:lnSpc>
                          <a:spcPct val="6313"/>
                        </a:lnSpc>
                        <a:tabLst/>
                      </a:pPr>
                      <a:endParaRPr sz="100" dirty="0">
                        <a:latin typeface="Arial"/>
                        <a:ea typeface="Arial"/>
                        <a:cs typeface="Arial"/>
                      </a:endParaRPr>
                    </a:p>
                    <a:p>
                      <a:pPr marL="492125" algn="l" rtl="0" eaLnBrk="0">
                        <a:lnSpc>
                          <a:spcPct val="98000"/>
                        </a:lnSpc>
                        <a:tabLst/>
                      </a:pPr>
                      <a:r>
                        <a:rPr sz="900" kern="0" spc="90" dirty="0">
                          <a:solidFill>
                            <a:srgbClr val="000000">
                              <a:alpha val="100000"/>
                            </a:srgbClr>
                          </a:solidFill>
                          <a:latin typeface="Microsoft YaHei"/>
                          <a:ea typeface="Microsoft YaHei"/>
                          <a:cs typeface="Microsoft YaHei"/>
                        </a:rPr>
                        <a:t>蔚来资本</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11000"/>
                        </a:lnSpc>
                        <a:tabLst/>
                      </a:pPr>
                      <a:endParaRPr sz="1000" dirty="0">
                        <a:latin typeface="Arial"/>
                        <a:ea typeface="Arial"/>
                        <a:cs typeface="Arial"/>
                      </a:endParaRPr>
                    </a:p>
                    <a:p>
                      <a:pPr marL="93344" indent="-635" algn="l" rtl="0" eaLnBrk="0">
                        <a:lnSpc>
                          <a:spcPct val="109000"/>
                        </a:lnSpc>
                        <a:spcBef>
                          <a:spcPts val="4"/>
                        </a:spcBef>
                        <a:tabLst/>
                      </a:pPr>
                      <a:r>
                        <a:rPr sz="900" kern="0" spc="90" dirty="0">
                          <a:solidFill>
                            <a:srgbClr val="000000">
                              <a:alpha val="100000"/>
                            </a:srgbClr>
                          </a:solidFill>
                          <a:latin typeface="Microsoft YaHei"/>
                          <a:ea typeface="Microsoft YaHei"/>
                          <a:cs typeface="Microsoft YaHei"/>
                        </a:rPr>
                        <a:t>蔚来资本成立于2016年，专注于大出行、能源、科技等领域的投资， 重点围</a:t>
                      </a:r>
                      <a:r>
                        <a:rPr sz="900" kern="0" spc="80" dirty="0">
                          <a:solidFill>
                            <a:srgbClr val="000000">
                              <a:alpha val="100000"/>
                            </a:srgbClr>
                          </a:solidFill>
                          <a:latin typeface="Microsoft YaHei"/>
                          <a:ea typeface="Microsoft YaHei"/>
                          <a:cs typeface="Microsoft YaHei"/>
                        </a:rPr>
                        <a:t>绕出行变革、智慧工业、智慧</a:t>
                      </a:r>
                      <a:r>
                        <a:rPr sz="900" kern="0" spc="90" dirty="0">
                          <a:solidFill>
                            <a:srgbClr val="000000">
                              <a:alpha val="100000"/>
                            </a:srgbClr>
                          </a:solidFill>
                          <a:latin typeface="Microsoft YaHei"/>
                          <a:ea typeface="Microsoft YaHei"/>
                          <a:cs typeface="Microsoft YaHei"/>
                        </a:rPr>
                        <a:t>生活等领域进行投资布局，管理规模30亿人民币</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61000"/>
                        </a:lnSpc>
                        <a:tabLst/>
                      </a:pPr>
                      <a:endParaRPr sz="1000" dirty="0">
                        <a:latin typeface="Arial"/>
                        <a:ea typeface="Arial"/>
                        <a:cs typeface="Arial"/>
                      </a:endParaRPr>
                    </a:p>
                    <a:p>
                      <a:pPr algn="l" rtl="0" eaLnBrk="0">
                        <a:lnSpc>
                          <a:spcPct val="7977"/>
                        </a:lnSpc>
                        <a:tabLst/>
                      </a:pPr>
                      <a:endParaRPr sz="100" dirty="0">
                        <a:latin typeface="Arial"/>
                        <a:ea typeface="Arial"/>
                        <a:cs typeface="Arial"/>
                      </a:endParaRPr>
                    </a:p>
                    <a:p>
                      <a:pPr marL="94614" algn="l" rtl="0" eaLnBrk="0">
                        <a:lnSpc>
                          <a:spcPct val="98000"/>
                        </a:lnSpc>
                        <a:tabLst/>
                      </a:pPr>
                      <a:r>
                        <a:rPr sz="900" kern="0" spc="100" dirty="0">
                          <a:solidFill>
                            <a:srgbClr val="000000">
                              <a:alpha val="100000"/>
                            </a:srgbClr>
                          </a:solidFill>
                          <a:latin typeface="Microsoft YaHei"/>
                          <a:ea typeface="Microsoft YaHei"/>
                          <a:cs typeface="Microsoft YaHei"/>
                        </a:rPr>
                        <a:t>艾为电气、晶湛半导体、</a:t>
                      </a:r>
                      <a:r>
                        <a:rPr sz="900" kern="0" spc="90" dirty="0">
                          <a:solidFill>
                            <a:srgbClr val="000000">
                              <a:alpha val="100000"/>
                            </a:srgbClr>
                          </a:solidFill>
                          <a:latin typeface="Microsoft YaHei"/>
                          <a:ea typeface="Microsoft YaHei"/>
                          <a:cs typeface="Microsoft YaHei"/>
                        </a:rPr>
                        <a:t>联赢激光、锐泰微电子</a:t>
                      </a:r>
                      <a:endParaRPr sz="900" dirty="0">
                        <a:latin typeface="Microsoft YaHei"/>
                        <a:ea typeface="Microsoft YaHei"/>
                        <a:cs typeface="Microsoft YaHei"/>
                      </a:endParaRPr>
                    </a:p>
                  </a:txBody>
                  <a:tcPr marL="0" marR="0" marT="0" marB="0" vert="horz">
                    <a:lnL>
                      <a:noFill/>
                    </a:lnL>
                    <a:lnR>
                      <a:noFill/>
                    </a:lnR>
                    <a:lnT>
                      <a:noFill/>
                    </a:lnT>
                    <a:lnB>
                      <a:noFill/>
                    </a:lnB>
                  </a:tcPr>
                </a:tc>
              </a:tr>
              <a:tr h="561975">
                <a:tc>
                  <a:txBody>
                    <a:bodyPr/>
                    <a:lstStyle/>
                    <a:p>
                      <a:pPr algn="l" rtl="0" eaLnBrk="0">
                        <a:lnSpc>
                          <a:spcPct val="153000"/>
                        </a:lnSpc>
                        <a:tabLst/>
                      </a:pPr>
                      <a:endParaRPr sz="1000" dirty="0">
                        <a:latin typeface="Arial"/>
                        <a:ea typeface="Arial"/>
                        <a:cs typeface="Arial"/>
                      </a:endParaRPr>
                    </a:p>
                    <a:p>
                      <a:pPr algn="l" rtl="0" eaLnBrk="0">
                        <a:lnSpc>
                          <a:spcPct val="7972"/>
                        </a:lnSpc>
                        <a:tabLst/>
                      </a:pPr>
                      <a:endParaRPr sz="100" dirty="0">
                        <a:latin typeface="Arial"/>
                        <a:ea typeface="Arial"/>
                        <a:cs typeface="Arial"/>
                      </a:endParaRPr>
                    </a:p>
                    <a:p>
                      <a:pPr marL="366395" algn="l" rtl="0" eaLnBrk="0">
                        <a:lnSpc>
                          <a:spcPct val="98000"/>
                        </a:lnSpc>
                        <a:tabLst/>
                      </a:pPr>
                      <a:r>
                        <a:rPr sz="900" kern="0" spc="90" dirty="0">
                          <a:solidFill>
                            <a:srgbClr val="000000">
                              <a:alpha val="100000"/>
                            </a:srgbClr>
                          </a:solidFill>
                          <a:latin typeface="Microsoft YaHei"/>
                          <a:ea typeface="Microsoft YaHei"/>
                          <a:cs typeface="Microsoft YaHei"/>
                        </a:rPr>
                        <a:t>一汽红旗基金</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24000"/>
                        </a:lnSpc>
                        <a:tabLst/>
                      </a:pPr>
                      <a:endParaRPr sz="400" dirty="0">
                        <a:latin typeface="Arial"/>
                        <a:ea typeface="Arial"/>
                        <a:cs typeface="Arial"/>
                      </a:endParaRPr>
                    </a:p>
                    <a:p>
                      <a:pPr marL="93344" indent="-635" algn="l" rtl="0" eaLnBrk="0">
                        <a:lnSpc>
                          <a:spcPct val="110000"/>
                        </a:lnSpc>
                        <a:spcBef>
                          <a:spcPts val="1"/>
                        </a:spcBef>
                        <a:tabLst/>
                      </a:pPr>
                      <a:r>
                        <a:rPr sz="900" kern="0" spc="80" dirty="0">
                          <a:solidFill>
                            <a:srgbClr val="000000">
                              <a:alpha val="100000"/>
                            </a:srgbClr>
                          </a:solidFill>
                          <a:latin typeface="Microsoft YaHei"/>
                          <a:ea typeface="Microsoft YaHei"/>
                          <a:cs typeface="Microsoft YaHei"/>
                        </a:rPr>
                        <a:t>成立于2018年11月30日，实控人为一汽股权投资（天津）有限公司， 持有42.94%股权，是一汽集团与吉</a:t>
                      </a:r>
                      <a:r>
                        <a:rPr sz="900" kern="0" spc="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林省政府联合发起设立的市场</a:t>
                      </a:r>
                      <a:r>
                        <a:rPr sz="900" kern="0" spc="90" dirty="0">
                          <a:solidFill>
                            <a:srgbClr val="000000">
                              <a:alpha val="100000"/>
                            </a:srgbClr>
                          </a:solidFill>
                          <a:latin typeface="Microsoft YaHei"/>
                          <a:ea typeface="Microsoft YaHei"/>
                          <a:cs typeface="Microsoft YaHei"/>
                        </a:rPr>
                        <a:t>化、专业化的私募基金。</a:t>
                      </a:r>
                      <a:r>
                        <a:rPr sz="900" kern="0" spc="-4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主要围绕汽车产业链、机器人、低空相关领域开展</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投资运作</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00000"/>
                        </a:lnSpc>
                        <a:tabLst/>
                      </a:pPr>
                      <a:endParaRPr sz="1000" dirty="0">
                        <a:latin typeface="Arial"/>
                        <a:ea typeface="Arial"/>
                        <a:cs typeface="Arial"/>
                      </a:endParaRPr>
                    </a:p>
                    <a:p>
                      <a:pPr algn="l" rtl="0" eaLnBrk="0">
                        <a:lnSpc>
                          <a:spcPct val="8031"/>
                        </a:lnSpc>
                        <a:tabLst/>
                      </a:pPr>
                      <a:endParaRPr sz="100" dirty="0">
                        <a:latin typeface="Arial"/>
                        <a:ea typeface="Arial"/>
                        <a:cs typeface="Arial"/>
                      </a:endParaRPr>
                    </a:p>
                    <a:p>
                      <a:pPr marL="95250" indent="-1905" algn="l" rtl="0" eaLnBrk="0">
                        <a:lnSpc>
                          <a:spcPct val="109000"/>
                        </a:lnSpc>
                        <a:tabLst/>
                      </a:pPr>
                      <a:r>
                        <a:rPr sz="900" kern="0" spc="100" dirty="0">
                          <a:solidFill>
                            <a:srgbClr val="000000">
                              <a:alpha val="100000"/>
                            </a:srgbClr>
                          </a:solidFill>
                          <a:latin typeface="Microsoft YaHei"/>
                          <a:ea typeface="Microsoft YaHei"/>
                          <a:cs typeface="Microsoft YaHei"/>
                        </a:rPr>
                        <a:t>地平线、神经元、千顾科技、</a:t>
                      </a:r>
                      <a:r>
                        <a:rPr sz="900" kern="0" spc="90" dirty="0">
                          <a:solidFill>
                            <a:srgbClr val="000000">
                              <a:alpha val="100000"/>
                            </a:srgbClr>
                          </a:solidFill>
                          <a:latin typeface="Microsoft YaHei"/>
                          <a:ea typeface="Microsoft YaHei"/>
                          <a:cs typeface="Microsoft YaHei"/>
                        </a:rPr>
                        <a:t>芯擎科技、途虎养</a:t>
                      </a:r>
                      <a:r>
                        <a:rPr sz="900" kern="0" spc="90" dirty="0">
                          <a:solidFill>
                            <a:srgbClr val="000000">
                              <a:alpha val="100000"/>
                            </a:srgbClr>
                          </a:solidFill>
                          <a:latin typeface="Microsoft YaHei"/>
                          <a:ea typeface="Microsoft YaHei"/>
                          <a:cs typeface="Microsoft YaHei"/>
                        </a:rPr>
                        <a:t>车、小马智行</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608329">
                <a:tc>
                  <a:txBody>
                    <a:bodyPr/>
                    <a:lstStyle/>
                    <a:p>
                      <a:pPr algn="l" rtl="0" eaLnBrk="0">
                        <a:lnSpc>
                          <a:spcPct val="154000"/>
                        </a:lnSpc>
                        <a:tabLst/>
                      </a:pPr>
                      <a:endParaRPr sz="1000" dirty="0">
                        <a:latin typeface="Arial"/>
                        <a:ea typeface="Arial"/>
                        <a:cs typeface="Arial"/>
                      </a:endParaRPr>
                    </a:p>
                    <a:p>
                      <a:pPr algn="l" rtl="0" eaLnBrk="0">
                        <a:lnSpc>
                          <a:spcPct val="9312"/>
                        </a:lnSpc>
                        <a:tabLst/>
                      </a:pPr>
                      <a:endParaRPr sz="100" dirty="0">
                        <a:latin typeface="Arial"/>
                        <a:ea typeface="Arial"/>
                        <a:cs typeface="Arial"/>
                      </a:endParaRPr>
                    </a:p>
                    <a:p>
                      <a:pPr marL="438784" algn="l" rtl="0" eaLnBrk="0">
                        <a:lnSpc>
                          <a:spcPct val="98000"/>
                        </a:lnSpc>
                        <a:tabLst/>
                      </a:pPr>
                      <a:r>
                        <a:rPr sz="900" kern="0" spc="70" dirty="0">
                          <a:solidFill>
                            <a:srgbClr val="000000">
                              <a:alpha val="100000"/>
                            </a:srgbClr>
                          </a:solidFill>
                          <a:latin typeface="Microsoft YaHei"/>
                          <a:ea typeface="Microsoft YaHei"/>
                          <a:cs typeface="Microsoft YaHei"/>
                        </a:rPr>
                        <a:t>中金保时捷</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04000"/>
                        </a:lnSpc>
                        <a:tabLst/>
                      </a:pPr>
                      <a:endParaRPr sz="900" dirty="0">
                        <a:latin typeface="Arial"/>
                        <a:ea typeface="Arial"/>
                        <a:cs typeface="Arial"/>
                      </a:endParaRPr>
                    </a:p>
                    <a:p>
                      <a:pPr algn="l" rtl="0" eaLnBrk="0">
                        <a:lnSpc>
                          <a:spcPct val="6672"/>
                        </a:lnSpc>
                        <a:tabLst/>
                      </a:pPr>
                      <a:endParaRPr sz="100" dirty="0">
                        <a:latin typeface="Arial"/>
                        <a:ea typeface="Arial"/>
                        <a:cs typeface="Arial"/>
                      </a:endParaRPr>
                    </a:p>
                    <a:p>
                      <a:pPr marL="99694" indent="-6985" algn="l" rtl="0" eaLnBrk="0">
                        <a:lnSpc>
                          <a:spcPct val="113000"/>
                        </a:lnSpc>
                        <a:tabLst/>
                      </a:pPr>
                      <a:r>
                        <a:rPr sz="900" kern="0" spc="90" dirty="0">
                          <a:solidFill>
                            <a:srgbClr val="000000">
                              <a:alpha val="100000"/>
                            </a:srgbClr>
                          </a:solidFill>
                          <a:latin typeface="Microsoft YaHei"/>
                          <a:ea typeface="Microsoft YaHei"/>
                          <a:cs typeface="Microsoft YaHei"/>
                        </a:rPr>
                        <a:t>成立于2024年，</a:t>
                      </a:r>
                      <a:r>
                        <a:rPr sz="900" kern="0" spc="-4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KaiTi"/>
                          <a:ea typeface="KaiTi"/>
                          <a:cs typeface="KaiTi"/>
                        </a:rPr>
                        <a:t>是保时捷创投与中国国际金融股份有限公司携手创立的首支人民币基金，</a:t>
                      </a:r>
                      <a:r>
                        <a:rPr sz="900" kern="0" spc="90" dirty="0">
                          <a:solidFill>
                            <a:srgbClr val="000000">
                              <a:alpha val="100000"/>
                            </a:srgbClr>
                          </a:solidFill>
                          <a:latin typeface="Microsoft YaHei"/>
                          <a:ea typeface="Microsoft YaHei"/>
                          <a:cs typeface="Microsoft YaHei"/>
                        </a:rPr>
                        <a:t>管</a:t>
                      </a:r>
                      <a:r>
                        <a:rPr sz="900" kern="0" spc="80" dirty="0">
                          <a:solidFill>
                            <a:srgbClr val="000000">
                              <a:alpha val="100000"/>
                            </a:srgbClr>
                          </a:solidFill>
                          <a:latin typeface="Microsoft YaHei"/>
                          <a:ea typeface="Microsoft YaHei"/>
                          <a:cs typeface="Microsoft YaHei"/>
                        </a:rPr>
                        <a:t>理规模2.5亿</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欧元，重点关注汽车出行、智慧企业、可持续发展等</a:t>
                      </a:r>
                      <a:r>
                        <a:rPr sz="900" kern="0" spc="80" dirty="0">
                          <a:solidFill>
                            <a:srgbClr val="000000">
                              <a:alpha val="100000"/>
                            </a:srgbClr>
                          </a:solidFill>
                          <a:latin typeface="Microsoft YaHei"/>
                          <a:ea typeface="Microsoft YaHei"/>
                          <a:cs typeface="Microsoft YaHei"/>
                        </a:rPr>
                        <a:t>领域的初创企业。</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52000"/>
                        </a:lnSpc>
                        <a:tabLst/>
                      </a:pPr>
                      <a:endParaRPr sz="1000" dirty="0">
                        <a:latin typeface="Arial"/>
                        <a:ea typeface="Arial"/>
                        <a:cs typeface="Arial"/>
                      </a:endParaRPr>
                    </a:p>
                    <a:p>
                      <a:pPr marL="93344"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智驾大陆</a:t>
                      </a:r>
                      <a:endParaRPr sz="900" dirty="0">
                        <a:latin typeface="Microsoft YaHei"/>
                        <a:ea typeface="Microsoft YaHei"/>
                        <a:cs typeface="Microsoft YaHei"/>
                      </a:endParaRPr>
                    </a:p>
                  </a:txBody>
                  <a:tcPr marL="0" marR="0" marT="0" marB="0" vert="horz">
                    <a:lnL>
                      <a:noFill/>
                    </a:lnL>
                    <a:lnR>
                      <a:noFill/>
                    </a:lnR>
                    <a:lnT>
                      <a:noFill/>
                    </a:lnT>
                    <a:lnB>
                      <a:noFill/>
                    </a:lnB>
                  </a:tcPr>
                </a:tc>
              </a:tr>
              <a:tr h="683894">
                <a:tc>
                  <a:txBody>
                    <a:bodyPr/>
                    <a:lstStyle/>
                    <a:p>
                      <a:pPr algn="l" rtl="0" eaLnBrk="0">
                        <a:lnSpc>
                          <a:spcPct val="118000"/>
                        </a:lnSpc>
                        <a:tabLst/>
                      </a:pPr>
                      <a:endParaRPr sz="1000" dirty="0">
                        <a:latin typeface="Arial"/>
                        <a:ea typeface="Arial"/>
                        <a:cs typeface="Arial"/>
                      </a:endParaRPr>
                    </a:p>
                    <a:p>
                      <a:pPr marL="493394" algn="l" rtl="0" eaLnBrk="0">
                        <a:lnSpc>
                          <a:spcPct val="98000"/>
                        </a:lnSpc>
                        <a:spcBef>
                          <a:spcPts val="4"/>
                        </a:spcBef>
                        <a:tabLst/>
                      </a:pPr>
                      <a:r>
                        <a:rPr sz="900" kern="0" spc="90" dirty="0">
                          <a:solidFill>
                            <a:srgbClr val="000000">
                              <a:alpha val="100000"/>
                            </a:srgbClr>
                          </a:solidFill>
                          <a:latin typeface="Microsoft YaHei"/>
                          <a:ea typeface="Microsoft YaHei"/>
                          <a:cs typeface="Microsoft YaHei"/>
                        </a:rPr>
                        <a:t>正轩投资</a:t>
                      </a:r>
                      <a:endParaRPr sz="900" dirty="0">
                        <a:latin typeface="Microsoft YaHei"/>
                        <a:ea typeface="Microsoft YaHei"/>
                        <a:cs typeface="Microsoft YaHei"/>
                      </a:endParaRPr>
                    </a:p>
                    <a:p>
                      <a:pPr marL="509905" algn="l" rtl="0" eaLnBrk="0">
                        <a:lnSpc>
                          <a:spcPts val="1199"/>
                        </a:lnSpc>
                        <a:tabLst/>
                      </a:pPr>
                      <a:r>
                        <a:rPr sz="800" kern="0" spc="-40" dirty="0">
                          <a:solidFill>
                            <a:srgbClr val="000000">
                              <a:alpha val="100000"/>
                            </a:srgbClr>
                          </a:solidFill>
                          <a:latin typeface="Microsoft YaHei"/>
                          <a:ea typeface="Microsoft YaHei"/>
                          <a:cs typeface="Microsoft YaHei"/>
                        </a:rPr>
                        <a:t>（比亚迪）</a:t>
                      </a:r>
                      <a:endParaRPr sz="8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18000"/>
                        </a:lnSpc>
                        <a:tabLst/>
                      </a:pPr>
                      <a:endParaRPr sz="1000" dirty="0">
                        <a:latin typeface="Arial"/>
                        <a:ea typeface="Arial"/>
                        <a:cs typeface="Arial"/>
                      </a:endParaRPr>
                    </a:p>
                    <a:p>
                      <a:pPr marL="93344" algn="l" rtl="0" eaLnBrk="0">
                        <a:lnSpc>
                          <a:spcPct val="109000"/>
                        </a:lnSpc>
                        <a:tabLst/>
                      </a:pPr>
                      <a:r>
                        <a:rPr sz="900" kern="0" spc="90" dirty="0">
                          <a:solidFill>
                            <a:srgbClr val="000000">
                              <a:alpha val="100000"/>
                            </a:srgbClr>
                          </a:solidFill>
                          <a:latin typeface="Microsoft YaHei"/>
                          <a:ea typeface="Microsoft YaHei"/>
                          <a:cs typeface="Microsoft YaHei"/>
                        </a:rPr>
                        <a:t>公司大股东暨董事长夏佐全先生为比亚迪创始人之一，旗下管理的资产超100亿人民</a:t>
                      </a:r>
                      <a:r>
                        <a:rPr sz="900" kern="0" spc="80" dirty="0">
                          <a:solidFill>
                            <a:srgbClr val="000000">
                              <a:alpha val="100000"/>
                            </a:srgbClr>
                          </a:solidFill>
                          <a:latin typeface="Microsoft YaHei"/>
                          <a:ea typeface="Microsoft YaHei"/>
                          <a:cs typeface="Microsoft YaHei"/>
                        </a:rPr>
                        <a:t>币， 关注先进制造和</a:t>
                      </a:r>
                      <a:r>
                        <a:rPr sz="900" kern="0" spc="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机器人、航空航天、  </a:t>
                      </a:r>
                      <a:r>
                        <a:rPr sz="900" kern="0" spc="0" dirty="0">
                          <a:solidFill>
                            <a:srgbClr val="000000">
                              <a:alpha val="100000"/>
                            </a:srgbClr>
                          </a:solidFill>
                          <a:latin typeface="Microsoft YaHei"/>
                          <a:ea typeface="Microsoft YaHei"/>
                          <a:cs typeface="Microsoft YaHei"/>
                        </a:rPr>
                        <a:t>TMT</a:t>
                      </a:r>
                      <a:r>
                        <a:rPr sz="900" kern="0" spc="80" dirty="0">
                          <a:solidFill>
                            <a:srgbClr val="000000">
                              <a:alpha val="100000"/>
                            </a:srgbClr>
                          </a:solidFill>
                          <a:latin typeface="Microsoft YaHei"/>
                          <a:ea typeface="Microsoft YaHei"/>
                          <a:cs typeface="Microsoft YaHei"/>
                        </a:rPr>
                        <a:t>、新能源新材</a:t>
                      </a:r>
                      <a:r>
                        <a:rPr sz="900" kern="0" spc="70" dirty="0">
                          <a:solidFill>
                            <a:srgbClr val="000000">
                              <a:alpha val="100000"/>
                            </a:srgbClr>
                          </a:solidFill>
                          <a:latin typeface="Microsoft YaHei"/>
                          <a:ea typeface="Microsoft YaHei"/>
                          <a:cs typeface="Microsoft YaHei"/>
                        </a:rPr>
                        <a:t>料、电子芯片等领域</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68000"/>
                        </a:lnSpc>
                        <a:tabLst/>
                      </a:pPr>
                      <a:endParaRPr sz="1000" dirty="0">
                        <a:latin typeface="Arial"/>
                        <a:ea typeface="Arial"/>
                        <a:cs typeface="Arial"/>
                      </a:endParaRPr>
                    </a:p>
                    <a:p>
                      <a:pPr marL="93980" algn="l" rtl="0" eaLnBrk="0">
                        <a:lnSpc>
                          <a:spcPct val="98000"/>
                        </a:lnSpc>
                        <a:spcBef>
                          <a:spcPts val="4"/>
                        </a:spcBef>
                        <a:tabLst/>
                      </a:pPr>
                      <a:r>
                        <a:rPr sz="900" kern="0" spc="100" dirty="0">
                          <a:solidFill>
                            <a:srgbClr val="000000">
                              <a:alpha val="100000"/>
                            </a:srgbClr>
                          </a:solidFill>
                          <a:latin typeface="Microsoft YaHei"/>
                          <a:ea typeface="Microsoft YaHei"/>
                          <a:cs typeface="Microsoft YaHei"/>
                        </a:rPr>
                        <a:t>宸宇富基、领充新能源</a:t>
                      </a:r>
                      <a:r>
                        <a:rPr sz="900" kern="0" spc="90" dirty="0">
                          <a:solidFill>
                            <a:srgbClr val="000000">
                              <a:alpha val="100000"/>
                            </a:srgbClr>
                          </a:solidFill>
                          <a:latin typeface="Microsoft YaHei"/>
                          <a:ea typeface="Microsoft YaHei"/>
                          <a:cs typeface="Microsoft YaHei"/>
                        </a:rPr>
                        <a:t>、汇北川、电擎科技</a:t>
                      </a:r>
                      <a:endParaRPr sz="900" dirty="0">
                        <a:latin typeface="Microsoft YaHei"/>
                        <a:ea typeface="Microsoft YaHei"/>
                        <a:cs typeface="Microsoft YaHei"/>
                      </a:endParaRPr>
                    </a:p>
                  </a:txBody>
                  <a:tcPr marL="0" marR="0" marT="0" marB="0" vert="horz">
                    <a:lnL>
                      <a:noFill/>
                    </a:lnL>
                    <a:lnR>
                      <a:noFill/>
                    </a:lnR>
                    <a:lnT>
                      <a:noFill/>
                    </a:lnT>
                    <a:lnB>
                      <a:noFill/>
                    </a:lnB>
                  </a:tcPr>
                </a:tc>
              </a:tr>
              <a:tr h="514350">
                <a:tc>
                  <a:txBody>
                    <a:bodyPr/>
                    <a:lstStyle/>
                    <a:p>
                      <a:pPr algn="l" rtl="0" eaLnBrk="0">
                        <a:lnSpc>
                          <a:spcPct val="199000"/>
                        </a:lnSpc>
                        <a:tabLst/>
                      </a:pPr>
                      <a:endParaRPr sz="1000" dirty="0">
                        <a:latin typeface="Arial"/>
                        <a:ea typeface="Arial"/>
                        <a:cs typeface="Arial"/>
                      </a:endParaRPr>
                    </a:p>
                    <a:p>
                      <a:pPr marL="492759" algn="l" rtl="0" eaLnBrk="0">
                        <a:lnSpc>
                          <a:spcPct val="98000"/>
                        </a:lnSpc>
                        <a:spcBef>
                          <a:spcPts val="4"/>
                        </a:spcBef>
                        <a:tabLst/>
                      </a:pPr>
                      <a:r>
                        <a:rPr sz="900" kern="0" spc="90" dirty="0">
                          <a:solidFill>
                            <a:srgbClr val="000000">
                              <a:alpha val="100000"/>
                            </a:srgbClr>
                          </a:solidFill>
                          <a:latin typeface="Microsoft YaHei"/>
                          <a:ea typeface="Microsoft YaHei"/>
                          <a:cs typeface="Microsoft YaHei"/>
                        </a:rPr>
                        <a:t>北汽产投</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49000"/>
                        </a:lnSpc>
                        <a:tabLst/>
                      </a:pPr>
                      <a:endParaRPr sz="1000" dirty="0">
                        <a:latin typeface="Arial"/>
                        <a:ea typeface="Arial"/>
                        <a:cs typeface="Arial"/>
                      </a:endParaRPr>
                    </a:p>
                    <a:p>
                      <a:pPr algn="l" rtl="0" eaLnBrk="0">
                        <a:lnSpc>
                          <a:spcPct val="7649"/>
                        </a:lnSpc>
                        <a:tabLst/>
                      </a:pPr>
                      <a:endParaRPr sz="100" dirty="0">
                        <a:latin typeface="Arial"/>
                        <a:ea typeface="Arial"/>
                        <a:cs typeface="Arial"/>
                      </a:endParaRPr>
                    </a:p>
                    <a:p>
                      <a:pPr marL="92710" indent="635" algn="l" rtl="0" eaLnBrk="0">
                        <a:lnSpc>
                          <a:spcPct val="102000"/>
                        </a:lnSpc>
                        <a:tabLst/>
                      </a:pPr>
                      <a:r>
                        <a:rPr sz="900" kern="0" spc="80" dirty="0">
                          <a:solidFill>
                            <a:srgbClr val="000000">
                              <a:alpha val="100000"/>
                            </a:srgbClr>
                          </a:solidFill>
                          <a:latin typeface="Microsoft YaHei"/>
                          <a:ea typeface="Microsoft YaHei"/>
                          <a:cs typeface="Microsoft YaHei"/>
                        </a:rPr>
                        <a:t>管理规模超380亿人民币， 参与发起设立北京绿色能源和低碳产业发展基金， 全方位覆盖新能源、新材</a:t>
                      </a:r>
                      <a:r>
                        <a:rPr sz="900" kern="0" spc="70" dirty="0">
                          <a:solidFill>
                            <a:srgbClr val="000000">
                              <a:alpha val="100000"/>
                            </a:srgbClr>
                          </a:solidFill>
                          <a:latin typeface="Microsoft YaHei"/>
                          <a:ea typeface="Microsoft YaHei"/>
                          <a:cs typeface="Microsoft YaHei"/>
                        </a:rPr>
                        <a:t>料、</a:t>
                      </a:r>
                      <a:r>
                        <a:rPr sz="900" kern="0" spc="100" dirty="0">
                          <a:solidFill>
                            <a:srgbClr val="000000">
                              <a:alpha val="100000"/>
                            </a:srgbClr>
                          </a:solidFill>
                          <a:latin typeface="Microsoft YaHei"/>
                          <a:ea typeface="Microsoft YaHei"/>
                          <a:cs typeface="Microsoft YaHei"/>
                        </a:rPr>
                        <a:t>智能网联、汽车零部件</a:t>
                      </a:r>
                      <a:r>
                        <a:rPr sz="900" kern="0" spc="90" dirty="0">
                          <a:solidFill>
                            <a:srgbClr val="000000">
                              <a:alpha val="100000"/>
                            </a:srgbClr>
                          </a:solidFill>
                          <a:latin typeface="Microsoft YaHei"/>
                          <a:ea typeface="Microsoft YaHei"/>
                          <a:cs typeface="Microsoft YaHei"/>
                        </a:rPr>
                        <a:t>、车用半导体等领域</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99000"/>
                        </a:lnSpc>
                        <a:tabLst/>
                      </a:pPr>
                      <a:endParaRPr sz="1000" dirty="0">
                        <a:latin typeface="Arial"/>
                        <a:ea typeface="Arial"/>
                        <a:cs typeface="Arial"/>
                      </a:endParaRPr>
                    </a:p>
                    <a:p>
                      <a:pPr marL="93980" algn="l" rtl="0" eaLnBrk="0">
                        <a:lnSpc>
                          <a:spcPct val="98000"/>
                        </a:lnSpc>
                        <a:spcBef>
                          <a:spcPts val="4"/>
                        </a:spcBef>
                        <a:tabLst/>
                      </a:pPr>
                      <a:r>
                        <a:rPr sz="900" kern="0" spc="90" dirty="0">
                          <a:solidFill>
                            <a:srgbClr val="000000">
                              <a:alpha val="100000"/>
                            </a:srgbClr>
                          </a:solidFill>
                          <a:latin typeface="Microsoft YaHei"/>
                          <a:ea typeface="Microsoft YaHei"/>
                          <a:cs typeface="Microsoft YaHei"/>
                        </a:rPr>
                        <a:t>摩尔线程、文灿股份、北京现代</a:t>
                      </a:r>
                      <a:endParaRPr sz="900" dirty="0">
                        <a:latin typeface="Microsoft YaHei"/>
                        <a:ea typeface="Microsoft YaHei"/>
                        <a:cs typeface="Microsoft YaHei"/>
                      </a:endParaRPr>
                    </a:p>
                  </a:txBody>
                  <a:tcPr marL="0" marR="0" marT="0" marB="0" vert="horz">
                    <a:lnL>
                      <a:noFill/>
                    </a:lnL>
                    <a:lnR>
                      <a:noFill/>
                    </a:lnR>
                    <a:lnT>
                      <a:noFill/>
                    </a:lnT>
                    <a:lnB>
                      <a:noFill/>
                    </a:lnB>
                  </a:tcPr>
                </a:tc>
              </a:tr>
            </a:tbl>
          </a:graphicData>
        </a:graphic>
      </p:graphicFrame>
      <p:sp>
        <p:nvSpPr>
          <p:cNvPr id="712" name="textbox 712"/>
          <p:cNvSpPr/>
          <p:nvPr/>
        </p:nvSpPr>
        <p:spPr>
          <a:xfrm>
            <a:off x="566833" y="401828"/>
            <a:ext cx="11177905" cy="956310"/>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40" dirty="0">
                <a:solidFill>
                  <a:srgbClr val="BF756D">
                    <a:alpha val="100000"/>
                  </a:srgbClr>
                </a:solidFill>
                <a:latin typeface="Microsoft YaHei"/>
                <a:ea typeface="Microsoft YaHei"/>
                <a:cs typeface="Microsoft YaHei"/>
              </a:rPr>
              <a:t> 覆盖潜在机构推介</a:t>
            </a:r>
            <a:r>
              <a:rPr sz="2700" b="1" kern="0" spc="30" dirty="0">
                <a:solidFill>
                  <a:srgbClr val="BF756D">
                    <a:alpha val="100000"/>
                  </a:srgbClr>
                </a:solidFill>
                <a:latin typeface="Microsoft YaHei"/>
                <a:ea typeface="Microsoft YaHei"/>
                <a:cs typeface="Microsoft YaHei"/>
              </a:rPr>
              <a:t> —— </a:t>
            </a:r>
            <a:r>
              <a:rPr sz="2700" b="1" kern="0" spc="0" dirty="0">
                <a:solidFill>
                  <a:srgbClr val="BF756D">
                    <a:alpha val="100000"/>
                  </a:srgbClr>
                </a:solidFill>
                <a:latin typeface="Microsoft YaHei"/>
                <a:ea typeface="Microsoft YaHei"/>
                <a:cs typeface="Microsoft YaHei"/>
              </a:rPr>
              <a:t>CVC</a:t>
            </a:r>
            <a:r>
              <a:rPr sz="2700" b="1" kern="0" spc="30" dirty="0">
                <a:solidFill>
                  <a:srgbClr val="BF756D">
                    <a:alpha val="100000"/>
                  </a:srgbClr>
                </a:solidFill>
                <a:latin typeface="Microsoft YaHei"/>
                <a:ea typeface="Microsoft YaHei"/>
                <a:cs typeface="Microsoft YaHei"/>
              </a:rPr>
              <a:t>                                     </a:t>
            </a:r>
            <a:endParaRPr sz="2700" dirty="0">
              <a:latin typeface="Microsoft YaHei"/>
              <a:ea typeface="Microsoft YaHei"/>
              <a:cs typeface="Microsoft YaHei"/>
            </a:endParaRPr>
          </a:p>
          <a:p>
            <a:pPr algn="l" rtl="0" eaLnBrk="0">
              <a:lnSpc>
                <a:spcPct val="188000"/>
              </a:lnSpc>
              <a:tabLst/>
            </a:pPr>
            <a:endParaRPr sz="1000" dirty="0">
              <a:latin typeface="Arial"/>
              <a:ea typeface="Arial"/>
              <a:cs typeface="Arial"/>
            </a:endParaRPr>
          </a:p>
          <a:p>
            <a:pPr algn="l" rtl="0" eaLnBrk="0">
              <a:lnSpc>
                <a:spcPct val="100000"/>
              </a:lnSpc>
              <a:tabLst/>
            </a:pPr>
            <a:endParaRPr sz="300" dirty="0">
              <a:latin typeface="Arial"/>
              <a:ea typeface="Arial"/>
              <a:cs typeface="Arial"/>
            </a:endParaRPr>
          </a:p>
          <a:p>
            <a:pPr marL="960119" algn="l" rtl="0" eaLnBrk="0">
              <a:lnSpc>
                <a:spcPct val="90000"/>
              </a:lnSpc>
              <a:spcBef>
                <a:spcPts val="1"/>
              </a:spcBef>
              <a:tabLst/>
            </a:pPr>
            <a:r>
              <a:rPr sz="1200" b="1" kern="0" spc="0" dirty="0">
                <a:solidFill>
                  <a:srgbClr val="BF756D">
                    <a:alpha val="100000"/>
                  </a:srgbClr>
                </a:solidFill>
                <a:latin typeface="Microsoft YaHei"/>
                <a:ea typeface="Microsoft YaHei"/>
                <a:cs typeface="Microsoft YaHei"/>
              </a:rPr>
              <a:t>机构名称                                                                     机构介绍                                                                                  </a:t>
            </a:r>
            <a:r>
              <a:rPr sz="1200" b="1" kern="0" spc="-10" dirty="0">
                <a:solidFill>
                  <a:srgbClr val="BF756D">
                    <a:alpha val="100000"/>
                  </a:srgbClr>
                </a:solidFill>
                <a:latin typeface="Microsoft YaHei"/>
                <a:ea typeface="Microsoft YaHei"/>
                <a:cs typeface="Microsoft YaHei"/>
              </a:rPr>
              <a:t>  投资案例</a:t>
            </a:r>
            <a:endParaRPr sz="1200" dirty="0">
              <a:latin typeface="Microsoft YaHei"/>
              <a:ea typeface="Microsoft YaHei"/>
              <a:cs typeface="Microsoft YaHei"/>
            </a:endParaRPr>
          </a:p>
        </p:txBody>
      </p:sp>
      <p:pic>
        <p:nvPicPr>
          <p:cNvPr id="714" name="picture 714"/>
          <p:cNvPicPr>
            <a:picLocks noChangeAspect="1"/>
          </p:cNvPicPr>
          <p:nvPr/>
        </p:nvPicPr>
        <p:blipFill>
          <a:blip r:embed="rId2"/>
          <a:stretch>
            <a:fillRect/>
          </a:stretch>
        </p:blipFill>
        <p:spPr>
          <a:xfrm rot="21600000">
            <a:off x="10009164" y="414528"/>
            <a:ext cx="1616964" cy="365759"/>
          </a:xfrm>
          <a:prstGeom prst="rect">
            <a:avLst/>
          </a:prstGeom>
        </p:spPr>
      </p:pic>
      <p:grpSp>
        <p:nvGrpSpPr>
          <p:cNvPr id="52" name="group 52"/>
          <p:cNvGrpSpPr/>
          <p:nvPr/>
        </p:nvGrpSpPr>
        <p:grpSpPr>
          <a:xfrm rot="21600000">
            <a:off x="508711" y="1510613"/>
            <a:ext cx="583006" cy="4787900"/>
            <a:chOff x="0" y="0"/>
            <a:chExt cx="583006" cy="4787900"/>
          </a:xfrm>
        </p:grpSpPr>
        <p:sp>
          <p:nvSpPr>
            <p:cNvPr id="716" name="rect 716"/>
            <p:cNvSpPr/>
            <p:nvPr/>
          </p:nvSpPr>
          <p:spPr>
            <a:xfrm>
              <a:off x="0" y="0"/>
              <a:ext cx="576656" cy="4787900"/>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718" name="path 718"/>
            <p:cNvSpPr/>
            <p:nvPr/>
          </p:nvSpPr>
          <p:spPr>
            <a:xfrm>
              <a:off x="570306" y="51"/>
              <a:ext cx="12700" cy="4787848"/>
            </a:xfrm>
            <a:custGeom>
              <a:avLst/>
              <a:gdLst/>
              <a:ahLst/>
              <a:cxnLst/>
              <a:rect l="0" t="0" r="0" b="0"/>
              <a:pathLst>
                <a:path w="20" h="7539">
                  <a:moveTo>
                    <a:pt x="10" y="0"/>
                  </a:moveTo>
                  <a:lnTo>
                    <a:pt x="10" y="7539"/>
                  </a:lnTo>
                </a:path>
              </a:pathLst>
            </a:custGeom>
            <a:noFill/>
            <a:ln w="12700" cap="flat">
              <a:solidFill>
                <a:srgbClr val="000000"/>
              </a:solidFill>
              <a:prstDash val="solid"/>
              <a:round/>
            </a:ln>
          </p:spPr>
          <p:txBody>
            <a:bodyPr rtlCol="0"/>
            <a:lstStyle/>
            <a:p>
              <a:pPr algn="ctr"/>
              <a:endParaRPr lang="zh-CN" altLang="en-US"/>
            </a:p>
          </p:txBody>
        </p:sp>
        <p:sp>
          <p:nvSpPr>
            <p:cNvPr id="720" name="textbox 720"/>
            <p:cNvSpPr/>
            <p:nvPr/>
          </p:nvSpPr>
          <p:spPr>
            <a:xfrm>
              <a:off x="149636" y="2328986"/>
              <a:ext cx="281304" cy="134620"/>
            </a:xfrm>
            <a:prstGeom prst="rect">
              <a:avLst/>
            </a:prstGeom>
            <a:noFill/>
            <a:ln w="0" cap="flat">
              <a:noFill/>
              <a:prstDash val="solid"/>
              <a:miter lim="0"/>
            </a:ln>
          </p:spPr>
          <p:txBody>
            <a:bodyPr vert="horz" wrap="square" lIns="0" tIns="0" rIns="0" bIns="0"/>
            <a:lstStyle/>
            <a:p>
              <a:pPr algn="l" rtl="0" eaLnBrk="0">
                <a:lnSpc>
                  <a:spcPct val="78984"/>
                </a:lnSpc>
                <a:tabLst/>
              </a:pPr>
              <a:endParaRPr sz="100" dirty="0">
                <a:latin typeface="Arial"/>
                <a:ea typeface="Arial"/>
                <a:cs typeface="Arial"/>
              </a:endParaRPr>
            </a:p>
            <a:p>
              <a:pPr marL="12700" algn="l" rtl="0" eaLnBrk="0">
                <a:lnSpc>
                  <a:spcPct val="80000"/>
                </a:lnSpc>
                <a:tabLst/>
              </a:pPr>
              <a:r>
                <a:rPr sz="900" b="1" kern="0" spc="40" dirty="0">
                  <a:solidFill>
                    <a:srgbClr val="FFFFFF">
                      <a:alpha val="100000"/>
                    </a:srgbClr>
                  </a:solidFill>
                  <a:latin typeface="Microsoft YaHei"/>
                  <a:ea typeface="Microsoft YaHei"/>
                  <a:cs typeface="Microsoft YaHei"/>
                </a:rPr>
                <a:t>CVC</a:t>
              </a:r>
              <a:endParaRPr sz="900" dirty="0">
                <a:latin typeface="Microsoft YaHei"/>
                <a:ea typeface="Microsoft YaHei"/>
                <a:cs typeface="Microsoft YaHei"/>
              </a:endParaRPr>
            </a:p>
          </p:txBody>
        </p:sp>
      </p:grpSp>
      <p:sp>
        <p:nvSpPr>
          <p:cNvPr id="722" name="textbox 722"/>
          <p:cNvSpPr/>
          <p:nvPr/>
        </p:nvSpPr>
        <p:spPr>
          <a:xfrm>
            <a:off x="2654929" y="1744256"/>
            <a:ext cx="5911215" cy="321309"/>
          </a:xfrm>
          <a:prstGeom prst="rect">
            <a:avLst/>
          </a:prstGeom>
          <a:noFill/>
          <a:ln w="0" cap="flat">
            <a:noFill/>
            <a:prstDash val="solid"/>
            <a:miter lim="0"/>
          </a:ln>
        </p:spPr>
        <p:txBody>
          <a:bodyPr vert="horz" wrap="square" lIns="0" tIns="0" rIns="0" bIns="0"/>
          <a:lstStyle/>
          <a:p>
            <a:pPr algn="l" rtl="0" eaLnBrk="0">
              <a:lnSpc>
                <a:spcPct val="77839"/>
              </a:lnSpc>
              <a:tabLst/>
            </a:pPr>
            <a:endParaRPr sz="100" dirty="0">
              <a:latin typeface="Arial"/>
              <a:ea typeface="Arial"/>
              <a:cs typeface="Arial"/>
            </a:endParaRPr>
          </a:p>
          <a:p>
            <a:pPr marL="12700" indent="2540" algn="l" rtl="0" eaLnBrk="0">
              <a:lnSpc>
                <a:spcPct val="108000"/>
              </a:lnSpc>
              <a:tabLst/>
            </a:pPr>
            <a:r>
              <a:rPr sz="900" kern="0" spc="90" dirty="0">
                <a:solidFill>
                  <a:srgbClr val="000000">
                    <a:alpha val="100000"/>
                  </a:srgbClr>
                </a:solidFill>
                <a:latin typeface="Microsoft YaHei"/>
                <a:ea typeface="Microsoft YaHei"/>
                <a:cs typeface="Microsoft YaHei"/>
              </a:rPr>
              <a:t>吉利旗下4个投资平台， 目前活跃的是吉利资本（唯一由吉利整体控股的基金，专</a:t>
            </a:r>
            <a:r>
              <a:rPr sz="900" kern="0" spc="80" dirty="0">
                <a:solidFill>
                  <a:srgbClr val="000000">
                    <a:alpha val="100000"/>
                  </a:srgbClr>
                </a:solidFill>
                <a:latin typeface="Microsoft YaHei"/>
                <a:ea typeface="Microsoft YaHei"/>
                <a:cs typeface="Microsoft YaHei"/>
              </a:rPr>
              <a:t>注于支持吉利在新能源、</a:t>
            </a:r>
            <a:r>
              <a:rPr sz="900" kern="0" spc="90" dirty="0">
                <a:solidFill>
                  <a:srgbClr val="000000">
                    <a:alpha val="100000"/>
                  </a:srgbClr>
                </a:solidFill>
                <a:latin typeface="Microsoft YaHei"/>
                <a:ea typeface="Microsoft YaHei"/>
                <a:cs typeface="Microsoft YaHei"/>
              </a:rPr>
              <a:t>智能网联、自动驾驶领域的战略布局）和众擎投资（偏财</a:t>
            </a:r>
            <a:r>
              <a:rPr sz="900" kern="0" spc="80" dirty="0">
                <a:solidFill>
                  <a:srgbClr val="000000">
                    <a:alpha val="100000"/>
                  </a:srgbClr>
                </a:solidFill>
                <a:latin typeface="Microsoft YaHei"/>
                <a:ea typeface="Microsoft YaHei"/>
                <a:cs typeface="Microsoft YaHei"/>
              </a:rPr>
              <a:t>投）</a:t>
            </a:r>
            <a:endParaRPr sz="900" dirty="0">
              <a:latin typeface="Microsoft YaHei"/>
              <a:ea typeface="Microsoft YaHei"/>
              <a:cs typeface="Microsoft YaHei"/>
            </a:endParaRPr>
          </a:p>
        </p:txBody>
      </p:sp>
      <p:sp>
        <p:nvSpPr>
          <p:cNvPr id="724" name="textbox 724"/>
          <p:cNvSpPr/>
          <p:nvPr/>
        </p:nvSpPr>
        <p:spPr>
          <a:xfrm>
            <a:off x="8740768" y="1820957"/>
            <a:ext cx="2428875"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100" dirty="0">
                <a:solidFill>
                  <a:srgbClr val="000000">
                    <a:alpha val="100000"/>
                  </a:srgbClr>
                </a:solidFill>
                <a:latin typeface="Microsoft YaHei"/>
                <a:ea typeface="Microsoft YaHei"/>
                <a:cs typeface="Microsoft YaHei"/>
              </a:rPr>
              <a:t>睿蓝汽车、琻捷电子、</a:t>
            </a:r>
            <a:r>
              <a:rPr sz="900" kern="0" spc="90" dirty="0">
                <a:solidFill>
                  <a:srgbClr val="000000">
                    <a:alpha val="100000"/>
                  </a:srgbClr>
                </a:solidFill>
                <a:latin typeface="Microsoft YaHei"/>
                <a:ea typeface="Microsoft YaHei"/>
                <a:cs typeface="Microsoft YaHei"/>
              </a:rPr>
              <a:t>西图盟、汉马发动机</a:t>
            </a:r>
            <a:endParaRPr sz="900" dirty="0">
              <a:latin typeface="Microsoft YaHei"/>
              <a:ea typeface="Microsoft YaHei"/>
              <a:cs typeface="Microsoft YaHei"/>
            </a:endParaRPr>
          </a:p>
        </p:txBody>
      </p:sp>
      <p:sp>
        <p:nvSpPr>
          <p:cNvPr id="726" name="textbox 726"/>
          <p:cNvSpPr/>
          <p:nvPr/>
        </p:nvSpPr>
        <p:spPr>
          <a:xfrm>
            <a:off x="1547241" y="1596675"/>
            <a:ext cx="567055" cy="629919"/>
          </a:xfrm>
          <a:prstGeom prst="rect">
            <a:avLst/>
          </a:prstGeom>
          <a:noFill/>
          <a:ln w="0" cap="flat">
            <a:noFill/>
            <a:prstDash val="solid"/>
            <a:miter lim="0"/>
          </a:ln>
        </p:spPr>
        <p:txBody>
          <a:bodyPr vert="horz" wrap="square" lIns="0" tIns="0" rIns="0" bIns="0"/>
          <a:lstStyle/>
          <a:p>
            <a:pPr algn="l" rtl="0" eaLnBrk="0">
              <a:lnSpc>
                <a:spcPct val="81089"/>
              </a:lnSpc>
              <a:tabLst/>
            </a:pPr>
            <a:endParaRPr sz="100" dirty="0">
              <a:latin typeface="Arial"/>
              <a:ea typeface="Arial"/>
              <a:cs typeface="Arial"/>
            </a:endParaRPr>
          </a:p>
          <a:p>
            <a:pPr marL="12700" indent="20320" algn="l" rtl="0" eaLnBrk="0">
              <a:lnSpc>
                <a:spcPct val="109000"/>
              </a:lnSpc>
              <a:tabLst/>
            </a:pPr>
            <a:r>
              <a:rPr sz="900" kern="0" spc="80" dirty="0">
                <a:solidFill>
                  <a:srgbClr val="000000">
                    <a:alpha val="100000"/>
                  </a:srgbClr>
                </a:solidFill>
                <a:latin typeface="Microsoft YaHei"/>
                <a:ea typeface="Microsoft YaHei"/>
                <a:cs typeface="Microsoft YaHei"/>
              </a:rPr>
              <a:t>吉利资本</a:t>
            </a:r>
            <a:r>
              <a:rPr sz="900" kern="0" spc="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Arial"/>
                <a:ea typeface="Arial"/>
                <a:cs typeface="Arial"/>
              </a:rPr>
              <a:t>/</a:t>
            </a:r>
            <a:r>
              <a:rPr sz="900" kern="0" spc="70" dirty="0">
                <a:solidFill>
                  <a:srgbClr val="000000">
                    <a:alpha val="100000"/>
                  </a:srgbClr>
                </a:solidFill>
                <a:latin typeface="Microsoft YaHei"/>
                <a:ea typeface="Microsoft YaHei"/>
                <a:cs typeface="Microsoft YaHei"/>
              </a:rPr>
              <a:t>众擎投资</a:t>
            </a:r>
            <a:endParaRPr sz="900" dirty="0">
              <a:latin typeface="Microsoft YaHei"/>
              <a:ea typeface="Microsoft YaHei"/>
              <a:cs typeface="Microsoft YaHei"/>
            </a:endParaRPr>
          </a:p>
          <a:p>
            <a:pPr marL="12700" algn="l" rtl="0" eaLnBrk="0">
              <a:lnSpc>
                <a:spcPct val="109000"/>
              </a:lnSpc>
              <a:spcBef>
                <a:spcPts val="50"/>
              </a:spcBef>
              <a:tabLst/>
            </a:pPr>
            <a:r>
              <a:rPr sz="900" kern="0" spc="80" dirty="0">
                <a:solidFill>
                  <a:srgbClr val="000000">
                    <a:alpha val="100000"/>
                  </a:srgbClr>
                </a:solidFill>
                <a:latin typeface="Arial"/>
                <a:ea typeface="Arial"/>
                <a:cs typeface="Arial"/>
              </a:rPr>
              <a:t>/</a:t>
            </a:r>
            <a:r>
              <a:rPr sz="900" kern="0" spc="80" dirty="0">
                <a:solidFill>
                  <a:srgbClr val="000000">
                    <a:alpha val="100000"/>
                  </a:srgbClr>
                </a:solidFill>
                <a:latin typeface="Microsoft YaHei"/>
                <a:ea typeface="Microsoft YaHei"/>
                <a:cs typeface="Microsoft YaHei"/>
              </a:rPr>
              <a:t>碧鸿投资</a:t>
            </a:r>
            <a:r>
              <a:rPr sz="900" kern="0" spc="70" dirty="0">
                <a:solidFill>
                  <a:srgbClr val="000000">
                    <a:alpha val="100000"/>
                  </a:srgbClr>
                </a:solidFill>
                <a:latin typeface="Arial"/>
                <a:ea typeface="Arial"/>
                <a:cs typeface="Arial"/>
              </a:rPr>
              <a:t>/</a:t>
            </a:r>
            <a:r>
              <a:rPr sz="900" kern="0" spc="70" dirty="0">
                <a:solidFill>
                  <a:srgbClr val="000000">
                    <a:alpha val="100000"/>
                  </a:srgbClr>
                </a:solidFill>
                <a:latin typeface="Microsoft YaHei"/>
                <a:ea typeface="Microsoft YaHei"/>
                <a:cs typeface="Microsoft YaHei"/>
              </a:rPr>
              <a:t>厚同资本</a:t>
            </a:r>
            <a:endParaRPr sz="900" dirty="0">
              <a:latin typeface="Microsoft YaHei"/>
              <a:ea typeface="Microsoft YaHei"/>
              <a:cs typeface="Microsoft YaHe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8" name="textbox 728"/>
          <p:cNvSpPr/>
          <p:nvPr/>
        </p:nvSpPr>
        <p:spPr>
          <a:xfrm>
            <a:off x="2642360" y="2231548"/>
            <a:ext cx="5976620" cy="2312035"/>
          </a:xfrm>
          <a:prstGeom prst="rect">
            <a:avLst/>
          </a:prstGeom>
          <a:noFill/>
          <a:ln w="0" cap="flat">
            <a:noFill/>
            <a:prstDash val="solid"/>
            <a:miter lim="0"/>
          </a:ln>
        </p:spPr>
        <p:txBody>
          <a:bodyPr vert="horz" wrap="square" lIns="0" tIns="0" rIns="0" bIns="0"/>
          <a:lstStyle/>
          <a:p>
            <a:pPr algn="l" rtl="0" eaLnBrk="0">
              <a:lnSpc>
                <a:spcPct val="74551"/>
              </a:lnSpc>
              <a:tabLst/>
            </a:pPr>
            <a:endParaRPr sz="100" dirty="0">
              <a:latin typeface="Arial"/>
              <a:ea typeface="Arial"/>
              <a:cs typeface="Arial"/>
            </a:endParaRPr>
          </a:p>
          <a:p>
            <a:pPr marL="30480" indent="-635" algn="l" rtl="0" eaLnBrk="0">
              <a:lnSpc>
                <a:spcPct val="108000"/>
              </a:lnSpc>
              <a:tabLst/>
            </a:pPr>
            <a:r>
              <a:rPr sz="900" kern="0" spc="0" dirty="0">
                <a:solidFill>
                  <a:srgbClr val="000000">
                    <a:alpha val="100000"/>
                  </a:srgbClr>
                </a:solidFill>
                <a:latin typeface="Microsoft YaHei"/>
                <a:ea typeface="Microsoft YaHei"/>
                <a:cs typeface="Microsoft YaHei"/>
              </a:rPr>
              <a:t>OPPO</a:t>
            </a:r>
            <a:r>
              <a:rPr sz="900" kern="0" spc="100" dirty="0">
                <a:solidFill>
                  <a:srgbClr val="000000">
                    <a:alpha val="100000"/>
                  </a:srgbClr>
                </a:solidFill>
                <a:latin typeface="Microsoft YaHei"/>
                <a:ea typeface="Microsoft YaHei"/>
                <a:cs typeface="Microsoft YaHei"/>
              </a:rPr>
              <a:t>旗下</a:t>
            </a:r>
            <a:r>
              <a:rPr sz="900" kern="0" spc="0" dirty="0">
                <a:solidFill>
                  <a:srgbClr val="000000">
                    <a:alpha val="100000"/>
                  </a:srgbClr>
                </a:solidFill>
                <a:latin typeface="Microsoft YaHei"/>
                <a:ea typeface="Microsoft YaHei"/>
                <a:cs typeface="Microsoft YaHei"/>
              </a:rPr>
              <a:t>CVC</a:t>
            </a:r>
            <a:r>
              <a:rPr sz="900" kern="0" spc="100" dirty="0">
                <a:solidFill>
                  <a:srgbClr val="000000">
                    <a:alpha val="100000"/>
                  </a:srgbClr>
                </a:solidFill>
                <a:latin typeface="Microsoft YaHei"/>
                <a:ea typeface="Microsoft YaHei"/>
                <a:cs typeface="Microsoft YaHei"/>
              </a:rPr>
              <a:t>有三家：</a:t>
            </a:r>
            <a:r>
              <a:rPr sz="900" kern="0" spc="17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OPPO</a:t>
            </a:r>
            <a:r>
              <a:rPr sz="900" kern="0" spc="100" dirty="0">
                <a:solidFill>
                  <a:srgbClr val="000000">
                    <a:alpha val="100000"/>
                  </a:srgbClr>
                </a:solidFill>
                <a:latin typeface="Microsoft YaHei"/>
                <a:ea typeface="Microsoft YaHei"/>
                <a:cs typeface="Microsoft YaHei"/>
              </a:rPr>
              <a:t>移动（成立于2004年）、巡星投资（成立于202</a:t>
            </a:r>
            <a:r>
              <a:rPr sz="900" kern="0" spc="90" dirty="0">
                <a:solidFill>
                  <a:srgbClr val="000000">
                    <a:alpha val="100000"/>
                  </a:srgbClr>
                </a:solidFill>
                <a:latin typeface="Microsoft YaHei"/>
                <a:ea typeface="Microsoft YaHei"/>
                <a:cs typeface="Microsoft YaHei"/>
              </a:rPr>
              <a:t>1年）、盛铭企管（成立于</a:t>
            </a:r>
            <a:r>
              <a:rPr sz="900" kern="0" spc="90" dirty="0">
                <a:solidFill>
                  <a:srgbClr val="000000">
                    <a:alpha val="100000"/>
                  </a:srgbClr>
                </a:solidFill>
                <a:latin typeface="Microsoft YaHei"/>
                <a:ea typeface="Microsoft YaHei"/>
                <a:cs typeface="Microsoft YaHei"/>
              </a:rPr>
              <a:t>2014年），偏好处于相对成熟阶段的企业，侧重赛道包</a:t>
            </a:r>
            <a:r>
              <a:rPr sz="900" kern="0" spc="80" dirty="0">
                <a:solidFill>
                  <a:srgbClr val="000000">
                    <a:alpha val="100000"/>
                  </a:srgbClr>
                </a:solidFill>
                <a:latin typeface="Microsoft YaHei"/>
                <a:ea typeface="Microsoft YaHei"/>
                <a:cs typeface="Microsoft YaHei"/>
              </a:rPr>
              <a:t>括生产制造、硬件和先进制造。</a:t>
            </a:r>
            <a:endParaRPr sz="900" dirty="0">
              <a:latin typeface="Microsoft YaHei"/>
              <a:ea typeface="Microsoft YaHei"/>
              <a:cs typeface="Microsoft YaHei"/>
            </a:endParaRPr>
          </a:p>
          <a:p>
            <a:pPr algn="l" rtl="0" eaLnBrk="0">
              <a:lnSpc>
                <a:spcPct val="164000"/>
              </a:lnSpc>
              <a:tabLst/>
            </a:pPr>
            <a:endParaRPr sz="1000" dirty="0">
              <a:latin typeface="Arial"/>
              <a:ea typeface="Arial"/>
              <a:cs typeface="Arial"/>
            </a:endParaRPr>
          </a:p>
          <a:p>
            <a:pPr marL="25400" algn="l" rtl="0" eaLnBrk="0">
              <a:lnSpc>
                <a:spcPct val="98000"/>
              </a:lnSpc>
              <a:spcBef>
                <a:spcPts val="273"/>
              </a:spcBef>
              <a:tabLst/>
            </a:pPr>
            <a:r>
              <a:rPr sz="900" kern="0" spc="100" dirty="0">
                <a:solidFill>
                  <a:srgbClr val="000000">
                    <a:alpha val="100000"/>
                  </a:srgbClr>
                </a:solidFill>
                <a:latin typeface="Microsoft YaHei"/>
                <a:ea typeface="Microsoft YaHei"/>
                <a:cs typeface="Microsoft YaHei"/>
              </a:rPr>
              <a:t>传音控股旗下</a:t>
            </a:r>
            <a:r>
              <a:rPr sz="900" kern="0" spc="0" dirty="0">
                <a:solidFill>
                  <a:srgbClr val="000000">
                    <a:alpha val="100000"/>
                  </a:srgbClr>
                </a:solidFill>
                <a:latin typeface="Microsoft YaHei"/>
                <a:ea typeface="Microsoft YaHei"/>
                <a:cs typeface="Microsoft YaHei"/>
              </a:rPr>
              <a:t>CVC</a:t>
            </a:r>
            <a:r>
              <a:rPr sz="900" kern="0" spc="100" dirty="0">
                <a:solidFill>
                  <a:srgbClr val="000000">
                    <a:alpha val="100000"/>
                  </a:srgbClr>
                </a:solidFill>
                <a:latin typeface="Microsoft YaHei"/>
                <a:ea typeface="Microsoft YaHei"/>
                <a:cs typeface="Microsoft YaHei"/>
              </a:rPr>
              <a:t>，成立于2013年，管理近10亿人民币基金，重点</a:t>
            </a:r>
            <a:r>
              <a:rPr sz="900" kern="0" spc="90" dirty="0">
                <a:solidFill>
                  <a:srgbClr val="000000">
                    <a:alpha val="100000"/>
                  </a:srgbClr>
                </a:solidFill>
                <a:latin typeface="Microsoft YaHei"/>
                <a:ea typeface="Microsoft YaHei"/>
                <a:cs typeface="Microsoft YaHei"/>
              </a:rPr>
              <a:t>关注生产制造、硬件和先进制造</a:t>
            </a:r>
            <a:endParaRPr sz="900" dirty="0">
              <a:latin typeface="Microsoft YaHei"/>
              <a:ea typeface="Microsoft YaHei"/>
              <a:cs typeface="Microsoft YaHei"/>
            </a:endParaRPr>
          </a:p>
          <a:p>
            <a:pPr algn="l" rtl="0" eaLnBrk="0">
              <a:lnSpc>
                <a:spcPct val="166000"/>
              </a:lnSpc>
              <a:tabLst/>
            </a:pPr>
            <a:endParaRPr sz="1000" dirty="0">
              <a:latin typeface="Arial"/>
              <a:ea typeface="Arial"/>
              <a:cs typeface="Arial"/>
            </a:endParaRPr>
          </a:p>
          <a:p>
            <a:pPr marL="25400" algn="l" rtl="0" eaLnBrk="0">
              <a:lnSpc>
                <a:spcPct val="109000"/>
              </a:lnSpc>
              <a:spcBef>
                <a:spcPts val="272"/>
              </a:spcBef>
              <a:tabLst/>
            </a:pPr>
            <a:r>
              <a:rPr sz="900" kern="0" spc="100" dirty="0">
                <a:solidFill>
                  <a:srgbClr val="000000">
                    <a:alpha val="100000"/>
                  </a:srgbClr>
                </a:solidFill>
                <a:latin typeface="Microsoft YaHei"/>
                <a:ea typeface="Microsoft YaHei"/>
                <a:cs typeface="Microsoft YaHei"/>
              </a:rPr>
              <a:t>美的集团</a:t>
            </a:r>
            <a:r>
              <a:rPr sz="900" kern="0" spc="0" dirty="0">
                <a:solidFill>
                  <a:srgbClr val="000000">
                    <a:alpha val="100000"/>
                  </a:srgbClr>
                </a:solidFill>
                <a:latin typeface="Microsoft YaHei"/>
                <a:ea typeface="Microsoft YaHei"/>
                <a:cs typeface="Microsoft YaHei"/>
              </a:rPr>
              <a:t>CVC</a:t>
            </a:r>
            <a:r>
              <a:rPr sz="900" kern="0" spc="100" dirty="0">
                <a:solidFill>
                  <a:srgbClr val="000000">
                    <a:alpha val="100000"/>
                  </a:srgbClr>
                </a:solidFill>
                <a:latin typeface="Microsoft YaHei"/>
                <a:ea typeface="Microsoft YaHei"/>
                <a:cs typeface="Microsoft YaHei"/>
              </a:rPr>
              <a:t>，管理近30亿人民币基金，新一期即将落地江西，围绕全球先进制造行业和“智慧家居+智</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能制造”生态链进行系统化布局</a:t>
            </a:r>
            <a:endParaRPr sz="9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marL="18415" indent="-5080" algn="l" rtl="0" eaLnBrk="0">
              <a:lnSpc>
                <a:spcPct val="109000"/>
              </a:lnSpc>
              <a:spcBef>
                <a:spcPts val="275"/>
              </a:spcBef>
              <a:tabLst/>
            </a:pPr>
            <a:r>
              <a:rPr sz="900" kern="0" spc="90" dirty="0">
                <a:solidFill>
                  <a:srgbClr val="000000">
                    <a:alpha val="100000"/>
                  </a:srgbClr>
                </a:solidFill>
                <a:latin typeface="Microsoft YaHei"/>
                <a:ea typeface="Microsoft YaHei"/>
                <a:cs typeface="Microsoft YaHei"/>
              </a:rPr>
              <a:t>创维投资成立于2014年，创维集团主要从事智能系统技术业务</a:t>
            </a:r>
            <a:r>
              <a:rPr sz="900" kern="0" spc="80" dirty="0">
                <a:solidFill>
                  <a:srgbClr val="000000">
                    <a:alpha val="100000"/>
                  </a:srgbClr>
                </a:solidFill>
                <a:latin typeface="Microsoft YaHei"/>
                <a:ea typeface="Microsoft YaHei"/>
                <a:cs typeface="Microsoft YaHei"/>
              </a:rPr>
              <a:t>、智能电器业务等， 累计管理规模70亿人民</a:t>
            </a:r>
            <a:r>
              <a:rPr sz="900" kern="0" spc="90" dirty="0">
                <a:solidFill>
                  <a:srgbClr val="000000">
                    <a:alpha val="100000"/>
                  </a:srgbClr>
                </a:solidFill>
                <a:latin typeface="Microsoft YaHei"/>
                <a:ea typeface="Microsoft YaHei"/>
                <a:cs typeface="Microsoft YaHei"/>
              </a:rPr>
              <a:t>币，重点关注先进制造、集成电路、新材料等领域</a:t>
            </a:r>
            <a:endParaRPr sz="900" dirty="0">
              <a:latin typeface="Microsoft YaHei"/>
              <a:ea typeface="Microsoft YaHei"/>
              <a:cs typeface="Microsoft YaHei"/>
            </a:endParaRPr>
          </a:p>
          <a:p>
            <a:pPr algn="l" rtl="0" eaLnBrk="0">
              <a:lnSpc>
                <a:spcPct val="101000"/>
              </a:lnSpc>
              <a:tabLst/>
            </a:pPr>
            <a:endParaRPr sz="1200" dirty="0">
              <a:latin typeface="Arial"/>
              <a:ea typeface="Arial"/>
              <a:cs typeface="Arial"/>
            </a:endParaRPr>
          </a:p>
          <a:p>
            <a:pPr marL="12700" algn="l" rtl="0" eaLnBrk="0">
              <a:lnSpc>
                <a:spcPct val="109000"/>
              </a:lnSpc>
              <a:spcBef>
                <a:spcPts val="4"/>
              </a:spcBef>
              <a:tabLst/>
            </a:pPr>
            <a:r>
              <a:rPr sz="900" kern="0" spc="100" dirty="0">
                <a:solidFill>
                  <a:srgbClr val="000000">
                    <a:alpha val="100000"/>
                  </a:srgbClr>
                </a:solidFill>
                <a:latin typeface="Microsoft YaHei"/>
                <a:ea typeface="Microsoft YaHei"/>
                <a:cs typeface="Microsoft YaHei"/>
              </a:rPr>
              <a:t>成立于2014年4月，是一个专注于汽</a:t>
            </a:r>
            <a:r>
              <a:rPr sz="900" kern="0" spc="90" dirty="0">
                <a:solidFill>
                  <a:srgbClr val="000000">
                    <a:alpha val="100000"/>
                  </a:srgbClr>
                </a:solidFill>
                <a:latin typeface="Microsoft YaHei"/>
                <a:ea typeface="Microsoft YaHei"/>
                <a:cs typeface="Microsoft YaHei"/>
              </a:rPr>
              <a:t>车产业投资的专项基金，目前管理重庆两江汽车创新发展投资基金，基</a:t>
            </a:r>
            <a:r>
              <a:rPr sz="900" kern="0" spc="100" dirty="0">
                <a:solidFill>
                  <a:srgbClr val="000000">
                    <a:alpha val="100000"/>
                  </a:srgbClr>
                </a:solidFill>
                <a:latin typeface="Microsoft YaHei"/>
                <a:ea typeface="Microsoft YaHei"/>
                <a:cs typeface="Microsoft YaHei"/>
              </a:rPr>
              <a:t>金总规模50亿元，重点投资领域为汽车关键零部件、新能</a:t>
            </a:r>
            <a:r>
              <a:rPr sz="900" kern="0" spc="90" dirty="0">
                <a:solidFill>
                  <a:srgbClr val="000000">
                    <a:alpha val="100000"/>
                  </a:srgbClr>
                </a:solidFill>
                <a:latin typeface="Microsoft YaHei"/>
                <a:ea typeface="Microsoft YaHei"/>
                <a:cs typeface="Microsoft YaHei"/>
              </a:rPr>
              <a:t>源与智能汽车、汽车后市场和汽车文化等</a:t>
            </a:r>
            <a:endParaRPr sz="900" dirty="0">
              <a:latin typeface="Microsoft YaHei"/>
              <a:ea typeface="Microsoft YaHei"/>
              <a:cs typeface="Microsoft YaHei"/>
            </a:endParaRPr>
          </a:p>
        </p:txBody>
      </p:sp>
      <p:sp>
        <p:nvSpPr>
          <p:cNvPr id="730" name="textbox 730"/>
          <p:cNvSpPr/>
          <p:nvPr/>
        </p:nvSpPr>
        <p:spPr>
          <a:xfrm>
            <a:off x="566833" y="401828"/>
            <a:ext cx="11177905" cy="901700"/>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40" dirty="0">
                <a:solidFill>
                  <a:srgbClr val="BF756D">
                    <a:alpha val="100000"/>
                  </a:srgbClr>
                </a:solidFill>
                <a:latin typeface="Microsoft YaHei"/>
                <a:ea typeface="Microsoft YaHei"/>
                <a:cs typeface="Microsoft YaHei"/>
              </a:rPr>
              <a:t> 覆盖潜在机构推介</a:t>
            </a:r>
            <a:r>
              <a:rPr sz="2700" b="1" kern="0" spc="30" dirty="0">
                <a:solidFill>
                  <a:srgbClr val="BF756D">
                    <a:alpha val="100000"/>
                  </a:srgbClr>
                </a:solidFill>
                <a:latin typeface="Microsoft YaHei"/>
                <a:ea typeface="Microsoft YaHei"/>
                <a:cs typeface="Microsoft YaHei"/>
              </a:rPr>
              <a:t> —— </a:t>
            </a:r>
            <a:r>
              <a:rPr sz="2700" b="1" kern="0" spc="0" dirty="0">
                <a:solidFill>
                  <a:srgbClr val="BF756D">
                    <a:alpha val="100000"/>
                  </a:srgbClr>
                </a:solidFill>
                <a:latin typeface="Microsoft YaHei"/>
                <a:ea typeface="Microsoft YaHei"/>
                <a:cs typeface="Microsoft YaHei"/>
              </a:rPr>
              <a:t>CVC</a:t>
            </a:r>
            <a:r>
              <a:rPr sz="2700" b="1" kern="0" spc="30" dirty="0">
                <a:solidFill>
                  <a:srgbClr val="BF756D">
                    <a:alpha val="100000"/>
                  </a:srgbClr>
                </a:solidFill>
                <a:latin typeface="Microsoft YaHei"/>
                <a:ea typeface="Microsoft YaHei"/>
                <a:cs typeface="Microsoft YaHei"/>
              </a:rPr>
              <a:t>                                     </a:t>
            </a:r>
            <a:endParaRPr sz="2700" dirty="0">
              <a:latin typeface="Microsoft YaHei"/>
              <a:ea typeface="Microsoft YaHei"/>
              <a:cs typeface="Microsoft YaHei"/>
            </a:endParaRPr>
          </a:p>
          <a:p>
            <a:pPr algn="l" rtl="0" eaLnBrk="0">
              <a:lnSpc>
                <a:spcPct val="152000"/>
              </a:lnSpc>
              <a:tabLst/>
            </a:pPr>
            <a:endParaRPr sz="1000" dirty="0">
              <a:latin typeface="Arial"/>
              <a:ea typeface="Arial"/>
              <a:cs typeface="Arial"/>
            </a:endParaRPr>
          </a:p>
          <a:p>
            <a:pPr algn="l" rtl="0" eaLnBrk="0">
              <a:lnSpc>
                <a:spcPct val="100000"/>
              </a:lnSpc>
              <a:tabLst/>
            </a:pPr>
            <a:endParaRPr sz="300" dirty="0">
              <a:latin typeface="Arial"/>
              <a:ea typeface="Arial"/>
              <a:cs typeface="Arial"/>
            </a:endParaRPr>
          </a:p>
          <a:p>
            <a:pPr marL="960119" algn="l" rtl="0" eaLnBrk="0">
              <a:lnSpc>
                <a:spcPct val="90000"/>
              </a:lnSpc>
              <a:spcBef>
                <a:spcPts val="3"/>
              </a:spcBef>
              <a:tabLst/>
            </a:pPr>
            <a:r>
              <a:rPr sz="1200" b="1" kern="0" spc="0" dirty="0">
                <a:solidFill>
                  <a:srgbClr val="BF756D">
                    <a:alpha val="100000"/>
                  </a:srgbClr>
                </a:solidFill>
                <a:latin typeface="Microsoft YaHei"/>
                <a:ea typeface="Microsoft YaHei"/>
                <a:cs typeface="Microsoft YaHei"/>
              </a:rPr>
              <a:t>机构名称                                                                     机构介绍                                                                                  </a:t>
            </a:r>
            <a:r>
              <a:rPr sz="1200" b="1" kern="0" spc="-10" dirty="0">
                <a:solidFill>
                  <a:srgbClr val="BF756D">
                    <a:alpha val="100000"/>
                  </a:srgbClr>
                </a:solidFill>
                <a:latin typeface="Microsoft YaHei"/>
                <a:ea typeface="Microsoft YaHei"/>
                <a:cs typeface="Microsoft YaHei"/>
              </a:rPr>
              <a:t>  投资案例</a:t>
            </a:r>
            <a:endParaRPr sz="1200" dirty="0">
              <a:latin typeface="Microsoft YaHei"/>
              <a:ea typeface="Microsoft YaHei"/>
              <a:cs typeface="Microsoft YaHei"/>
            </a:endParaRPr>
          </a:p>
        </p:txBody>
      </p:sp>
      <p:pic>
        <p:nvPicPr>
          <p:cNvPr id="732" name="picture 732"/>
          <p:cNvPicPr>
            <a:picLocks noChangeAspect="1"/>
          </p:cNvPicPr>
          <p:nvPr/>
        </p:nvPicPr>
        <p:blipFill>
          <a:blip r:embed="rId2"/>
          <a:stretch>
            <a:fillRect/>
          </a:stretch>
        </p:blipFill>
        <p:spPr>
          <a:xfrm rot="21600000">
            <a:off x="10009164" y="414528"/>
            <a:ext cx="1616964" cy="365759"/>
          </a:xfrm>
          <a:prstGeom prst="rect">
            <a:avLst/>
          </a:prstGeom>
        </p:spPr>
      </p:pic>
      <p:sp>
        <p:nvSpPr>
          <p:cNvPr id="734" name="rect 734"/>
          <p:cNvSpPr/>
          <p:nvPr/>
        </p:nvSpPr>
        <p:spPr>
          <a:xfrm>
            <a:off x="1085367" y="1413649"/>
            <a:ext cx="10432136" cy="714108"/>
          </a:xfrm>
          <a:prstGeom prst="rect">
            <a:avLst/>
          </a:prstGeom>
          <a:solidFill>
            <a:srgbClr val="F2F2F2">
              <a:alpha val="100000"/>
            </a:srgbClr>
          </a:solidFill>
          <a:ln w="0" cap="flat">
            <a:noFill/>
            <a:prstDash val="solid"/>
            <a:miter lim="0"/>
          </a:ln>
        </p:spPr>
        <p:txBody>
          <a:bodyPr rtlCol="0"/>
          <a:lstStyle/>
          <a:p>
            <a:pPr algn="ctr"/>
            <a:endParaRPr lang="zh-CN" altLang="en-US"/>
          </a:p>
        </p:txBody>
      </p:sp>
      <p:sp>
        <p:nvSpPr>
          <p:cNvPr id="736" name="rect 736"/>
          <p:cNvSpPr/>
          <p:nvPr/>
        </p:nvSpPr>
        <p:spPr>
          <a:xfrm>
            <a:off x="1085367" y="4590948"/>
            <a:ext cx="10432136" cy="586587"/>
          </a:xfrm>
          <a:prstGeom prst="rect">
            <a:avLst/>
          </a:prstGeom>
          <a:solidFill>
            <a:srgbClr val="F4F4F4">
              <a:alpha val="100000"/>
            </a:srgbClr>
          </a:solidFill>
          <a:ln w="0" cap="flat">
            <a:noFill/>
            <a:prstDash val="solid"/>
            <a:miter lim="0"/>
          </a:ln>
        </p:spPr>
        <p:txBody>
          <a:bodyPr rtlCol="0"/>
          <a:lstStyle/>
          <a:p>
            <a:pPr algn="ctr"/>
            <a:endParaRPr lang="zh-CN" altLang="en-US"/>
          </a:p>
        </p:txBody>
      </p:sp>
      <p:sp>
        <p:nvSpPr>
          <p:cNvPr id="738" name="rect 738"/>
          <p:cNvSpPr/>
          <p:nvPr/>
        </p:nvSpPr>
        <p:spPr>
          <a:xfrm>
            <a:off x="1085367" y="5764174"/>
            <a:ext cx="10432136" cy="586587"/>
          </a:xfrm>
          <a:prstGeom prst="rect">
            <a:avLst/>
          </a:prstGeom>
          <a:solidFill>
            <a:srgbClr val="F4F4F4">
              <a:alpha val="100000"/>
            </a:srgbClr>
          </a:solidFill>
          <a:ln w="0" cap="flat">
            <a:noFill/>
            <a:prstDash val="solid"/>
            <a:miter lim="0"/>
          </a:ln>
        </p:spPr>
        <p:txBody>
          <a:bodyPr rtlCol="0"/>
          <a:lstStyle/>
          <a:p>
            <a:pPr algn="ctr"/>
            <a:endParaRPr lang="zh-CN" altLang="en-US"/>
          </a:p>
        </p:txBody>
      </p:sp>
      <p:sp>
        <p:nvSpPr>
          <p:cNvPr id="740" name="textbox 740"/>
          <p:cNvSpPr/>
          <p:nvPr/>
        </p:nvSpPr>
        <p:spPr>
          <a:xfrm>
            <a:off x="8739755" y="2312320"/>
            <a:ext cx="1922145" cy="2139950"/>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0" dirty="0">
                <a:solidFill>
                  <a:srgbClr val="000000">
                    <a:alpha val="100000"/>
                  </a:srgbClr>
                </a:solidFill>
                <a:latin typeface="Microsoft YaHei"/>
                <a:ea typeface="Microsoft YaHei"/>
                <a:cs typeface="Microsoft YaHei"/>
              </a:rPr>
              <a:t>YKC</a:t>
            </a:r>
            <a:r>
              <a:rPr sz="900" kern="0" spc="120" dirty="0">
                <a:solidFill>
                  <a:srgbClr val="000000">
                    <a:alpha val="100000"/>
                  </a:srgbClr>
                </a:solidFill>
                <a:latin typeface="Microsoft YaHei"/>
                <a:ea typeface="Microsoft YaHei"/>
                <a:cs typeface="Microsoft YaHei"/>
              </a:rPr>
              <a:t>云快充、</a:t>
            </a:r>
            <a:r>
              <a:rPr sz="900" kern="0" spc="22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MEMS</a:t>
            </a:r>
            <a:r>
              <a:rPr sz="900" kern="0" spc="16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Drive</a:t>
            </a:r>
            <a:endParaRPr sz="9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13334" algn="l" rtl="0" eaLnBrk="0">
              <a:lnSpc>
                <a:spcPct val="98000"/>
              </a:lnSpc>
              <a:spcBef>
                <a:spcPts val="274"/>
              </a:spcBef>
              <a:tabLst/>
            </a:pPr>
            <a:r>
              <a:rPr sz="900" kern="0" spc="90" dirty="0">
                <a:solidFill>
                  <a:srgbClr val="000000">
                    <a:alpha val="100000"/>
                  </a:srgbClr>
                </a:solidFill>
                <a:latin typeface="Microsoft YaHei"/>
                <a:ea typeface="Microsoft YaHei"/>
                <a:cs typeface="Microsoft YaHei"/>
              </a:rPr>
              <a:t>希微科技、星宸科技</a:t>
            </a:r>
            <a:endParaRPr sz="9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12700" algn="l" rtl="0" eaLnBrk="0">
              <a:lnSpc>
                <a:spcPct val="98000"/>
              </a:lnSpc>
              <a:spcBef>
                <a:spcPts val="274"/>
              </a:spcBef>
              <a:tabLst/>
            </a:pPr>
            <a:r>
              <a:rPr sz="900" kern="0" spc="90" dirty="0">
                <a:solidFill>
                  <a:srgbClr val="000000">
                    <a:alpha val="100000"/>
                  </a:srgbClr>
                </a:solidFill>
                <a:latin typeface="Microsoft YaHei"/>
                <a:ea typeface="Microsoft YaHei"/>
                <a:cs typeface="Microsoft YaHei"/>
              </a:rPr>
              <a:t>爱磁科技、桥田智能</a:t>
            </a:r>
            <a:endParaRPr sz="900" dirty="0">
              <a:latin typeface="Microsoft YaHei"/>
              <a:ea typeface="Microsoft YaHei"/>
              <a:cs typeface="Microsoft YaHei"/>
            </a:endParaRPr>
          </a:p>
          <a:p>
            <a:pPr algn="l" rtl="0" eaLnBrk="0">
              <a:lnSpc>
                <a:spcPct val="108000"/>
              </a:lnSpc>
              <a:tabLst/>
            </a:pPr>
            <a:endParaRPr sz="1000" dirty="0">
              <a:latin typeface="Arial"/>
              <a:ea typeface="Arial"/>
              <a:cs typeface="Arial"/>
            </a:endParaRPr>
          </a:p>
          <a:p>
            <a:pPr algn="l" rtl="0" eaLnBrk="0">
              <a:lnSpc>
                <a:spcPct val="108000"/>
              </a:lnSpc>
              <a:tabLst/>
            </a:pPr>
            <a:endParaRPr sz="1000" dirty="0">
              <a:latin typeface="Arial"/>
              <a:ea typeface="Arial"/>
              <a:cs typeface="Arial"/>
            </a:endParaRPr>
          </a:p>
          <a:p>
            <a:pPr marL="13334" algn="l" rtl="0" eaLnBrk="0">
              <a:lnSpc>
                <a:spcPct val="98000"/>
              </a:lnSpc>
              <a:spcBef>
                <a:spcPts val="274"/>
              </a:spcBef>
              <a:tabLst/>
            </a:pPr>
            <a:r>
              <a:rPr sz="900" kern="0" spc="90" dirty="0">
                <a:solidFill>
                  <a:srgbClr val="000000">
                    <a:alpha val="100000"/>
                  </a:srgbClr>
                </a:solidFill>
                <a:latin typeface="Microsoft YaHei"/>
                <a:ea typeface="Microsoft YaHei"/>
                <a:cs typeface="Microsoft YaHei"/>
              </a:rPr>
              <a:t>瑞龙汽车、芯哲科技、创晟半导体</a:t>
            </a:r>
            <a:endParaRPr sz="9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13000"/>
              </a:lnSpc>
              <a:tabLst/>
            </a:pPr>
            <a:endParaRPr sz="200" dirty="0">
              <a:latin typeface="Arial"/>
              <a:ea typeface="Arial"/>
              <a:cs typeface="Arial"/>
            </a:endParaRPr>
          </a:p>
          <a:p>
            <a:pPr marL="13334"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睿博光电、双英集团、友信电子</a:t>
            </a:r>
            <a:endParaRPr sz="900" dirty="0">
              <a:latin typeface="Microsoft YaHei"/>
              <a:ea typeface="Microsoft YaHei"/>
              <a:cs typeface="Microsoft YaHei"/>
            </a:endParaRPr>
          </a:p>
        </p:txBody>
      </p:sp>
      <p:grpSp>
        <p:nvGrpSpPr>
          <p:cNvPr id="54" name="group 54"/>
          <p:cNvGrpSpPr/>
          <p:nvPr/>
        </p:nvGrpSpPr>
        <p:grpSpPr>
          <a:xfrm rot="21600000">
            <a:off x="508711" y="1413636"/>
            <a:ext cx="583006" cy="4937125"/>
            <a:chOff x="0" y="0"/>
            <a:chExt cx="583006" cy="4937125"/>
          </a:xfrm>
        </p:grpSpPr>
        <p:sp>
          <p:nvSpPr>
            <p:cNvPr id="742" name="rect 742"/>
            <p:cNvSpPr/>
            <p:nvPr/>
          </p:nvSpPr>
          <p:spPr>
            <a:xfrm>
              <a:off x="0" y="0"/>
              <a:ext cx="576656" cy="4937125"/>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744" name="path 744"/>
            <p:cNvSpPr/>
            <p:nvPr/>
          </p:nvSpPr>
          <p:spPr>
            <a:xfrm>
              <a:off x="570306" y="0"/>
              <a:ext cx="12700" cy="4937125"/>
            </a:xfrm>
            <a:custGeom>
              <a:avLst/>
              <a:gdLst/>
              <a:ahLst/>
              <a:cxnLst/>
              <a:rect l="0" t="0" r="0" b="0"/>
              <a:pathLst>
                <a:path w="20" h="7775">
                  <a:moveTo>
                    <a:pt x="10" y="0"/>
                  </a:moveTo>
                  <a:lnTo>
                    <a:pt x="10" y="4263"/>
                  </a:lnTo>
                  <a:moveTo>
                    <a:pt x="10" y="4263"/>
                  </a:moveTo>
                  <a:lnTo>
                    <a:pt x="10" y="5003"/>
                  </a:lnTo>
                  <a:moveTo>
                    <a:pt x="10" y="5003"/>
                  </a:moveTo>
                  <a:lnTo>
                    <a:pt x="10" y="7775"/>
                  </a:lnTo>
                </a:path>
              </a:pathLst>
            </a:custGeom>
            <a:noFill/>
            <a:ln w="12700" cap="flat">
              <a:solidFill>
                <a:srgbClr val="000000"/>
              </a:solidFill>
              <a:prstDash val="solid"/>
              <a:round/>
            </a:ln>
          </p:spPr>
          <p:txBody>
            <a:bodyPr rtlCol="0"/>
            <a:lstStyle/>
            <a:p>
              <a:pPr algn="ctr"/>
              <a:endParaRPr lang="zh-CN" altLang="en-US"/>
            </a:p>
          </p:txBody>
        </p:sp>
        <p:sp>
          <p:nvSpPr>
            <p:cNvPr id="746" name="textbox 746"/>
            <p:cNvSpPr/>
            <p:nvPr/>
          </p:nvSpPr>
          <p:spPr>
            <a:xfrm>
              <a:off x="149636" y="2409834"/>
              <a:ext cx="281304" cy="134620"/>
            </a:xfrm>
            <a:prstGeom prst="rect">
              <a:avLst/>
            </a:prstGeom>
            <a:noFill/>
            <a:ln w="0" cap="flat">
              <a:noFill/>
              <a:prstDash val="solid"/>
              <a:miter lim="0"/>
            </a:ln>
          </p:spPr>
          <p:txBody>
            <a:bodyPr vert="horz" wrap="square" lIns="0" tIns="0" rIns="0" bIns="0"/>
            <a:lstStyle/>
            <a:p>
              <a:pPr algn="l" rtl="0" eaLnBrk="0">
                <a:lnSpc>
                  <a:spcPct val="78984"/>
                </a:lnSpc>
                <a:tabLst/>
              </a:pPr>
              <a:endParaRPr sz="100" dirty="0">
                <a:latin typeface="Arial"/>
                <a:ea typeface="Arial"/>
                <a:cs typeface="Arial"/>
              </a:endParaRPr>
            </a:p>
            <a:p>
              <a:pPr marL="12700" algn="l" rtl="0" eaLnBrk="0">
                <a:lnSpc>
                  <a:spcPct val="80000"/>
                </a:lnSpc>
                <a:tabLst/>
              </a:pPr>
              <a:r>
                <a:rPr sz="900" b="1" kern="0" spc="40" dirty="0">
                  <a:solidFill>
                    <a:srgbClr val="FFFFFF">
                      <a:alpha val="100000"/>
                    </a:srgbClr>
                  </a:solidFill>
                  <a:latin typeface="Microsoft YaHei"/>
                  <a:ea typeface="Microsoft YaHei"/>
                  <a:cs typeface="Microsoft YaHei"/>
                </a:rPr>
                <a:t>CVC</a:t>
              </a:r>
              <a:endParaRPr sz="900" dirty="0">
                <a:latin typeface="Microsoft YaHei"/>
                <a:ea typeface="Microsoft YaHei"/>
                <a:cs typeface="Microsoft YaHei"/>
              </a:endParaRPr>
            </a:p>
          </p:txBody>
        </p:sp>
      </p:grpSp>
      <p:sp>
        <p:nvSpPr>
          <p:cNvPr id="748" name="textbox 748"/>
          <p:cNvSpPr/>
          <p:nvPr/>
        </p:nvSpPr>
        <p:spPr>
          <a:xfrm>
            <a:off x="2656321" y="1629822"/>
            <a:ext cx="5909309" cy="323850"/>
          </a:xfrm>
          <a:prstGeom prst="rect">
            <a:avLst/>
          </a:prstGeom>
          <a:noFill/>
          <a:ln w="0" cap="flat">
            <a:noFill/>
            <a:prstDash val="solid"/>
            <a:miter lim="0"/>
          </a:ln>
        </p:spPr>
        <p:txBody>
          <a:bodyPr vert="horz" wrap="square" lIns="0" tIns="0" rIns="0" bIns="0"/>
          <a:lstStyle/>
          <a:p>
            <a:pPr algn="l" rtl="0" eaLnBrk="0">
              <a:lnSpc>
                <a:spcPct val="77427"/>
              </a:lnSpc>
              <a:tabLst/>
            </a:pPr>
            <a:endParaRPr sz="100" dirty="0">
              <a:latin typeface="Arial"/>
              <a:ea typeface="Arial"/>
              <a:cs typeface="Arial"/>
            </a:endParaRPr>
          </a:p>
          <a:p>
            <a:pPr marL="12700" algn="l" rtl="0" eaLnBrk="0">
              <a:lnSpc>
                <a:spcPct val="109000"/>
              </a:lnSpc>
              <a:tabLst/>
            </a:pPr>
            <a:r>
              <a:rPr sz="900" kern="0" spc="0" dirty="0">
                <a:solidFill>
                  <a:srgbClr val="000000">
                    <a:alpha val="100000"/>
                  </a:srgbClr>
                </a:solidFill>
                <a:latin typeface="Microsoft YaHei"/>
                <a:ea typeface="Microsoft YaHei"/>
                <a:cs typeface="Microsoft YaHei"/>
              </a:rPr>
              <a:t>TCL</a:t>
            </a:r>
            <a:r>
              <a:rPr sz="900" kern="0" spc="110" dirty="0">
                <a:solidFill>
                  <a:srgbClr val="000000">
                    <a:alpha val="100000"/>
                  </a:srgbClr>
                </a:solidFill>
                <a:latin typeface="Microsoft YaHei"/>
                <a:ea typeface="Microsoft YaHei"/>
                <a:cs typeface="Microsoft YaHei"/>
              </a:rPr>
              <a:t>股权投资有限公司（</a:t>
            </a:r>
            <a:r>
              <a:rPr sz="900" kern="0" spc="0" dirty="0">
                <a:solidFill>
                  <a:srgbClr val="000000">
                    <a:alpha val="100000"/>
                  </a:srgbClr>
                </a:solidFill>
                <a:latin typeface="Microsoft YaHei"/>
                <a:ea typeface="Microsoft YaHei"/>
                <a:cs typeface="Microsoft YaHei"/>
              </a:rPr>
              <a:t>TCL</a:t>
            </a:r>
            <a:r>
              <a:rPr sz="900" kern="0" spc="110" dirty="0">
                <a:solidFill>
                  <a:srgbClr val="000000">
                    <a:alpha val="100000"/>
                  </a:srgbClr>
                </a:solidFill>
                <a:latin typeface="Microsoft YaHei"/>
                <a:ea typeface="Microsoft YaHei"/>
                <a:cs typeface="Microsoft YaHei"/>
              </a:rPr>
              <a:t>创投）始成立于2009年，是</a:t>
            </a:r>
            <a:r>
              <a:rPr sz="900" kern="0" spc="0" dirty="0">
                <a:solidFill>
                  <a:srgbClr val="000000">
                    <a:alpha val="100000"/>
                  </a:srgbClr>
                </a:solidFill>
                <a:latin typeface="Microsoft YaHei"/>
                <a:ea typeface="Microsoft YaHei"/>
                <a:cs typeface="Microsoft YaHei"/>
              </a:rPr>
              <a:t>TCL</a:t>
            </a:r>
            <a:r>
              <a:rPr sz="900" kern="0" spc="110" dirty="0">
                <a:solidFill>
                  <a:srgbClr val="000000">
                    <a:alpha val="100000"/>
                  </a:srgbClr>
                </a:solidFill>
                <a:latin typeface="Microsoft YaHei"/>
                <a:ea typeface="Microsoft YaHei"/>
                <a:cs typeface="Microsoft YaHei"/>
              </a:rPr>
              <a:t>科技旗下的市场化股权投资</a:t>
            </a:r>
            <a:r>
              <a:rPr sz="900" kern="0" spc="100" dirty="0">
                <a:solidFill>
                  <a:srgbClr val="000000">
                    <a:alpha val="100000"/>
                  </a:srgbClr>
                </a:solidFill>
                <a:latin typeface="Microsoft YaHei"/>
                <a:ea typeface="Microsoft YaHei"/>
                <a:cs typeface="Microsoft YaHei"/>
              </a:rPr>
              <a:t>机构。</a:t>
            </a:r>
            <a:r>
              <a:rPr sz="900" kern="0" spc="-14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TCL</a:t>
            </a:r>
            <a:r>
              <a:rPr sz="900" kern="0" spc="100" dirty="0">
                <a:solidFill>
                  <a:srgbClr val="000000">
                    <a:alpha val="100000"/>
                  </a:srgbClr>
                </a:solidFill>
                <a:latin typeface="Microsoft YaHei"/>
                <a:ea typeface="Microsoft YaHei"/>
                <a:cs typeface="Microsoft YaHei"/>
              </a:rPr>
              <a:t>创投已</a:t>
            </a:r>
            <a:r>
              <a:rPr sz="900" kern="0" spc="90" dirty="0">
                <a:solidFill>
                  <a:srgbClr val="000000">
                    <a:alpha val="100000"/>
                  </a:srgbClr>
                </a:solidFill>
                <a:latin typeface="Microsoft YaHei"/>
                <a:ea typeface="Microsoft YaHei"/>
                <a:cs typeface="Microsoft YaHei"/>
              </a:rPr>
              <a:t>组建并管理12支人民币基金，合计投资超过120个项目，管理资产规模近百亿人民币</a:t>
            </a:r>
            <a:endParaRPr sz="900" dirty="0">
              <a:latin typeface="Microsoft YaHei"/>
              <a:ea typeface="Microsoft YaHei"/>
              <a:cs typeface="Microsoft YaHei"/>
            </a:endParaRPr>
          </a:p>
        </p:txBody>
      </p:sp>
      <p:sp>
        <p:nvSpPr>
          <p:cNvPr id="750" name="textbox 750"/>
          <p:cNvSpPr/>
          <p:nvPr/>
        </p:nvSpPr>
        <p:spPr>
          <a:xfrm>
            <a:off x="2655435" y="4743989"/>
            <a:ext cx="5858509" cy="324484"/>
          </a:xfrm>
          <a:prstGeom prst="rect">
            <a:avLst/>
          </a:prstGeom>
          <a:noFill/>
          <a:ln w="0" cap="flat">
            <a:noFill/>
            <a:prstDash val="solid"/>
            <a:miter lim="0"/>
          </a:ln>
        </p:spPr>
        <p:txBody>
          <a:bodyPr vert="horz" wrap="square" lIns="0" tIns="0" rIns="0" bIns="0"/>
          <a:lstStyle/>
          <a:p>
            <a:pPr algn="l" rtl="0" eaLnBrk="0">
              <a:lnSpc>
                <a:spcPct val="81090"/>
              </a:lnSpc>
              <a:tabLst/>
            </a:pPr>
            <a:endParaRPr sz="100" dirty="0">
              <a:latin typeface="Arial"/>
              <a:ea typeface="Arial"/>
              <a:cs typeface="Arial"/>
            </a:endParaRPr>
          </a:p>
          <a:p>
            <a:pPr marL="12700" algn="l" rtl="0" eaLnBrk="0">
              <a:lnSpc>
                <a:spcPct val="109000"/>
              </a:lnSpc>
              <a:tabLst/>
            </a:pPr>
            <a:r>
              <a:rPr sz="900" kern="0" spc="60" dirty="0">
                <a:solidFill>
                  <a:srgbClr val="000000">
                    <a:alpha val="100000"/>
                  </a:srgbClr>
                </a:solidFill>
                <a:latin typeface="Microsoft YaHei"/>
                <a:ea typeface="Microsoft YaHei"/>
                <a:cs typeface="Microsoft YaHei"/>
              </a:rPr>
              <a:t>追觅孵化了20家企业，涵盖消费电子，</a:t>
            </a:r>
            <a:r>
              <a:rPr sz="900" kern="0" spc="-10" dirty="0">
                <a:solidFill>
                  <a:srgbClr val="000000">
                    <a:alpha val="100000"/>
                  </a:srgbClr>
                </a:solidFill>
                <a:latin typeface="Microsoft YaHei"/>
                <a:ea typeface="Microsoft YaHei"/>
                <a:cs typeface="Microsoft YaHei"/>
              </a:rPr>
              <a:t>   </a:t>
            </a:r>
            <a:r>
              <a:rPr sz="900" kern="0" spc="60" dirty="0">
                <a:solidFill>
                  <a:srgbClr val="000000">
                    <a:alpha val="100000"/>
                  </a:srgbClr>
                </a:solidFill>
                <a:latin typeface="Microsoft YaHei"/>
                <a:ea typeface="Microsoft YaHei"/>
                <a:cs typeface="Microsoft YaHei"/>
              </a:rPr>
              <a:t>出海，</a:t>
            </a:r>
            <a:r>
              <a:rPr sz="900" kern="0" spc="-20" dirty="0">
                <a:solidFill>
                  <a:srgbClr val="000000">
                    <a:alpha val="100000"/>
                  </a:srgbClr>
                </a:solidFill>
                <a:latin typeface="Microsoft YaHei"/>
                <a:ea typeface="Microsoft YaHei"/>
                <a:cs typeface="Microsoft YaHei"/>
              </a:rPr>
              <a:t> </a:t>
            </a:r>
            <a:r>
              <a:rPr sz="900" kern="0" spc="60" dirty="0">
                <a:solidFill>
                  <a:srgbClr val="000000">
                    <a:alpha val="100000"/>
                  </a:srgbClr>
                </a:solidFill>
                <a:latin typeface="Microsoft YaHei"/>
                <a:ea typeface="Microsoft YaHei"/>
                <a:cs typeface="Microsoft YaHei"/>
              </a:rPr>
              <a:t>具身， 商业航天；追创创投总管理规模140亿，</a:t>
            </a:r>
            <a:r>
              <a:rPr sz="900" kern="0" spc="-40" dirty="0">
                <a:solidFill>
                  <a:srgbClr val="000000">
                    <a:alpha val="100000"/>
                  </a:srgbClr>
                </a:solidFill>
                <a:latin typeface="Microsoft YaHei"/>
                <a:ea typeface="Microsoft YaHei"/>
                <a:cs typeface="Microsoft YaHei"/>
              </a:rPr>
              <a:t> </a:t>
            </a:r>
            <a:r>
              <a:rPr sz="900" kern="0" spc="60" dirty="0">
                <a:solidFill>
                  <a:srgbClr val="000000">
                    <a:alpha val="100000"/>
                  </a:srgbClr>
                </a:solidFill>
                <a:latin typeface="Microsoft YaHei"/>
                <a:ea typeface="Microsoft YaHei"/>
                <a:cs typeface="Microsoft YaHei"/>
              </a:rPr>
              <a:t>策略是60%</a:t>
            </a:r>
            <a:r>
              <a:rPr sz="900" kern="0" spc="60" dirty="0">
                <a:solidFill>
                  <a:srgbClr val="000000">
                    <a:alpha val="100000"/>
                  </a:srgbClr>
                </a:solidFill>
                <a:latin typeface="Microsoft YaHei"/>
                <a:ea typeface="Microsoft YaHei"/>
                <a:cs typeface="Microsoft YaHei"/>
              </a:rPr>
              <a:t>投资追觅孵化企业，  40%对外投资，生态链策略</a:t>
            </a:r>
            <a:endParaRPr sz="900" dirty="0">
              <a:latin typeface="Microsoft YaHei"/>
              <a:ea typeface="Microsoft YaHei"/>
              <a:cs typeface="Microsoft YaHei"/>
            </a:endParaRPr>
          </a:p>
        </p:txBody>
      </p:sp>
      <p:sp>
        <p:nvSpPr>
          <p:cNvPr id="752" name="textbox 752"/>
          <p:cNvSpPr/>
          <p:nvPr/>
        </p:nvSpPr>
        <p:spPr>
          <a:xfrm>
            <a:off x="2654676" y="5330729"/>
            <a:ext cx="5857240" cy="320675"/>
          </a:xfrm>
          <a:prstGeom prst="rect">
            <a:avLst/>
          </a:prstGeom>
          <a:noFill/>
          <a:ln w="0" cap="flat">
            <a:noFill/>
            <a:prstDash val="solid"/>
            <a:miter lim="0"/>
          </a:ln>
        </p:spPr>
        <p:txBody>
          <a:bodyPr vert="horz" wrap="square" lIns="0" tIns="0" rIns="0" bIns="0"/>
          <a:lstStyle/>
          <a:p>
            <a:pPr algn="l" rtl="0" eaLnBrk="0">
              <a:lnSpc>
                <a:spcPct val="74718"/>
              </a:lnSpc>
              <a:tabLst/>
            </a:pPr>
            <a:endParaRPr sz="100" dirty="0">
              <a:latin typeface="Arial"/>
              <a:ea typeface="Arial"/>
              <a:cs typeface="Arial"/>
            </a:endParaRPr>
          </a:p>
          <a:p>
            <a:pPr marL="13970" indent="-1270" algn="l" rtl="0" eaLnBrk="0">
              <a:lnSpc>
                <a:spcPct val="108000"/>
              </a:lnSpc>
              <a:tabLst/>
            </a:pPr>
            <a:r>
              <a:rPr sz="900" kern="0" spc="100" dirty="0">
                <a:solidFill>
                  <a:srgbClr val="000000">
                    <a:alpha val="100000"/>
                  </a:srgbClr>
                </a:solidFill>
                <a:latin typeface="Microsoft YaHei"/>
                <a:ea typeface="Microsoft YaHei"/>
                <a:cs typeface="Microsoft YaHei"/>
              </a:rPr>
              <a:t>之前是博世和戈壁一起，现在分开了。与博世创投是两个独立的主体、可以一起投</a:t>
            </a:r>
            <a:r>
              <a:rPr sz="900" kern="0" spc="90" dirty="0">
                <a:solidFill>
                  <a:srgbClr val="000000">
                    <a:alpha val="100000"/>
                  </a:srgbClr>
                </a:solidFill>
                <a:latin typeface="Microsoft YaHei"/>
                <a:ea typeface="Microsoft YaHei"/>
                <a:cs typeface="Microsoft YaHei"/>
              </a:rPr>
              <a:t>。目前关注：具身（在</a:t>
            </a:r>
            <a:r>
              <a:rPr sz="900" kern="0" spc="90" dirty="0">
                <a:solidFill>
                  <a:srgbClr val="000000">
                    <a:alpha val="100000"/>
                  </a:srgbClr>
                </a:solidFill>
                <a:latin typeface="Microsoft YaHei"/>
                <a:ea typeface="Microsoft YaHei"/>
                <a:cs typeface="Microsoft YaHei"/>
              </a:rPr>
              <a:t>交割2个项目）、工业软件（偏好</a:t>
            </a:r>
            <a:r>
              <a:rPr sz="900" kern="0" spc="0" dirty="0">
                <a:solidFill>
                  <a:srgbClr val="000000">
                    <a:alpha val="100000"/>
                  </a:srgbClr>
                </a:solidFill>
                <a:latin typeface="Microsoft YaHei"/>
                <a:ea typeface="Microsoft YaHei"/>
                <a:cs typeface="Microsoft YaHei"/>
              </a:rPr>
              <a:t>AI</a:t>
            </a:r>
            <a:r>
              <a:rPr sz="900" kern="0" spc="90" dirty="0">
                <a:solidFill>
                  <a:srgbClr val="000000">
                    <a:alpha val="100000"/>
                  </a:srgbClr>
                </a:solidFill>
                <a:latin typeface="Microsoft YaHei"/>
                <a:ea typeface="Microsoft YaHei"/>
                <a:cs typeface="Microsoft YaHei"/>
              </a:rPr>
              <a:t>和工业</a:t>
            </a:r>
            <a:r>
              <a:rPr sz="900" kern="0" spc="80" dirty="0">
                <a:solidFill>
                  <a:srgbClr val="000000">
                    <a:alpha val="100000"/>
                  </a:srgbClr>
                </a:solidFill>
                <a:latin typeface="Microsoft YaHei"/>
                <a:ea typeface="Microsoft YaHei"/>
                <a:cs typeface="Microsoft YaHei"/>
              </a:rPr>
              <a:t>场景）</a:t>
            </a:r>
            <a:endParaRPr sz="900" dirty="0">
              <a:latin typeface="Microsoft YaHei"/>
              <a:ea typeface="Microsoft YaHei"/>
              <a:cs typeface="Microsoft YaHei"/>
            </a:endParaRPr>
          </a:p>
        </p:txBody>
      </p:sp>
      <p:sp>
        <p:nvSpPr>
          <p:cNvPr id="754" name="textbox 754"/>
          <p:cNvSpPr/>
          <p:nvPr/>
        </p:nvSpPr>
        <p:spPr>
          <a:xfrm>
            <a:off x="2654550" y="5917494"/>
            <a:ext cx="5848350" cy="324484"/>
          </a:xfrm>
          <a:prstGeom prst="rect">
            <a:avLst/>
          </a:prstGeom>
          <a:noFill/>
          <a:ln w="0" cap="flat">
            <a:noFill/>
            <a:prstDash val="solid"/>
            <a:miter lim="0"/>
          </a:ln>
        </p:spPr>
        <p:txBody>
          <a:bodyPr vert="horz" wrap="square" lIns="0" tIns="0" rIns="0" bIns="0"/>
          <a:lstStyle/>
          <a:p>
            <a:pPr algn="l" rtl="0" eaLnBrk="0">
              <a:lnSpc>
                <a:spcPct val="81090"/>
              </a:lnSpc>
              <a:tabLst/>
            </a:pPr>
            <a:endParaRPr sz="100" dirty="0">
              <a:latin typeface="Arial"/>
              <a:ea typeface="Arial"/>
              <a:cs typeface="Arial"/>
            </a:endParaRPr>
          </a:p>
          <a:p>
            <a:pPr marL="13970" indent="-1270" algn="l" rtl="0" eaLnBrk="0">
              <a:lnSpc>
                <a:spcPct val="109000"/>
              </a:lnSpc>
              <a:tabLst/>
            </a:pPr>
            <a:r>
              <a:rPr sz="900" kern="0" spc="80" dirty="0">
                <a:solidFill>
                  <a:srgbClr val="000000">
                    <a:alpha val="100000"/>
                  </a:srgbClr>
                </a:solidFill>
                <a:latin typeface="Microsoft YaHei"/>
                <a:ea typeface="Microsoft YaHei"/>
                <a:cs typeface="Microsoft YaHei"/>
              </a:rPr>
              <a:t>成立于1993年，重点关注车载声学、</a:t>
            </a:r>
            <a:r>
              <a:rPr sz="900" kern="0" spc="70" dirty="0">
                <a:solidFill>
                  <a:srgbClr val="000000">
                    <a:alpha val="100000"/>
                  </a:srgbClr>
                </a:solidFill>
                <a:latin typeface="Microsoft YaHei"/>
                <a:ea typeface="Microsoft YaHei"/>
                <a:cs typeface="Microsoft YaHei"/>
              </a:rPr>
              <a:t>智能座舱、传感器等领域。重点关注：</a:t>
            </a:r>
            <a:r>
              <a:rPr sz="900" kern="0" spc="16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1）</a:t>
            </a:r>
            <a:r>
              <a:rPr sz="900" kern="0" spc="-9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电机， 包括汽车与消费电</a:t>
            </a:r>
            <a:r>
              <a:rPr sz="900" kern="0" spc="10" dirty="0">
                <a:solidFill>
                  <a:srgbClr val="000000">
                    <a:alpha val="100000"/>
                  </a:srgbClr>
                </a:solidFill>
                <a:latin typeface="Microsoft YaHei"/>
                <a:ea typeface="Microsoft YaHei"/>
                <a:cs typeface="Microsoft YaHei"/>
              </a:rPr>
              <a:t>子； 2. 声学光学等；</a:t>
            </a:r>
            <a:r>
              <a:rPr sz="900" kern="0" spc="150" dirty="0">
                <a:solidFill>
                  <a:srgbClr val="000000">
                    <a:alpha val="100000"/>
                  </a:srgbClr>
                </a:solidFill>
                <a:latin typeface="Microsoft YaHei"/>
                <a:ea typeface="Microsoft YaHei"/>
                <a:cs typeface="Microsoft YaHei"/>
              </a:rPr>
              <a:t>  </a:t>
            </a:r>
            <a:r>
              <a:rPr sz="900" kern="0" spc="10" dirty="0">
                <a:solidFill>
                  <a:srgbClr val="000000">
                    <a:alpha val="100000"/>
                  </a:srgbClr>
                </a:solidFill>
                <a:latin typeface="Microsoft YaHei"/>
                <a:ea typeface="Microsoft YaHei"/>
                <a:cs typeface="Microsoft YaHei"/>
              </a:rPr>
              <a:t>3.</a:t>
            </a:r>
            <a:r>
              <a:rPr sz="900" kern="0" spc="70" dirty="0">
                <a:solidFill>
                  <a:srgbClr val="000000">
                    <a:alpha val="100000"/>
                  </a:srgbClr>
                </a:solidFill>
                <a:latin typeface="Microsoft YaHei"/>
                <a:ea typeface="Microsoft YaHei"/>
                <a:cs typeface="Microsoft YaHei"/>
              </a:rPr>
              <a:t> </a:t>
            </a:r>
            <a:r>
              <a:rPr sz="900" kern="0" spc="10" dirty="0">
                <a:solidFill>
                  <a:srgbClr val="000000">
                    <a:alpha val="100000"/>
                  </a:srgbClr>
                </a:solidFill>
                <a:latin typeface="Microsoft YaHei"/>
                <a:ea typeface="Microsoft YaHei"/>
                <a:cs typeface="Microsoft YaHei"/>
              </a:rPr>
              <a:t>传感器和半导体；</a:t>
            </a:r>
            <a:r>
              <a:rPr sz="900" kern="0" spc="80" dirty="0">
                <a:solidFill>
                  <a:srgbClr val="000000">
                    <a:alpha val="100000"/>
                  </a:srgbClr>
                </a:solidFill>
                <a:latin typeface="Microsoft YaHei"/>
                <a:ea typeface="Microsoft YaHei"/>
                <a:cs typeface="Microsoft YaHei"/>
              </a:rPr>
              <a:t>  </a:t>
            </a:r>
            <a:r>
              <a:rPr sz="900" kern="0" spc="10" dirty="0">
                <a:solidFill>
                  <a:srgbClr val="000000">
                    <a:alpha val="100000"/>
                  </a:srgbClr>
                </a:solidFill>
                <a:latin typeface="Microsoft YaHei"/>
                <a:ea typeface="Microsoft YaHei"/>
                <a:cs typeface="Microsoft YaHei"/>
              </a:rPr>
              <a:t>4.精密制造；  5.</a:t>
            </a:r>
            <a:r>
              <a:rPr sz="900" kern="0" spc="0" dirty="0">
                <a:solidFill>
                  <a:srgbClr val="000000">
                    <a:alpha val="100000"/>
                  </a:srgbClr>
                </a:solidFill>
                <a:latin typeface="Microsoft YaHei"/>
                <a:ea typeface="Microsoft YaHei"/>
                <a:cs typeface="Microsoft YaHei"/>
              </a:rPr>
              <a:t>AI</a:t>
            </a:r>
            <a:r>
              <a:rPr sz="900" kern="0" spc="10" dirty="0">
                <a:solidFill>
                  <a:srgbClr val="000000">
                    <a:alpha val="100000"/>
                  </a:srgbClr>
                </a:solidFill>
                <a:latin typeface="Microsoft YaHei"/>
                <a:ea typeface="Microsoft YaHei"/>
                <a:cs typeface="Microsoft YaHei"/>
              </a:rPr>
              <a:t>硬件相关。</a:t>
            </a:r>
            <a:endParaRPr sz="900" dirty="0">
              <a:latin typeface="Microsoft YaHei"/>
              <a:ea typeface="Microsoft YaHei"/>
              <a:cs typeface="Microsoft YaHei"/>
            </a:endParaRPr>
          </a:p>
        </p:txBody>
      </p:sp>
      <p:sp>
        <p:nvSpPr>
          <p:cNvPr id="756" name="textbox 756"/>
          <p:cNvSpPr/>
          <p:nvPr/>
        </p:nvSpPr>
        <p:spPr>
          <a:xfrm>
            <a:off x="1459660" y="2322331"/>
            <a:ext cx="740409" cy="2134870"/>
          </a:xfrm>
          <a:prstGeom prst="rect">
            <a:avLst/>
          </a:prstGeom>
          <a:noFill/>
          <a:ln w="0" cap="flat">
            <a:noFill/>
            <a:prstDash val="solid"/>
            <a:miter lim="0"/>
          </a:ln>
        </p:spPr>
        <p:txBody>
          <a:bodyPr vert="horz" wrap="square" lIns="0" tIns="0" rIns="0" bIns="0"/>
          <a:lstStyle/>
          <a:p>
            <a:pPr algn="l" rtl="0" eaLnBrk="0">
              <a:lnSpc>
                <a:spcPct val="78983"/>
              </a:lnSpc>
              <a:tabLst/>
            </a:pPr>
            <a:endParaRPr sz="100" dirty="0">
              <a:latin typeface="Arial"/>
              <a:ea typeface="Arial"/>
              <a:cs typeface="Arial"/>
            </a:endParaRPr>
          </a:p>
          <a:p>
            <a:pPr marL="194310" algn="l" rtl="0" eaLnBrk="0">
              <a:lnSpc>
                <a:spcPct val="80000"/>
              </a:lnSpc>
              <a:tabLst/>
            </a:pPr>
            <a:r>
              <a:rPr sz="900" kern="0" spc="50" dirty="0">
                <a:solidFill>
                  <a:srgbClr val="000000">
                    <a:alpha val="100000"/>
                  </a:srgbClr>
                </a:solidFill>
                <a:latin typeface="Microsoft YaHei"/>
                <a:ea typeface="Microsoft YaHei"/>
                <a:cs typeface="Microsoft YaHei"/>
              </a:rPr>
              <a:t>OPPO</a:t>
            </a:r>
            <a:endParaRPr sz="900" dirty="0">
              <a:latin typeface="Microsoft YaHei"/>
              <a:ea typeface="Microsoft YaHei"/>
              <a:cs typeface="Microsoft YaHei"/>
            </a:endParaRPr>
          </a:p>
          <a:p>
            <a:pPr algn="l" rtl="0" eaLnBrk="0">
              <a:lnSpc>
                <a:spcPct val="114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marL="118745" algn="l" rtl="0" eaLnBrk="0">
              <a:lnSpc>
                <a:spcPct val="98000"/>
              </a:lnSpc>
              <a:spcBef>
                <a:spcPts val="277"/>
              </a:spcBef>
              <a:tabLst/>
            </a:pPr>
            <a:r>
              <a:rPr sz="900" kern="0" spc="90" dirty="0">
                <a:solidFill>
                  <a:srgbClr val="000000">
                    <a:alpha val="100000"/>
                  </a:srgbClr>
                </a:solidFill>
                <a:latin typeface="Microsoft YaHei"/>
                <a:ea typeface="Microsoft YaHei"/>
                <a:cs typeface="Microsoft YaHei"/>
              </a:rPr>
              <a:t>传音战投</a:t>
            </a:r>
            <a:endParaRPr sz="900" dirty="0">
              <a:latin typeface="Microsoft YaHei"/>
              <a:ea typeface="Microsoft YaHei"/>
              <a:cs typeface="Microsoft YaHei"/>
            </a:endParaRPr>
          </a:p>
          <a:p>
            <a:pPr algn="l" rtl="0" eaLnBrk="0">
              <a:lnSpc>
                <a:spcPct val="165000"/>
              </a:lnSpc>
              <a:tabLst/>
            </a:pPr>
            <a:endParaRPr sz="1000" dirty="0">
              <a:latin typeface="Arial"/>
              <a:ea typeface="Arial"/>
              <a:cs typeface="Arial"/>
            </a:endParaRPr>
          </a:p>
          <a:p>
            <a:pPr marL="73025" indent="45719" algn="l" rtl="0" eaLnBrk="0">
              <a:lnSpc>
                <a:spcPct val="114000"/>
              </a:lnSpc>
              <a:spcBef>
                <a:spcPts val="273"/>
              </a:spcBef>
              <a:tabLst/>
            </a:pPr>
            <a:r>
              <a:rPr sz="900" kern="0" spc="80" dirty="0">
                <a:solidFill>
                  <a:srgbClr val="000000">
                    <a:alpha val="100000"/>
                  </a:srgbClr>
                </a:solidFill>
                <a:latin typeface="Microsoft YaHei"/>
                <a:ea typeface="Microsoft YaHei"/>
                <a:cs typeface="Microsoft YaHei"/>
              </a:rPr>
              <a:t>美的资本</a:t>
            </a:r>
            <a:r>
              <a:rPr sz="900" kern="0" spc="0" dirty="0">
                <a:solidFill>
                  <a:srgbClr val="000000">
                    <a:alpha val="100000"/>
                  </a:srgbClr>
                </a:solidFill>
                <a:latin typeface="Microsoft YaHei"/>
                <a:ea typeface="Microsoft YaHei"/>
                <a:cs typeface="Microsoft YaHei"/>
              </a:rPr>
              <a:t> </a:t>
            </a:r>
            <a:r>
              <a:rPr sz="800" kern="0" spc="-30" dirty="0">
                <a:solidFill>
                  <a:srgbClr val="000000">
                    <a:alpha val="100000"/>
                  </a:srgbClr>
                </a:solidFill>
                <a:latin typeface="Microsoft YaHei"/>
                <a:ea typeface="Microsoft YaHei"/>
                <a:cs typeface="Microsoft YaHei"/>
              </a:rPr>
              <a:t>（美的集团）</a:t>
            </a:r>
            <a:endParaRPr sz="800" dirty="0">
              <a:latin typeface="Microsoft YaHei"/>
              <a:ea typeface="Microsoft YaHei"/>
              <a:cs typeface="Microsoft YaHei"/>
            </a:endParaRPr>
          </a:p>
          <a:p>
            <a:pPr algn="l" rtl="0" eaLnBrk="0">
              <a:lnSpc>
                <a:spcPct val="161000"/>
              </a:lnSpc>
              <a:tabLst/>
            </a:pPr>
            <a:endParaRPr sz="1000" dirty="0">
              <a:latin typeface="Arial"/>
              <a:ea typeface="Arial"/>
              <a:cs typeface="Arial"/>
            </a:endParaRPr>
          </a:p>
          <a:p>
            <a:pPr marL="118745" algn="l" rtl="0" eaLnBrk="0">
              <a:lnSpc>
                <a:spcPct val="98000"/>
              </a:lnSpc>
              <a:spcBef>
                <a:spcPts val="280"/>
              </a:spcBef>
              <a:tabLst/>
            </a:pPr>
            <a:r>
              <a:rPr sz="900" kern="0" spc="90" dirty="0">
                <a:solidFill>
                  <a:srgbClr val="000000">
                    <a:alpha val="100000"/>
                  </a:srgbClr>
                </a:solidFill>
                <a:latin typeface="Microsoft YaHei"/>
                <a:ea typeface="Microsoft YaHei"/>
                <a:cs typeface="Microsoft YaHei"/>
              </a:rPr>
              <a:t>创维投资</a:t>
            </a:r>
            <a:endParaRPr sz="9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algn="l" rtl="0" eaLnBrk="0">
              <a:lnSpc>
                <a:spcPct val="104000"/>
              </a:lnSpc>
              <a:tabLst/>
            </a:pPr>
            <a:endParaRPr sz="1000" dirty="0">
              <a:latin typeface="Arial"/>
              <a:ea typeface="Arial"/>
              <a:cs typeface="Arial"/>
            </a:endParaRPr>
          </a:p>
          <a:p>
            <a:pPr algn="l" rtl="0" eaLnBrk="0">
              <a:lnSpc>
                <a:spcPct val="113000"/>
              </a:lnSpc>
              <a:tabLst/>
            </a:pPr>
            <a:endParaRPr sz="200" dirty="0">
              <a:latin typeface="Arial"/>
              <a:ea typeface="Arial"/>
              <a:cs typeface="Arial"/>
            </a:endParaRPr>
          </a:p>
          <a:p>
            <a:pPr marL="119379" algn="l" rtl="0" eaLnBrk="0">
              <a:lnSpc>
                <a:spcPct val="98000"/>
              </a:lnSpc>
              <a:spcBef>
                <a:spcPts val="2"/>
              </a:spcBef>
              <a:tabLst/>
            </a:pPr>
            <a:r>
              <a:rPr sz="900" kern="0" spc="80" dirty="0">
                <a:solidFill>
                  <a:srgbClr val="000000">
                    <a:alpha val="100000"/>
                  </a:srgbClr>
                </a:solidFill>
                <a:latin typeface="Microsoft YaHei"/>
                <a:ea typeface="Microsoft YaHei"/>
                <a:cs typeface="Microsoft YaHei"/>
              </a:rPr>
              <a:t>红马资本</a:t>
            </a:r>
            <a:endParaRPr sz="900" dirty="0">
              <a:latin typeface="Microsoft YaHei"/>
              <a:ea typeface="Microsoft YaHei"/>
              <a:cs typeface="Microsoft YaHei"/>
            </a:endParaRPr>
          </a:p>
        </p:txBody>
      </p:sp>
      <p:sp>
        <p:nvSpPr>
          <p:cNvPr id="758" name="textbox 758"/>
          <p:cNvSpPr/>
          <p:nvPr/>
        </p:nvSpPr>
        <p:spPr>
          <a:xfrm>
            <a:off x="8742159" y="4820189"/>
            <a:ext cx="2300604" cy="1606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劳尼克斯科技、视悦智能科技、光子跃迁</a:t>
            </a:r>
            <a:endParaRPr sz="900" dirty="0">
              <a:latin typeface="Microsoft YaHei"/>
              <a:ea typeface="Microsoft YaHei"/>
              <a:cs typeface="Microsoft YaHei"/>
            </a:endParaRPr>
          </a:p>
        </p:txBody>
      </p:sp>
      <p:sp>
        <p:nvSpPr>
          <p:cNvPr id="760" name="textbox 760"/>
          <p:cNvSpPr/>
          <p:nvPr/>
        </p:nvSpPr>
        <p:spPr>
          <a:xfrm>
            <a:off x="8740640" y="1706022"/>
            <a:ext cx="1921510"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驭新智行、凯迪思科技、福瑞泰克</a:t>
            </a:r>
            <a:endParaRPr sz="900" dirty="0">
              <a:latin typeface="Microsoft YaHei"/>
              <a:ea typeface="Microsoft YaHei"/>
              <a:cs typeface="Microsoft YaHei"/>
            </a:endParaRPr>
          </a:p>
        </p:txBody>
      </p:sp>
      <p:sp>
        <p:nvSpPr>
          <p:cNvPr id="762" name="textbox 762"/>
          <p:cNvSpPr/>
          <p:nvPr/>
        </p:nvSpPr>
        <p:spPr>
          <a:xfrm>
            <a:off x="8740261" y="5993694"/>
            <a:ext cx="1684654" cy="160654"/>
          </a:xfrm>
          <a:prstGeom prst="rect">
            <a:avLst/>
          </a:prstGeom>
          <a:noFill/>
          <a:ln w="0" cap="flat">
            <a:noFill/>
            <a:prstDash val="solid"/>
            <a:miter lim="0"/>
          </a:ln>
        </p:spPr>
        <p:txBody>
          <a:bodyPr vert="horz" wrap="square" lIns="0" tIns="0" rIns="0" bIns="0"/>
          <a:lstStyle/>
          <a:p>
            <a:pPr algn="l" rtl="0" eaLnBrk="0">
              <a:lnSpc>
                <a:spcPct val="85375"/>
              </a:lnSpc>
              <a:tabLst/>
            </a:pPr>
            <a:endParaRPr sz="100" dirty="0">
              <a:latin typeface="Arial"/>
              <a:ea typeface="Arial"/>
              <a:cs typeface="Arial"/>
            </a:endParaRPr>
          </a:p>
          <a:p>
            <a:pPr marL="12700" algn="l" rtl="0" eaLnBrk="0">
              <a:lnSpc>
                <a:spcPct val="98000"/>
              </a:lnSpc>
              <a:tabLst/>
            </a:pPr>
            <a:r>
              <a:rPr sz="900" kern="0" spc="50" dirty="0">
                <a:solidFill>
                  <a:srgbClr val="000000">
                    <a:alpha val="100000"/>
                  </a:srgbClr>
                </a:solidFill>
                <a:latin typeface="Microsoft YaHei"/>
                <a:ea typeface="Microsoft YaHei"/>
                <a:cs typeface="Microsoft YaHei"/>
              </a:rPr>
              <a:t>初光汽车、  </a:t>
            </a:r>
            <a:r>
              <a:rPr sz="900" kern="0" spc="0" dirty="0">
                <a:solidFill>
                  <a:srgbClr val="000000">
                    <a:alpha val="100000"/>
                  </a:srgbClr>
                </a:solidFill>
                <a:latin typeface="Microsoft YaHei"/>
                <a:ea typeface="Microsoft YaHei"/>
                <a:cs typeface="Microsoft YaHei"/>
              </a:rPr>
              <a:t>Ibeo</a:t>
            </a:r>
            <a:r>
              <a:rPr sz="900" kern="0" spc="50" dirty="0">
                <a:solidFill>
                  <a:srgbClr val="000000">
                    <a:alpha val="100000"/>
                  </a:srgbClr>
                </a:solidFill>
                <a:latin typeface="Microsoft YaHei"/>
                <a:ea typeface="Microsoft YaHei"/>
                <a:cs typeface="Microsoft YaHei"/>
              </a:rPr>
              <a:t>、创晟半导体</a:t>
            </a:r>
            <a:endParaRPr sz="900" dirty="0">
              <a:latin typeface="Microsoft YaHei"/>
              <a:ea typeface="Microsoft YaHei"/>
              <a:cs typeface="Microsoft YaHei"/>
            </a:endParaRPr>
          </a:p>
        </p:txBody>
      </p:sp>
      <p:sp>
        <p:nvSpPr>
          <p:cNvPr id="764" name="textbox 764"/>
          <p:cNvSpPr/>
          <p:nvPr/>
        </p:nvSpPr>
        <p:spPr>
          <a:xfrm>
            <a:off x="8742791" y="5406929"/>
            <a:ext cx="1413510" cy="1606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卡文汽车、新聚能半导体</a:t>
            </a:r>
            <a:endParaRPr sz="900" dirty="0">
              <a:latin typeface="Microsoft YaHei"/>
              <a:ea typeface="Microsoft YaHei"/>
              <a:cs typeface="Microsoft YaHei"/>
            </a:endParaRPr>
          </a:p>
        </p:txBody>
      </p:sp>
      <p:sp>
        <p:nvSpPr>
          <p:cNvPr id="766" name="textbox 766"/>
          <p:cNvSpPr/>
          <p:nvPr/>
        </p:nvSpPr>
        <p:spPr>
          <a:xfrm>
            <a:off x="1528826" y="4748561"/>
            <a:ext cx="636905" cy="3130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75895" algn="l" rtl="0" eaLnBrk="0">
              <a:lnSpc>
                <a:spcPct val="98000"/>
              </a:lnSpc>
              <a:tabLst/>
            </a:pPr>
            <a:r>
              <a:rPr sz="900" kern="0" spc="80" dirty="0">
                <a:solidFill>
                  <a:srgbClr val="000000">
                    <a:alpha val="100000"/>
                  </a:srgbClr>
                </a:solidFill>
                <a:latin typeface="Microsoft YaHei"/>
                <a:ea typeface="Microsoft YaHei"/>
                <a:cs typeface="Microsoft YaHei"/>
              </a:rPr>
              <a:t>追觅</a:t>
            </a:r>
            <a:endParaRPr sz="900" dirty="0">
              <a:latin typeface="Microsoft YaHei"/>
              <a:ea typeface="Microsoft YaHei"/>
              <a:cs typeface="Microsoft YaHei"/>
            </a:endParaRPr>
          </a:p>
          <a:p>
            <a:pPr marL="12700" algn="l" rtl="0" eaLnBrk="0">
              <a:lnSpc>
                <a:spcPct val="98000"/>
              </a:lnSpc>
              <a:spcBef>
                <a:spcPts val="142"/>
              </a:spcBef>
              <a:tabLst/>
            </a:pPr>
            <a:r>
              <a:rPr sz="900" kern="0" spc="70" dirty="0">
                <a:solidFill>
                  <a:srgbClr val="000000">
                    <a:alpha val="100000"/>
                  </a:srgbClr>
                </a:solidFill>
                <a:latin typeface="Arial"/>
                <a:ea typeface="Arial"/>
                <a:cs typeface="Arial"/>
              </a:rPr>
              <a:t>– </a:t>
            </a:r>
            <a:r>
              <a:rPr sz="900" kern="0" spc="70" dirty="0">
                <a:solidFill>
                  <a:srgbClr val="000000">
                    <a:alpha val="100000"/>
                  </a:srgbClr>
                </a:solidFill>
                <a:latin typeface="Microsoft YaHei"/>
                <a:ea typeface="Microsoft YaHei"/>
                <a:cs typeface="Microsoft YaHei"/>
              </a:rPr>
              <a:t>追创创投</a:t>
            </a:r>
            <a:endParaRPr sz="900" dirty="0">
              <a:latin typeface="Microsoft YaHei"/>
              <a:ea typeface="Microsoft YaHei"/>
              <a:cs typeface="Microsoft YaHei"/>
            </a:endParaRPr>
          </a:p>
        </p:txBody>
      </p:sp>
      <p:sp>
        <p:nvSpPr>
          <p:cNvPr id="768" name="textbox 768"/>
          <p:cNvSpPr/>
          <p:nvPr/>
        </p:nvSpPr>
        <p:spPr>
          <a:xfrm>
            <a:off x="1565522" y="5998266"/>
            <a:ext cx="530225" cy="160654"/>
          </a:xfrm>
          <a:prstGeom prst="rect">
            <a:avLst/>
          </a:prstGeom>
          <a:noFill/>
          <a:ln w="0" cap="flat">
            <a:noFill/>
            <a:prstDash val="solid"/>
            <a:miter lim="0"/>
          </a:ln>
        </p:spPr>
        <p:txBody>
          <a:bodyPr vert="horz" wrap="square" lIns="0" tIns="0" rIns="0" bIns="0"/>
          <a:lstStyle/>
          <a:p>
            <a:pPr algn="l" rtl="0" eaLnBrk="0">
              <a:lnSpc>
                <a:spcPct val="85375"/>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瑞声科技</a:t>
            </a:r>
            <a:endParaRPr sz="900" dirty="0">
              <a:latin typeface="Microsoft YaHei"/>
              <a:ea typeface="Microsoft YaHei"/>
              <a:cs typeface="Microsoft YaHei"/>
            </a:endParaRPr>
          </a:p>
        </p:txBody>
      </p:sp>
      <p:sp>
        <p:nvSpPr>
          <p:cNvPr id="770" name="textbox 770"/>
          <p:cNvSpPr/>
          <p:nvPr/>
        </p:nvSpPr>
        <p:spPr>
          <a:xfrm>
            <a:off x="1565902" y="5411501"/>
            <a:ext cx="529590" cy="160654"/>
          </a:xfrm>
          <a:prstGeom prst="rect">
            <a:avLst/>
          </a:prstGeom>
          <a:noFill/>
          <a:ln w="0" cap="flat">
            <a:noFill/>
            <a:prstDash val="solid"/>
            <a:miter lim="0"/>
          </a:ln>
        </p:spPr>
        <p:txBody>
          <a:bodyPr vert="horz" wrap="square" lIns="0" tIns="0" rIns="0" bIns="0"/>
          <a:lstStyle/>
          <a:p>
            <a:pPr algn="l" rtl="0" eaLnBrk="0">
              <a:lnSpc>
                <a:spcPct val="85375"/>
              </a:lnSpc>
              <a:tabLst/>
            </a:pPr>
            <a:endParaRPr sz="100" dirty="0">
              <a:latin typeface="Arial"/>
              <a:ea typeface="Arial"/>
              <a:cs typeface="Arial"/>
            </a:endParaRPr>
          </a:p>
          <a:p>
            <a:pPr marL="12700" algn="l" rtl="0" eaLnBrk="0">
              <a:lnSpc>
                <a:spcPct val="98000"/>
              </a:lnSpc>
              <a:tabLst/>
            </a:pPr>
            <a:r>
              <a:rPr sz="900" kern="0" spc="80" dirty="0">
                <a:solidFill>
                  <a:srgbClr val="000000">
                    <a:alpha val="100000"/>
                  </a:srgbClr>
                </a:solidFill>
                <a:latin typeface="Microsoft YaHei"/>
                <a:ea typeface="Microsoft YaHei"/>
                <a:cs typeface="Microsoft YaHei"/>
              </a:rPr>
              <a:t>博原资本</a:t>
            </a:r>
            <a:endParaRPr sz="900" dirty="0">
              <a:latin typeface="Microsoft YaHei"/>
              <a:ea typeface="Microsoft YaHei"/>
              <a:cs typeface="Microsoft YaHei"/>
            </a:endParaRPr>
          </a:p>
        </p:txBody>
      </p:sp>
      <p:sp>
        <p:nvSpPr>
          <p:cNvPr id="772" name="textbox 772"/>
          <p:cNvSpPr/>
          <p:nvPr/>
        </p:nvSpPr>
        <p:spPr>
          <a:xfrm>
            <a:off x="1581901" y="1710594"/>
            <a:ext cx="500380"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0" dirty="0">
                <a:solidFill>
                  <a:srgbClr val="000000">
                    <a:alpha val="100000"/>
                  </a:srgbClr>
                </a:solidFill>
                <a:latin typeface="Microsoft YaHei"/>
                <a:ea typeface="Microsoft YaHei"/>
                <a:cs typeface="Microsoft YaHei"/>
              </a:rPr>
              <a:t>TCL</a:t>
            </a:r>
            <a:r>
              <a:rPr sz="900" kern="0" spc="170" dirty="0">
                <a:solidFill>
                  <a:srgbClr val="000000">
                    <a:alpha val="100000"/>
                  </a:srgbClr>
                </a:solidFill>
                <a:latin typeface="Microsoft YaHei"/>
                <a:ea typeface="Microsoft YaHei"/>
                <a:cs typeface="Microsoft YaHei"/>
              </a:rPr>
              <a:t>创投</a:t>
            </a:r>
            <a:endParaRPr sz="900" dirty="0">
              <a:latin typeface="Microsoft YaHei"/>
              <a:ea typeface="Microsoft YaHei"/>
              <a:cs typeface="Microsoft YaHe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74" name="table 774"/>
          <p:cNvGraphicFramePr>
            <a:graphicFrameLocks noGrp="1"/>
          </p:cNvGraphicFramePr>
          <p:nvPr/>
        </p:nvGraphicFramePr>
        <p:xfrm>
          <a:off x="1085367" y="1898776"/>
          <a:ext cx="10431779" cy="3917950"/>
        </p:xfrm>
        <a:graphic>
          <a:graphicData uri="http://schemas.openxmlformats.org/drawingml/2006/table">
            <a:tbl>
              <a:tblPr/>
              <a:tblGrid>
                <a:gridCol w="1489075"/>
                <a:gridCol w="6084569"/>
                <a:gridCol w="2858135"/>
              </a:tblGrid>
              <a:tr h="548640">
                <a:tc>
                  <a:txBody>
                    <a:bodyPr/>
                    <a:lstStyle/>
                    <a:p>
                      <a:pPr algn="l" rtl="0" eaLnBrk="0">
                        <a:lnSpc>
                          <a:spcPct val="149000"/>
                        </a:lnSpc>
                        <a:tabLst/>
                      </a:pPr>
                      <a:endParaRPr sz="1000" dirty="0">
                        <a:latin typeface="Arial"/>
                        <a:ea typeface="Arial"/>
                        <a:cs typeface="Arial"/>
                      </a:endParaRPr>
                    </a:p>
                    <a:p>
                      <a:pPr marL="430530"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深投控资本</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23000"/>
                        </a:lnSpc>
                        <a:tabLst/>
                      </a:pPr>
                      <a:endParaRPr sz="300" dirty="0">
                        <a:latin typeface="Arial"/>
                        <a:ea typeface="Arial"/>
                        <a:cs typeface="Arial"/>
                      </a:endParaRPr>
                    </a:p>
                    <a:p>
                      <a:pPr marL="92075" indent="8254" algn="l" rtl="0" eaLnBrk="0">
                        <a:lnSpc>
                          <a:spcPct val="113000"/>
                        </a:lnSpc>
                        <a:spcBef>
                          <a:spcPts val="1"/>
                        </a:spcBef>
                        <a:tabLst/>
                      </a:pPr>
                      <a:r>
                        <a:rPr sz="900" kern="0" spc="90" dirty="0">
                          <a:solidFill>
                            <a:srgbClr val="000000">
                              <a:alpha val="100000"/>
                            </a:srgbClr>
                          </a:solidFill>
                          <a:latin typeface="KaiTi"/>
                          <a:ea typeface="KaiTi"/>
                          <a:cs typeface="KaiTi"/>
                        </a:rPr>
                        <a:t>深圳市投资控股有限公司是一家以科技产业为主业的国有资本投资公司，</a:t>
                      </a:r>
                      <a:r>
                        <a:rPr sz="900" kern="0" spc="-120" dirty="0">
                          <a:solidFill>
                            <a:srgbClr val="000000">
                              <a:alpha val="100000"/>
                            </a:srgbClr>
                          </a:solidFill>
                          <a:latin typeface="KaiTi"/>
                          <a:ea typeface="KaiTi"/>
                          <a:cs typeface="KaiTi"/>
                        </a:rPr>
                        <a:t> </a:t>
                      </a:r>
                      <a:r>
                        <a:rPr sz="900" kern="0" spc="90" dirty="0">
                          <a:solidFill>
                            <a:srgbClr val="000000">
                              <a:alpha val="100000"/>
                            </a:srgbClr>
                          </a:solidFill>
                          <a:latin typeface="Microsoft YaHei"/>
                          <a:ea typeface="Microsoft YaHei"/>
                          <a:cs typeface="Microsoft YaHei"/>
                        </a:rPr>
                        <a:t>今年</a:t>
                      </a:r>
                      <a:r>
                        <a:rPr sz="900" kern="0" spc="80" dirty="0">
                          <a:solidFill>
                            <a:srgbClr val="000000">
                              <a:alpha val="100000"/>
                            </a:srgbClr>
                          </a:solidFill>
                          <a:latin typeface="Arial"/>
                          <a:ea typeface="Arial"/>
                          <a:cs typeface="Arial"/>
                        </a:rPr>
                        <a:t>6</a:t>
                      </a:r>
                      <a:r>
                        <a:rPr sz="900" kern="0" spc="80" dirty="0">
                          <a:solidFill>
                            <a:srgbClr val="000000">
                              <a:alpha val="100000"/>
                            </a:srgbClr>
                          </a:solidFill>
                          <a:latin typeface="Microsoft YaHei"/>
                          <a:ea typeface="Microsoft YaHei"/>
                          <a:cs typeface="Microsoft YaHei"/>
                        </a:rPr>
                        <a:t>月份新设了两只</a:t>
                      </a:r>
                      <a:r>
                        <a:rPr sz="900" kern="0" spc="0" dirty="0">
                          <a:solidFill>
                            <a:srgbClr val="000000">
                              <a:alpha val="100000"/>
                            </a:srgbClr>
                          </a:solidFill>
                          <a:latin typeface="Arial"/>
                          <a:ea typeface="Arial"/>
                          <a:cs typeface="Arial"/>
                        </a:rPr>
                        <a:t>AIC</a:t>
                      </a:r>
                      <a:r>
                        <a:rPr sz="900" kern="0" spc="80" dirty="0">
                          <a:solidFill>
                            <a:srgbClr val="000000">
                              <a:alpha val="100000"/>
                            </a:srgbClr>
                          </a:solidFill>
                          <a:latin typeface="Microsoft YaHei"/>
                          <a:ea typeface="Microsoft YaHei"/>
                          <a:cs typeface="Microsoft YaHei"/>
                        </a:rPr>
                        <a:t>基金，</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各</a:t>
                      </a:r>
                      <a:r>
                        <a:rPr sz="900" kern="0" spc="90" dirty="0">
                          <a:solidFill>
                            <a:srgbClr val="000000">
                              <a:alpha val="100000"/>
                            </a:srgbClr>
                          </a:solidFill>
                          <a:latin typeface="Arial"/>
                          <a:ea typeface="Arial"/>
                          <a:cs typeface="Arial"/>
                        </a:rPr>
                        <a:t>20</a:t>
                      </a:r>
                      <a:r>
                        <a:rPr sz="900" kern="0" spc="90" dirty="0">
                          <a:solidFill>
                            <a:srgbClr val="000000">
                              <a:alpha val="100000"/>
                            </a:srgbClr>
                          </a:solidFill>
                          <a:latin typeface="Microsoft YaHei"/>
                          <a:ea typeface="Microsoft YaHei"/>
                          <a:cs typeface="Microsoft YaHei"/>
                        </a:rPr>
                        <a:t>亿，分别和工银以及农银合作。投控出出</a:t>
                      </a:r>
                      <a:r>
                        <a:rPr sz="900" kern="0" spc="90" dirty="0">
                          <a:solidFill>
                            <a:srgbClr val="000000">
                              <a:alpha val="100000"/>
                            </a:srgbClr>
                          </a:solidFill>
                          <a:latin typeface="Arial"/>
                          <a:ea typeface="Arial"/>
                          <a:cs typeface="Arial"/>
                        </a:rPr>
                        <a:t>30%</a:t>
                      </a:r>
                      <a:r>
                        <a:rPr sz="900" kern="0" spc="90" dirty="0">
                          <a:solidFill>
                            <a:srgbClr val="000000">
                              <a:alpha val="100000"/>
                            </a:srgbClr>
                          </a:solidFill>
                          <a:latin typeface="Microsoft YaHei"/>
                          <a:ea typeface="Microsoft YaHei"/>
                          <a:cs typeface="Microsoft YaHei"/>
                        </a:rPr>
                        <a:t>，罗湖出</a:t>
                      </a:r>
                      <a:r>
                        <a:rPr sz="900" kern="0" spc="90" dirty="0">
                          <a:solidFill>
                            <a:srgbClr val="000000">
                              <a:alpha val="100000"/>
                            </a:srgbClr>
                          </a:solidFill>
                          <a:latin typeface="Arial"/>
                          <a:ea typeface="Arial"/>
                          <a:cs typeface="Arial"/>
                        </a:rPr>
                        <a:t>20%</a:t>
                      </a:r>
                      <a:r>
                        <a:rPr sz="900" kern="0" spc="90" dirty="0">
                          <a:solidFill>
                            <a:srgbClr val="000000">
                              <a:alpha val="100000"/>
                            </a:srgbClr>
                          </a:solidFill>
                          <a:latin typeface="Microsoft YaHei"/>
                          <a:ea typeface="Microsoft YaHei"/>
                          <a:cs typeface="Microsoft YaHei"/>
                        </a:rPr>
                        <a:t>，集团出</a:t>
                      </a:r>
                      <a:r>
                        <a:rPr sz="900" kern="0" spc="90" dirty="0">
                          <a:solidFill>
                            <a:srgbClr val="000000">
                              <a:alpha val="100000"/>
                            </a:srgbClr>
                          </a:solidFill>
                          <a:latin typeface="Arial"/>
                          <a:ea typeface="Arial"/>
                          <a:cs typeface="Arial"/>
                        </a:rPr>
                        <a:t>50%</a:t>
                      </a:r>
                      <a:r>
                        <a:rPr sz="900" kern="0" spc="90" dirty="0">
                          <a:solidFill>
                            <a:srgbClr val="000000">
                              <a:alpha val="100000"/>
                            </a:srgbClr>
                          </a:solidFill>
                          <a:latin typeface="Microsoft YaHei"/>
                          <a:ea typeface="Microsoft YaHei"/>
                          <a:cs typeface="Microsoft YaHei"/>
                        </a:rPr>
                        <a:t>，目前主要在看机器</a:t>
                      </a:r>
                      <a:r>
                        <a:rPr sz="900" kern="0" spc="80" dirty="0">
                          <a:solidFill>
                            <a:srgbClr val="000000">
                              <a:alpha val="100000"/>
                            </a:srgbClr>
                          </a:solidFill>
                          <a:latin typeface="Microsoft YaHei"/>
                          <a:ea typeface="Microsoft YaHei"/>
                          <a:cs typeface="Microsoft YaHei"/>
                        </a:rPr>
                        <a:t>人产业</a:t>
                      </a:r>
                      <a:r>
                        <a:rPr sz="900" kern="0" spc="-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链以及</a:t>
                      </a:r>
                      <a:r>
                        <a:rPr sz="900" kern="0" spc="0" dirty="0">
                          <a:solidFill>
                            <a:srgbClr val="000000">
                              <a:alpha val="100000"/>
                            </a:srgbClr>
                          </a:solidFill>
                          <a:latin typeface="Arial"/>
                          <a:ea typeface="Arial"/>
                          <a:cs typeface="Arial"/>
                        </a:rPr>
                        <a:t>AI</a:t>
                      </a:r>
                      <a:r>
                        <a:rPr sz="900" kern="0" spc="100" dirty="0">
                          <a:solidFill>
                            <a:srgbClr val="000000">
                              <a:alpha val="100000"/>
                            </a:srgbClr>
                          </a:solidFill>
                          <a:latin typeface="Microsoft YaHei"/>
                          <a:ea typeface="Microsoft YaHei"/>
                          <a:cs typeface="Microsoft YaHei"/>
                        </a:rPr>
                        <a:t>相关标的</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46000"/>
                        </a:lnSpc>
                        <a:tabLst/>
                      </a:pPr>
                      <a:endParaRPr sz="1000" dirty="0">
                        <a:latin typeface="Arial"/>
                        <a:ea typeface="Arial"/>
                        <a:cs typeface="Arial"/>
                      </a:endParaRPr>
                    </a:p>
                    <a:p>
                      <a:pPr marL="95250"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京西智行、乐创能源</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414019">
                <a:tc>
                  <a:txBody>
                    <a:bodyPr/>
                    <a:lstStyle/>
                    <a:p>
                      <a:pPr algn="l" rtl="0" eaLnBrk="0">
                        <a:lnSpc>
                          <a:spcPct val="105000"/>
                        </a:lnSpc>
                        <a:tabLst/>
                      </a:pPr>
                      <a:endParaRPr sz="1000" dirty="0">
                        <a:latin typeface="Arial"/>
                        <a:ea typeface="Arial"/>
                        <a:cs typeface="Arial"/>
                      </a:endParaRPr>
                    </a:p>
                    <a:p>
                      <a:pPr marL="430530"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深圳高新投</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10000"/>
                        </a:lnSpc>
                        <a:tabLst/>
                      </a:pPr>
                      <a:endParaRPr sz="400" dirty="0">
                        <a:latin typeface="Arial"/>
                        <a:ea typeface="Arial"/>
                        <a:cs typeface="Arial"/>
                      </a:endParaRPr>
                    </a:p>
                    <a:p>
                      <a:pPr marL="92075" indent="4444" algn="l" rtl="0" eaLnBrk="0">
                        <a:lnSpc>
                          <a:spcPct val="111000"/>
                        </a:lnSpc>
                        <a:spcBef>
                          <a:spcPts val="1"/>
                        </a:spcBef>
                        <a:tabLst/>
                      </a:pPr>
                      <a:r>
                        <a:rPr sz="900" kern="0" spc="100" dirty="0">
                          <a:solidFill>
                            <a:srgbClr val="000000">
                              <a:alpha val="100000"/>
                            </a:srgbClr>
                          </a:solidFill>
                          <a:latin typeface="KaiTi"/>
                          <a:ea typeface="KaiTi"/>
                          <a:cs typeface="KaiTi"/>
                        </a:rPr>
                        <a:t>成立于</a:t>
                      </a:r>
                      <a:r>
                        <a:rPr sz="900" kern="0" spc="100" dirty="0">
                          <a:solidFill>
                            <a:srgbClr val="000000">
                              <a:alpha val="100000"/>
                            </a:srgbClr>
                          </a:solidFill>
                          <a:latin typeface="Verdana"/>
                          <a:ea typeface="Verdana"/>
                          <a:cs typeface="Verdana"/>
                        </a:rPr>
                        <a:t>1994</a:t>
                      </a:r>
                      <a:r>
                        <a:rPr sz="900" kern="0" spc="100" dirty="0">
                          <a:solidFill>
                            <a:srgbClr val="000000">
                              <a:alpha val="100000"/>
                            </a:srgbClr>
                          </a:solidFill>
                          <a:latin typeface="KaiTi"/>
                          <a:ea typeface="KaiTi"/>
                          <a:cs typeface="KaiTi"/>
                        </a:rPr>
                        <a:t>年。系深圳市委市政府为解决中小科技企业融资</a:t>
                      </a:r>
                      <a:r>
                        <a:rPr sz="900" kern="0" spc="90" dirty="0">
                          <a:solidFill>
                            <a:srgbClr val="000000">
                              <a:alpha val="100000"/>
                            </a:srgbClr>
                          </a:solidFill>
                          <a:latin typeface="KaiTi"/>
                          <a:ea typeface="KaiTi"/>
                          <a:cs typeface="KaiTi"/>
                        </a:rPr>
                        <a:t>难问题而设立的专业金融服务机构，总规模</a:t>
                      </a:r>
                      <a:r>
                        <a:rPr sz="900" kern="0" spc="0" dirty="0">
                          <a:solidFill>
                            <a:srgbClr val="000000">
                              <a:alpha val="100000"/>
                            </a:srgbClr>
                          </a:solidFill>
                          <a:latin typeface="KaiTi"/>
                          <a:ea typeface="KaiTi"/>
                          <a:cs typeface="KaiTi"/>
                        </a:rPr>
                        <a:t>  </a:t>
                      </a:r>
                      <a:r>
                        <a:rPr sz="900" kern="0" spc="100" dirty="0">
                          <a:solidFill>
                            <a:srgbClr val="000000">
                              <a:alpha val="100000"/>
                            </a:srgbClr>
                          </a:solidFill>
                          <a:latin typeface="KaiTi"/>
                          <a:ea typeface="KaiTi"/>
                          <a:cs typeface="KaiTi"/>
                        </a:rPr>
                        <a:t>超</a:t>
                      </a:r>
                      <a:r>
                        <a:rPr sz="900" kern="0" spc="100" dirty="0">
                          <a:solidFill>
                            <a:srgbClr val="000000">
                              <a:alpha val="100000"/>
                            </a:srgbClr>
                          </a:solidFill>
                          <a:latin typeface="Verdana"/>
                          <a:ea typeface="Verdana"/>
                          <a:cs typeface="Verdana"/>
                        </a:rPr>
                        <a:t>150</a:t>
                      </a:r>
                      <a:r>
                        <a:rPr sz="900" kern="0" spc="100" dirty="0">
                          <a:solidFill>
                            <a:srgbClr val="000000">
                              <a:alpha val="100000"/>
                            </a:srgbClr>
                          </a:solidFill>
                          <a:latin typeface="KaiTi"/>
                          <a:ea typeface="KaiTi"/>
                          <a:cs typeface="KaiTi"/>
                        </a:rPr>
                        <a:t>亿元，投资赛道主要集中在硬科技、</a:t>
                      </a:r>
                      <a:r>
                        <a:rPr sz="900" kern="0" spc="0" dirty="0">
                          <a:solidFill>
                            <a:srgbClr val="000000">
                              <a:alpha val="100000"/>
                            </a:srgbClr>
                          </a:solidFill>
                          <a:latin typeface="Verdana"/>
                          <a:ea typeface="Verdana"/>
                          <a:cs typeface="Verdana"/>
                        </a:rPr>
                        <a:t>AI</a:t>
                      </a:r>
                      <a:r>
                        <a:rPr sz="900" kern="0" spc="100" dirty="0">
                          <a:solidFill>
                            <a:srgbClr val="000000">
                              <a:alpha val="100000"/>
                            </a:srgbClr>
                          </a:solidFill>
                          <a:latin typeface="KaiTi"/>
                          <a:ea typeface="KaiTi"/>
                          <a:cs typeface="KaiTi"/>
                        </a:rPr>
                        <a:t>、机器人、软件端、与</a:t>
                      </a:r>
                      <a:r>
                        <a:rPr sz="900" kern="0" spc="0" dirty="0">
                          <a:solidFill>
                            <a:srgbClr val="000000">
                              <a:alpha val="100000"/>
                            </a:srgbClr>
                          </a:solidFill>
                          <a:latin typeface="Verdana"/>
                          <a:ea typeface="Verdana"/>
                          <a:cs typeface="Verdana"/>
                        </a:rPr>
                        <a:t>AI</a:t>
                      </a:r>
                      <a:r>
                        <a:rPr sz="900" kern="0" spc="100" dirty="0">
                          <a:solidFill>
                            <a:srgbClr val="000000">
                              <a:alpha val="100000"/>
                            </a:srgbClr>
                          </a:solidFill>
                          <a:latin typeface="KaiTi"/>
                          <a:ea typeface="KaiTi"/>
                          <a:cs typeface="KaiTi"/>
                        </a:rPr>
                        <a:t>相</a:t>
                      </a:r>
                      <a:r>
                        <a:rPr sz="900" kern="0" spc="90" dirty="0">
                          <a:solidFill>
                            <a:srgbClr val="000000">
                              <a:alpha val="100000"/>
                            </a:srgbClr>
                          </a:solidFill>
                          <a:latin typeface="KaiTi"/>
                          <a:ea typeface="KaiTi"/>
                          <a:cs typeface="KaiTi"/>
                        </a:rPr>
                        <a:t>关的材料。</a:t>
                      </a:r>
                      <a:endParaRPr sz="900" dirty="0">
                        <a:latin typeface="KaiTi"/>
                        <a:ea typeface="KaiTi"/>
                        <a:cs typeface="KaiTi"/>
                      </a:endParaRPr>
                    </a:p>
                  </a:txBody>
                  <a:tcPr marL="0" marR="0" marT="0" marB="0" vert="horz">
                    <a:lnL>
                      <a:noFill/>
                    </a:lnL>
                    <a:lnR>
                      <a:noFill/>
                    </a:lnR>
                    <a:lnT>
                      <a:noFill/>
                    </a:lnT>
                    <a:lnB>
                      <a:noFill/>
                    </a:lnB>
                  </a:tcPr>
                </a:tc>
                <a:tc>
                  <a:txBody>
                    <a:bodyPr/>
                    <a:lstStyle/>
                    <a:p>
                      <a:pPr algn="l" rtl="0" eaLnBrk="0">
                        <a:lnSpc>
                          <a:spcPct val="104000"/>
                        </a:lnSpc>
                        <a:tabLst/>
                      </a:pPr>
                      <a:endParaRPr sz="900" dirty="0">
                        <a:latin typeface="Arial"/>
                        <a:ea typeface="Arial"/>
                        <a:cs typeface="Arial"/>
                      </a:endParaRPr>
                    </a:p>
                    <a:p>
                      <a:pPr marL="98425" algn="l" rtl="0" eaLnBrk="0">
                        <a:lnSpc>
                          <a:spcPct val="92000"/>
                        </a:lnSpc>
                        <a:spcBef>
                          <a:spcPts val="7"/>
                        </a:spcBef>
                        <a:tabLst/>
                      </a:pPr>
                      <a:r>
                        <a:rPr sz="900" kern="0" spc="90" dirty="0">
                          <a:solidFill>
                            <a:srgbClr val="000000">
                              <a:alpha val="100000"/>
                            </a:srgbClr>
                          </a:solidFill>
                          <a:latin typeface="KaiTi"/>
                          <a:ea typeface="KaiTi"/>
                          <a:cs typeface="KaiTi"/>
                        </a:rPr>
                        <a:t>开思时代、福瑞电气、足下科技</a:t>
                      </a:r>
                      <a:endParaRPr sz="900" dirty="0">
                        <a:latin typeface="KaiTi"/>
                        <a:ea typeface="KaiTi"/>
                        <a:cs typeface="KaiTi"/>
                      </a:endParaRPr>
                    </a:p>
                  </a:txBody>
                  <a:tcPr marL="0" marR="0" marT="0" marB="0" vert="horz">
                    <a:lnL>
                      <a:noFill/>
                    </a:lnL>
                    <a:lnR>
                      <a:noFill/>
                    </a:lnR>
                    <a:lnT>
                      <a:noFill/>
                    </a:lnT>
                    <a:lnB>
                      <a:noFill/>
                    </a:lnB>
                  </a:tcPr>
                </a:tc>
              </a:tr>
              <a:tr h="396240">
                <a:tc>
                  <a:txBody>
                    <a:bodyPr/>
                    <a:lstStyle/>
                    <a:p>
                      <a:pPr algn="l" rtl="0" eaLnBrk="0">
                        <a:lnSpc>
                          <a:spcPct val="110000"/>
                        </a:lnSpc>
                        <a:tabLst/>
                      </a:pPr>
                      <a:endParaRPr sz="900" dirty="0">
                        <a:latin typeface="Arial"/>
                        <a:ea typeface="Arial"/>
                        <a:cs typeface="Arial"/>
                      </a:endParaRPr>
                    </a:p>
                    <a:p>
                      <a:pPr marL="557530" algn="l" rtl="0" eaLnBrk="0">
                        <a:lnSpc>
                          <a:spcPct val="98000"/>
                        </a:lnSpc>
                        <a:spcBef>
                          <a:spcPts val="3"/>
                        </a:spcBef>
                        <a:tabLst/>
                      </a:pPr>
                      <a:r>
                        <a:rPr sz="900" kern="0" spc="80" dirty="0">
                          <a:solidFill>
                            <a:srgbClr val="000000">
                              <a:alpha val="100000"/>
                            </a:srgbClr>
                          </a:solidFill>
                          <a:latin typeface="Microsoft YaHei"/>
                          <a:ea typeface="Microsoft YaHei"/>
                          <a:cs typeface="Microsoft YaHei"/>
                        </a:rPr>
                        <a:t>华民投</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29000"/>
                        </a:lnSpc>
                        <a:tabLst/>
                      </a:pPr>
                      <a:endParaRPr sz="300" dirty="0">
                        <a:latin typeface="Arial"/>
                        <a:ea typeface="Arial"/>
                        <a:cs typeface="Arial"/>
                      </a:endParaRPr>
                    </a:p>
                    <a:p>
                      <a:pPr marL="98425" indent="-1270" algn="l" rtl="0" eaLnBrk="0">
                        <a:lnSpc>
                          <a:spcPct val="106000"/>
                        </a:lnSpc>
                        <a:spcBef>
                          <a:spcPts val="2"/>
                        </a:spcBef>
                        <a:tabLst/>
                      </a:pPr>
                      <a:r>
                        <a:rPr sz="900" kern="0" spc="90" dirty="0">
                          <a:solidFill>
                            <a:srgbClr val="000000">
                              <a:alpha val="100000"/>
                            </a:srgbClr>
                          </a:solidFill>
                          <a:latin typeface="KaiTi"/>
                          <a:ea typeface="KaiTi"/>
                          <a:cs typeface="KaiTi"/>
                        </a:rPr>
                        <a:t>成立于</a:t>
                      </a:r>
                      <a:r>
                        <a:rPr sz="900" kern="0" spc="90" dirty="0">
                          <a:solidFill>
                            <a:srgbClr val="000000">
                              <a:alpha val="100000"/>
                            </a:srgbClr>
                          </a:solidFill>
                          <a:latin typeface="Verdana"/>
                          <a:ea typeface="Verdana"/>
                          <a:cs typeface="Verdana"/>
                        </a:rPr>
                        <a:t>2019</a:t>
                      </a:r>
                      <a:r>
                        <a:rPr sz="900" kern="0" spc="90" dirty="0">
                          <a:solidFill>
                            <a:srgbClr val="000000">
                              <a:alpha val="100000"/>
                            </a:srgbClr>
                          </a:solidFill>
                          <a:latin typeface="KaiTi"/>
                          <a:ea typeface="KaiTi"/>
                          <a:cs typeface="KaiTi"/>
                        </a:rPr>
                        <a:t>年，人民日报体系内、证券时报控股的机构</a:t>
                      </a:r>
                      <a:r>
                        <a:rPr sz="900" kern="0" spc="80" dirty="0">
                          <a:solidFill>
                            <a:srgbClr val="000000">
                              <a:alpha val="100000"/>
                            </a:srgbClr>
                          </a:solidFill>
                          <a:latin typeface="KaiTi"/>
                          <a:ea typeface="KaiTi"/>
                          <a:cs typeface="KaiTi"/>
                        </a:rPr>
                        <a:t>，</a:t>
                      </a:r>
                      <a:r>
                        <a:rPr sz="900" kern="0" spc="-22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半国资半市场化。资金管理规模</a:t>
                      </a:r>
                      <a:r>
                        <a:rPr sz="900" kern="0" spc="80" dirty="0">
                          <a:solidFill>
                            <a:srgbClr val="000000">
                              <a:alpha val="100000"/>
                            </a:srgbClr>
                          </a:solidFill>
                          <a:latin typeface="Verdana"/>
                          <a:ea typeface="Verdana"/>
                          <a:cs typeface="Verdana"/>
                        </a:rPr>
                        <a:t>20-50</a:t>
                      </a:r>
                      <a:r>
                        <a:rPr sz="900" kern="0" spc="80" dirty="0">
                          <a:solidFill>
                            <a:srgbClr val="000000">
                              <a:alpha val="100000"/>
                            </a:srgbClr>
                          </a:solidFill>
                          <a:latin typeface="KaiTi"/>
                          <a:ea typeface="KaiTi"/>
                          <a:cs typeface="KaiTi"/>
                        </a:rPr>
                        <a:t>亿元，</a:t>
                      </a:r>
                      <a:r>
                        <a:rPr sz="900" kern="0" spc="0" dirty="0">
                          <a:solidFill>
                            <a:srgbClr val="000000">
                              <a:alpha val="100000"/>
                            </a:srgbClr>
                          </a:solidFill>
                          <a:latin typeface="KaiTi"/>
                          <a:ea typeface="KaiTi"/>
                          <a:cs typeface="KaiTi"/>
                        </a:rPr>
                        <a:t>  </a:t>
                      </a:r>
                      <a:r>
                        <a:rPr sz="900" kern="0" spc="100" dirty="0">
                          <a:solidFill>
                            <a:srgbClr val="000000">
                              <a:alpha val="100000"/>
                            </a:srgbClr>
                          </a:solidFill>
                          <a:latin typeface="KaiTi"/>
                          <a:ea typeface="KaiTi"/>
                          <a:cs typeface="KaiTi"/>
                        </a:rPr>
                        <a:t>聚焦半导体、新能源、新材料和新能源汽车</a:t>
                      </a:r>
                      <a:r>
                        <a:rPr sz="900" kern="0" spc="90" dirty="0">
                          <a:solidFill>
                            <a:srgbClr val="000000">
                              <a:alpha val="100000"/>
                            </a:srgbClr>
                          </a:solidFill>
                          <a:latin typeface="KaiTi"/>
                          <a:ea typeface="KaiTi"/>
                          <a:cs typeface="KaiTi"/>
                        </a:rPr>
                        <a:t>。深圳基金主要围绕汽车产业链进行投资。</a:t>
                      </a:r>
                      <a:endParaRPr sz="900" dirty="0">
                        <a:latin typeface="KaiTi"/>
                        <a:ea typeface="KaiTi"/>
                        <a:cs typeface="KaiTi"/>
                      </a:endParaRPr>
                    </a:p>
                  </a:txBody>
                  <a:tcPr marL="0" marR="0" marT="0" marB="0" vert="horz">
                    <a:lnL>
                      <a:noFill/>
                    </a:lnL>
                    <a:lnR>
                      <a:noFill/>
                    </a:lnR>
                    <a:lnT>
                      <a:noFill/>
                    </a:lnT>
                    <a:lnB>
                      <a:noFill/>
                    </a:lnB>
                    <a:solidFill>
                      <a:srgbClr val="F2F2F2"/>
                    </a:solidFill>
                  </a:tcPr>
                </a:tc>
                <a:tc>
                  <a:txBody>
                    <a:bodyPr/>
                    <a:lstStyle/>
                    <a:p>
                      <a:pPr algn="l" rtl="0" eaLnBrk="0">
                        <a:lnSpc>
                          <a:spcPct val="110000"/>
                        </a:lnSpc>
                        <a:tabLst/>
                      </a:pPr>
                      <a:endParaRPr sz="800" dirty="0">
                        <a:latin typeface="Arial"/>
                        <a:ea typeface="Arial"/>
                        <a:cs typeface="Arial"/>
                      </a:endParaRPr>
                    </a:p>
                    <a:p>
                      <a:pPr marL="97789" algn="l" rtl="0" eaLnBrk="0">
                        <a:lnSpc>
                          <a:spcPct val="92000"/>
                        </a:lnSpc>
                        <a:spcBef>
                          <a:spcPts val="4"/>
                        </a:spcBef>
                        <a:tabLst/>
                      </a:pPr>
                      <a:r>
                        <a:rPr sz="900" kern="0" spc="90" dirty="0">
                          <a:solidFill>
                            <a:srgbClr val="000000">
                              <a:alpha val="100000"/>
                            </a:srgbClr>
                          </a:solidFill>
                          <a:latin typeface="KaiTi"/>
                          <a:ea typeface="KaiTi"/>
                          <a:cs typeface="KaiTi"/>
                        </a:rPr>
                        <a:t>欣旺达动力、孔辉科技</a:t>
                      </a:r>
                      <a:endParaRPr sz="900" dirty="0">
                        <a:latin typeface="KaiTi"/>
                        <a:ea typeface="KaiTi"/>
                        <a:cs typeface="KaiTi"/>
                      </a:endParaRPr>
                    </a:p>
                  </a:txBody>
                  <a:tcPr marL="0" marR="0" marT="0" marB="0" vert="horz">
                    <a:lnL>
                      <a:noFill/>
                    </a:lnL>
                    <a:lnR>
                      <a:noFill/>
                    </a:lnR>
                    <a:lnT>
                      <a:noFill/>
                    </a:lnT>
                    <a:lnB>
                      <a:noFill/>
                    </a:lnB>
                    <a:solidFill>
                      <a:srgbClr val="F2F2F2"/>
                    </a:solidFill>
                  </a:tcPr>
                </a:tc>
              </a:tr>
              <a:tr h="548640">
                <a:tc>
                  <a:txBody>
                    <a:bodyPr/>
                    <a:lstStyle/>
                    <a:p>
                      <a:pPr algn="l" rtl="0" eaLnBrk="0">
                        <a:lnSpc>
                          <a:spcPct val="149000"/>
                        </a:lnSpc>
                        <a:tabLst/>
                      </a:pPr>
                      <a:endParaRPr sz="1000" dirty="0">
                        <a:latin typeface="Arial"/>
                        <a:ea typeface="Arial"/>
                        <a:cs typeface="Arial"/>
                      </a:endParaRPr>
                    </a:p>
                    <a:p>
                      <a:pPr marL="492759" algn="l" rtl="0" eaLnBrk="0">
                        <a:lnSpc>
                          <a:spcPct val="98000"/>
                        </a:lnSpc>
                        <a:spcBef>
                          <a:spcPts val="5"/>
                        </a:spcBef>
                        <a:tabLst/>
                      </a:pPr>
                      <a:r>
                        <a:rPr sz="900" kern="0" spc="90" dirty="0">
                          <a:solidFill>
                            <a:srgbClr val="000000">
                              <a:alpha val="100000"/>
                            </a:srgbClr>
                          </a:solidFill>
                          <a:latin typeface="Microsoft YaHei"/>
                          <a:ea typeface="Microsoft YaHei"/>
                          <a:cs typeface="Microsoft YaHei"/>
                        </a:rPr>
                        <a:t>鲲鹏资本</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28000"/>
                        </a:lnSpc>
                        <a:tabLst/>
                      </a:pPr>
                      <a:endParaRPr sz="300" dirty="0">
                        <a:latin typeface="Arial"/>
                        <a:ea typeface="Arial"/>
                        <a:cs typeface="Arial"/>
                      </a:endParaRPr>
                    </a:p>
                    <a:p>
                      <a:pPr marL="97155" algn="l" rtl="0" eaLnBrk="0">
                        <a:lnSpc>
                          <a:spcPct val="108000"/>
                        </a:lnSpc>
                        <a:spcBef>
                          <a:spcPts val="3"/>
                        </a:spcBef>
                        <a:tabLst/>
                      </a:pPr>
                      <a:r>
                        <a:rPr sz="900" kern="0" spc="80" dirty="0">
                          <a:solidFill>
                            <a:srgbClr val="000000">
                              <a:alpha val="100000"/>
                            </a:srgbClr>
                          </a:solidFill>
                          <a:latin typeface="KaiTi"/>
                          <a:ea typeface="KaiTi"/>
                          <a:cs typeface="KaiTi"/>
                        </a:rPr>
                        <a:t>成立于</a:t>
                      </a:r>
                      <a:r>
                        <a:rPr sz="900" kern="0" spc="80" dirty="0">
                          <a:solidFill>
                            <a:srgbClr val="000000">
                              <a:alpha val="100000"/>
                            </a:srgbClr>
                          </a:solidFill>
                          <a:latin typeface="Verdana"/>
                          <a:ea typeface="Verdana"/>
                          <a:cs typeface="Verdana"/>
                        </a:rPr>
                        <a:t>2014</a:t>
                      </a:r>
                      <a:r>
                        <a:rPr sz="900" kern="0" spc="80" dirty="0">
                          <a:solidFill>
                            <a:srgbClr val="000000">
                              <a:alpha val="100000"/>
                            </a:srgbClr>
                          </a:solidFill>
                          <a:latin typeface="KaiTi"/>
                          <a:ea typeface="KaiTi"/>
                          <a:cs typeface="KaiTi"/>
                        </a:rPr>
                        <a:t>年，</a:t>
                      </a:r>
                      <a:r>
                        <a:rPr sz="900" kern="0" spc="-26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深圳市属国资，</a:t>
                      </a:r>
                      <a:r>
                        <a:rPr sz="900" kern="0" spc="-11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荣耀的控股</a:t>
                      </a:r>
                      <a:r>
                        <a:rPr sz="900" kern="0" spc="70" dirty="0">
                          <a:solidFill>
                            <a:srgbClr val="000000">
                              <a:alpha val="100000"/>
                            </a:srgbClr>
                          </a:solidFill>
                          <a:latin typeface="KaiTi"/>
                          <a:ea typeface="KaiTi"/>
                          <a:cs typeface="KaiTi"/>
                        </a:rPr>
                        <a:t>股东，中国宝安的最大股东，</a:t>
                      </a:r>
                      <a:r>
                        <a:rPr sz="900" kern="0" spc="-90" dirty="0">
                          <a:solidFill>
                            <a:srgbClr val="000000">
                              <a:alpha val="100000"/>
                            </a:srgbClr>
                          </a:solidFill>
                          <a:latin typeface="KaiTi"/>
                          <a:ea typeface="KaiTi"/>
                          <a:cs typeface="KaiTi"/>
                        </a:rPr>
                        <a:t> </a:t>
                      </a:r>
                      <a:r>
                        <a:rPr sz="900" kern="0" spc="70" dirty="0">
                          <a:solidFill>
                            <a:srgbClr val="000000">
                              <a:alpha val="100000"/>
                            </a:srgbClr>
                          </a:solidFill>
                          <a:latin typeface="KaiTi"/>
                          <a:ea typeface="KaiTi"/>
                          <a:cs typeface="KaiTi"/>
                        </a:rPr>
                        <a:t>聚焦深圳市“</a:t>
                      </a:r>
                      <a:r>
                        <a:rPr sz="900" kern="0" spc="70" dirty="0">
                          <a:solidFill>
                            <a:srgbClr val="000000">
                              <a:alpha val="100000"/>
                            </a:srgbClr>
                          </a:solidFill>
                          <a:latin typeface="Verdana"/>
                          <a:ea typeface="Verdana"/>
                          <a:cs typeface="Verdana"/>
                        </a:rPr>
                        <a:t>20+8”</a:t>
                      </a:r>
                      <a:r>
                        <a:rPr sz="900" kern="0" spc="70" dirty="0">
                          <a:solidFill>
                            <a:srgbClr val="000000">
                              <a:alpha val="100000"/>
                            </a:srgbClr>
                          </a:solidFill>
                          <a:latin typeface="KaiTi"/>
                          <a:ea typeface="KaiTi"/>
                          <a:cs typeface="KaiTi"/>
                        </a:rPr>
                        <a:t>产业集群</a:t>
                      </a:r>
                      <a:r>
                        <a:rPr sz="900" kern="0" spc="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投资布局了一批子基金和重大股权投资项目，积极开展跨境投融资。关注赛道（战新和未来产业</a:t>
                      </a:r>
                      <a:r>
                        <a:rPr sz="900" kern="0" spc="0" dirty="0">
                          <a:solidFill>
                            <a:srgbClr val="000000">
                              <a:alpha val="100000"/>
                            </a:srgbClr>
                          </a:solidFill>
                          <a:latin typeface="KaiTi"/>
                          <a:ea typeface="KaiTi"/>
                          <a:cs typeface="KaiTi"/>
                        </a:rPr>
                        <a:t>）</a:t>
                      </a:r>
                      <a:r>
                        <a:rPr sz="900" kern="0" spc="40" dirty="0">
                          <a:solidFill>
                            <a:srgbClr val="000000">
                              <a:alpha val="100000"/>
                            </a:srgbClr>
                          </a:solidFill>
                          <a:latin typeface="KaiTi"/>
                          <a:ea typeface="KaiTi"/>
                          <a:cs typeface="KaiTi"/>
                        </a:rPr>
                        <a:t> </a:t>
                      </a:r>
                      <a:r>
                        <a:rPr sz="900" kern="0" spc="0" dirty="0">
                          <a:solidFill>
                            <a:srgbClr val="000000">
                              <a:alpha val="100000"/>
                            </a:srgbClr>
                          </a:solidFill>
                          <a:latin typeface="KaiTi"/>
                          <a:ea typeface="KaiTi"/>
                          <a:cs typeface="KaiTi"/>
                        </a:rPr>
                        <a:t>：</a:t>
                      </a:r>
                      <a:r>
                        <a:rPr sz="900" kern="0" spc="80" dirty="0">
                          <a:solidFill>
                            <a:srgbClr val="000000">
                              <a:alpha val="100000"/>
                            </a:srgbClr>
                          </a:solidFill>
                          <a:latin typeface="KaiTi"/>
                          <a:ea typeface="KaiTi"/>
                          <a:cs typeface="KaiTi"/>
                        </a:rPr>
                        <a:t>智能</a:t>
                      </a:r>
                      <a:r>
                        <a:rPr sz="900" kern="0" spc="0" dirty="0">
                          <a:solidFill>
                            <a:srgbClr val="000000">
                              <a:alpha val="100000"/>
                            </a:srgbClr>
                          </a:solidFill>
                          <a:latin typeface="KaiTi"/>
                          <a:ea typeface="KaiTi"/>
                          <a:cs typeface="KaiTi"/>
                        </a:rPr>
                        <a:t> </a:t>
                      </a:r>
                      <a:r>
                        <a:rPr sz="900" kern="0" spc="100" dirty="0">
                          <a:solidFill>
                            <a:srgbClr val="000000">
                              <a:alpha val="100000"/>
                            </a:srgbClr>
                          </a:solidFill>
                          <a:latin typeface="KaiTi"/>
                          <a:ea typeface="KaiTi"/>
                          <a:cs typeface="KaiTi"/>
                        </a:rPr>
                        <a:t>终端、半导体、</a:t>
                      </a:r>
                      <a:r>
                        <a:rPr sz="900" kern="0" spc="-230" dirty="0">
                          <a:solidFill>
                            <a:srgbClr val="000000">
                              <a:alpha val="100000"/>
                            </a:srgbClr>
                          </a:solidFill>
                          <a:latin typeface="KaiTi"/>
                          <a:ea typeface="KaiTi"/>
                          <a:cs typeface="KaiTi"/>
                        </a:rPr>
                        <a:t> </a:t>
                      </a:r>
                      <a:r>
                        <a:rPr sz="900" kern="0" spc="0" dirty="0">
                          <a:solidFill>
                            <a:srgbClr val="000000">
                              <a:alpha val="100000"/>
                            </a:srgbClr>
                          </a:solidFill>
                          <a:latin typeface="Verdana"/>
                          <a:ea typeface="Verdana"/>
                          <a:cs typeface="Verdana"/>
                        </a:rPr>
                        <a:t>AI</a:t>
                      </a:r>
                      <a:r>
                        <a:rPr sz="900" kern="0" spc="100" dirty="0">
                          <a:solidFill>
                            <a:srgbClr val="000000">
                              <a:alpha val="100000"/>
                            </a:srgbClr>
                          </a:solidFill>
                          <a:latin typeface="KaiTi"/>
                          <a:ea typeface="KaiTi"/>
                          <a:cs typeface="KaiTi"/>
                        </a:rPr>
                        <a:t>、新</a:t>
                      </a:r>
                      <a:r>
                        <a:rPr sz="900" kern="0" spc="90" dirty="0">
                          <a:solidFill>
                            <a:srgbClr val="000000">
                              <a:alpha val="100000"/>
                            </a:srgbClr>
                          </a:solidFill>
                          <a:latin typeface="KaiTi"/>
                          <a:ea typeface="KaiTi"/>
                          <a:cs typeface="KaiTi"/>
                        </a:rPr>
                        <a:t>能源、新材料。偏好有利润的项目</a:t>
                      </a:r>
                      <a:endParaRPr sz="900" dirty="0">
                        <a:latin typeface="KaiTi"/>
                        <a:ea typeface="KaiTi"/>
                        <a:cs typeface="KaiTi"/>
                      </a:endParaRPr>
                    </a:p>
                  </a:txBody>
                  <a:tcPr marL="0" marR="0" marT="0" marB="0" vert="horz">
                    <a:lnL>
                      <a:noFill/>
                    </a:lnL>
                    <a:lnR>
                      <a:noFill/>
                    </a:lnR>
                    <a:lnT>
                      <a:noFill/>
                    </a:lnT>
                    <a:lnB>
                      <a:noFill/>
                    </a:lnB>
                  </a:tcPr>
                </a:tc>
                <a:tc>
                  <a:txBody>
                    <a:bodyPr/>
                    <a:lstStyle/>
                    <a:p>
                      <a:pPr algn="l" rtl="0" eaLnBrk="0">
                        <a:lnSpc>
                          <a:spcPct val="138000"/>
                        </a:lnSpc>
                        <a:tabLst/>
                      </a:pPr>
                      <a:endParaRPr sz="1000" dirty="0">
                        <a:latin typeface="Arial"/>
                        <a:ea typeface="Arial"/>
                        <a:cs typeface="Arial"/>
                      </a:endParaRPr>
                    </a:p>
                    <a:p>
                      <a:pPr marL="99060" algn="l" rtl="0" eaLnBrk="0">
                        <a:lnSpc>
                          <a:spcPct val="92000"/>
                        </a:lnSpc>
                        <a:spcBef>
                          <a:spcPts val="6"/>
                        </a:spcBef>
                        <a:tabLst/>
                      </a:pPr>
                      <a:r>
                        <a:rPr sz="900" kern="0" spc="70" dirty="0">
                          <a:solidFill>
                            <a:srgbClr val="000000">
                              <a:alpha val="100000"/>
                            </a:srgbClr>
                          </a:solidFill>
                          <a:latin typeface="KaiTi"/>
                          <a:ea typeface="KaiTi"/>
                          <a:cs typeface="KaiTi"/>
                        </a:rPr>
                        <a:t>浙金网</a:t>
                      </a:r>
                      <a:endParaRPr sz="900" dirty="0">
                        <a:latin typeface="KaiTi"/>
                        <a:ea typeface="KaiTi"/>
                        <a:cs typeface="KaiTi"/>
                      </a:endParaRPr>
                    </a:p>
                  </a:txBody>
                  <a:tcPr marL="0" marR="0" marT="0" marB="0" vert="horz">
                    <a:lnL>
                      <a:noFill/>
                    </a:lnL>
                    <a:lnR>
                      <a:noFill/>
                    </a:lnR>
                    <a:lnT>
                      <a:noFill/>
                    </a:lnT>
                    <a:lnB>
                      <a:noFill/>
                    </a:lnB>
                  </a:tcPr>
                </a:tc>
              </a:tr>
              <a:tr h="548640">
                <a:tc>
                  <a:txBody>
                    <a:bodyPr/>
                    <a:lstStyle/>
                    <a:p>
                      <a:pPr algn="l" rtl="0" eaLnBrk="0">
                        <a:lnSpc>
                          <a:spcPct val="148000"/>
                        </a:lnSpc>
                        <a:tabLst/>
                      </a:pPr>
                      <a:endParaRPr sz="1000" dirty="0">
                        <a:latin typeface="Arial"/>
                        <a:ea typeface="Arial"/>
                        <a:cs typeface="Arial"/>
                      </a:endParaRPr>
                    </a:p>
                    <a:p>
                      <a:pPr marL="493394" algn="l" rtl="0" eaLnBrk="0">
                        <a:lnSpc>
                          <a:spcPct val="98000"/>
                        </a:lnSpc>
                        <a:spcBef>
                          <a:spcPts val="5"/>
                        </a:spcBef>
                        <a:tabLst/>
                      </a:pPr>
                      <a:r>
                        <a:rPr sz="900" kern="0" spc="80" dirty="0">
                          <a:solidFill>
                            <a:srgbClr val="000000">
                              <a:alpha val="100000"/>
                            </a:srgbClr>
                          </a:solidFill>
                          <a:latin typeface="Microsoft YaHei"/>
                          <a:ea typeface="Microsoft YaHei"/>
                          <a:cs typeface="Microsoft YaHei"/>
                        </a:rPr>
                        <a:t>华金资本</a:t>
                      </a:r>
                      <a:endParaRPr sz="900" dirty="0">
                        <a:latin typeface="Microsoft YaHei"/>
                        <a:ea typeface="Microsoft YaHei"/>
                        <a:cs typeface="Microsoft YaHei"/>
                      </a:endParaRPr>
                    </a:p>
                  </a:txBody>
                  <a:tcPr marL="0" marR="0" marT="0" marB="0" vert="horz">
                    <a:lnL>
                      <a:noFill/>
                    </a:lnL>
                    <a:lnR>
                      <a:noFill/>
                    </a:lnR>
                    <a:lnT>
                      <a:noFill/>
                    </a:lnT>
                    <a:lnB>
                      <a:noFill/>
                    </a:lnB>
                    <a:solidFill>
                      <a:srgbClr val="E9E9E9"/>
                    </a:solidFill>
                  </a:tcPr>
                </a:tc>
                <a:tc>
                  <a:txBody>
                    <a:bodyPr/>
                    <a:lstStyle/>
                    <a:p>
                      <a:pPr algn="l" rtl="0" eaLnBrk="0">
                        <a:lnSpc>
                          <a:spcPct val="113000"/>
                        </a:lnSpc>
                        <a:tabLst/>
                      </a:pPr>
                      <a:endParaRPr sz="400" dirty="0">
                        <a:latin typeface="Arial"/>
                        <a:ea typeface="Arial"/>
                        <a:cs typeface="Arial"/>
                      </a:endParaRPr>
                    </a:p>
                    <a:p>
                      <a:pPr marL="92710" algn="l" rtl="0" eaLnBrk="0">
                        <a:lnSpc>
                          <a:spcPct val="110000"/>
                        </a:lnSpc>
                        <a:spcBef>
                          <a:spcPts val="1"/>
                        </a:spcBef>
                        <a:tabLst/>
                      </a:pPr>
                      <a:r>
                        <a:rPr sz="900" kern="0" spc="100" dirty="0">
                          <a:solidFill>
                            <a:srgbClr val="000000">
                              <a:alpha val="100000"/>
                            </a:srgbClr>
                          </a:solidFill>
                          <a:latin typeface="Microsoft YaHei"/>
                          <a:ea typeface="Microsoft YaHei"/>
                          <a:cs typeface="Microsoft YaHei"/>
                        </a:rPr>
                        <a:t>成立于1992年，珠</a:t>
                      </a:r>
                      <a:r>
                        <a:rPr sz="900" kern="0" spc="90" dirty="0">
                          <a:solidFill>
                            <a:srgbClr val="000000">
                              <a:alpha val="100000"/>
                            </a:srgbClr>
                          </a:solidFill>
                          <a:latin typeface="Microsoft YaHei"/>
                          <a:ea typeface="Microsoft YaHei"/>
                          <a:cs typeface="Microsoft YaHei"/>
                        </a:rPr>
                        <a:t>海最大国企华发集团的财务性投资直投平台，积极布局具身和机器人赛道，未来3-5年</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正在打造机器人小镇</a:t>
                      </a:r>
                      <a:r>
                        <a:rPr sz="900" kern="0" spc="80" dirty="0">
                          <a:solidFill>
                            <a:srgbClr val="000000">
                              <a:alpha val="100000"/>
                            </a:srgbClr>
                          </a:solidFill>
                          <a:latin typeface="Microsoft YaHei"/>
                          <a:ea typeface="Microsoft YaHei"/>
                          <a:cs typeface="Microsoft YaHei"/>
                        </a:rPr>
                        <a:t>， 打造生态，成为投资主要赛道之一。集团有诸多场景赋能， 比如港口、消费级场景、</a:t>
                      </a:r>
                      <a:r>
                        <a:rPr sz="900" kern="0" spc="90" dirty="0">
                          <a:solidFill>
                            <a:srgbClr val="000000">
                              <a:alpha val="100000"/>
                            </a:srgbClr>
                          </a:solidFill>
                          <a:latin typeface="Microsoft YaHei"/>
                          <a:ea typeface="Microsoft YaHei"/>
                          <a:cs typeface="Microsoft YaHei"/>
                        </a:rPr>
                        <a:t>教育、工业、物业、房产等</a:t>
                      </a:r>
                      <a:endParaRPr sz="900" dirty="0">
                        <a:latin typeface="Microsoft YaHei"/>
                        <a:ea typeface="Microsoft YaHei"/>
                        <a:cs typeface="Microsoft YaHei"/>
                      </a:endParaRPr>
                    </a:p>
                  </a:txBody>
                  <a:tcPr marL="0" marR="0" marT="0" marB="0" vert="horz">
                    <a:lnL>
                      <a:noFill/>
                    </a:lnL>
                    <a:lnR>
                      <a:noFill/>
                    </a:lnR>
                    <a:lnT>
                      <a:noFill/>
                    </a:lnT>
                    <a:lnB>
                      <a:noFill/>
                    </a:lnB>
                    <a:solidFill>
                      <a:srgbClr val="E9E9E9"/>
                    </a:solidFill>
                  </a:tcPr>
                </a:tc>
                <a:tc>
                  <a:txBody>
                    <a:bodyPr/>
                    <a:lstStyle/>
                    <a:p>
                      <a:pPr algn="l" rtl="0" eaLnBrk="0">
                        <a:lnSpc>
                          <a:spcPct val="106000"/>
                        </a:lnSpc>
                        <a:tabLst/>
                      </a:pPr>
                      <a:endParaRPr sz="900" dirty="0">
                        <a:latin typeface="Arial"/>
                        <a:ea typeface="Arial"/>
                        <a:cs typeface="Arial"/>
                      </a:endParaRPr>
                    </a:p>
                    <a:p>
                      <a:pPr marL="93980" algn="l" rtl="0" eaLnBrk="0">
                        <a:lnSpc>
                          <a:spcPct val="110000"/>
                        </a:lnSpc>
                        <a:spcBef>
                          <a:spcPts val="4"/>
                        </a:spcBef>
                        <a:tabLst/>
                      </a:pPr>
                      <a:r>
                        <a:rPr sz="900" kern="0" spc="100" dirty="0">
                          <a:solidFill>
                            <a:srgbClr val="000000">
                              <a:alpha val="100000"/>
                            </a:srgbClr>
                          </a:solidFill>
                          <a:latin typeface="Microsoft YaHei"/>
                          <a:ea typeface="Microsoft YaHei"/>
                          <a:cs typeface="Microsoft YaHei"/>
                        </a:rPr>
                        <a:t>大族思特、奥亿达、跃昉科</a:t>
                      </a:r>
                      <a:r>
                        <a:rPr sz="900" kern="0" spc="90" dirty="0">
                          <a:solidFill>
                            <a:srgbClr val="000000">
                              <a:alpha val="100000"/>
                            </a:srgbClr>
                          </a:solidFill>
                          <a:latin typeface="Microsoft YaHei"/>
                          <a:ea typeface="Microsoft YaHei"/>
                          <a:cs typeface="Microsoft YaHei"/>
                        </a:rPr>
                        <a:t>技、新基讯、赛赫智</a:t>
                      </a:r>
                      <a:r>
                        <a:rPr sz="900" kern="0" spc="60" dirty="0">
                          <a:solidFill>
                            <a:srgbClr val="000000">
                              <a:alpha val="100000"/>
                            </a:srgbClr>
                          </a:solidFill>
                          <a:latin typeface="Microsoft YaHei"/>
                          <a:ea typeface="Microsoft YaHei"/>
                          <a:cs typeface="Microsoft YaHei"/>
                        </a:rPr>
                        <a:t>能</a:t>
                      </a:r>
                      <a:endParaRPr sz="900" dirty="0">
                        <a:latin typeface="Microsoft YaHei"/>
                        <a:ea typeface="Microsoft YaHei"/>
                        <a:cs typeface="Microsoft YaHei"/>
                      </a:endParaRPr>
                    </a:p>
                  </a:txBody>
                  <a:tcPr marL="0" marR="0" marT="0" marB="0" vert="horz">
                    <a:lnL>
                      <a:noFill/>
                    </a:lnL>
                    <a:lnR>
                      <a:noFill/>
                    </a:lnR>
                    <a:lnT>
                      <a:noFill/>
                    </a:lnT>
                    <a:lnB>
                      <a:noFill/>
                    </a:lnB>
                    <a:solidFill>
                      <a:srgbClr val="E9E9E9"/>
                    </a:solidFill>
                  </a:tcPr>
                </a:tc>
              </a:tr>
              <a:tr h="1461769">
                <a:tc>
                  <a:txBody>
                    <a:bodyPr/>
                    <a:lstStyle/>
                    <a:p>
                      <a:pPr algn="l" rtl="0" eaLnBrk="0">
                        <a:lnSpc>
                          <a:spcPct val="143000"/>
                        </a:lnSpc>
                        <a:tabLst/>
                      </a:pPr>
                      <a:endParaRPr sz="1000" dirty="0">
                        <a:latin typeface="Arial"/>
                        <a:ea typeface="Arial"/>
                        <a:cs typeface="Arial"/>
                      </a:endParaRPr>
                    </a:p>
                    <a:p>
                      <a:pPr marL="430530"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招商局创投</a:t>
                      </a:r>
                      <a:endParaRPr sz="900" dirty="0">
                        <a:latin typeface="Microsoft YaHei"/>
                        <a:ea typeface="Microsoft YaHei"/>
                        <a:cs typeface="Microsoft YaHei"/>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marL="494665" algn="l" rtl="0" eaLnBrk="0">
                        <a:lnSpc>
                          <a:spcPct val="98000"/>
                        </a:lnSpc>
                        <a:spcBef>
                          <a:spcPts val="277"/>
                        </a:spcBef>
                        <a:tabLst/>
                      </a:pPr>
                      <a:r>
                        <a:rPr sz="900" kern="0" spc="80" dirty="0">
                          <a:solidFill>
                            <a:srgbClr val="000000">
                              <a:alpha val="100000"/>
                            </a:srgbClr>
                          </a:solidFill>
                          <a:latin typeface="Microsoft YaHei"/>
                          <a:ea typeface="Microsoft YaHei"/>
                          <a:cs typeface="Microsoft YaHei"/>
                        </a:rPr>
                        <a:t>粤科金融</a:t>
                      </a:r>
                      <a:endParaRPr sz="900" dirty="0">
                        <a:latin typeface="Microsoft YaHei"/>
                        <a:ea typeface="Microsoft YaHei"/>
                        <a:cs typeface="Microsoft YaHei"/>
                      </a:endParaRPr>
                    </a:p>
                    <a:p>
                      <a:pPr algn="l" rtl="0" eaLnBrk="0">
                        <a:lnSpc>
                          <a:spcPct val="118000"/>
                        </a:lnSpc>
                        <a:tabLst/>
                      </a:pPr>
                      <a:endParaRPr sz="1000" dirty="0">
                        <a:latin typeface="Arial"/>
                        <a:ea typeface="Arial"/>
                        <a:cs typeface="Arial"/>
                      </a:endParaRPr>
                    </a:p>
                    <a:p>
                      <a:pPr algn="l" rtl="0" eaLnBrk="0">
                        <a:lnSpc>
                          <a:spcPct val="118000"/>
                        </a:lnSpc>
                        <a:tabLst/>
                      </a:pPr>
                      <a:endParaRPr sz="1000" dirty="0">
                        <a:latin typeface="Arial"/>
                        <a:ea typeface="Arial"/>
                        <a:cs typeface="Arial"/>
                      </a:endParaRPr>
                    </a:p>
                    <a:p>
                      <a:pPr algn="l" rtl="0" eaLnBrk="0">
                        <a:lnSpc>
                          <a:spcPct val="115000"/>
                        </a:lnSpc>
                        <a:tabLst/>
                      </a:pPr>
                      <a:endParaRPr sz="200" dirty="0">
                        <a:latin typeface="Arial"/>
                        <a:ea typeface="Arial"/>
                        <a:cs typeface="Arial"/>
                      </a:endParaRPr>
                    </a:p>
                    <a:p>
                      <a:pPr marL="431800" algn="l" rtl="0" eaLnBrk="0">
                        <a:lnSpc>
                          <a:spcPct val="98000"/>
                        </a:lnSpc>
                        <a:spcBef>
                          <a:spcPts val="1"/>
                        </a:spcBef>
                        <a:tabLst/>
                      </a:pPr>
                      <a:r>
                        <a:rPr sz="900" kern="0" spc="80" dirty="0">
                          <a:solidFill>
                            <a:srgbClr val="000000">
                              <a:alpha val="100000"/>
                            </a:srgbClr>
                          </a:solidFill>
                          <a:latin typeface="Microsoft YaHei"/>
                          <a:ea typeface="Microsoft YaHei"/>
                          <a:cs typeface="Microsoft YaHei"/>
                        </a:rPr>
                        <a:t>南山战新投</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02000"/>
                        </a:lnSpc>
                        <a:tabLst/>
                      </a:pPr>
                      <a:endParaRPr sz="800" dirty="0">
                        <a:latin typeface="Arial"/>
                        <a:ea typeface="Arial"/>
                        <a:cs typeface="Arial"/>
                      </a:endParaRPr>
                    </a:p>
                    <a:p>
                      <a:pPr algn="l" rtl="0" eaLnBrk="0">
                        <a:lnSpc>
                          <a:spcPct val="6758"/>
                        </a:lnSpc>
                        <a:tabLst/>
                      </a:pPr>
                      <a:endParaRPr sz="100" dirty="0">
                        <a:latin typeface="Arial"/>
                        <a:ea typeface="Arial"/>
                        <a:cs typeface="Arial"/>
                      </a:endParaRPr>
                    </a:p>
                    <a:p>
                      <a:pPr marL="101600" indent="-4444" algn="l" rtl="0" eaLnBrk="0">
                        <a:lnSpc>
                          <a:spcPct val="111000"/>
                        </a:lnSpc>
                        <a:tabLst/>
                      </a:pPr>
                      <a:r>
                        <a:rPr sz="900" kern="0" spc="110" dirty="0">
                          <a:solidFill>
                            <a:srgbClr val="000000">
                              <a:alpha val="100000"/>
                            </a:srgbClr>
                          </a:solidFill>
                          <a:latin typeface="KaiTi"/>
                          <a:ea typeface="KaiTi"/>
                          <a:cs typeface="KaiTi"/>
                        </a:rPr>
                        <a:t>成立于</a:t>
                      </a:r>
                      <a:r>
                        <a:rPr sz="900" kern="0" spc="110" dirty="0">
                          <a:solidFill>
                            <a:srgbClr val="000000">
                              <a:alpha val="100000"/>
                            </a:srgbClr>
                          </a:solidFill>
                          <a:latin typeface="Verdana"/>
                          <a:ea typeface="Verdana"/>
                          <a:cs typeface="Verdana"/>
                        </a:rPr>
                        <a:t>2015</a:t>
                      </a:r>
                      <a:r>
                        <a:rPr sz="900" kern="0" spc="110" dirty="0">
                          <a:solidFill>
                            <a:srgbClr val="000000">
                              <a:alpha val="100000"/>
                            </a:srgbClr>
                          </a:solidFill>
                          <a:latin typeface="KaiTi"/>
                          <a:ea typeface="KaiTi"/>
                          <a:cs typeface="KaiTi"/>
                        </a:rPr>
                        <a:t>年，招商局集团</a:t>
                      </a:r>
                      <a:r>
                        <a:rPr sz="900" kern="0" spc="0" dirty="0">
                          <a:solidFill>
                            <a:srgbClr val="000000">
                              <a:alpha val="100000"/>
                            </a:srgbClr>
                          </a:solidFill>
                          <a:latin typeface="Verdana"/>
                          <a:ea typeface="Verdana"/>
                          <a:cs typeface="Verdana"/>
                        </a:rPr>
                        <a:t>Corporate</a:t>
                      </a:r>
                      <a:r>
                        <a:rPr sz="900" kern="0" spc="110" dirty="0">
                          <a:solidFill>
                            <a:srgbClr val="000000">
                              <a:alpha val="100000"/>
                            </a:srgbClr>
                          </a:solidFill>
                          <a:latin typeface="Verdana"/>
                          <a:ea typeface="Verdana"/>
                          <a:cs typeface="Verdana"/>
                        </a:rPr>
                        <a:t> </a:t>
                      </a:r>
                      <a:r>
                        <a:rPr sz="900" kern="0" spc="0" dirty="0">
                          <a:solidFill>
                            <a:srgbClr val="000000">
                              <a:alpha val="100000"/>
                            </a:srgbClr>
                          </a:solidFill>
                          <a:latin typeface="Verdana"/>
                          <a:ea typeface="Verdana"/>
                          <a:cs typeface="Verdana"/>
                        </a:rPr>
                        <a:t>VC</a:t>
                      </a:r>
                      <a:r>
                        <a:rPr sz="900" kern="0" spc="110" dirty="0">
                          <a:solidFill>
                            <a:srgbClr val="000000">
                              <a:alpha val="100000"/>
                            </a:srgbClr>
                          </a:solidFill>
                          <a:latin typeface="KaiTi"/>
                          <a:ea typeface="KaiTi"/>
                          <a:cs typeface="KaiTi"/>
                        </a:rPr>
                        <a:t>，直接管理资产规模超过</a:t>
                      </a:r>
                      <a:r>
                        <a:rPr sz="900" kern="0" spc="100" dirty="0">
                          <a:solidFill>
                            <a:srgbClr val="000000">
                              <a:alpha val="100000"/>
                            </a:srgbClr>
                          </a:solidFill>
                          <a:latin typeface="Verdana"/>
                          <a:ea typeface="Verdana"/>
                          <a:cs typeface="Verdana"/>
                        </a:rPr>
                        <a:t>200</a:t>
                      </a:r>
                      <a:r>
                        <a:rPr sz="900" kern="0" spc="100" dirty="0">
                          <a:solidFill>
                            <a:srgbClr val="000000">
                              <a:alpha val="100000"/>
                            </a:srgbClr>
                          </a:solidFill>
                          <a:latin typeface="KaiTi"/>
                          <a:ea typeface="KaiTi"/>
                          <a:cs typeface="KaiTi"/>
                        </a:rPr>
                        <a:t>亿元，管理境内外基金</a:t>
                      </a:r>
                      <a:r>
                        <a:rPr sz="900" kern="0" spc="100" dirty="0">
                          <a:solidFill>
                            <a:srgbClr val="000000">
                              <a:alpha val="100000"/>
                            </a:srgbClr>
                          </a:solidFill>
                          <a:latin typeface="Verdana"/>
                          <a:ea typeface="Verdana"/>
                          <a:cs typeface="Verdana"/>
                        </a:rPr>
                        <a:t>9</a:t>
                      </a:r>
                      <a:r>
                        <a:rPr sz="900" kern="0" spc="100" dirty="0">
                          <a:solidFill>
                            <a:srgbClr val="000000">
                              <a:alpha val="100000"/>
                            </a:srgbClr>
                          </a:solidFill>
                          <a:latin typeface="KaiTi"/>
                          <a:ea typeface="KaiTi"/>
                          <a:cs typeface="KaiTi"/>
                        </a:rPr>
                        <a:t>支，投</a:t>
                      </a:r>
                      <a:r>
                        <a:rPr sz="900" kern="0" spc="-1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资子基金近</a:t>
                      </a:r>
                      <a:r>
                        <a:rPr sz="900" kern="0" spc="90" dirty="0">
                          <a:solidFill>
                            <a:srgbClr val="000000">
                              <a:alpha val="100000"/>
                            </a:srgbClr>
                          </a:solidFill>
                          <a:latin typeface="Verdana"/>
                          <a:ea typeface="Verdana"/>
                          <a:cs typeface="Verdana"/>
                        </a:rPr>
                        <a:t>40</a:t>
                      </a:r>
                      <a:r>
                        <a:rPr sz="900" kern="0" spc="90" dirty="0">
                          <a:solidFill>
                            <a:srgbClr val="000000">
                              <a:alpha val="100000"/>
                            </a:srgbClr>
                          </a:solidFill>
                          <a:latin typeface="KaiTi"/>
                          <a:ea typeface="KaiTi"/>
                          <a:cs typeface="KaiTi"/>
                        </a:rPr>
                        <a:t>支，</a:t>
                      </a:r>
                      <a:r>
                        <a:rPr sz="900" kern="0" spc="-19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聚焦科技创新和“互</a:t>
                      </a:r>
                      <a:r>
                        <a:rPr sz="900" kern="0" spc="80" dirty="0">
                          <a:solidFill>
                            <a:srgbClr val="000000">
                              <a:alpha val="100000"/>
                            </a:srgbClr>
                          </a:solidFill>
                          <a:latin typeface="KaiTi"/>
                          <a:ea typeface="KaiTi"/>
                          <a:cs typeface="KaiTi"/>
                        </a:rPr>
                        <a:t>联网</a:t>
                      </a:r>
                      <a:r>
                        <a:rPr sz="900" kern="0" spc="80" dirty="0">
                          <a:solidFill>
                            <a:srgbClr val="000000">
                              <a:alpha val="100000"/>
                            </a:srgbClr>
                          </a:solidFill>
                          <a:latin typeface="Verdana"/>
                          <a:ea typeface="Verdana"/>
                          <a:cs typeface="Verdana"/>
                        </a:rPr>
                        <a:t>+”</a:t>
                      </a:r>
                      <a:endParaRPr sz="900" dirty="0">
                        <a:latin typeface="Verdana"/>
                        <a:ea typeface="Verdana"/>
                        <a:cs typeface="Verdana"/>
                      </a:endParaRPr>
                    </a:p>
                    <a:p>
                      <a:pPr algn="l" rtl="0" eaLnBrk="0">
                        <a:lnSpc>
                          <a:spcPct val="124000"/>
                        </a:lnSpc>
                        <a:tabLst/>
                      </a:pPr>
                      <a:endParaRPr sz="1000" dirty="0">
                        <a:latin typeface="Arial"/>
                        <a:ea typeface="Arial"/>
                        <a:cs typeface="Arial"/>
                      </a:endParaRPr>
                    </a:p>
                    <a:p>
                      <a:pPr marL="101600" indent="-3810" algn="l" rtl="0" eaLnBrk="0">
                        <a:lnSpc>
                          <a:spcPct val="111000"/>
                        </a:lnSpc>
                        <a:spcBef>
                          <a:spcPts val="281"/>
                        </a:spcBef>
                        <a:tabLst/>
                      </a:pPr>
                      <a:r>
                        <a:rPr sz="900" kern="0" spc="80" dirty="0">
                          <a:solidFill>
                            <a:srgbClr val="000000">
                              <a:alpha val="100000"/>
                            </a:srgbClr>
                          </a:solidFill>
                          <a:latin typeface="KaiTi"/>
                          <a:ea typeface="KaiTi"/>
                          <a:cs typeface="KaiTi"/>
                        </a:rPr>
                        <a:t>广东省人民政府授权经营的国有企业，</a:t>
                      </a:r>
                      <a:r>
                        <a:rPr sz="900" kern="0" spc="8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国内首家省</a:t>
                      </a:r>
                      <a:r>
                        <a:rPr sz="900" kern="0" spc="70" dirty="0">
                          <a:solidFill>
                            <a:srgbClr val="000000">
                              <a:alpha val="100000"/>
                            </a:srgbClr>
                          </a:solidFill>
                          <a:latin typeface="KaiTi"/>
                          <a:ea typeface="KaiTi"/>
                          <a:cs typeface="KaiTi"/>
                        </a:rPr>
                        <a:t>级国有科技金融集团，</a:t>
                      </a:r>
                      <a:r>
                        <a:rPr sz="900" kern="0" spc="-110" dirty="0">
                          <a:solidFill>
                            <a:srgbClr val="000000">
                              <a:alpha val="100000"/>
                            </a:srgbClr>
                          </a:solidFill>
                          <a:latin typeface="KaiTi"/>
                          <a:ea typeface="KaiTi"/>
                          <a:cs typeface="KaiTi"/>
                        </a:rPr>
                        <a:t> </a:t>
                      </a:r>
                      <a:r>
                        <a:rPr sz="900" kern="0" spc="70" dirty="0">
                          <a:solidFill>
                            <a:srgbClr val="000000">
                              <a:alpha val="100000"/>
                            </a:srgbClr>
                          </a:solidFill>
                          <a:latin typeface="KaiTi"/>
                          <a:ea typeface="KaiTi"/>
                          <a:cs typeface="KaiTi"/>
                        </a:rPr>
                        <a:t>成立于</a:t>
                      </a:r>
                      <a:r>
                        <a:rPr sz="900" kern="0" spc="70" dirty="0">
                          <a:solidFill>
                            <a:srgbClr val="000000">
                              <a:alpha val="100000"/>
                            </a:srgbClr>
                          </a:solidFill>
                          <a:latin typeface="Verdana"/>
                          <a:ea typeface="Verdana"/>
                          <a:cs typeface="Verdana"/>
                        </a:rPr>
                        <a:t>1992</a:t>
                      </a:r>
                      <a:r>
                        <a:rPr sz="900" kern="0" spc="70" dirty="0">
                          <a:solidFill>
                            <a:srgbClr val="000000">
                              <a:alpha val="100000"/>
                            </a:srgbClr>
                          </a:solidFill>
                          <a:latin typeface="KaiTi"/>
                          <a:ea typeface="KaiTi"/>
                          <a:cs typeface="KaiTi"/>
                        </a:rPr>
                        <a:t>年，截至</a:t>
                      </a:r>
                      <a:r>
                        <a:rPr sz="900" kern="0" spc="70" dirty="0">
                          <a:solidFill>
                            <a:srgbClr val="000000">
                              <a:alpha val="100000"/>
                            </a:srgbClr>
                          </a:solidFill>
                          <a:latin typeface="Verdana"/>
                          <a:ea typeface="Verdana"/>
                          <a:cs typeface="Verdana"/>
                        </a:rPr>
                        <a:t>2024</a:t>
                      </a:r>
                      <a:r>
                        <a:rPr sz="900" kern="0" spc="70" dirty="0">
                          <a:solidFill>
                            <a:srgbClr val="000000">
                              <a:alpha val="100000"/>
                            </a:srgbClr>
                          </a:solidFill>
                          <a:latin typeface="KaiTi"/>
                          <a:ea typeface="KaiTi"/>
                          <a:cs typeface="KaiTi"/>
                        </a:rPr>
                        <a:t>年</a:t>
                      </a:r>
                      <a:r>
                        <a:rPr sz="900" kern="0" spc="70" dirty="0">
                          <a:solidFill>
                            <a:srgbClr val="000000">
                              <a:alpha val="100000"/>
                            </a:srgbClr>
                          </a:solidFill>
                          <a:latin typeface="Verdana"/>
                          <a:ea typeface="Verdana"/>
                          <a:cs typeface="Verdana"/>
                        </a:rPr>
                        <a:t>6</a:t>
                      </a:r>
                      <a:r>
                        <a:rPr sz="900" kern="0" spc="0" dirty="0">
                          <a:solidFill>
                            <a:srgbClr val="000000">
                              <a:alpha val="100000"/>
                            </a:srgbClr>
                          </a:solidFill>
                          <a:latin typeface="Verdana"/>
                          <a:ea typeface="Verdana"/>
                          <a:cs typeface="Verdana"/>
                        </a:rPr>
                        <a:t>  </a:t>
                      </a:r>
                      <a:r>
                        <a:rPr sz="900" kern="0" spc="90" dirty="0">
                          <a:solidFill>
                            <a:srgbClr val="000000">
                              <a:alpha val="100000"/>
                            </a:srgbClr>
                          </a:solidFill>
                          <a:latin typeface="KaiTi"/>
                          <a:ea typeface="KaiTi"/>
                          <a:cs typeface="KaiTi"/>
                        </a:rPr>
                        <a:t>月底，</a:t>
                      </a:r>
                      <a:r>
                        <a:rPr sz="900" kern="0" spc="-27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粤科系基金规模</a:t>
                      </a:r>
                      <a:r>
                        <a:rPr sz="900" kern="0" spc="90" dirty="0">
                          <a:solidFill>
                            <a:srgbClr val="000000">
                              <a:alpha val="100000"/>
                            </a:srgbClr>
                          </a:solidFill>
                          <a:latin typeface="Verdana"/>
                          <a:ea typeface="Verdana"/>
                          <a:cs typeface="Verdana"/>
                        </a:rPr>
                        <a:t>1291</a:t>
                      </a:r>
                      <a:r>
                        <a:rPr sz="900" kern="0" spc="90" dirty="0">
                          <a:solidFill>
                            <a:srgbClr val="000000">
                              <a:alpha val="100000"/>
                            </a:srgbClr>
                          </a:solidFill>
                          <a:latin typeface="KaiTi"/>
                          <a:ea typeface="KaiTi"/>
                          <a:cs typeface="KaiTi"/>
                        </a:rPr>
                        <a:t>亿元，重点投资赛道为新能源</a:t>
                      </a:r>
                      <a:r>
                        <a:rPr sz="900" kern="0" spc="80" dirty="0">
                          <a:solidFill>
                            <a:srgbClr val="000000">
                              <a:alpha val="100000"/>
                            </a:srgbClr>
                          </a:solidFill>
                          <a:latin typeface="KaiTi"/>
                          <a:ea typeface="KaiTi"/>
                          <a:cs typeface="KaiTi"/>
                        </a:rPr>
                        <a:t>、人工智能、电子信息与先进制造。</a:t>
                      </a:r>
                      <a:endParaRPr sz="900" dirty="0">
                        <a:latin typeface="KaiTi"/>
                        <a:ea typeface="KaiTi"/>
                        <a:cs typeface="KaiTi"/>
                      </a:endParaRPr>
                    </a:p>
                    <a:p>
                      <a:pPr algn="l" rtl="0" eaLnBrk="0">
                        <a:lnSpc>
                          <a:spcPct val="125000"/>
                        </a:lnSpc>
                        <a:tabLst/>
                      </a:pPr>
                      <a:endParaRPr sz="1000" dirty="0">
                        <a:latin typeface="Arial"/>
                        <a:ea typeface="Arial"/>
                        <a:cs typeface="Arial"/>
                      </a:endParaRPr>
                    </a:p>
                    <a:p>
                      <a:pPr algn="l" rtl="0" eaLnBrk="0">
                        <a:lnSpc>
                          <a:spcPct val="113000"/>
                        </a:lnSpc>
                        <a:tabLst/>
                      </a:pPr>
                      <a:endParaRPr sz="200" dirty="0">
                        <a:latin typeface="Arial"/>
                        <a:ea typeface="Arial"/>
                        <a:cs typeface="Arial"/>
                      </a:endParaRPr>
                    </a:p>
                    <a:p>
                      <a:pPr marL="107950" indent="-10795" algn="l" rtl="0" eaLnBrk="0">
                        <a:lnSpc>
                          <a:spcPct val="99000"/>
                        </a:lnSpc>
                        <a:tabLst/>
                      </a:pPr>
                      <a:r>
                        <a:rPr sz="900" kern="0" spc="90" dirty="0">
                          <a:solidFill>
                            <a:srgbClr val="000000">
                              <a:alpha val="100000"/>
                            </a:srgbClr>
                          </a:solidFill>
                          <a:latin typeface="KaiTi"/>
                          <a:ea typeface="KaiTi"/>
                          <a:cs typeface="KaiTi"/>
                        </a:rPr>
                        <a:t>成立于</a:t>
                      </a:r>
                      <a:r>
                        <a:rPr sz="900" kern="0" spc="90" dirty="0">
                          <a:solidFill>
                            <a:srgbClr val="000000">
                              <a:alpha val="100000"/>
                            </a:srgbClr>
                          </a:solidFill>
                          <a:latin typeface="Verdana"/>
                          <a:ea typeface="Verdana"/>
                          <a:cs typeface="Verdana"/>
                        </a:rPr>
                        <a:t>2019</a:t>
                      </a:r>
                      <a:r>
                        <a:rPr sz="900" kern="0" spc="90" dirty="0">
                          <a:solidFill>
                            <a:srgbClr val="000000">
                              <a:alpha val="100000"/>
                            </a:srgbClr>
                          </a:solidFill>
                          <a:latin typeface="KaiTi"/>
                          <a:ea typeface="KaiTi"/>
                          <a:cs typeface="KaiTi"/>
                        </a:rPr>
                        <a:t>年，</a:t>
                      </a:r>
                      <a:r>
                        <a:rPr sz="900" kern="0" spc="-27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深</a:t>
                      </a:r>
                      <a:r>
                        <a:rPr sz="900" kern="0" spc="80" dirty="0">
                          <a:solidFill>
                            <a:srgbClr val="000000">
                              <a:alpha val="100000"/>
                            </a:srgbClr>
                          </a:solidFill>
                          <a:latin typeface="KaiTi"/>
                          <a:ea typeface="KaiTi"/>
                          <a:cs typeface="KaiTi"/>
                        </a:rPr>
                        <a:t>圳市南山区政府设立的国有独资公司，南山区战略直投平台，</a:t>
                      </a:r>
                      <a:r>
                        <a:rPr sz="900" kern="0" spc="-9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聚焦新一代信息技术、</a:t>
                      </a:r>
                      <a:r>
                        <a:rPr sz="900" kern="0" spc="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高端装备制造、生物</a:t>
                      </a:r>
                      <a:r>
                        <a:rPr sz="900" kern="0" spc="80" dirty="0">
                          <a:solidFill>
                            <a:srgbClr val="000000">
                              <a:alpha val="100000"/>
                            </a:srgbClr>
                          </a:solidFill>
                          <a:latin typeface="KaiTi"/>
                          <a:ea typeface="KaiTi"/>
                          <a:cs typeface="KaiTi"/>
                        </a:rPr>
                        <a:t>医药和数字经济。</a:t>
                      </a:r>
                      <a:endParaRPr sz="900" dirty="0">
                        <a:latin typeface="KaiTi"/>
                        <a:ea typeface="KaiTi"/>
                        <a:cs typeface="KaiTi"/>
                      </a:endParaRPr>
                    </a:p>
                  </a:txBody>
                  <a:tcPr marL="0" marR="0" marT="0" marB="0" vert="horz">
                    <a:lnL>
                      <a:noFill/>
                    </a:lnL>
                    <a:lnR>
                      <a:noFill/>
                    </a:lnR>
                    <a:lnT>
                      <a:noFill/>
                    </a:lnT>
                    <a:lnB>
                      <a:noFill/>
                    </a:lnB>
                  </a:tcPr>
                </a:tc>
                <a:tc>
                  <a:txBody>
                    <a:bodyPr/>
                    <a:lstStyle/>
                    <a:p>
                      <a:pPr algn="l" rtl="0" eaLnBrk="0">
                        <a:lnSpc>
                          <a:spcPct val="132000"/>
                        </a:lnSpc>
                        <a:tabLst/>
                      </a:pPr>
                      <a:endParaRPr sz="1000" dirty="0">
                        <a:latin typeface="Arial"/>
                        <a:ea typeface="Arial"/>
                        <a:cs typeface="Arial"/>
                      </a:endParaRPr>
                    </a:p>
                    <a:p>
                      <a:pPr marL="100964" algn="l" rtl="0" eaLnBrk="0">
                        <a:lnSpc>
                          <a:spcPct val="92000"/>
                        </a:lnSpc>
                        <a:spcBef>
                          <a:spcPts val="4"/>
                        </a:spcBef>
                        <a:tabLst/>
                      </a:pPr>
                      <a:r>
                        <a:rPr sz="900" kern="0" spc="90" dirty="0">
                          <a:solidFill>
                            <a:srgbClr val="000000">
                              <a:alpha val="100000"/>
                            </a:srgbClr>
                          </a:solidFill>
                          <a:latin typeface="KaiTi"/>
                          <a:ea typeface="KaiTi"/>
                          <a:cs typeface="KaiTi"/>
                        </a:rPr>
                        <a:t>星能玄光、威孚智感、太蓝新能源</a:t>
                      </a:r>
                      <a:endParaRPr sz="900" dirty="0">
                        <a:latin typeface="KaiTi"/>
                        <a:ea typeface="KaiTi"/>
                        <a:cs typeface="KaiTi"/>
                      </a:endParaRPr>
                    </a:p>
                    <a:p>
                      <a:pPr algn="l" rtl="0" eaLnBrk="0">
                        <a:lnSpc>
                          <a:spcPct val="120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marL="99060" algn="l" rtl="0" eaLnBrk="0">
                        <a:lnSpc>
                          <a:spcPct val="92000"/>
                        </a:lnSpc>
                        <a:spcBef>
                          <a:spcPts val="281"/>
                        </a:spcBef>
                        <a:tabLst/>
                      </a:pPr>
                      <a:r>
                        <a:rPr sz="900" kern="0" spc="90" dirty="0">
                          <a:solidFill>
                            <a:srgbClr val="000000">
                              <a:alpha val="100000"/>
                            </a:srgbClr>
                          </a:solidFill>
                          <a:latin typeface="KaiTi"/>
                          <a:ea typeface="KaiTi"/>
                          <a:cs typeface="KaiTi"/>
                        </a:rPr>
                        <a:t>孔辉科技、广东鸿图、禾多科技</a:t>
                      </a:r>
                      <a:endParaRPr sz="900" dirty="0">
                        <a:latin typeface="KaiTi"/>
                        <a:ea typeface="KaiTi"/>
                        <a:cs typeface="KaiTi"/>
                      </a:endParaRPr>
                    </a:p>
                    <a:p>
                      <a:pPr algn="l" rtl="0" eaLnBrk="0">
                        <a:lnSpc>
                          <a:spcPct val="120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algn="l" rtl="0" eaLnBrk="0">
                        <a:lnSpc>
                          <a:spcPct val="117000"/>
                        </a:lnSpc>
                        <a:tabLst/>
                      </a:pPr>
                      <a:endParaRPr sz="200" dirty="0">
                        <a:latin typeface="Arial"/>
                        <a:ea typeface="Arial"/>
                        <a:cs typeface="Arial"/>
                      </a:endParaRPr>
                    </a:p>
                    <a:p>
                      <a:pPr marL="97155" algn="l" rtl="0" eaLnBrk="0">
                        <a:lnSpc>
                          <a:spcPct val="92000"/>
                        </a:lnSpc>
                        <a:spcBef>
                          <a:spcPts val="1"/>
                        </a:spcBef>
                        <a:tabLst/>
                      </a:pPr>
                      <a:r>
                        <a:rPr sz="900" kern="0" spc="100" dirty="0">
                          <a:solidFill>
                            <a:srgbClr val="000000">
                              <a:alpha val="100000"/>
                            </a:srgbClr>
                          </a:solidFill>
                          <a:latin typeface="KaiTi"/>
                          <a:ea typeface="KaiTi"/>
                          <a:cs typeface="KaiTi"/>
                        </a:rPr>
                        <a:t>轻橙时代、芯网动力</a:t>
                      </a:r>
                      <a:r>
                        <a:rPr sz="900" kern="0" spc="90" dirty="0">
                          <a:solidFill>
                            <a:srgbClr val="000000">
                              <a:alpha val="100000"/>
                            </a:srgbClr>
                          </a:solidFill>
                          <a:latin typeface="KaiTi"/>
                          <a:ea typeface="KaiTi"/>
                          <a:cs typeface="KaiTi"/>
                        </a:rPr>
                        <a:t>、智安新能源</a:t>
                      </a:r>
                      <a:endParaRPr sz="900" dirty="0">
                        <a:latin typeface="KaiTi"/>
                        <a:ea typeface="KaiTi"/>
                        <a:cs typeface="KaiTi"/>
                      </a:endParaRPr>
                    </a:p>
                  </a:txBody>
                  <a:tcPr marL="0" marR="0" marT="0" marB="0" vert="horz">
                    <a:lnL>
                      <a:noFill/>
                    </a:lnL>
                    <a:lnR>
                      <a:noFill/>
                    </a:lnR>
                    <a:lnT>
                      <a:noFill/>
                    </a:lnT>
                    <a:lnB>
                      <a:noFill/>
                    </a:lnB>
                  </a:tcPr>
                </a:tc>
              </a:tr>
            </a:tbl>
          </a:graphicData>
        </a:graphic>
      </p:graphicFrame>
      <p:sp>
        <p:nvSpPr>
          <p:cNvPr id="776" name="textbox 776"/>
          <p:cNvSpPr/>
          <p:nvPr/>
        </p:nvSpPr>
        <p:spPr>
          <a:xfrm>
            <a:off x="566833" y="401828"/>
            <a:ext cx="11177905" cy="875030"/>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30" dirty="0">
                <a:solidFill>
                  <a:srgbClr val="BF756D">
                    <a:alpha val="100000"/>
                  </a:srgbClr>
                </a:solidFill>
                <a:latin typeface="Microsoft YaHei"/>
                <a:ea typeface="Microsoft YaHei"/>
                <a:cs typeface="Microsoft YaHei"/>
              </a:rPr>
              <a:t> 覆盖潜在机构推介 ——国资、</a:t>
            </a:r>
            <a:r>
              <a:rPr sz="2700" b="1" kern="0" spc="-410" dirty="0">
                <a:solidFill>
                  <a:srgbClr val="BF756D">
                    <a:alpha val="100000"/>
                  </a:srgbClr>
                </a:solidFill>
                <a:latin typeface="Microsoft YaHei"/>
                <a:ea typeface="Microsoft YaHei"/>
                <a:cs typeface="Microsoft YaHei"/>
              </a:rPr>
              <a:t> </a:t>
            </a:r>
            <a:r>
              <a:rPr sz="2700" b="1" kern="0" spc="30" dirty="0">
                <a:solidFill>
                  <a:srgbClr val="BF756D">
                    <a:alpha val="100000"/>
                  </a:srgbClr>
                </a:solidFill>
                <a:latin typeface="Microsoft YaHei"/>
                <a:ea typeface="Microsoft YaHei"/>
                <a:cs typeface="Microsoft YaHei"/>
              </a:rPr>
              <a:t>券商系基金                  </a:t>
            </a:r>
            <a:endParaRPr sz="2700" dirty="0">
              <a:latin typeface="Microsoft YaHei"/>
              <a:ea typeface="Microsoft YaHei"/>
              <a:cs typeface="Microsoft YaHei"/>
            </a:endParaRPr>
          </a:p>
          <a:p>
            <a:pPr algn="l" rtl="0" eaLnBrk="0">
              <a:lnSpc>
                <a:spcPct val="134000"/>
              </a:lnSpc>
              <a:tabLst/>
            </a:pPr>
            <a:endParaRPr sz="1000" dirty="0">
              <a:latin typeface="Arial"/>
              <a:ea typeface="Arial"/>
              <a:cs typeface="Arial"/>
            </a:endParaRPr>
          </a:p>
          <a:p>
            <a:pPr algn="l" rtl="0" eaLnBrk="0">
              <a:lnSpc>
                <a:spcPct val="101000"/>
              </a:lnSpc>
              <a:tabLst/>
            </a:pPr>
            <a:endParaRPr sz="300" dirty="0">
              <a:latin typeface="Arial"/>
              <a:ea typeface="Arial"/>
              <a:cs typeface="Arial"/>
            </a:endParaRPr>
          </a:p>
          <a:p>
            <a:pPr marL="960119" algn="l" rtl="0" eaLnBrk="0">
              <a:lnSpc>
                <a:spcPct val="90000"/>
              </a:lnSpc>
              <a:spcBef>
                <a:spcPts val="2"/>
              </a:spcBef>
              <a:tabLst/>
            </a:pPr>
            <a:r>
              <a:rPr sz="1200" b="1" kern="0" spc="0" dirty="0">
                <a:solidFill>
                  <a:srgbClr val="BF756D">
                    <a:alpha val="100000"/>
                  </a:srgbClr>
                </a:solidFill>
                <a:latin typeface="Microsoft YaHei"/>
                <a:ea typeface="Microsoft YaHei"/>
                <a:cs typeface="Microsoft YaHei"/>
              </a:rPr>
              <a:t>机构名称                                                                     机构介绍                                                                                  </a:t>
            </a:r>
            <a:r>
              <a:rPr sz="1200" b="1" kern="0" spc="-10" dirty="0">
                <a:solidFill>
                  <a:srgbClr val="BF756D">
                    <a:alpha val="100000"/>
                  </a:srgbClr>
                </a:solidFill>
                <a:latin typeface="Microsoft YaHei"/>
                <a:ea typeface="Microsoft YaHei"/>
                <a:cs typeface="Microsoft YaHei"/>
              </a:rPr>
              <a:t>  投资案例</a:t>
            </a:r>
            <a:endParaRPr sz="1200" dirty="0">
              <a:latin typeface="Microsoft YaHei"/>
              <a:ea typeface="Microsoft YaHei"/>
              <a:cs typeface="Microsoft YaHei"/>
            </a:endParaRPr>
          </a:p>
        </p:txBody>
      </p:sp>
      <p:pic>
        <p:nvPicPr>
          <p:cNvPr id="778" name="picture 778"/>
          <p:cNvPicPr>
            <a:picLocks noChangeAspect="1"/>
          </p:cNvPicPr>
          <p:nvPr/>
        </p:nvPicPr>
        <p:blipFill>
          <a:blip r:embed="rId2"/>
          <a:stretch>
            <a:fillRect/>
          </a:stretch>
        </p:blipFill>
        <p:spPr>
          <a:xfrm rot="21600000">
            <a:off x="9999186" y="414528"/>
            <a:ext cx="1616964" cy="365759"/>
          </a:xfrm>
          <a:prstGeom prst="rect">
            <a:avLst/>
          </a:prstGeom>
        </p:spPr>
      </p:pic>
      <p:grpSp>
        <p:nvGrpSpPr>
          <p:cNvPr id="56" name="group 56"/>
          <p:cNvGrpSpPr/>
          <p:nvPr/>
        </p:nvGrpSpPr>
        <p:grpSpPr>
          <a:xfrm rot="21600000">
            <a:off x="1085367" y="5942355"/>
            <a:ext cx="10432136" cy="548640"/>
            <a:chOff x="0" y="0"/>
            <a:chExt cx="10432136" cy="548640"/>
          </a:xfrm>
        </p:grpSpPr>
        <p:sp>
          <p:nvSpPr>
            <p:cNvPr id="780" name="textbox 780"/>
            <p:cNvSpPr/>
            <p:nvPr/>
          </p:nvSpPr>
          <p:spPr>
            <a:xfrm>
              <a:off x="0" y="0"/>
              <a:ext cx="10432415" cy="549275"/>
            </a:xfrm>
            <a:prstGeom prst="rect">
              <a:avLst/>
            </a:prstGeom>
            <a:solidFill>
              <a:srgbClr val="E9E9E9">
                <a:alpha val="100000"/>
              </a:srgbClr>
            </a:solidFill>
            <a:ln w="0" cap="flat">
              <a:noFill/>
              <a:prstDash val="solid"/>
              <a:miter lim="0"/>
            </a:ln>
          </p:spPr>
          <p:txBody>
            <a:bodyPr vert="horz" wrap="square" lIns="0" tIns="0" rIns="0" bIns="0"/>
            <a:lstStyle/>
            <a:p>
              <a:pPr algn="l" rtl="0" eaLnBrk="0">
                <a:lnSpc>
                  <a:spcPct val="129000"/>
                </a:lnSpc>
                <a:tabLst/>
              </a:pPr>
              <a:endParaRPr sz="300" dirty="0">
                <a:latin typeface="Arial"/>
                <a:ea typeface="Arial"/>
                <a:cs typeface="Arial"/>
              </a:endParaRPr>
            </a:p>
            <a:p>
              <a:pPr marL="1586230" algn="l" rtl="0" eaLnBrk="0">
                <a:lnSpc>
                  <a:spcPts val="1155"/>
                </a:lnSpc>
                <a:tabLst/>
              </a:pPr>
              <a:r>
                <a:rPr sz="900" kern="0" spc="90" dirty="0">
                  <a:solidFill>
                    <a:srgbClr val="000000">
                      <a:alpha val="100000"/>
                    </a:srgbClr>
                  </a:solidFill>
                  <a:latin typeface="KaiTi"/>
                  <a:ea typeface="KaiTi"/>
                  <a:cs typeface="KaiTi"/>
                </a:rPr>
                <a:t>成立于</a:t>
              </a:r>
              <a:r>
                <a:rPr sz="900" kern="0" spc="90" dirty="0">
                  <a:solidFill>
                    <a:srgbClr val="000000">
                      <a:alpha val="100000"/>
                    </a:srgbClr>
                  </a:solidFill>
                  <a:latin typeface="Verdana"/>
                  <a:ea typeface="Verdana"/>
                  <a:cs typeface="Verdana"/>
                </a:rPr>
                <a:t>2020</a:t>
              </a:r>
              <a:r>
                <a:rPr sz="900" kern="0" spc="90" dirty="0">
                  <a:solidFill>
                    <a:srgbClr val="000000">
                      <a:alpha val="100000"/>
                    </a:srgbClr>
                  </a:solidFill>
                  <a:latin typeface="KaiTi"/>
                  <a:ea typeface="KaiTi"/>
                  <a:cs typeface="KaiTi"/>
                </a:rPr>
                <a:t>年，</a:t>
              </a:r>
              <a:r>
                <a:rPr sz="900" kern="0" spc="-160" dirty="0">
                  <a:solidFill>
                    <a:srgbClr val="000000">
                      <a:alpha val="100000"/>
                    </a:srgbClr>
                  </a:solidFill>
                  <a:latin typeface="KaiTi"/>
                  <a:ea typeface="KaiTi"/>
                  <a:cs typeface="KaiTi"/>
                </a:rPr>
                <a:t> </a:t>
              </a:r>
              <a:r>
                <a:rPr sz="900" kern="0" spc="90" dirty="0">
                  <a:solidFill>
                    <a:srgbClr val="333333">
                      <a:alpha val="100000"/>
                    </a:srgbClr>
                  </a:solidFill>
                  <a:latin typeface="Microsoft YaHei"/>
                  <a:ea typeface="Microsoft YaHei"/>
                  <a:cs typeface="Microsoft YaHei"/>
                </a:rPr>
                <a:t>中国经济改革研究基金会和中国电子信息产业集团联合科技龙头</a:t>
              </a:r>
              <a:r>
                <a:rPr sz="900" kern="0" spc="80" dirty="0">
                  <a:solidFill>
                    <a:srgbClr val="333333">
                      <a:alpha val="100000"/>
                    </a:srgbClr>
                  </a:solidFill>
                  <a:latin typeface="Microsoft YaHei"/>
                  <a:ea typeface="Microsoft YaHei"/>
                  <a:cs typeface="Microsoft YaHei"/>
                </a:rPr>
                <a:t>企业、地方政府、金融</a:t>
              </a:r>
              <a:endParaRPr sz="900" dirty="0">
                <a:latin typeface="Microsoft YaHei"/>
                <a:ea typeface="Microsoft YaHei"/>
                <a:cs typeface="Microsoft YaHei"/>
              </a:endParaRPr>
            </a:p>
            <a:p>
              <a:pPr marL="1582419" algn="l" rtl="0" eaLnBrk="0">
                <a:lnSpc>
                  <a:spcPts val="1200"/>
                </a:lnSpc>
                <a:tabLst/>
              </a:pPr>
              <a:r>
                <a:rPr sz="900" kern="0" spc="90" dirty="0">
                  <a:solidFill>
                    <a:srgbClr val="333333">
                      <a:alpha val="100000"/>
                    </a:srgbClr>
                  </a:solidFill>
                  <a:latin typeface="Microsoft YaHei"/>
                  <a:ea typeface="Microsoft YaHei"/>
                  <a:cs typeface="Microsoft YaHei"/>
                </a:rPr>
                <a:t>机构共同发起设立的唯一一支专注粤港澳大湾区科创发展的战略投资基金，</a:t>
              </a:r>
              <a:r>
                <a:rPr sz="900" kern="0" spc="30" dirty="0">
                  <a:solidFill>
                    <a:srgbClr val="333333">
                      <a:alpha val="100000"/>
                    </a:srgbClr>
                  </a:solidFill>
                  <a:latin typeface="Microsoft YaHei"/>
                  <a:ea typeface="Microsoft YaHei"/>
                  <a:cs typeface="Microsoft YaHei"/>
                </a:rPr>
                <a:t> </a:t>
              </a:r>
              <a:r>
                <a:rPr sz="900" kern="0" spc="90" dirty="0">
                  <a:solidFill>
                    <a:srgbClr val="000000">
                      <a:alpha val="100000"/>
                    </a:srgbClr>
                  </a:solidFill>
                  <a:latin typeface="KaiTi"/>
                  <a:ea typeface="KaiTi"/>
                  <a:cs typeface="KaiTi"/>
                </a:rPr>
                <a:t>基金总规模</a:t>
              </a:r>
              <a:r>
                <a:rPr sz="900" kern="0" spc="90" dirty="0">
                  <a:solidFill>
                    <a:srgbClr val="000000">
                      <a:alpha val="100000"/>
                    </a:srgbClr>
                  </a:solidFill>
                  <a:latin typeface="Verdana"/>
                  <a:ea typeface="Verdana"/>
                  <a:cs typeface="Verdana"/>
                </a:rPr>
                <a:t>1000</a:t>
              </a:r>
              <a:r>
                <a:rPr sz="900" kern="0" spc="90" dirty="0">
                  <a:solidFill>
                    <a:srgbClr val="000000">
                      <a:alpha val="100000"/>
                    </a:srgbClr>
                  </a:solidFill>
                  <a:latin typeface="KaiTi"/>
                  <a:ea typeface="KaiTi"/>
                  <a:cs typeface="KaiTi"/>
                </a:rPr>
                <a:t>亿元，首期</a:t>
              </a:r>
              <a:endParaRPr sz="900" dirty="0">
                <a:latin typeface="KaiTi"/>
                <a:ea typeface="KaiTi"/>
                <a:cs typeface="KaiTi"/>
              </a:endParaRPr>
            </a:p>
            <a:p>
              <a:pPr marL="1584325" algn="l" rtl="0" eaLnBrk="0">
                <a:lnSpc>
                  <a:spcPts val="1154"/>
                </a:lnSpc>
                <a:tabLst/>
              </a:pPr>
              <a:r>
                <a:rPr sz="900" kern="0" spc="80" dirty="0">
                  <a:solidFill>
                    <a:srgbClr val="000000">
                      <a:alpha val="100000"/>
                    </a:srgbClr>
                  </a:solidFill>
                  <a:latin typeface="KaiTi"/>
                  <a:ea typeface="KaiTi"/>
                  <a:cs typeface="KaiTi"/>
                </a:rPr>
                <a:t>规模</a:t>
              </a:r>
              <a:r>
                <a:rPr sz="900" kern="0" spc="80" dirty="0">
                  <a:solidFill>
                    <a:srgbClr val="000000">
                      <a:alpha val="100000"/>
                    </a:srgbClr>
                  </a:solidFill>
                  <a:latin typeface="Verdana"/>
                  <a:ea typeface="Verdana"/>
                  <a:cs typeface="Verdana"/>
                </a:rPr>
                <a:t>200</a:t>
              </a:r>
              <a:r>
                <a:rPr sz="900" kern="0" spc="80" dirty="0">
                  <a:solidFill>
                    <a:srgbClr val="000000">
                      <a:alpha val="100000"/>
                    </a:srgbClr>
                  </a:solidFill>
                  <a:latin typeface="KaiTi"/>
                  <a:ea typeface="KaiTi"/>
                  <a:cs typeface="KaiTi"/>
                </a:rPr>
                <a:t>亿元。基金主要投向新一代信息技术、碳中和关键技术。</a:t>
              </a:r>
              <a:endParaRPr sz="900" dirty="0">
                <a:latin typeface="KaiTi"/>
                <a:ea typeface="KaiTi"/>
                <a:cs typeface="KaiTi"/>
              </a:endParaRPr>
            </a:p>
          </p:txBody>
        </p:sp>
        <p:sp>
          <p:nvSpPr>
            <p:cNvPr id="782" name="textbox 782"/>
            <p:cNvSpPr/>
            <p:nvPr/>
          </p:nvSpPr>
          <p:spPr>
            <a:xfrm>
              <a:off x="7654641" y="198708"/>
              <a:ext cx="1802764" cy="152400"/>
            </a:xfrm>
            <a:prstGeom prst="rect">
              <a:avLst/>
            </a:prstGeom>
            <a:noFill/>
            <a:ln w="0" cap="flat">
              <a:noFill/>
              <a:prstDash val="solid"/>
              <a:miter lim="0"/>
            </a:ln>
          </p:spPr>
          <p:txBody>
            <a:bodyPr vert="horz" wrap="square" lIns="0" tIns="0" rIns="0" bIns="0"/>
            <a:lstStyle/>
            <a:p>
              <a:pPr algn="l" rtl="0" eaLnBrk="0">
                <a:lnSpc>
                  <a:spcPct val="85420"/>
                </a:lnSpc>
                <a:tabLst/>
              </a:pPr>
              <a:endParaRPr sz="100" dirty="0">
                <a:latin typeface="Arial"/>
                <a:ea typeface="Arial"/>
                <a:cs typeface="Arial"/>
              </a:endParaRPr>
            </a:p>
            <a:p>
              <a:pPr marL="12700" algn="l" rtl="0" eaLnBrk="0">
                <a:lnSpc>
                  <a:spcPct val="92000"/>
                </a:lnSpc>
                <a:tabLst/>
              </a:pPr>
              <a:r>
                <a:rPr sz="900" kern="0" spc="100" dirty="0">
                  <a:solidFill>
                    <a:srgbClr val="000000">
                      <a:alpha val="100000"/>
                    </a:srgbClr>
                  </a:solidFill>
                  <a:latin typeface="KaiTi"/>
                  <a:ea typeface="KaiTi"/>
                  <a:cs typeface="KaiTi"/>
                </a:rPr>
                <a:t>佑驾创新、明珞装备、华大</a:t>
              </a:r>
              <a:r>
                <a:rPr sz="900" kern="0" spc="90" dirty="0">
                  <a:solidFill>
                    <a:srgbClr val="000000">
                      <a:alpha val="100000"/>
                    </a:srgbClr>
                  </a:solidFill>
                  <a:latin typeface="KaiTi"/>
                  <a:ea typeface="KaiTi"/>
                  <a:cs typeface="KaiTi"/>
                </a:rPr>
                <a:t>恒芯</a:t>
              </a:r>
              <a:endParaRPr sz="900" dirty="0">
                <a:latin typeface="KaiTi"/>
                <a:ea typeface="KaiTi"/>
                <a:cs typeface="KaiTi"/>
              </a:endParaRPr>
            </a:p>
          </p:txBody>
        </p:sp>
        <p:sp>
          <p:nvSpPr>
            <p:cNvPr id="784" name="textbox 784"/>
            <p:cNvSpPr/>
            <p:nvPr/>
          </p:nvSpPr>
          <p:spPr>
            <a:xfrm>
              <a:off x="419830" y="214769"/>
              <a:ext cx="654684" cy="160654"/>
            </a:xfrm>
            <a:prstGeom prst="rect">
              <a:avLst/>
            </a:prstGeom>
            <a:noFill/>
            <a:ln w="0" cap="flat">
              <a:noFill/>
              <a:prstDash val="solid"/>
              <a:miter lim="0"/>
            </a:ln>
          </p:spPr>
          <p:txBody>
            <a:bodyPr vert="horz" wrap="square" lIns="0" tIns="0" rIns="0" bIns="0"/>
            <a:lstStyle/>
            <a:p>
              <a:pPr algn="l" rtl="0" eaLnBrk="0">
                <a:lnSpc>
                  <a:spcPct val="87505"/>
                </a:lnSpc>
                <a:tabLst/>
              </a:pPr>
              <a:endParaRPr sz="100" dirty="0">
                <a:latin typeface="Arial"/>
                <a:ea typeface="Arial"/>
                <a:cs typeface="Arial"/>
              </a:endParaRPr>
            </a:p>
            <a:p>
              <a:pPr marL="12700" algn="l" rtl="0" eaLnBrk="0">
                <a:lnSpc>
                  <a:spcPct val="98000"/>
                </a:lnSpc>
                <a:tabLst/>
              </a:pPr>
              <a:r>
                <a:rPr sz="900" kern="0" spc="80" dirty="0">
                  <a:solidFill>
                    <a:srgbClr val="000000">
                      <a:alpha val="100000"/>
                    </a:srgbClr>
                  </a:solidFill>
                  <a:latin typeface="Microsoft YaHei"/>
                  <a:ea typeface="Microsoft YaHei"/>
                  <a:cs typeface="Microsoft YaHei"/>
                </a:rPr>
                <a:t>粤港澳科创</a:t>
              </a:r>
              <a:endParaRPr sz="900" dirty="0">
                <a:latin typeface="Microsoft YaHei"/>
                <a:ea typeface="Microsoft YaHei"/>
                <a:cs typeface="Microsoft YaHei"/>
              </a:endParaRPr>
            </a:p>
          </p:txBody>
        </p:sp>
      </p:grpSp>
      <p:grpSp>
        <p:nvGrpSpPr>
          <p:cNvPr id="58" name="group 58"/>
          <p:cNvGrpSpPr/>
          <p:nvPr/>
        </p:nvGrpSpPr>
        <p:grpSpPr>
          <a:xfrm rot="21600000">
            <a:off x="508711" y="1350136"/>
            <a:ext cx="583006" cy="5140858"/>
            <a:chOff x="0" y="0"/>
            <a:chExt cx="583006" cy="5140858"/>
          </a:xfrm>
        </p:grpSpPr>
        <p:sp>
          <p:nvSpPr>
            <p:cNvPr id="786" name="rect 786"/>
            <p:cNvSpPr/>
            <p:nvPr/>
          </p:nvSpPr>
          <p:spPr>
            <a:xfrm>
              <a:off x="0" y="25"/>
              <a:ext cx="576656" cy="5140833"/>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788" name="path 788"/>
            <p:cNvSpPr/>
            <p:nvPr/>
          </p:nvSpPr>
          <p:spPr>
            <a:xfrm>
              <a:off x="570306" y="0"/>
              <a:ext cx="12700" cy="5140858"/>
            </a:xfrm>
            <a:custGeom>
              <a:avLst/>
              <a:gdLst/>
              <a:ahLst/>
              <a:cxnLst/>
              <a:rect l="0" t="0" r="0" b="0"/>
              <a:pathLst>
                <a:path w="20" h="8095">
                  <a:moveTo>
                    <a:pt x="10" y="0"/>
                  </a:moveTo>
                  <a:lnTo>
                    <a:pt x="10" y="8095"/>
                  </a:lnTo>
                </a:path>
              </a:pathLst>
            </a:custGeom>
            <a:noFill/>
            <a:ln w="12700" cap="flat">
              <a:solidFill>
                <a:srgbClr val="000000"/>
              </a:solidFill>
              <a:prstDash val="solid"/>
              <a:round/>
            </a:ln>
          </p:spPr>
          <p:txBody>
            <a:bodyPr rtlCol="0"/>
            <a:lstStyle/>
            <a:p>
              <a:pPr algn="ctr"/>
              <a:endParaRPr lang="zh-CN" altLang="en-US"/>
            </a:p>
          </p:txBody>
        </p:sp>
        <p:sp>
          <p:nvSpPr>
            <p:cNvPr id="790" name="textbox 790"/>
            <p:cNvSpPr/>
            <p:nvPr/>
          </p:nvSpPr>
          <p:spPr>
            <a:xfrm>
              <a:off x="155927" y="2500153"/>
              <a:ext cx="271779" cy="1606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b="1" kern="0" spc="60" dirty="0">
                  <a:solidFill>
                    <a:srgbClr val="FFFFFF">
                      <a:alpha val="100000"/>
                    </a:srgbClr>
                  </a:solidFill>
                  <a:latin typeface="Microsoft YaHei"/>
                  <a:ea typeface="Microsoft YaHei"/>
                  <a:cs typeface="Microsoft YaHei"/>
                </a:rPr>
                <a:t>国资</a:t>
              </a:r>
              <a:endParaRPr sz="900" dirty="0">
                <a:latin typeface="Microsoft YaHei"/>
                <a:ea typeface="Microsoft YaHei"/>
                <a:cs typeface="Microsoft YaHei"/>
              </a:endParaRPr>
            </a:p>
          </p:txBody>
        </p:sp>
      </p:grpSp>
      <p:sp>
        <p:nvSpPr>
          <p:cNvPr id="792" name="textbox 792"/>
          <p:cNvSpPr/>
          <p:nvPr/>
        </p:nvSpPr>
        <p:spPr>
          <a:xfrm>
            <a:off x="2656574" y="1395277"/>
            <a:ext cx="5924550" cy="481965"/>
          </a:xfrm>
          <a:prstGeom prst="rect">
            <a:avLst/>
          </a:prstGeom>
          <a:noFill/>
          <a:ln w="0" cap="flat">
            <a:noFill/>
            <a:prstDash val="solid"/>
            <a:miter lim="0"/>
          </a:ln>
        </p:spPr>
        <p:txBody>
          <a:bodyPr vert="horz" wrap="square" lIns="0" tIns="0" rIns="0" bIns="0"/>
          <a:lstStyle/>
          <a:p>
            <a:pPr algn="l" rtl="0" eaLnBrk="0">
              <a:lnSpc>
                <a:spcPct val="80056"/>
              </a:lnSpc>
              <a:tabLst/>
            </a:pPr>
            <a:endParaRPr sz="100" dirty="0">
              <a:latin typeface="Arial"/>
              <a:ea typeface="Arial"/>
              <a:cs typeface="Arial"/>
            </a:endParaRPr>
          </a:p>
          <a:p>
            <a:pPr marL="12700" indent="1905" algn="l" rtl="0" eaLnBrk="0">
              <a:lnSpc>
                <a:spcPct val="111000"/>
              </a:lnSpc>
              <a:tabLst/>
            </a:pPr>
            <a:r>
              <a:rPr sz="900" kern="0" spc="100" dirty="0">
                <a:solidFill>
                  <a:srgbClr val="000000">
                    <a:alpha val="100000"/>
                  </a:srgbClr>
                </a:solidFill>
                <a:latin typeface="KaiTi"/>
                <a:ea typeface="KaiTi"/>
                <a:cs typeface="KaiTi"/>
              </a:rPr>
              <a:t>成立于</a:t>
            </a:r>
            <a:r>
              <a:rPr sz="900" kern="0" spc="100" dirty="0">
                <a:solidFill>
                  <a:srgbClr val="000000">
                    <a:alpha val="100000"/>
                  </a:srgbClr>
                </a:solidFill>
                <a:latin typeface="Verdana"/>
                <a:ea typeface="Verdana"/>
                <a:cs typeface="Verdana"/>
              </a:rPr>
              <a:t>1999</a:t>
            </a:r>
            <a:r>
              <a:rPr sz="900" kern="0" spc="100" dirty="0">
                <a:solidFill>
                  <a:srgbClr val="000000">
                    <a:alpha val="100000"/>
                  </a:srgbClr>
                </a:solidFill>
                <a:latin typeface="KaiTi"/>
                <a:ea typeface="KaiTi"/>
                <a:cs typeface="KaiTi"/>
              </a:rPr>
              <a:t>年，是以风险投资为核</a:t>
            </a:r>
            <a:r>
              <a:rPr sz="900" kern="0" spc="90" dirty="0">
                <a:solidFill>
                  <a:srgbClr val="000000">
                    <a:alpha val="100000"/>
                  </a:srgbClr>
                </a:solidFill>
                <a:latin typeface="KaiTi"/>
                <a:ea typeface="KaiTi"/>
                <a:cs typeface="KaiTi"/>
              </a:rPr>
              <a:t>心的国有综合性投资集团，累计管理各类资金总规模超</a:t>
            </a:r>
            <a:r>
              <a:rPr sz="900" kern="0" spc="90" dirty="0">
                <a:solidFill>
                  <a:srgbClr val="000000">
                    <a:alpha val="100000"/>
                  </a:srgbClr>
                </a:solidFill>
                <a:latin typeface="Verdana"/>
                <a:ea typeface="Verdana"/>
                <a:cs typeface="Verdana"/>
              </a:rPr>
              <a:t>5100</a:t>
            </a:r>
            <a:r>
              <a:rPr sz="900" kern="0" spc="90" dirty="0">
                <a:solidFill>
                  <a:srgbClr val="000000">
                    <a:alpha val="100000"/>
                  </a:srgbClr>
                </a:solidFill>
                <a:latin typeface="KaiTi"/>
                <a:ea typeface="KaiTi"/>
                <a:cs typeface="KaiTi"/>
              </a:rPr>
              <a:t>亿元，投</a:t>
            </a:r>
            <a:r>
              <a:rPr sz="900" kern="0" spc="100" dirty="0">
                <a:solidFill>
                  <a:srgbClr val="000000">
                    <a:alpha val="100000"/>
                  </a:srgbClr>
                </a:solidFill>
                <a:latin typeface="KaiTi"/>
                <a:ea typeface="KaiTi"/>
                <a:cs typeface="KaiTi"/>
              </a:rPr>
              <a:t>资企业数量超</a:t>
            </a:r>
            <a:r>
              <a:rPr sz="900" kern="0" spc="100" dirty="0">
                <a:solidFill>
                  <a:srgbClr val="000000">
                    <a:alpha val="100000"/>
                  </a:srgbClr>
                </a:solidFill>
                <a:latin typeface="Verdana"/>
                <a:ea typeface="Verdana"/>
                <a:cs typeface="Verdana"/>
              </a:rPr>
              <a:t>1700</a:t>
            </a:r>
            <a:r>
              <a:rPr sz="900" kern="0" spc="100" dirty="0">
                <a:solidFill>
                  <a:srgbClr val="000000">
                    <a:alpha val="100000"/>
                  </a:srgbClr>
                </a:solidFill>
                <a:latin typeface="KaiTi"/>
                <a:ea typeface="KaiTi"/>
                <a:cs typeface="KaiTi"/>
              </a:rPr>
              <a:t>家，重点关注信息科技</a:t>
            </a:r>
            <a:r>
              <a:rPr sz="900" kern="0" spc="90" dirty="0">
                <a:solidFill>
                  <a:srgbClr val="000000">
                    <a:alpha val="100000"/>
                  </a:srgbClr>
                </a:solidFill>
                <a:latin typeface="KaiTi"/>
                <a:ea typeface="KaiTi"/>
                <a:cs typeface="KaiTi"/>
              </a:rPr>
              <a:t>、智能制造、互联网、消费品</a:t>
            </a:r>
            <a:r>
              <a:rPr sz="900" kern="0" spc="90" dirty="0">
                <a:solidFill>
                  <a:srgbClr val="000000">
                    <a:alpha val="100000"/>
                  </a:srgbClr>
                </a:solidFill>
                <a:latin typeface="Verdana"/>
                <a:ea typeface="Verdana"/>
                <a:cs typeface="Verdana"/>
              </a:rPr>
              <a:t>/</a:t>
            </a:r>
            <a:r>
              <a:rPr sz="900" kern="0" spc="90" dirty="0">
                <a:solidFill>
                  <a:srgbClr val="000000">
                    <a:alpha val="100000"/>
                  </a:srgbClr>
                </a:solidFill>
                <a:latin typeface="KaiTi"/>
                <a:ea typeface="KaiTi"/>
                <a:cs typeface="KaiTi"/>
              </a:rPr>
              <a:t>现代服务、生物技术</a:t>
            </a:r>
            <a:r>
              <a:rPr sz="900" kern="0" spc="90" dirty="0">
                <a:solidFill>
                  <a:srgbClr val="000000">
                    <a:alpha val="100000"/>
                  </a:srgbClr>
                </a:solidFill>
                <a:latin typeface="Verdana"/>
                <a:ea typeface="Verdana"/>
                <a:cs typeface="Verdana"/>
              </a:rPr>
              <a:t>/</a:t>
            </a:r>
            <a:r>
              <a:rPr sz="900" kern="0" spc="90" dirty="0">
                <a:solidFill>
                  <a:srgbClr val="000000">
                    <a:alpha val="100000"/>
                  </a:srgbClr>
                </a:solidFill>
                <a:latin typeface="KaiTi"/>
                <a:ea typeface="KaiTi"/>
                <a:cs typeface="KaiTi"/>
              </a:rPr>
              <a:t>健康、新材</a:t>
            </a:r>
            <a:r>
              <a:rPr sz="900" kern="0" spc="90" dirty="0">
                <a:solidFill>
                  <a:srgbClr val="000000">
                    <a:alpha val="100000"/>
                  </a:srgbClr>
                </a:solidFill>
                <a:latin typeface="KaiTi"/>
                <a:ea typeface="KaiTi"/>
                <a:cs typeface="KaiTi"/>
              </a:rPr>
              <a:t>料、新能源</a:t>
            </a:r>
            <a:r>
              <a:rPr sz="900" kern="0" spc="90" dirty="0">
                <a:solidFill>
                  <a:srgbClr val="000000">
                    <a:alpha val="100000"/>
                  </a:srgbClr>
                </a:solidFill>
                <a:latin typeface="Verdana"/>
                <a:ea typeface="Verdana"/>
                <a:cs typeface="Verdana"/>
              </a:rPr>
              <a:t>/</a:t>
            </a:r>
            <a:r>
              <a:rPr sz="900" kern="0" spc="90" dirty="0">
                <a:solidFill>
                  <a:srgbClr val="000000">
                    <a:alpha val="100000"/>
                  </a:srgbClr>
                </a:solidFill>
                <a:latin typeface="KaiTi"/>
                <a:ea typeface="KaiTi"/>
                <a:cs typeface="KaiTi"/>
              </a:rPr>
              <a:t>节能环保</a:t>
            </a:r>
            <a:endParaRPr sz="900" dirty="0">
              <a:latin typeface="KaiTi"/>
              <a:ea typeface="KaiTi"/>
              <a:cs typeface="KaiTi"/>
            </a:endParaRPr>
          </a:p>
        </p:txBody>
      </p:sp>
      <p:sp>
        <p:nvSpPr>
          <p:cNvPr id="794" name="textbox 794"/>
          <p:cNvSpPr/>
          <p:nvPr/>
        </p:nvSpPr>
        <p:spPr>
          <a:xfrm>
            <a:off x="8758223" y="1547677"/>
            <a:ext cx="1656714" cy="152400"/>
          </a:xfrm>
          <a:prstGeom prst="rect">
            <a:avLst/>
          </a:prstGeom>
          <a:noFill/>
          <a:ln w="0" cap="flat">
            <a:noFill/>
            <a:prstDash val="solid"/>
            <a:miter lim="0"/>
          </a:ln>
        </p:spPr>
        <p:txBody>
          <a:bodyPr vert="horz" wrap="square" lIns="0" tIns="0" rIns="0" bIns="0"/>
          <a:lstStyle/>
          <a:p>
            <a:pPr algn="l" rtl="0" eaLnBrk="0">
              <a:lnSpc>
                <a:spcPct val="85419"/>
              </a:lnSpc>
              <a:tabLst/>
            </a:pPr>
            <a:endParaRPr sz="100" dirty="0">
              <a:latin typeface="Arial"/>
              <a:ea typeface="Arial"/>
              <a:cs typeface="Arial"/>
            </a:endParaRPr>
          </a:p>
          <a:p>
            <a:pPr marL="12700" algn="l" rtl="0" eaLnBrk="0">
              <a:lnSpc>
                <a:spcPct val="92000"/>
              </a:lnSpc>
              <a:tabLst/>
            </a:pPr>
            <a:r>
              <a:rPr sz="900" kern="0" spc="90" dirty="0">
                <a:solidFill>
                  <a:srgbClr val="000000">
                    <a:alpha val="100000"/>
                  </a:srgbClr>
                </a:solidFill>
                <a:latin typeface="KaiTi"/>
                <a:ea typeface="KaiTi"/>
                <a:cs typeface="KaiTi"/>
              </a:rPr>
              <a:t>同驭汽车、孔辉科技</a:t>
            </a:r>
            <a:r>
              <a:rPr sz="900" kern="0" spc="80" dirty="0">
                <a:solidFill>
                  <a:srgbClr val="000000">
                    <a:alpha val="100000"/>
                  </a:srgbClr>
                </a:solidFill>
                <a:latin typeface="KaiTi"/>
                <a:ea typeface="KaiTi"/>
                <a:cs typeface="KaiTi"/>
              </a:rPr>
              <a:t>、越洋达</a:t>
            </a:r>
            <a:endParaRPr sz="900" dirty="0">
              <a:latin typeface="KaiTi"/>
              <a:ea typeface="KaiTi"/>
              <a:cs typeface="KaiTi"/>
            </a:endParaRPr>
          </a:p>
        </p:txBody>
      </p:sp>
      <p:sp>
        <p:nvSpPr>
          <p:cNvPr id="796" name="textbox 796"/>
          <p:cNvSpPr/>
          <p:nvPr/>
        </p:nvSpPr>
        <p:spPr>
          <a:xfrm>
            <a:off x="1630036" y="1564290"/>
            <a:ext cx="403225"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80" dirty="0">
                <a:solidFill>
                  <a:srgbClr val="000000">
                    <a:alpha val="100000"/>
                  </a:srgbClr>
                </a:solidFill>
                <a:latin typeface="Microsoft YaHei"/>
                <a:ea typeface="Microsoft YaHei"/>
                <a:cs typeface="Microsoft YaHei"/>
              </a:rPr>
              <a:t>深创投</a:t>
            </a:r>
            <a:endParaRPr sz="900" dirty="0">
              <a:latin typeface="Microsoft YaHei"/>
              <a:ea typeface="Microsoft YaHei"/>
              <a:cs typeface="Microsoft YaHe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 name="table 798"/>
          <p:cNvGraphicFramePr>
            <a:graphicFrameLocks noGrp="1"/>
          </p:cNvGraphicFramePr>
          <p:nvPr/>
        </p:nvGraphicFramePr>
        <p:xfrm>
          <a:off x="1085367" y="2094560"/>
          <a:ext cx="10431779" cy="2149475"/>
        </p:xfrm>
        <a:graphic>
          <a:graphicData uri="http://schemas.openxmlformats.org/drawingml/2006/table">
            <a:tbl>
              <a:tblPr/>
              <a:tblGrid>
                <a:gridCol w="1489075"/>
                <a:gridCol w="6084569"/>
                <a:gridCol w="681355"/>
                <a:gridCol w="2176779"/>
              </a:tblGrid>
              <a:tr h="313054">
                <a:tc gridSpan="4">
                  <a:txBody>
                    <a:bodyPr/>
                    <a:lstStyle/>
                    <a:p>
                      <a:pPr algn="l" rtl="0" eaLnBrk="0">
                        <a:lnSpc>
                          <a:spcPct val="119000"/>
                        </a:lnSpc>
                        <a:tabLst/>
                      </a:pPr>
                      <a:endParaRPr sz="1000" dirty="0">
                        <a:latin typeface="Arial"/>
                        <a:ea typeface="Arial"/>
                        <a:cs typeface="Arial"/>
                      </a:endParaRPr>
                    </a:p>
                    <a:p>
                      <a:pPr marL="1581785" algn="l" rtl="0" eaLnBrk="0">
                        <a:lnSpc>
                          <a:spcPct val="91000"/>
                        </a:lnSpc>
                        <a:spcBef>
                          <a:spcPts val="4"/>
                        </a:spcBef>
                        <a:tabLst/>
                      </a:pPr>
                      <a:r>
                        <a:rPr sz="900" kern="0" spc="90" dirty="0">
                          <a:solidFill>
                            <a:srgbClr val="000000">
                              <a:alpha val="100000"/>
                            </a:srgbClr>
                          </a:solidFill>
                          <a:latin typeface="Microsoft YaHei"/>
                          <a:ea typeface="Microsoft YaHei"/>
                          <a:cs typeface="Microsoft YaHei"/>
                        </a:rPr>
                        <a:t>成立于2013年，是华泰证券100%控股的另类投资子公司，注册资本人民币35亿元，以金融科技、人工智</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hMerge="1">
                  <a:txBody>
                    <a:bodyPr/>
                    <a:lstStyle/>
                    <a:p>
                      <a:endParaRPr/>
                    </a:p>
                  </a:txBody>
                  <a:tcPr marL="0" marR="0" marT="0" marB="0" vert="horz">
                    <a:lnL>
                      <a:noFill/>
                    </a:lnL>
                    <a:lnR>
                      <a:noFill/>
                    </a:lnR>
                    <a:lnT>
                      <a:noFill/>
                    </a:lnT>
                    <a:lnB>
                      <a:noFill/>
                    </a:lnB>
                    <a:solidFill>
                      <a:srgbClr val="F2F2F2"/>
                    </a:solidFill>
                  </a:tcPr>
                </a:tc>
                <a:tc hMerge="1">
                  <a:txBody>
                    <a:bodyPr/>
                    <a:lstStyle/>
                    <a:p>
                      <a:endParaRPr/>
                    </a:p>
                  </a:txBody>
                  <a:tcPr marL="0" marR="0" marT="0" marB="0" vert="horz">
                    <a:lnL>
                      <a:noFill/>
                    </a:lnL>
                    <a:lnR>
                      <a:noFill/>
                    </a:lnR>
                    <a:lnT>
                      <a:noFill/>
                    </a:lnT>
                    <a:lnB>
                      <a:noFill/>
                    </a:lnB>
                    <a:solidFill>
                      <a:srgbClr val="F2F2F2"/>
                    </a:solidFill>
                  </a:tcPr>
                </a:tc>
                <a:tc hMerge="1">
                  <a:txBody>
                    <a:bodyPr/>
                    <a:lstStyle/>
                    <a:p>
                      <a:endParaRPr/>
                    </a:p>
                  </a:txBody>
                  <a:tcPr marL="0" marR="0" marT="0" marB="0" vert="horz">
                    <a:lnL>
                      <a:noFill/>
                    </a:lnL>
                    <a:lnR>
                      <a:noFill/>
                    </a:lnR>
                    <a:lnT>
                      <a:noFill/>
                    </a:lnT>
                    <a:lnB>
                      <a:noFill/>
                    </a:lnB>
                    <a:solidFill>
                      <a:srgbClr val="F2F2F2"/>
                    </a:solidFill>
                  </a:tcPr>
                </a:tc>
              </a:tr>
              <a:tr h="457834">
                <a:tc>
                  <a:txBody>
                    <a:bodyPr/>
                    <a:lstStyle/>
                    <a:p>
                      <a:pPr algn="l" rtl="0" eaLnBrk="0">
                        <a:lnSpc>
                          <a:spcPct val="168000"/>
                        </a:lnSpc>
                        <a:tabLst/>
                      </a:pPr>
                      <a:endParaRPr sz="100" dirty="0">
                        <a:latin typeface="Arial"/>
                        <a:ea typeface="Arial"/>
                        <a:cs typeface="Arial"/>
                      </a:endParaRPr>
                    </a:p>
                    <a:p>
                      <a:pPr marL="493394" algn="l" rtl="0" eaLnBrk="0">
                        <a:lnSpc>
                          <a:spcPct val="98000"/>
                        </a:lnSpc>
                        <a:spcBef>
                          <a:spcPts val="1"/>
                        </a:spcBef>
                        <a:tabLst/>
                      </a:pPr>
                      <a:r>
                        <a:rPr sz="900" kern="0" spc="80" dirty="0">
                          <a:solidFill>
                            <a:srgbClr val="000000">
                              <a:alpha val="100000"/>
                            </a:srgbClr>
                          </a:solidFill>
                          <a:latin typeface="Microsoft YaHei"/>
                          <a:ea typeface="Microsoft YaHei"/>
                          <a:cs typeface="Microsoft YaHei"/>
                        </a:rPr>
                        <a:t>华泰创新</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50712"/>
                        </a:lnSpc>
                        <a:tabLst/>
                      </a:pPr>
                      <a:endParaRPr sz="100" dirty="0">
                        <a:latin typeface="Arial"/>
                        <a:ea typeface="Arial"/>
                        <a:cs typeface="Arial"/>
                      </a:endParaRPr>
                    </a:p>
                    <a:p>
                      <a:pPr marL="103504" indent="-9525" algn="l" rtl="0" eaLnBrk="0">
                        <a:lnSpc>
                          <a:spcPct val="107000"/>
                        </a:lnSpc>
                        <a:tabLst/>
                      </a:pPr>
                      <a:r>
                        <a:rPr sz="900" kern="0" spc="100" dirty="0">
                          <a:solidFill>
                            <a:srgbClr val="000000">
                              <a:alpha val="100000"/>
                            </a:srgbClr>
                          </a:solidFill>
                          <a:latin typeface="Microsoft YaHei"/>
                          <a:ea typeface="Microsoft YaHei"/>
                          <a:cs typeface="Microsoft YaHei"/>
                        </a:rPr>
                        <a:t>能、财富管理、机构服务业务为主要投资方向。目前关注</a:t>
                      </a:r>
                      <a:r>
                        <a:rPr sz="900" kern="0" spc="100" dirty="0">
                          <a:solidFill>
                            <a:srgbClr val="000000">
                              <a:alpha val="100000"/>
                            </a:srgbClr>
                          </a:solidFill>
                          <a:latin typeface="KaiTi"/>
                          <a:ea typeface="KaiTi"/>
                          <a:cs typeface="KaiTi"/>
                        </a:rPr>
                        <a:t>人工智能、智能汽车、自动驾驶、低空经济、具</a:t>
                      </a:r>
                      <a:r>
                        <a:rPr sz="900" kern="0" spc="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身智能等方向</a:t>
                      </a:r>
                      <a:endParaRPr sz="900" dirty="0">
                        <a:latin typeface="KaiTi"/>
                        <a:ea typeface="KaiTi"/>
                        <a:cs typeface="KaiTi"/>
                      </a:endParaRPr>
                    </a:p>
                  </a:txBody>
                  <a:tcPr marL="0" marR="0" marT="0" marB="0" vert="horz">
                    <a:lnL>
                      <a:noFill/>
                    </a:lnL>
                    <a:lnR>
                      <a:noFill/>
                    </a:lnR>
                    <a:lnT>
                      <a:noFill/>
                    </a:lnT>
                    <a:lnB>
                      <a:noFill/>
                    </a:lnB>
                    <a:solidFill>
                      <a:srgbClr val="F2F2F2"/>
                    </a:solidFill>
                  </a:tcPr>
                </a:tc>
                <a:tc>
                  <a:txBody>
                    <a:bodyPr/>
                    <a:lstStyle/>
                    <a:p>
                      <a:pPr algn="l" rtl="0" eaLnBrk="0">
                        <a:lnSpc>
                          <a:spcPct val="138000"/>
                        </a:lnSpc>
                        <a:tabLst/>
                      </a:pPr>
                      <a:endParaRPr sz="100" dirty="0">
                        <a:latin typeface="Arial"/>
                        <a:ea typeface="Arial"/>
                        <a:cs typeface="Arial"/>
                      </a:endParaRPr>
                    </a:p>
                    <a:p>
                      <a:pPr marL="95250" algn="l" rtl="0" eaLnBrk="0">
                        <a:lnSpc>
                          <a:spcPct val="98000"/>
                        </a:lnSpc>
                        <a:tabLst/>
                      </a:pPr>
                      <a:r>
                        <a:rPr sz="900" kern="0" spc="-60" dirty="0">
                          <a:solidFill>
                            <a:srgbClr val="000000">
                              <a:alpha val="100000"/>
                            </a:srgbClr>
                          </a:solidFill>
                          <a:latin typeface="Microsoft YaHei"/>
                          <a:ea typeface="Microsoft YaHei"/>
                          <a:cs typeface="Microsoft YaHei"/>
                        </a:rPr>
                        <a:t>孚能科技、</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38000"/>
                        </a:lnSpc>
                        <a:tabLst/>
                      </a:pPr>
                      <a:endParaRPr sz="100" dirty="0">
                        <a:latin typeface="Arial"/>
                        <a:ea typeface="Arial"/>
                        <a:cs typeface="Arial"/>
                      </a:endParaRPr>
                    </a:p>
                    <a:p>
                      <a:pPr marL="46355" algn="l" rtl="0" eaLnBrk="0">
                        <a:lnSpc>
                          <a:spcPct val="98000"/>
                        </a:lnSpc>
                        <a:tabLst/>
                      </a:pPr>
                      <a:r>
                        <a:rPr sz="900" kern="0" spc="90" dirty="0">
                          <a:solidFill>
                            <a:srgbClr val="000000">
                              <a:alpha val="100000"/>
                            </a:srgbClr>
                          </a:solidFill>
                          <a:latin typeface="Microsoft YaHei"/>
                          <a:ea typeface="Microsoft YaHei"/>
                          <a:cs typeface="Microsoft YaHei"/>
                        </a:rPr>
                        <a:t>星球石墨、常熟标准件</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870585">
                <a:tc>
                  <a:txBody>
                    <a:bodyPr/>
                    <a:lstStyle/>
                    <a:p>
                      <a:pPr algn="l" rtl="0" eaLnBrk="0">
                        <a:lnSpc>
                          <a:spcPct val="127000"/>
                        </a:lnSpc>
                        <a:tabLst/>
                      </a:pPr>
                      <a:endParaRPr sz="1000" dirty="0">
                        <a:latin typeface="Arial"/>
                        <a:ea typeface="Arial"/>
                        <a:cs typeface="Arial"/>
                      </a:endParaRPr>
                    </a:p>
                    <a:p>
                      <a:pPr algn="l" rtl="0" eaLnBrk="0">
                        <a:lnSpc>
                          <a:spcPct val="128000"/>
                        </a:lnSpc>
                        <a:tabLst/>
                      </a:pPr>
                      <a:endParaRPr sz="1000" dirty="0">
                        <a:latin typeface="Arial"/>
                        <a:ea typeface="Arial"/>
                        <a:cs typeface="Arial"/>
                      </a:endParaRPr>
                    </a:p>
                    <a:p>
                      <a:pPr marL="492759" algn="l" rtl="0" eaLnBrk="0">
                        <a:lnSpc>
                          <a:spcPct val="98000"/>
                        </a:lnSpc>
                        <a:spcBef>
                          <a:spcPts val="2"/>
                        </a:spcBef>
                        <a:tabLst/>
                      </a:pPr>
                      <a:r>
                        <a:rPr sz="900" kern="0" spc="90" dirty="0">
                          <a:solidFill>
                            <a:srgbClr val="000000">
                              <a:alpha val="100000"/>
                            </a:srgbClr>
                          </a:solidFill>
                          <a:latin typeface="Microsoft YaHei"/>
                          <a:ea typeface="Microsoft YaHei"/>
                          <a:cs typeface="Microsoft YaHei"/>
                        </a:rPr>
                        <a:t>海通创意</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04000"/>
                        </a:lnSpc>
                        <a:tabLst/>
                      </a:pPr>
                      <a:endParaRPr sz="900" dirty="0">
                        <a:latin typeface="Arial"/>
                        <a:ea typeface="Arial"/>
                        <a:cs typeface="Arial"/>
                      </a:endParaRPr>
                    </a:p>
                    <a:p>
                      <a:pPr marL="93344" indent="-635" algn="l" rtl="0" eaLnBrk="0">
                        <a:lnSpc>
                          <a:spcPct val="109000"/>
                        </a:lnSpc>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2012</a:t>
                      </a:r>
                      <a:r>
                        <a:rPr sz="900" kern="0" spc="90" dirty="0">
                          <a:solidFill>
                            <a:srgbClr val="000000">
                              <a:alpha val="100000"/>
                            </a:srgbClr>
                          </a:solidFill>
                          <a:latin typeface="Microsoft YaHei"/>
                          <a:ea typeface="Microsoft YaHei"/>
                          <a:cs typeface="Microsoft YaHei"/>
                        </a:rPr>
                        <a:t>年，是</a:t>
                      </a:r>
                      <a:r>
                        <a:rPr sz="900" kern="0" spc="90" dirty="0">
                          <a:solidFill>
                            <a:srgbClr val="000000">
                              <a:alpha val="100000"/>
                            </a:srgbClr>
                          </a:solidFill>
                          <a:latin typeface="KaiTi"/>
                          <a:ea typeface="KaiTi"/>
                          <a:cs typeface="KaiTi"/>
                        </a:rPr>
                        <a:t>海通证券旗下专注于文化和互联网领域的私募股权投</a:t>
                      </a:r>
                      <a:r>
                        <a:rPr sz="900" kern="0" spc="80" dirty="0">
                          <a:solidFill>
                            <a:srgbClr val="000000">
                              <a:alpha val="100000"/>
                            </a:srgbClr>
                          </a:solidFill>
                          <a:latin typeface="KaiTi"/>
                          <a:ea typeface="KaiTi"/>
                          <a:cs typeface="KaiTi"/>
                        </a:rPr>
                        <a:t>资平台，</a:t>
                      </a:r>
                      <a:r>
                        <a:rPr sz="900" kern="0" spc="80" dirty="0">
                          <a:solidFill>
                            <a:srgbClr val="000000">
                              <a:alpha val="100000"/>
                            </a:srgbClr>
                          </a:solidFill>
                          <a:latin typeface="Microsoft YaHei"/>
                          <a:ea typeface="Microsoft YaHei"/>
                          <a:cs typeface="Microsoft YaHei"/>
                        </a:rPr>
                        <a:t>管理资产规模超</a:t>
                      </a:r>
                      <a:r>
                        <a:rPr sz="900" kern="0" spc="80" dirty="0">
                          <a:solidFill>
                            <a:srgbClr val="000000">
                              <a:alpha val="100000"/>
                            </a:srgbClr>
                          </a:solidFill>
                          <a:latin typeface="Arial"/>
                          <a:ea typeface="Arial"/>
                          <a:cs typeface="Arial"/>
                        </a:rPr>
                        <a:t>110</a:t>
                      </a:r>
                      <a:r>
                        <a:rPr sz="900" kern="0" spc="80" dirty="0">
                          <a:solidFill>
                            <a:srgbClr val="000000">
                              <a:alpha val="100000"/>
                            </a:srgbClr>
                          </a:solidFill>
                          <a:latin typeface="Microsoft YaHei"/>
                          <a:ea typeface="Microsoft YaHei"/>
                          <a:cs typeface="Microsoft YaHei"/>
                        </a:rPr>
                        <a:t>亿元，</a:t>
                      </a:r>
                      <a:r>
                        <a:rPr sz="900" kern="0" spc="100" dirty="0">
                          <a:solidFill>
                            <a:srgbClr val="000000">
                              <a:alpha val="100000"/>
                            </a:srgbClr>
                          </a:solidFill>
                          <a:latin typeface="KaiTi"/>
                          <a:ea typeface="KaiTi"/>
                          <a:cs typeface="KaiTi"/>
                        </a:rPr>
                        <a:t>目前管理着央视融媒体产业投资基金，上海文化产业股权投资基金及广东南方媒体融合产业基</a:t>
                      </a:r>
                      <a:r>
                        <a:rPr sz="900" kern="0" spc="90" dirty="0">
                          <a:solidFill>
                            <a:srgbClr val="000000">
                              <a:alpha val="100000"/>
                            </a:srgbClr>
                          </a:solidFill>
                          <a:latin typeface="KaiTi"/>
                          <a:ea typeface="KaiTi"/>
                          <a:cs typeface="KaiTi"/>
                        </a:rPr>
                        <a:t>金等多支大</a:t>
                      </a:r>
                      <a:r>
                        <a:rPr sz="900" kern="0" spc="-10" dirty="0">
                          <a:solidFill>
                            <a:srgbClr val="000000">
                              <a:alpha val="100000"/>
                            </a:srgbClr>
                          </a:solidFill>
                          <a:latin typeface="KaiTi"/>
                          <a:ea typeface="KaiTi"/>
                          <a:cs typeface="KaiTi"/>
                        </a:rPr>
                        <a:t> </a:t>
                      </a:r>
                      <a:r>
                        <a:rPr sz="900" kern="0" spc="70" dirty="0">
                          <a:solidFill>
                            <a:srgbClr val="000000">
                              <a:alpha val="100000"/>
                            </a:srgbClr>
                          </a:solidFill>
                          <a:latin typeface="KaiTi"/>
                          <a:ea typeface="KaiTi"/>
                          <a:cs typeface="KaiTi"/>
                        </a:rPr>
                        <a:t>型文化产业基金，</a:t>
                      </a:r>
                      <a:r>
                        <a:rPr sz="900" kern="0" spc="-70" dirty="0">
                          <a:solidFill>
                            <a:srgbClr val="000000">
                              <a:alpha val="100000"/>
                            </a:srgbClr>
                          </a:solidFill>
                          <a:latin typeface="KaiTi"/>
                          <a:ea typeface="KaiTi"/>
                          <a:cs typeface="KaiTi"/>
                        </a:rPr>
                        <a:t> </a:t>
                      </a:r>
                      <a:r>
                        <a:rPr sz="900" kern="0" spc="70" dirty="0">
                          <a:solidFill>
                            <a:srgbClr val="000000">
                              <a:alpha val="100000"/>
                            </a:srgbClr>
                          </a:solidFill>
                          <a:latin typeface="KaiTi"/>
                          <a:ea typeface="KaiTi"/>
                          <a:cs typeface="KaiTi"/>
                        </a:rPr>
                        <a:t>实际到位资金近</a:t>
                      </a:r>
                      <a:r>
                        <a:rPr sz="900" kern="0" spc="70" dirty="0">
                          <a:solidFill>
                            <a:srgbClr val="000000">
                              <a:alpha val="100000"/>
                            </a:srgbClr>
                          </a:solidFill>
                          <a:latin typeface="Verdana"/>
                          <a:ea typeface="Verdana"/>
                          <a:cs typeface="Verdana"/>
                        </a:rPr>
                        <a:t>120</a:t>
                      </a:r>
                      <a:r>
                        <a:rPr sz="900" kern="0" spc="70" dirty="0">
                          <a:solidFill>
                            <a:srgbClr val="000000">
                              <a:alpha val="100000"/>
                            </a:srgbClr>
                          </a:solidFill>
                          <a:latin typeface="KaiTi"/>
                          <a:ea typeface="KaiTi"/>
                          <a:cs typeface="KaiTi"/>
                        </a:rPr>
                        <a:t>亿元，</a:t>
                      </a:r>
                      <a:r>
                        <a:rPr sz="900" kern="0" spc="-230" dirty="0">
                          <a:solidFill>
                            <a:srgbClr val="000000">
                              <a:alpha val="100000"/>
                            </a:srgbClr>
                          </a:solidFill>
                          <a:latin typeface="KaiTi"/>
                          <a:ea typeface="KaiTi"/>
                          <a:cs typeface="KaiTi"/>
                        </a:rPr>
                        <a:t> </a:t>
                      </a:r>
                      <a:r>
                        <a:rPr sz="900" kern="0" spc="70" dirty="0">
                          <a:solidFill>
                            <a:srgbClr val="000000">
                              <a:alpha val="100000"/>
                            </a:srgbClr>
                          </a:solidFill>
                          <a:latin typeface="Microsoft YaHei"/>
                          <a:ea typeface="Microsoft YaHei"/>
                          <a:cs typeface="Microsoft YaHei"/>
                        </a:rPr>
                        <a:t>重点关注文化及互联网经济赛道，</a:t>
                      </a:r>
                      <a:r>
                        <a:rPr sz="900" kern="0" spc="10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KaiTi"/>
                          <a:ea typeface="KaiTi"/>
                          <a:cs typeface="KaiTi"/>
                        </a:rPr>
                        <a:t>算力、存储、通信、机</a:t>
                      </a:r>
                      <a:r>
                        <a:rPr sz="900" kern="0" spc="60" dirty="0">
                          <a:solidFill>
                            <a:srgbClr val="000000">
                              <a:alpha val="100000"/>
                            </a:srgbClr>
                          </a:solidFill>
                          <a:latin typeface="KaiTi"/>
                          <a:ea typeface="KaiTi"/>
                          <a:cs typeface="KaiTi"/>
                        </a:rPr>
                        <a:t>器</a:t>
                      </a:r>
                      <a:r>
                        <a:rPr sz="900" kern="0" spc="0" dirty="0">
                          <a:solidFill>
                            <a:srgbClr val="000000">
                              <a:alpha val="100000"/>
                            </a:srgbClr>
                          </a:solidFill>
                          <a:latin typeface="KaiTi"/>
                          <a:ea typeface="KaiTi"/>
                          <a:cs typeface="KaiTi"/>
                        </a:rPr>
                        <a:t> </a:t>
                      </a:r>
                      <a:r>
                        <a:rPr sz="900" kern="0" spc="130" dirty="0">
                          <a:solidFill>
                            <a:srgbClr val="000000">
                              <a:alpha val="100000"/>
                            </a:srgbClr>
                          </a:solidFill>
                          <a:latin typeface="KaiTi"/>
                          <a:ea typeface="KaiTi"/>
                          <a:cs typeface="KaiTi"/>
                        </a:rPr>
                        <a:t>人本体、具身智能、</a:t>
                      </a:r>
                      <a:r>
                        <a:rPr sz="900" kern="0" spc="0" dirty="0">
                          <a:solidFill>
                            <a:srgbClr val="000000">
                              <a:alpha val="100000"/>
                            </a:srgbClr>
                          </a:solidFill>
                          <a:latin typeface="Verdana"/>
                          <a:ea typeface="Verdana"/>
                          <a:cs typeface="Verdana"/>
                        </a:rPr>
                        <a:t>AIGC</a:t>
                      </a:r>
                      <a:r>
                        <a:rPr sz="900" kern="0" spc="130" dirty="0">
                          <a:solidFill>
                            <a:srgbClr val="000000">
                              <a:alpha val="100000"/>
                            </a:srgbClr>
                          </a:solidFill>
                          <a:latin typeface="KaiTi"/>
                          <a:ea typeface="KaiTi"/>
                          <a:cs typeface="KaiTi"/>
                        </a:rPr>
                        <a:t>、</a:t>
                      </a:r>
                      <a:r>
                        <a:rPr sz="900" kern="0" spc="120" dirty="0">
                          <a:solidFill>
                            <a:srgbClr val="000000">
                              <a:alpha val="100000"/>
                            </a:srgbClr>
                          </a:solidFill>
                          <a:latin typeface="KaiTi"/>
                          <a:ea typeface="KaiTi"/>
                          <a:cs typeface="KaiTi"/>
                        </a:rPr>
                        <a:t>智能驾驶、</a:t>
                      </a:r>
                      <a:r>
                        <a:rPr sz="900" kern="0" spc="-170" dirty="0">
                          <a:solidFill>
                            <a:srgbClr val="000000">
                              <a:alpha val="100000"/>
                            </a:srgbClr>
                          </a:solidFill>
                          <a:latin typeface="KaiTi"/>
                          <a:ea typeface="KaiTi"/>
                          <a:cs typeface="KaiTi"/>
                        </a:rPr>
                        <a:t> </a:t>
                      </a:r>
                      <a:r>
                        <a:rPr sz="900" kern="0" spc="0" dirty="0">
                          <a:solidFill>
                            <a:srgbClr val="000000">
                              <a:alpha val="100000"/>
                            </a:srgbClr>
                          </a:solidFill>
                          <a:latin typeface="Verdana"/>
                          <a:ea typeface="Verdana"/>
                          <a:cs typeface="Verdana"/>
                        </a:rPr>
                        <a:t>IP</a:t>
                      </a:r>
                      <a:r>
                        <a:rPr sz="900" kern="0" spc="120" dirty="0">
                          <a:solidFill>
                            <a:srgbClr val="000000">
                              <a:alpha val="100000"/>
                            </a:srgbClr>
                          </a:solidFill>
                          <a:latin typeface="KaiTi"/>
                          <a:ea typeface="KaiTi"/>
                          <a:cs typeface="KaiTi"/>
                        </a:rPr>
                        <a:t>、</a:t>
                      </a:r>
                      <a:r>
                        <a:rPr sz="900" kern="0" spc="0" dirty="0">
                          <a:solidFill>
                            <a:srgbClr val="000000">
                              <a:alpha val="100000"/>
                            </a:srgbClr>
                          </a:solidFill>
                          <a:latin typeface="Verdana"/>
                          <a:ea typeface="Verdana"/>
                          <a:cs typeface="Verdana"/>
                        </a:rPr>
                        <a:t>VR</a:t>
                      </a:r>
                      <a:r>
                        <a:rPr sz="900" kern="0" spc="120" dirty="0">
                          <a:solidFill>
                            <a:srgbClr val="000000">
                              <a:alpha val="100000"/>
                            </a:srgbClr>
                          </a:solidFill>
                          <a:latin typeface="KaiTi"/>
                          <a:ea typeface="KaiTi"/>
                          <a:cs typeface="KaiTi"/>
                        </a:rPr>
                        <a:t>、</a:t>
                      </a:r>
                      <a:r>
                        <a:rPr sz="900" kern="0" spc="0" dirty="0">
                          <a:solidFill>
                            <a:srgbClr val="000000">
                              <a:alpha val="100000"/>
                            </a:srgbClr>
                          </a:solidFill>
                          <a:latin typeface="Verdana"/>
                          <a:ea typeface="Verdana"/>
                          <a:cs typeface="Verdana"/>
                        </a:rPr>
                        <a:t>MR</a:t>
                      </a:r>
                      <a:r>
                        <a:rPr sz="900" kern="0" spc="120" dirty="0">
                          <a:solidFill>
                            <a:srgbClr val="000000">
                              <a:alpha val="100000"/>
                            </a:srgbClr>
                          </a:solidFill>
                          <a:latin typeface="KaiTi"/>
                          <a:ea typeface="KaiTi"/>
                          <a:cs typeface="KaiTi"/>
                        </a:rPr>
                        <a:t>、</a:t>
                      </a:r>
                      <a:r>
                        <a:rPr sz="900" kern="0" spc="0" dirty="0">
                          <a:solidFill>
                            <a:srgbClr val="000000">
                              <a:alpha val="100000"/>
                            </a:srgbClr>
                          </a:solidFill>
                          <a:latin typeface="Verdana"/>
                          <a:ea typeface="Verdana"/>
                          <a:cs typeface="Verdana"/>
                        </a:rPr>
                        <a:t>AR</a:t>
                      </a:r>
                      <a:r>
                        <a:rPr sz="900" kern="0" spc="120" dirty="0">
                          <a:solidFill>
                            <a:srgbClr val="000000">
                              <a:alpha val="100000"/>
                            </a:srgbClr>
                          </a:solidFill>
                          <a:latin typeface="KaiTi"/>
                          <a:ea typeface="KaiTi"/>
                          <a:cs typeface="KaiTi"/>
                        </a:rPr>
                        <a:t>等领域</a:t>
                      </a:r>
                      <a:endParaRPr sz="900" dirty="0">
                        <a:latin typeface="KaiTi"/>
                        <a:ea typeface="KaiTi"/>
                        <a:cs typeface="KaiTi"/>
                      </a:endParaRPr>
                    </a:p>
                  </a:txBody>
                  <a:tcPr marL="0" marR="0" marT="0" marB="0" vert="horz">
                    <a:lnL>
                      <a:noFill/>
                    </a:lnL>
                    <a:lnR>
                      <a:noFill/>
                    </a:lnR>
                    <a:lnT>
                      <a:noFill/>
                    </a:lnT>
                    <a:lnB>
                      <a:noFill/>
                    </a:lnB>
                  </a:tcPr>
                </a:tc>
                <a:tc>
                  <a:txBody>
                    <a:bodyPr/>
                    <a:lstStyle/>
                    <a:p>
                      <a:pPr algn="l" rtl="0" eaLnBrk="0">
                        <a:lnSpc>
                          <a:spcPct val="126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marL="93344" algn="l" rtl="0" eaLnBrk="0">
                        <a:lnSpc>
                          <a:spcPct val="98000"/>
                        </a:lnSpc>
                        <a:spcBef>
                          <a:spcPts val="2"/>
                        </a:spcBef>
                        <a:tabLst/>
                      </a:pPr>
                      <a:r>
                        <a:rPr sz="900" kern="0" spc="-60" dirty="0">
                          <a:solidFill>
                            <a:srgbClr val="000000">
                              <a:alpha val="100000"/>
                            </a:srgbClr>
                          </a:solidFill>
                          <a:latin typeface="Microsoft YaHei"/>
                          <a:ea typeface="Microsoft YaHei"/>
                          <a:cs typeface="Microsoft YaHei"/>
                        </a:rPr>
                        <a:t>广汽埃安、</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26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marL="46355" algn="l" rtl="0" eaLnBrk="0">
                        <a:lnSpc>
                          <a:spcPct val="98000"/>
                        </a:lnSpc>
                        <a:spcBef>
                          <a:spcPts val="2"/>
                        </a:spcBef>
                        <a:tabLst/>
                      </a:pPr>
                      <a:r>
                        <a:rPr sz="900" kern="0" spc="90" dirty="0">
                          <a:solidFill>
                            <a:srgbClr val="000000">
                              <a:alpha val="100000"/>
                            </a:srgbClr>
                          </a:solidFill>
                          <a:latin typeface="Microsoft YaHei"/>
                          <a:ea typeface="Microsoft YaHei"/>
                          <a:cs typeface="Microsoft YaHei"/>
                        </a:rPr>
                        <a:t>武汉新芯、长控集团</a:t>
                      </a:r>
                      <a:endParaRPr sz="900" dirty="0">
                        <a:latin typeface="Microsoft YaHei"/>
                        <a:ea typeface="Microsoft YaHei"/>
                        <a:cs typeface="Microsoft YaHei"/>
                      </a:endParaRPr>
                    </a:p>
                  </a:txBody>
                  <a:tcPr marL="0" marR="0" marT="0" marB="0" vert="horz">
                    <a:lnL>
                      <a:noFill/>
                    </a:lnL>
                    <a:lnR>
                      <a:noFill/>
                    </a:lnR>
                    <a:lnT>
                      <a:noFill/>
                    </a:lnT>
                    <a:lnB>
                      <a:noFill/>
                    </a:lnB>
                  </a:tcPr>
                </a:tc>
              </a:tr>
              <a:tr h="508000">
                <a:tc>
                  <a:txBody>
                    <a:bodyPr/>
                    <a:lstStyle/>
                    <a:p>
                      <a:pPr algn="l" rtl="0" eaLnBrk="0">
                        <a:lnSpc>
                          <a:spcPct val="136000"/>
                        </a:lnSpc>
                        <a:tabLst/>
                      </a:pPr>
                      <a:endParaRPr sz="1000" dirty="0">
                        <a:latin typeface="Arial"/>
                        <a:ea typeface="Arial"/>
                        <a:cs typeface="Arial"/>
                      </a:endParaRPr>
                    </a:p>
                    <a:p>
                      <a:pPr marL="500380" algn="l" rtl="0" eaLnBrk="0">
                        <a:lnSpc>
                          <a:spcPct val="98000"/>
                        </a:lnSpc>
                        <a:spcBef>
                          <a:spcPts val="4"/>
                        </a:spcBef>
                        <a:tabLst/>
                      </a:pPr>
                      <a:r>
                        <a:rPr sz="900" kern="0" spc="70" dirty="0">
                          <a:solidFill>
                            <a:srgbClr val="000000">
                              <a:alpha val="100000"/>
                            </a:srgbClr>
                          </a:solidFill>
                          <a:latin typeface="Microsoft YaHei"/>
                          <a:ea typeface="Microsoft YaHei"/>
                          <a:cs typeface="Microsoft YaHei"/>
                        </a:rPr>
                        <a:t>国寿资本</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07000"/>
                        </a:lnSpc>
                        <a:tabLst/>
                      </a:pPr>
                      <a:endParaRPr sz="700" dirty="0">
                        <a:latin typeface="Arial"/>
                        <a:ea typeface="Arial"/>
                        <a:cs typeface="Arial"/>
                      </a:endParaRPr>
                    </a:p>
                    <a:p>
                      <a:pPr marL="97155" indent="-4444" algn="l" rtl="0" eaLnBrk="0">
                        <a:lnSpc>
                          <a:spcPct val="114000"/>
                        </a:lnSpc>
                        <a:spcBef>
                          <a:spcPts val="1"/>
                        </a:spcBef>
                        <a:tabLst/>
                      </a:pPr>
                      <a:r>
                        <a:rPr sz="900" kern="0" spc="90" dirty="0">
                          <a:solidFill>
                            <a:srgbClr val="000000">
                              <a:alpha val="100000"/>
                            </a:srgbClr>
                          </a:solidFill>
                          <a:latin typeface="Microsoft YaHei"/>
                          <a:ea typeface="Microsoft YaHei"/>
                          <a:cs typeface="Microsoft YaHei"/>
                        </a:rPr>
                        <a:t>成立于2007年，</a:t>
                      </a:r>
                      <a:r>
                        <a:rPr sz="900" kern="0" spc="-4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KaiTi"/>
                          <a:ea typeface="KaiTi"/>
                          <a:cs typeface="KaiTi"/>
                        </a:rPr>
                        <a:t>是中国人寿旗下国寿投资公</a:t>
                      </a:r>
                      <a:r>
                        <a:rPr sz="900" kern="0" spc="80" dirty="0">
                          <a:solidFill>
                            <a:srgbClr val="000000">
                              <a:alpha val="100000"/>
                            </a:srgbClr>
                          </a:solidFill>
                          <a:latin typeface="KaiTi"/>
                          <a:ea typeface="KaiTi"/>
                          <a:cs typeface="KaiTi"/>
                        </a:rPr>
                        <a:t>司全资持有的基金管理平台，</a:t>
                      </a:r>
                      <a:r>
                        <a:rPr sz="900" kern="0" spc="-16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管理基金及产品超</a:t>
                      </a:r>
                      <a:r>
                        <a:rPr sz="900" kern="0" spc="80" dirty="0">
                          <a:solidFill>
                            <a:srgbClr val="000000">
                              <a:alpha val="100000"/>
                            </a:srgbClr>
                          </a:solidFill>
                          <a:latin typeface="Verdana"/>
                          <a:ea typeface="Verdana"/>
                          <a:cs typeface="Verdana"/>
                        </a:rPr>
                        <a:t>30</a:t>
                      </a:r>
                      <a:r>
                        <a:rPr sz="900" kern="0" spc="80" dirty="0">
                          <a:solidFill>
                            <a:srgbClr val="000000">
                              <a:alpha val="100000"/>
                            </a:srgbClr>
                          </a:solidFill>
                          <a:latin typeface="KaiTi"/>
                          <a:ea typeface="KaiTi"/>
                          <a:cs typeface="KaiTi"/>
                        </a:rPr>
                        <a:t>只，累计</a:t>
                      </a:r>
                      <a:r>
                        <a:rPr sz="900" kern="0" spc="0" dirty="0">
                          <a:solidFill>
                            <a:srgbClr val="000000">
                              <a:alpha val="100000"/>
                            </a:srgbClr>
                          </a:solidFill>
                          <a:latin typeface="KaiTi"/>
                          <a:ea typeface="KaiTi"/>
                          <a:cs typeface="KaiTi"/>
                        </a:rPr>
                        <a:t>  </a:t>
                      </a:r>
                      <a:r>
                        <a:rPr sz="900" kern="0" spc="80" dirty="0">
                          <a:solidFill>
                            <a:srgbClr val="000000">
                              <a:alpha val="100000"/>
                            </a:srgbClr>
                          </a:solidFill>
                          <a:latin typeface="KaiTi"/>
                          <a:ea typeface="KaiTi"/>
                          <a:cs typeface="KaiTi"/>
                        </a:rPr>
                        <a:t>签约规模超</a:t>
                      </a:r>
                      <a:r>
                        <a:rPr sz="900" kern="0" spc="80" dirty="0">
                          <a:solidFill>
                            <a:srgbClr val="000000">
                              <a:alpha val="100000"/>
                            </a:srgbClr>
                          </a:solidFill>
                          <a:latin typeface="Verdana"/>
                          <a:ea typeface="Verdana"/>
                          <a:cs typeface="Verdana"/>
                        </a:rPr>
                        <a:t>2100</a:t>
                      </a:r>
                      <a:r>
                        <a:rPr sz="900" kern="0" spc="80" dirty="0">
                          <a:solidFill>
                            <a:srgbClr val="000000">
                              <a:alpha val="100000"/>
                            </a:srgbClr>
                          </a:solidFill>
                          <a:latin typeface="KaiTi"/>
                          <a:ea typeface="KaiTi"/>
                          <a:cs typeface="KaiTi"/>
                        </a:rPr>
                        <a:t>亿元。偏好稳健类型项目。</a:t>
                      </a:r>
                      <a:endParaRPr sz="900" dirty="0">
                        <a:latin typeface="KaiTi"/>
                        <a:ea typeface="KaiTi"/>
                        <a:cs typeface="KaiTi"/>
                      </a:endParaRPr>
                    </a:p>
                  </a:txBody>
                  <a:tcPr marL="0" marR="0" marT="0" marB="0" vert="horz">
                    <a:lnL>
                      <a:noFill/>
                    </a:lnL>
                    <a:lnR>
                      <a:noFill/>
                    </a:lnR>
                    <a:lnT>
                      <a:noFill/>
                    </a:lnT>
                    <a:lnB>
                      <a:noFill/>
                    </a:lnB>
                    <a:solidFill>
                      <a:srgbClr val="F2F2F2"/>
                    </a:solidFill>
                  </a:tcPr>
                </a:tc>
                <a:tc>
                  <a:txBody>
                    <a:bodyPr/>
                    <a:lstStyle/>
                    <a:p>
                      <a:pPr algn="l" rtl="0" eaLnBrk="0">
                        <a:lnSpc>
                          <a:spcPct val="133000"/>
                        </a:lnSpc>
                        <a:tabLst/>
                      </a:pPr>
                      <a:endParaRPr sz="1000" dirty="0">
                        <a:latin typeface="Arial"/>
                        <a:ea typeface="Arial"/>
                        <a:cs typeface="Arial"/>
                      </a:endParaRPr>
                    </a:p>
                    <a:p>
                      <a:pPr marL="93980" algn="l" rtl="0" eaLnBrk="0">
                        <a:lnSpc>
                          <a:spcPct val="98000"/>
                        </a:lnSpc>
                        <a:spcBef>
                          <a:spcPts val="4"/>
                        </a:spcBef>
                        <a:tabLst/>
                      </a:pPr>
                      <a:r>
                        <a:rPr sz="900" kern="0" spc="-60" dirty="0">
                          <a:solidFill>
                            <a:srgbClr val="000000">
                              <a:alpha val="100000"/>
                            </a:srgbClr>
                          </a:solidFill>
                          <a:latin typeface="Microsoft YaHei"/>
                          <a:ea typeface="Microsoft YaHei"/>
                          <a:cs typeface="Microsoft YaHei"/>
                        </a:rPr>
                        <a:t>威晟汽车、</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33000"/>
                        </a:lnSpc>
                        <a:tabLst/>
                      </a:pPr>
                      <a:endParaRPr sz="1000" dirty="0">
                        <a:latin typeface="Arial"/>
                        <a:ea typeface="Arial"/>
                        <a:cs typeface="Arial"/>
                      </a:endParaRPr>
                    </a:p>
                    <a:p>
                      <a:pPr marL="44450" algn="l" rtl="0" eaLnBrk="0">
                        <a:lnSpc>
                          <a:spcPct val="98000"/>
                        </a:lnSpc>
                        <a:spcBef>
                          <a:spcPts val="4"/>
                        </a:spcBef>
                        <a:tabLst/>
                      </a:pPr>
                      <a:r>
                        <a:rPr sz="900" kern="0" spc="90" dirty="0">
                          <a:solidFill>
                            <a:srgbClr val="000000">
                              <a:alpha val="100000"/>
                            </a:srgbClr>
                          </a:solidFill>
                          <a:latin typeface="Microsoft YaHei"/>
                          <a:ea typeface="Microsoft YaHei"/>
                          <a:cs typeface="Microsoft YaHei"/>
                        </a:rPr>
                        <a:t>斑马智行、沐曦集成电路</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bl>
          </a:graphicData>
        </a:graphic>
      </p:graphicFrame>
      <p:sp>
        <p:nvSpPr>
          <p:cNvPr id="800" name="textbox 800"/>
          <p:cNvSpPr/>
          <p:nvPr/>
        </p:nvSpPr>
        <p:spPr>
          <a:xfrm>
            <a:off x="2570597" y="4371879"/>
            <a:ext cx="6108700" cy="1800225"/>
          </a:xfrm>
          <a:prstGeom prst="rect">
            <a:avLst/>
          </a:prstGeom>
          <a:noFill/>
          <a:ln w="0" cap="flat">
            <a:noFill/>
            <a:prstDash val="solid"/>
            <a:miter lim="0"/>
          </a:ln>
        </p:spPr>
        <p:txBody>
          <a:bodyPr vert="horz" wrap="square" lIns="0" tIns="0" rIns="0" bIns="0"/>
          <a:lstStyle/>
          <a:p>
            <a:pPr algn="l" rtl="0" eaLnBrk="0">
              <a:lnSpc>
                <a:spcPct val="76621"/>
              </a:lnSpc>
              <a:tabLst/>
            </a:pPr>
            <a:endParaRPr sz="100" dirty="0">
              <a:latin typeface="Arial"/>
              <a:ea typeface="Arial"/>
              <a:cs typeface="Arial"/>
            </a:endParaRPr>
          </a:p>
          <a:p>
            <a:pPr marL="12700" indent="635" algn="l" rtl="0" eaLnBrk="0">
              <a:lnSpc>
                <a:spcPct val="110000"/>
              </a:lnSpc>
              <a:tabLst/>
            </a:pPr>
            <a:r>
              <a:rPr sz="900" kern="0" spc="90" dirty="0">
                <a:solidFill>
                  <a:srgbClr val="000000">
                    <a:alpha val="100000"/>
                  </a:srgbClr>
                </a:solidFill>
                <a:latin typeface="Microsoft YaHei"/>
                <a:ea typeface="Microsoft YaHei"/>
                <a:cs typeface="Microsoft YaHei"/>
              </a:rPr>
              <a:t>工银资本是工银投资于</a:t>
            </a:r>
            <a:r>
              <a:rPr sz="900" kern="0" spc="90" dirty="0">
                <a:solidFill>
                  <a:srgbClr val="000000">
                    <a:alpha val="100000"/>
                  </a:srgbClr>
                </a:solidFill>
                <a:latin typeface="Arial"/>
                <a:ea typeface="Arial"/>
                <a:cs typeface="Arial"/>
              </a:rPr>
              <a:t>2018</a:t>
            </a:r>
            <a:r>
              <a:rPr sz="900" kern="0" spc="90" dirty="0">
                <a:solidFill>
                  <a:srgbClr val="000000">
                    <a:alpha val="100000"/>
                  </a:srgbClr>
                </a:solidFill>
                <a:latin typeface="Microsoft YaHei"/>
                <a:ea typeface="Microsoft YaHei"/>
                <a:cs typeface="Microsoft YaHei"/>
              </a:rPr>
              <a:t>年出资设立的</a:t>
            </a:r>
            <a:r>
              <a:rPr sz="900" kern="0" spc="80" dirty="0">
                <a:solidFill>
                  <a:srgbClr val="000000">
                    <a:alpha val="100000"/>
                  </a:srgbClr>
                </a:solidFill>
                <a:latin typeface="Microsoft YaHei"/>
                <a:ea typeface="Microsoft YaHei"/>
                <a:cs typeface="Microsoft YaHei"/>
              </a:rPr>
              <a:t>全资子公司，管理规模</a:t>
            </a:r>
            <a:r>
              <a:rPr sz="900" kern="0" spc="80" dirty="0">
                <a:solidFill>
                  <a:srgbClr val="000000">
                    <a:alpha val="100000"/>
                  </a:srgbClr>
                </a:solidFill>
                <a:latin typeface="Arial"/>
                <a:ea typeface="Arial"/>
                <a:cs typeface="Arial"/>
              </a:rPr>
              <a:t>100</a:t>
            </a:r>
            <a:r>
              <a:rPr sz="900" kern="0" spc="80" dirty="0">
                <a:solidFill>
                  <a:srgbClr val="000000">
                    <a:alpha val="100000"/>
                  </a:srgbClr>
                </a:solidFill>
                <a:latin typeface="Microsoft YaHei"/>
                <a:ea typeface="Microsoft YaHei"/>
                <a:cs typeface="Microsoft YaHei"/>
              </a:rPr>
              <a:t>亿人民币， 工银资本作为工行体系里最</a:t>
            </a:r>
            <a:r>
              <a:rPr sz="900" kern="0" spc="-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重要的股权投资平台，已投行业覆盖新能源、电力、公共设施、基础设施建设、高端制造业、科技创新、国</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家级园区等</a:t>
            </a:r>
            <a:endParaRPr sz="900" dirty="0">
              <a:latin typeface="Microsoft YaHei"/>
              <a:ea typeface="Microsoft YaHei"/>
              <a:cs typeface="Microsoft YaHei"/>
            </a:endParaRPr>
          </a:p>
          <a:p>
            <a:pPr algn="l" rtl="0" eaLnBrk="0">
              <a:lnSpc>
                <a:spcPct val="110000"/>
              </a:lnSpc>
              <a:tabLst/>
            </a:pPr>
            <a:endParaRPr sz="1000" dirty="0">
              <a:latin typeface="Arial"/>
              <a:ea typeface="Arial"/>
              <a:cs typeface="Arial"/>
            </a:endParaRPr>
          </a:p>
          <a:p>
            <a:pPr marL="97155" algn="l" rtl="0" eaLnBrk="0">
              <a:lnSpc>
                <a:spcPct val="110000"/>
              </a:lnSpc>
              <a:spcBef>
                <a:spcPts val="274"/>
              </a:spcBef>
              <a:tabLst/>
            </a:pPr>
            <a:r>
              <a:rPr sz="900" kern="0" spc="100" dirty="0">
                <a:solidFill>
                  <a:srgbClr val="000000">
                    <a:alpha val="100000"/>
                  </a:srgbClr>
                </a:solidFill>
                <a:latin typeface="Microsoft YaHei"/>
                <a:ea typeface="Microsoft YaHei"/>
                <a:cs typeface="Microsoft YaHei"/>
              </a:rPr>
              <a:t>总部位于厦门，专注于信息技术、智能制造等新兴产</a:t>
            </a:r>
            <a:r>
              <a:rPr sz="900" kern="0" spc="90" dirty="0">
                <a:solidFill>
                  <a:srgbClr val="000000">
                    <a:alpha val="100000"/>
                  </a:srgbClr>
                </a:solidFill>
                <a:latin typeface="Microsoft YaHei"/>
                <a:ea typeface="Microsoft YaHei"/>
                <a:cs typeface="Microsoft YaHei"/>
              </a:rPr>
              <a:t>业领域。在管总规模</a:t>
            </a:r>
            <a:r>
              <a:rPr sz="900" kern="0" spc="90" dirty="0">
                <a:solidFill>
                  <a:srgbClr val="000000">
                    <a:alpha val="100000"/>
                  </a:srgbClr>
                </a:solidFill>
                <a:latin typeface="Arial"/>
                <a:ea typeface="Arial"/>
                <a:cs typeface="Arial"/>
              </a:rPr>
              <a:t>120</a:t>
            </a:r>
            <a:r>
              <a:rPr sz="900" kern="0" spc="90" dirty="0">
                <a:solidFill>
                  <a:srgbClr val="000000">
                    <a:alpha val="100000"/>
                  </a:srgbClr>
                </a:solidFill>
                <a:latin typeface="Microsoft YaHei"/>
                <a:ea typeface="Microsoft YaHei"/>
                <a:cs typeface="Microsoft YaHei"/>
              </a:rPr>
              <a:t>亿元人民币。背后股东是国</a:t>
            </a:r>
            <a:r>
              <a:rPr sz="900" kern="0" spc="-1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投高新和厦门国贸控股。国投</a:t>
            </a:r>
            <a:r>
              <a:rPr sz="900" kern="0" spc="80" dirty="0">
                <a:solidFill>
                  <a:srgbClr val="000000">
                    <a:alpha val="100000"/>
                  </a:srgbClr>
                </a:solidFill>
                <a:latin typeface="Microsoft YaHei"/>
                <a:ea typeface="Microsoft YaHei"/>
                <a:cs typeface="Microsoft YaHei"/>
              </a:rPr>
              <a:t>高新是国家开发投资集团的二级子公司， 属于央企投资机构； 厦门国贸是厦</a:t>
            </a:r>
            <a:r>
              <a:rPr sz="900" kern="0" spc="-1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Microsoft YaHei"/>
                <a:ea typeface="Microsoft YaHei"/>
                <a:cs typeface="Microsoft YaHei"/>
              </a:rPr>
              <a:t>门国企</a:t>
            </a:r>
            <a:endParaRPr sz="900" dirty="0">
              <a:latin typeface="Microsoft YaHei"/>
              <a:ea typeface="Microsoft YaHei"/>
              <a:cs typeface="Microsoft YaHei"/>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14000"/>
              </a:lnSpc>
              <a:tabLst/>
            </a:pPr>
            <a:endParaRPr sz="200" dirty="0">
              <a:latin typeface="Arial"/>
              <a:ea typeface="Arial"/>
              <a:cs typeface="Arial"/>
            </a:endParaRPr>
          </a:p>
          <a:p>
            <a:pPr marL="97155" algn="l" rtl="0" eaLnBrk="0">
              <a:lnSpc>
                <a:spcPct val="113000"/>
              </a:lnSpc>
              <a:spcBef>
                <a:spcPts val="2"/>
              </a:spcBef>
              <a:tabLst/>
            </a:pPr>
            <a:r>
              <a:rPr sz="900" kern="0" spc="90" dirty="0">
                <a:solidFill>
                  <a:srgbClr val="000000">
                    <a:alpha val="100000"/>
                  </a:srgbClr>
                </a:solidFill>
                <a:latin typeface="Microsoft YaHei"/>
                <a:ea typeface="Microsoft YaHei"/>
                <a:cs typeface="Microsoft YaHei"/>
              </a:rPr>
              <a:t>创立于2009年7月</a:t>
            </a:r>
            <a:r>
              <a:rPr sz="900" kern="0" spc="80" dirty="0">
                <a:solidFill>
                  <a:srgbClr val="000000">
                    <a:alpha val="100000"/>
                  </a:srgbClr>
                </a:solidFill>
                <a:latin typeface="Microsoft YaHei"/>
                <a:ea typeface="Microsoft YaHei"/>
                <a:cs typeface="Microsoft YaHei"/>
              </a:rPr>
              <a:t>，</a:t>
            </a:r>
            <a:r>
              <a:rPr sz="900" kern="0" spc="-3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KaiTi"/>
                <a:ea typeface="KaiTi"/>
                <a:cs typeface="KaiTi"/>
              </a:rPr>
              <a:t>是上海国际集团有限公司系统战略持有机构。</a:t>
            </a:r>
            <a:r>
              <a:rPr sz="900" kern="0" spc="80" dirty="0">
                <a:solidFill>
                  <a:srgbClr val="000000">
                    <a:alpha val="100000"/>
                  </a:srgbClr>
                </a:solidFill>
                <a:latin typeface="Microsoft YaHei"/>
                <a:ea typeface="Microsoft YaHei"/>
                <a:cs typeface="Microsoft YaHei"/>
              </a:rPr>
              <a:t>截至2024年末，金浦投资管理基金78只，</a:t>
            </a:r>
            <a:r>
              <a:rPr sz="900" kern="0" spc="90" dirty="0">
                <a:solidFill>
                  <a:srgbClr val="000000">
                    <a:alpha val="100000"/>
                  </a:srgbClr>
                </a:solidFill>
                <a:latin typeface="Microsoft YaHei"/>
                <a:ea typeface="Microsoft YaHei"/>
                <a:cs typeface="Microsoft YaHei"/>
              </a:rPr>
              <a:t>管理规模逾600亿元人民币，国内外投资项目累</a:t>
            </a:r>
            <a:r>
              <a:rPr sz="900" kern="0" spc="80" dirty="0">
                <a:solidFill>
                  <a:srgbClr val="000000">
                    <a:alpha val="100000"/>
                  </a:srgbClr>
                </a:solidFill>
                <a:latin typeface="Microsoft YaHei"/>
                <a:ea typeface="Microsoft YaHei"/>
                <a:cs typeface="Microsoft YaHei"/>
              </a:rPr>
              <a:t>计超500个</a:t>
            </a:r>
            <a:endParaRPr sz="900" dirty="0">
              <a:latin typeface="Microsoft YaHei"/>
              <a:ea typeface="Microsoft YaHei"/>
              <a:cs typeface="Microsoft YaHei"/>
            </a:endParaRPr>
          </a:p>
        </p:txBody>
      </p:sp>
      <p:sp>
        <p:nvSpPr>
          <p:cNvPr id="802" name="textbox 802"/>
          <p:cNvSpPr/>
          <p:nvPr/>
        </p:nvSpPr>
        <p:spPr>
          <a:xfrm>
            <a:off x="566833" y="401828"/>
            <a:ext cx="11177905" cy="883919"/>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30" dirty="0">
                <a:solidFill>
                  <a:srgbClr val="BF756D">
                    <a:alpha val="100000"/>
                  </a:srgbClr>
                </a:solidFill>
                <a:latin typeface="Microsoft YaHei"/>
                <a:ea typeface="Microsoft YaHei"/>
                <a:cs typeface="Microsoft YaHei"/>
              </a:rPr>
              <a:t> 覆盖潜在机构推介 ——国资、</a:t>
            </a:r>
            <a:r>
              <a:rPr sz="2700" b="1" kern="0" spc="-410" dirty="0">
                <a:solidFill>
                  <a:srgbClr val="BF756D">
                    <a:alpha val="100000"/>
                  </a:srgbClr>
                </a:solidFill>
                <a:latin typeface="Microsoft YaHei"/>
                <a:ea typeface="Microsoft YaHei"/>
                <a:cs typeface="Microsoft YaHei"/>
              </a:rPr>
              <a:t> </a:t>
            </a:r>
            <a:r>
              <a:rPr sz="2700" b="1" kern="0" spc="30" dirty="0">
                <a:solidFill>
                  <a:srgbClr val="BF756D">
                    <a:alpha val="100000"/>
                  </a:srgbClr>
                </a:solidFill>
                <a:latin typeface="Microsoft YaHei"/>
                <a:ea typeface="Microsoft YaHei"/>
                <a:cs typeface="Microsoft YaHei"/>
              </a:rPr>
              <a:t>券商系基金                  </a:t>
            </a:r>
            <a:endParaRPr sz="2700" dirty="0">
              <a:latin typeface="Microsoft YaHei"/>
              <a:ea typeface="Microsoft YaHei"/>
              <a:cs typeface="Microsoft YaHei"/>
            </a:endParaRPr>
          </a:p>
          <a:p>
            <a:pPr algn="l" rtl="0" eaLnBrk="0">
              <a:lnSpc>
                <a:spcPct val="140000"/>
              </a:lnSpc>
              <a:tabLst/>
            </a:pPr>
            <a:endParaRPr sz="1000" dirty="0">
              <a:latin typeface="Arial"/>
              <a:ea typeface="Arial"/>
              <a:cs typeface="Arial"/>
            </a:endParaRPr>
          </a:p>
          <a:p>
            <a:pPr algn="l" rtl="0" eaLnBrk="0">
              <a:lnSpc>
                <a:spcPct val="101000"/>
              </a:lnSpc>
              <a:tabLst/>
            </a:pPr>
            <a:endParaRPr sz="300" dirty="0">
              <a:latin typeface="Arial"/>
              <a:ea typeface="Arial"/>
              <a:cs typeface="Arial"/>
            </a:endParaRPr>
          </a:p>
          <a:p>
            <a:pPr marL="960119" algn="l" rtl="0" eaLnBrk="0">
              <a:lnSpc>
                <a:spcPct val="90000"/>
              </a:lnSpc>
              <a:spcBef>
                <a:spcPts val="2"/>
              </a:spcBef>
              <a:tabLst/>
            </a:pPr>
            <a:r>
              <a:rPr sz="1200" b="1" kern="0" spc="0" dirty="0">
                <a:solidFill>
                  <a:srgbClr val="BF756D">
                    <a:alpha val="100000"/>
                  </a:srgbClr>
                </a:solidFill>
                <a:latin typeface="Microsoft YaHei"/>
                <a:ea typeface="Microsoft YaHei"/>
                <a:cs typeface="Microsoft YaHei"/>
              </a:rPr>
              <a:t>机构名称                                                                     机构介绍                                                                                  </a:t>
            </a:r>
            <a:r>
              <a:rPr sz="1200" b="1" kern="0" spc="-10" dirty="0">
                <a:solidFill>
                  <a:srgbClr val="BF756D">
                    <a:alpha val="100000"/>
                  </a:srgbClr>
                </a:solidFill>
                <a:latin typeface="Microsoft YaHei"/>
                <a:ea typeface="Microsoft YaHei"/>
                <a:cs typeface="Microsoft YaHei"/>
              </a:rPr>
              <a:t>  投资案例</a:t>
            </a:r>
            <a:endParaRPr sz="1200" dirty="0">
              <a:latin typeface="Microsoft YaHei"/>
              <a:ea typeface="Microsoft YaHei"/>
              <a:cs typeface="Microsoft YaHei"/>
            </a:endParaRPr>
          </a:p>
        </p:txBody>
      </p:sp>
      <p:pic>
        <p:nvPicPr>
          <p:cNvPr id="804" name="picture 804"/>
          <p:cNvPicPr>
            <a:picLocks noChangeAspect="1"/>
          </p:cNvPicPr>
          <p:nvPr/>
        </p:nvPicPr>
        <p:blipFill>
          <a:blip r:embed="rId2"/>
          <a:stretch>
            <a:fillRect/>
          </a:stretch>
        </p:blipFill>
        <p:spPr>
          <a:xfrm rot="21600000">
            <a:off x="9999186" y="414528"/>
            <a:ext cx="1616964" cy="365759"/>
          </a:xfrm>
          <a:prstGeom prst="rect">
            <a:avLst/>
          </a:prstGeom>
        </p:spPr>
      </p:pic>
      <p:sp>
        <p:nvSpPr>
          <p:cNvPr id="806" name="textbox 806"/>
          <p:cNvSpPr/>
          <p:nvPr/>
        </p:nvSpPr>
        <p:spPr>
          <a:xfrm>
            <a:off x="8655550" y="4524279"/>
            <a:ext cx="2740025" cy="1648460"/>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kern="0" spc="100" dirty="0">
                <a:solidFill>
                  <a:srgbClr val="000000">
                    <a:alpha val="100000"/>
                  </a:srgbClr>
                </a:solidFill>
                <a:latin typeface="Microsoft YaHei"/>
                <a:ea typeface="Microsoft YaHei"/>
                <a:cs typeface="Microsoft YaHei"/>
              </a:rPr>
              <a:t>赛力斯汽车、三花智控</a:t>
            </a:r>
            <a:r>
              <a:rPr sz="900" kern="0" spc="90" dirty="0">
                <a:solidFill>
                  <a:srgbClr val="000000">
                    <a:alpha val="100000"/>
                  </a:srgbClr>
                </a:solidFill>
                <a:latin typeface="Microsoft YaHei"/>
                <a:ea typeface="Microsoft YaHei"/>
                <a:cs typeface="Microsoft YaHei"/>
              </a:rPr>
              <a:t>、润芯微科技</a:t>
            </a:r>
            <a:endParaRPr sz="900" dirty="0">
              <a:latin typeface="Microsoft YaHei"/>
              <a:ea typeface="Microsoft YaHei"/>
              <a:cs typeface="Microsoft YaHei"/>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algn="l" rtl="0" eaLnBrk="0">
              <a:lnSpc>
                <a:spcPct val="106000"/>
              </a:lnSpc>
              <a:tabLst/>
            </a:pPr>
            <a:endParaRPr sz="1000" dirty="0">
              <a:latin typeface="Arial"/>
              <a:ea typeface="Arial"/>
              <a:cs typeface="Arial"/>
            </a:endParaRPr>
          </a:p>
          <a:p>
            <a:pPr marL="97789" algn="l" rtl="0" eaLnBrk="0">
              <a:lnSpc>
                <a:spcPct val="98000"/>
              </a:lnSpc>
              <a:spcBef>
                <a:spcPts val="280"/>
              </a:spcBef>
              <a:tabLst/>
            </a:pPr>
            <a:r>
              <a:rPr sz="900" kern="0" spc="90" dirty="0">
                <a:solidFill>
                  <a:srgbClr val="000000">
                    <a:alpha val="100000"/>
                  </a:srgbClr>
                </a:solidFill>
                <a:latin typeface="Microsoft YaHei"/>
                <a:ea typeface="Microsoft YaHei"/>
                <a:cs typeface="Microsoft YaHei"/>
              </a:rPr>
              <a:t>厦门安科、三江航天、羚控科技</a:t>
            </a:r>
            <a:endParaRPr sz="900" dirty="0">
              <a:latin typeface="Microsoft YaHei"/>
              <a:ea typeface="Microsoft YaHei"/>
              <a:cs typeface="Microsoft YaHei"/>
            </a:endParaRPr>
          </a:p>
          <a:p>
            <a:pPr algn="l" rtl="0" eaLnBrk="0">
              <a:lnSpc>
                <a:spcPct val="109000"/>
              </a:lnSpc>
              <a:tabLst/>
            </a:pPr>
            <a:endParaRPr sz="1000" dirty="0">
              <a:latin typeface="Arial"/>
              <a:ea typeface="Arial"/>
              <a:cs typeface="Arial"/>
            </a:endParaRPr>
          </a:p>
          <a:p>
            <a:pPr algn="l" rtl="0" eaLnBrk="0">
              <a:lnSpc>
                <a:spcPct val="109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3000"/>
              </a:lnSpc>
              <a:tabLst/>
            </a:pPr>
            <a:endParaRPr sz="200" dirty="0">
              <a:latin typeface="Arial"/>
              <a:ea typeface="Arial"/>
              <a:cs typeface="Arial"/>
            </a:endParaRPr>
          </a:p>
          <a:p>
            <a:pPr marL="97789" indent="8254" algn="l" rtl="0" eaLnBrk="0">
              <a:lnSpc>
                <a:spcPct val="109000"/>
              </a:lnSpc>
              <a:tabLst/>
            </a:pPr>
            <a:r>
              <a:rPr sz="900" kern="0" spc="80" dirty="0">
                <a:solidFill>
                  <a:srgbClr val="000000">
                    <a:alpha val="100000"/>
                  </a:srgbClr>
                </a:solidFill>
                <a:latin typeface="Microsoft YaHei"/>
                <a:ea typeface="Microsoft YaHei"/>
                <a:cs typeface="Microsoft YaHei"/>
              </a:rPr>
              <a:t>同创普润、锡华新能源、极氪汽车、睿蓝汽车、</a:t>
            </a:r>
            <a:r>
              <a:rPr sz="900" kern="0" spc="90" dirty="0">
                <a:solidFill>
                  <a:srgbClr val="000000">
                    <a:alpha val="100000"/>
                  </a:srgbClr>
                </a:solidFill>
                <a:latin typeface="Microsoft YaHei"/>
                <a:ea typeface="Microsoft YaHei"/>
                <a:cs typeface="Microsoft YaHei"/>
              </a:rPr>
              <a:t>汉马发动机、阿为特、华建装备</a:t>
            </a:r>
            <a:endParaRPr sz="900" dirty="0">
              <a:latin typeface="Microsoft YaHei"/>
              <a:ea typeface="Microsoft YaHei"/>
              <a:cs typeface="Microsoft YaHei"/>
            </a:endParaRPr>
          </a:p>
        </p:txBody>
      </p:sp>
      <p:grpSp>
        <p:nvGrpSpPr>
          <p:cNvPr id="60" name="group 60"/>
          <p:cNvGrpSpPr/>
          <p:nvPr/>
        </p:nvGrpSpPr>
        <p:grpSpPr>
          <a:xfrm rot="21600000">
            <a:off x="508711" y="1413001"/>
            <a:ext cx="583006" cy="5004308"/>
            <a:chOff x="0" y="0"/>
            <a:chExt cx="583006" cy="5004308"/>
          </a:xfrm>
        </p:grpSpPr>
        <p:sp>
          <p:nvSpPr>
            <p:cNvPr id="808" name="rect 808"/>
            <p:cNvSpPr/>
            <p:nvPr/>
          </p:nvSpPr>
          <p:spPr>
            <a:xfrm>
              <a:off x="0" y="0"/>
              <a:ext cx="576656" cy="5004308"/>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810" name="textbox 810"/>
            <p:cNvSpPr/>
            <p:nvPr/>
          </p:nvSpPr>
          <p:spPr>
            <a:xfrm>
              <a:off x="87618" y="2355627"/>
              <a:ext cx="402590" cy="3130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50165" algn="l" rtl="0" eaLnBrk="0">
                <a:lnSpc>
                  <a:spcPct val="98000"/>
                </a:lnSpc>
                <a:tabLst/>
              </a:pPr>
              <a:r>
                <a:rPr sz="900" b="1" kern="0" spc="60" dirty="0">
                  <a:solidFill>
                    <a:srgbClr val="FFFFFF">
                      <a:alpha val="100000"/>
                    </a:srgbClr>
                  </a:solidFill>
                  <a:latin typeface="Microsoft YaHei"/>
                  <a:ea typeface="Microsoft YaHei"/>
                  <a:cs typeface="Microsoft YaHei"/>
                </a:rPr>
                <a:t>国资/</a:t>
              </a:r>
              <a:endParaRPr sz="900" dirty="0">
                <a:latin typeface="Microsoft YaHei"/>
                <a:ea typeface="Microsoft YaHei"/>
                <a:cs typeface="Microsoft YaHei"/>
              </a:endParaRPr>
            </a:p>
            <a:p>
              <a:pPr marL="12700" algn="l" rtl="0" eaLnBrk="0">
                <a:lnSpc>
                  <a:spcPct val="98000"/>
                </a:lnSpc>
                <a:spcBef>
                  <a:spcPts val="142"/>
                </a:spcBef>
                <a:tabLst/>
              </a:pPr>
              <a:r>
                <a:rPr sz="900" b="1" kern="0" spc="80" dirty="0">
                  <a:solidFill>
                    <a:srgbClr val="FFFFFF">
                      <a:alpha val="100000"/>
                    </a:srgbClr>
                  </a:solidFill>
                  <a:latin typeface="Microsoft YaHei"/>
                  <a:ea typeface="Microsoft YaHei"/>
                  <a:cs typeface="Microsoft YaHei"/>
                </a:rPr>
                <a:t>券商系</a:t>
              </a:r>
              <a:endParaRPr sz="900" dirty="0">
                <a:latin typeface="Microsoft YaHei"/>
                <a:ea typeface="Microsoft YaHei"/>
                <a:cs typeface="Microsoft YaHei"/>
              </a:endParaRPr>
            </a:p>
          </p:txBody>
        </p:sp>
        <p:sp>
          <p:nvSpPr>
            <p:cNvPr id="812" name="path 812"/>
            <p:cNvSpPr/>
            <p:nvPr/>
          </p:nvSpPr>
          <p:spPr>
            <a:xfrm>
              <a:off x="570306" y="0"/>
              <a:ext cx="12700" cy="5004308"/>
            </a:xfrm>
            <a:custGeom>
              <a:avLst/>
              <a:gdLst/>
              <a:ahLst/>
              <a:cxnLst/>
              <a:rect l="0" t="0" r="0" b="0"/>
              <a:pathLst>
                <a:path w="20" h="7880">
                  <a:moveTo>
                    <a:pt x="10" y="0"/>
                  </a:moveTo>
                  <a:lnTo>
                    <a:pt x="10" y="7880"/>
                  </a:lnTo>
                </a:path>
              </a:pathLst>
            </a:custGeom>
            <a:noFill/>
            <a:ln w="12700" cap="flat">
              <a:solidFill>
                <a:srgbClr val="000000"/>
              </a:solidFill>
              <a:prstDash val="solid"/>
              <a:round/>
            </a:ln>
          </p:spPr>
          <p:txBody>
            <a:bodyPr rtlCol="0"/>
            <a:lstStyle/>
            <a:p>
              <a:pPr algn="ctr"/>
              <a:endParaRPr lang="zh-CN" altLang="en-US"/>
            </a:p>
          </p:txBody>
        </p:sp>
      </p:grpSp>
      <p:sp>
        <p:nvSpPr>
          <p:cNvPr id="814" name="textbox 814"/>
          <p:cNvSpPr/>
          <p:nvPr/>
        </p:nvSpPr>
        <p:spPr>
          <a:xfrm>
            <a:off x="2654550" y="1524563"/>
            <a:ext cx="5857875" cy="488950"/>
          </a:xfrm>
          <a:prstGeom prst="rect">
            <a:avLst/>
          </a:prstGeom>
          <a:noFill/>
          <a:ln w="0" cap="flat">
            <a:noFill/>
            <a:prstDash val="solid"/>
            <a:miter lim="0"/>
          </a:ln>
        </p:spPr>
        <p:txBody>
          <a:bodyPr vert="horz" wrap="square" lIns="0" tIns="0" rIns="0" bIns="0"/>
          <a:lstStyle/>
          <a:p>
            <a:pPr algn="l" rtl="0" eaLnBrk="0">
              <a:lnSpc>
                <a:spcPct val="70242"/>
              </a:lnSpc>
              <a:tabLst/>
            </a:pPr>
            <a:endParaRPr sz="100" dirty="0">
              <a:latin typeface="Arial"/>
              <a:ea typeface="Arial"/>
              <a:cs typeface="Arial"/>
            </a:endParaRPr>
          </a:p>
          <a:p>
            <a:pPr marL="12700" indent="-635" algn="l" rtl="0" eaLnBrk="0">
              <a:lnSpc>
                <a:spcPct val="113000"/>
              </a:lnSpc>
              <a:tabLst/>
            </a:pPr>
            <a:r>
              <a:rPr sz="900" kern="0" spc="80" dirty="0">
                <a:solidFill>
                  <a:srgbClr val="000000">
                    <a:alpha val="100000"/>
                  </a:srgbClr>
                </a:solidFill>
                <a:latin typeface="Microsoft YaHei"/>
                <a:ea typeface="Microsoft YaHei"/>
                <a:cs typeface="Microsoft YaHei"/>
              </a:rPr>
              <a:t>成立于2007年，</a:t>
            </a:r>
            <a:r>
              <a:rPr sz="900" kern="0" spc="-40" dirty="0">
                <a:solidFill>
                  <a:srgbClr val="000000">
                    <a:alpha val="100000"/>
                  </a:srgbClr>
                </a:solidFill>
                <a:latin typeface="Microsoft YaHei"/>
                <a:ea typeface="Microsoft YaHei"/>
                <a:cs typeface="Microsoft YaHei"/>
              </a:rPr>
              <a:t> </a:t>
            </a:r>
            <a:r>
              <a:rPr sz="900" kern="0" spc="80" dirty="0">
                <a:solidFill>
                  <a:srgbClr val="000000">
                    <a:alpha val="100000"/>
                  </a:srgbClr>
                </a:solidFill>
                <a:latin typeface="KaiTi"/>
                <a:ea typeface="KaiTi"/>
                <a:cs typeface="KaiTi"/>
              </a:rPr>
              <a:t>是中信证券全资设立的私募基金子公司，</a:t>
            </a:r>
            <a:r>
              <a:rPr sz="900" kern="0" spc="80" dirty="0">
                <a:solidFill>
                  <a:srgbClr val="000000">
                    <a:alpha val="100000"/>
                  </a:srgbClr>
                </a:solidFill>
                <a:latin typeface="Microsoft YaHei"/>
                <a:ea typeface="Microsoft YaHei"/>
                <a:cs typeface="Microsoft YaHei"/>
              </a:rPr>
              <a:t>管理资产规模300</a:t>
            </a:r>
            <a:r>
              <a:rPr sz="900" kern="0" spc="70" dirty="0">
                <a:solidFill>
                  <a:srgbClr val="000000">
                    <a:alpha val="100000"/>
                  </a:srgbClr>
                </a:solidFill>
                <a:latin typeface="Microsoft YaHei"/>
                <a:ea typeface="Microsoft YaHei"/>
                <a:cs typeface="Microsoft YaHei"/>
              </a:rPr>
              <a:t>0亿元，</a:t>
            </a:r>
            <a:r>
              <a:rPr sz="900" kern="0" spc="1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KaiTi"/>
                <a:ea typeface="KaiTi"/>
                <a:cs typeface="KaiTi"/>
              </a:rPr>
              <a:t>目前发起设立私募股</a:t>
            </a:r>
            <a:r>
              <a:rPr sz="900" kern="0" spc="100" dirty="0">
                <a:solidFill>
                  <a:srgbClr val="000000">
                    <a:alpha val="100000"/>
                  </a:srgbClr>
                </a:solidFill>
                <a:latin typeface="KaiTi"/>
                <a:ea typeface="KaiTi"/>
                <a:cs typeface="KaiTi"/>
              </a:rPr>
              <a:t>权基金数十支，</a:t>
            </a:r>
            <a:r>
              <a:rPr sz="900" kern="0" spc="-230" dirty="0">
                <a:solidFill>
                  <a:srgbClr val="000000">
                    <a:alpha val="100000"/>
                  </a:srgbClr>
                </a:solidFill>
                <a:latin typeface="KaiTi"/>
                <a:ea typeface="KaiTi"/>
                <a:cs typeface="KaiTi"/>
              </a:rPr>
              <a:t> </a:t>
            </a:r>
            <a:r>
              <a:rPr sz="900" kern="0" spc="100" dirty="0">
                <a:solidFill>
                  <a:srgbClr val="000000">
                    <a:alpha val="100000"/>
                  </a:srgbClr>
                </a:solidFill>
                <a:latin typeface="Microsoft YaHei"/>
                <a:ea typeface="Microsoft YaHei"/>
                <a:cs typeface="Microsoft YaHei"/>
              </a:rPr>
              <a:t>重点关注新材料</a:t>
            </a:r>
            <a:r>
              <a:rPr sz="900" kern="0" spc="90" dirty="0">
                <a:solidFill>
                  <a:srgbClr val="000000">
                    <a:alpha val="100000"/>
                  </a:srgbClr>
                </a:solidFill>
                <a:latin typeface="Microsoft YaHei"/>
                <a:ea typeface="Microsoft YaHei"/>
                <a:cs typeface="Microsoft YaHei"/>
              </a:rPr>
              <a:t>、新能源、新一代信息技术、高端制造、医疗健康、现代服务，关注成长</a:t>
            </a:r>
            <a:r>
              <a:rPr sz="900" kern="0" spc="60" dirty="0">
                <a:solidFill>
                  <a:srgbClr val="000000">
                    <a:alpha val="100000"/>
                  </a:srgbClr>
                </a:solidFill>
                <a:latin typeface="Microsoft YaHei"/>
                <a:ea typeface="Microsoft YaHei"/>
                <a:cs typeface="Microsoft YaHei"/>
              </a:rPr>
              <a:t>期、成熟期企业。</a:t>
            </a:r>
            <a:endParaRPr sz="900" dirty="0">
              <a:latin typeface="Microsoft YaHei"/>
              <a:ea typeface="Microsoft YaHei"/>
              <a:cs typeface="Microsoft YaHei"/>
            </a:endParaRPr>
          </a:p>
        </p:txBody>
      </p:sp>
      <p:sp>
        <p:nvSpPr>
          <p:cNvPr id="816" name="textbox 816"/>
          <p:cNvSpPr/>
          <p:nvPr/>
        </p:nvSpPr>
        <p:spPr>
          <a:xfrm>
            <a:off x="1439536" y="4525555"/>
            <a:ext cx="782955" cy="1564005"/>
          </a:xfrm>
          <a:prstGeom prst="rect">
            <a:avLst/>
          </a:prstGeom>
          <a:noFill/>
          <a:ln w="0" cap="flat">
            <a:noFill/>
            <a:prstDash val="solid"/>
            <a:miter lim="0"/>
          </a:ln>
        </p:spPr>
        <p:txBody>
          <a:bodyPr vert="horz" wrap="square" lIns="0" tIns="0" rIns="0" bIns="0"/>
          <a:lstStyle/>
          <a:p>
            <a:pPr algn="l" rtl="0" eaLnBrk="0">
              <a:lnSpc>
                <a:spcPct val="87506"/>
              </a:lnSpc>
              <a:tabLst/>
            </a:pPr>
            <a:endParaRPr sz="100" dirty="0">
              <a:latin typeface="Arial"/>
              <a:ea typeface="Arial"/>
              <a:cs typeface="Arial"/>
            </a:endParaRPr>
          </a:p>
          <a:p>
            <a:pPr marL="140335" algn="l" rtl="0" eaLnBrk="0">
              <a:lnSpc>
                <a:spcPct val="98000"/>
              </a:lnSpc>
              <a:tabLst/>
            </a:pPr>
            <a:r>
              <a:rPr sz="900" kern="0" spc="80" dirty="0">
                <a:solidFill>
                  <a:srgbClr val="000000">
                    <a:alpha val="100000"/>
                  </a:srgbClr>
                </a:solidFill>
                <a:latin typeface="Microsoft YaHei"/>
                <a:ea typeface="Microsoft YaHei"/>
                <a:cs typeface="Microsoft YaHei"/>
              </a:rPr>
              <a:t>工银资本</a:t>
            </a:r>
            <a:endParaRPr sz="900" dirty="0">
              <a:latin typeface="Microsoft YaHei"/>
              <a:ea typeface="Microsoft YaHei"/>
              <a:cs typeface="Microsoft YaHei"/>
            </a:endParaRPr>
          </a:p>
          <a:p>
            <a:pPr algn="l" rtl="0" eaLnBrk="0">
              <a:lnSpc>
                <a:spcPct val="106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algn="l" rtl="0" eaLnBrk="0">
              <a:lnSpc>
                <a:spcPct val="107000"/>
              </a:lnSpc>
              <a:tabLst/>
            </a:pPr>
            <a:endParaRPr sz="1000" dirty="0">
              <a:latin typeface="Arial"/>
              <a:ea typeface="Arial"/>
              <a:cs typeface="Arial"/>
            </a:endParaRPr>
          </a:p>
          <a:p>
            <a:pPr marL="12700" algn="l" rtl="0" eaLnBrk="0">
              <a:lnSpc>
                <a:spcPct val="98000"/>
              </a:lnSpc>
              <a:spcBef>
                <a:spcPts val="278"/>
              </a:spcBef>
              <a:tabLst/>
            </a:pPr>
            <a:r>
              <a:rPr sz="900" kern="0" spc="90" dirty="0">
                <a:solidFill>
                  <a:srgbClr val="000000">
                    <a:alpha val="100000"/>
                  </a:srgbClr>
                </a:solidFill>
                <a:latin typeface="Microsoft YaHei"/>
                <a:ea typeface="Microsoft YaHei"/>
                <a:cs typeface="Microsoft YaHei"/>
              </a:rPr>
              <a:t>厦门国兴投资</a:t>
            </a:r>
            <a:endParaRPr sz="900" dirty="0">
              <a:latin typeface="Microsoft YaHei"/>
              <a:ea typeface="Microsoft YaHei"/>
              <a:cs typeface="Microsoft YaHei"/>
            </a:endParaRPr>
          </a:p>
          <a:p>
            <a:pPr algn="l" rtl="0" eaLnBrk="0">
              <a:lnSpc>
                <a:spcPct val="126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algn="l" rtl="0" eaLnBrk="0">
              <a:lnSpc>
                <a:spcPct val="126000"/>
              </a:lnSpc>
              <a:tabLst/>
            </a:pPr>
            <a:endParaRPr sz="1000" dirty="0">
              <a:latin typeface="Arial"/>
              <a:ea typeface="Arial"/>
              <a:cs typeface="Arial"/>
            </a:endParaRPr>
          </a:p>
          <a:p>
            <a:pPr algn="l" rtl="0" eaLnBrk="0">
              <a:lnSpc>
                <a:spcPct val="116000"/>
              </a:lnSpc>
              <a:tabLst/>
            </a:pPr>
            <a:endParaRPr sz="200" dirty="0">
              <a:latin typeface="Arial"/>
              <a:ea typeface="Arial"/>
              <a:cs typeface="Arial"/>
            </a:endParaRPr>
          </a:p>
          <a:p>
            <a:pPr marL="137795" algn="l" rtl="0" eaLnBrk="0">
              <a:lnSpc>
                <a:spcPct val="98000"/>
              </a:lnSpc>
              <a:tabLst/>
            </a:pPr>
            <a:r>
              <a:rPr sz="900" kern="0" spc="90" dirty="0">
                <a:solidFill>
                  <a:srgbClr val="000000">
                    <a:alpha val="100000"/>
                  </a:srgbClr>
                </a:solidFill>
                <a:latin typeface="Microsoft YaHei"/>
                <a:ea typeface="Microsoft YaHei"/>
                <a:cs typeface="Microsoft YaHei"/>
              </a:rPr>
              <a:t>金浦投资</a:t>
            </a:r>
            <a:endParaRPr sz="900" dirty="0">
              <a:latin typeface="Microsoft YaHei"/>
              <a:ea typeface="Microsoft YaHei"/>
              <a:cs typeface="Microsoft YaHei"/>
            </a:endParaRPr>
          </a:p>
        </p:txBody>
      </p:sp>
      <p:sp>
        <p:nvSpPr>
          <p:cNvPr id="818" name="textbox 818"/>
          <p:cNvSpPr/>
          <p:nvPr/>
        </p:nvSpPr>
        <p:spPr>
          <a:xfrm>
            <a:off x="8740640" y="1689004"/>
            <a:ext cx="1795145"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泽景科技、英利汽车、微宏动力</a:t>
            </a:r>
            <a:endParaRPr sz="900" dirty="0">
              <a:latin typeface="Microsoft YaHei"/>
              <a:ea typeface="Microsoft YaHei"/>
              <a:cs typeface="Microsoft YaHei"/>
            </a:endParaRPr>
          </a:p>
        </p:txBody>
      </p:sp>
      <p:sp>
        <p:nvSpPr>
          <p:cNvPr id="820" name="textbox 820"/>
          <p:cNvSpPr/>
          <p:nvPr/>
        </p:nvSpPr>
        <p:spPr>
          <a:xfrm>
            <a:off x="1574377" y="1693576"/>
            <a:ext cx="521334"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70" dirty="0">
                <a:solidFill>
                  <a:srgbClr val="000000">
                    <a:alpha val="100000"/>
                  </a:srgbClr>
                </a:solidFill>
                <a:latin typeface="Microsoft YaHei"/>
                <a:ea typeface="Microsoft YaHei"/>
                <a:cs typeface="Microsoft YaHei"/>
              </a:rPr>
              <a:t>中信金石</a:t>
            </a:r>
            <a:endParaRPr sz="900" dirty="0">
              <a:latin typeface="Microsoft YaHei"/>
              <a:ea typeface="Microsoft YaHei"/>
              <a:cs typeface="Microsoft YaHe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textbox 822"/>
          <p:cNvSpPr/>
          <p:nvPr/>
        </p:nvSpPr>
        <p:spPr>
          <a:xfrm>
            <a:off x="2569206" y="2597308"/>
            <a:ext cx="6036945" cy="2937510"/>
          </a:xfrm>
          <a:prstGeom prst="rect">
            <a:avLst/>
          </a:prstGeom>
          <a:noFill/>
          <a:ln w="0" cap="flat">
            <a:noFill/>
            <a:prstDash val="solid"/>
            <a:miter lim="0"/>
          </a:ln>
        </p:spPr>
        <p:txBody>
          <a:bodyPr vert="horz" wrap="square" lIns="0" tIns="0" rIns="0" bIns="0"/>
          <a:lstStyle/>
          <a:p>
            <a:pPr algn="l" rtl="0" eaLnBrk="0">
              <a:lnSpc>
                <a:spcPct val="81089"/>
              </a:lnSpc>
              <a:tabLst/>
            </a:pPr>
            <a:endParaRPr sz="100" dirty="0">
              <a:latin typeface="Arial"/>
              <a:ea typeface="Arial"/>
              <a:cs typeface="Arial"/>
            </a:endParaRPr>
          </a:p>
          <a:p>
            <a:pPr marL="12700" indent="-635" algn="l" rtl="0" eaLnBrk="0">
              <a:lnSpc>
                <a:spcPct val="109000"/>
              </a:lnSpc>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2000</a:t>
            </a:r>
            <a:r>
              <a:rPr sz="900" kern="0" spc="90" dirty="0">
                <a:solidFill>
                  <a:srgbClr val="000000">
                    <a:alpha val="100000"/>
                  </a:srgbClr>
                </a:solidFill>
                <a:latin typeface="Microsoft YaHei"/>
                <a:ea typeface="Microsoft YaHei"/>
                <a:cs typeface="Microsoft YaHei"/>
              </a:rPr>
              <a:t>年</a:t>
            </a:r>
            <a:r>
              <a:rPr sz="900" kern="0" spc="90" dirty="0">
                <a:solidFill>
                  <a:srgbClr val="000000">
                    <a:alpha val="100000"/>
                  </a:srgbClr>
                </a:solidFill>
                <a:latin typeface="Arial"/>
                <a:ea typeface="Arial"/>
                <a:cs typeface="Arial"/>
              </a:rPr>
              <a:t>6</a:t>
            </a:r>
            <a:r>
              <a:rPr sz="900" kern="0" spc="90" dirty="0">
                <a:solidFill>
                  <a:srgbClr val="000000">
                    <a:alpha val="100000"/>
                  </a:srgbClr>
                </a:solidFill>
                <a:latin typeface="Microsoft YaHei"/>
                <a:ea typeface="Microsoft YaHei"/>
                <a:cs typeface="Microsoft YaHei"/>
              </a:rPr>
              <a:t>月，是中国第一批专业私募股权投资公司，管理规模</a:t>
            </a:r>
            <a:r>
              <a:rPr sz="900" kern="0" spc="90" dirty="0">
                <a:solidFill>
                  <a:srgbClr val="000000">
                    <a:alpha val="100000"/>
                  </a:srgbClr>
                </a:solidFill>
                <a:latin typeface="Arial"/>
                <a:ea typeface="Arial"/>
                <a:cs typeface="Arial"/>
              </a:rPr>
              <a:t>350</a:t>
            </a:r>
            <a:r>
              <a:rPr sz="900" kern="0" spc="90" dirty="0">
                <a:solidFill>
                  <a:srgbClr val="000000">
                    <a:alpha val="100000"/>
                  </a:srgbClr>
                </a:solidFill>
                <a:latin typeface="Microsoft YaHei"/>
                <a:ea typeface="Microsoft YaHei"/>
                <a:cs typeface="Microsoft YaHei"/>
              </a:rPr>
              <a:t>亿人民币。同创伟业以产业链投资为</a:t>
            </a:r>
            <a:r>
              <a:rPr sz="900" kern="0" spc="100" dirty="0">
                <a:solidFill>
                  <a:srgbClr val="000000">
                    <a:alpha val="100000"/>
                  </a:srgbClr>
                </a:solidFill>
                <a:latin typeface="Microsoft YaHei"/>
                <a:ea typeface="Microsoft YaHei"/>
                <a:cs typeface="Microsoft YaHei"/>
              </a:rPr>
              <a:t>切入点，聚焦于新兴产业，入机器人、人工智能、新能源、半</a:t>
            </a:r>
            <a:r>
              <a:rPr sz="900" kern="0" spc="90" dirty="0">
                <a:solidFill>
                  <a:srgbClr val="000000">
                    <a:alpha val="100000"/>
                  </a:srgbClr>
                </a:solidFill>
                <a:latin typeface="Microsoft YaHei"/>
                <a:ea typeface="Microsoft YaHei"/>
                <a:cs typeface="Microsoft YaHei"/>
              </a:rPr>
              <a:t>导体等</a:t>
            </a:r>
            <a:endParaRPr sz="900" dirty="0">
              <a:latin typeface="Microsoft YaHei"/>
              <a:ea typeface="Microsoft YaHei"/>
              <a:cs typeface="Microsoft YaHei"/>
            </a:endParaRPr>
          </a:p>
          <a:p>
            <a:pPr algn="l" rtl="0" eaLnBrk="0">
              <a:lnSpc>
                <a:spcPct val="165000"/>
              </a:lnSpc>
              <a:tabLst/>
            </a:pPr>
            <a:endParaRPr sz="1000" dirty="0">
              <a:latin typeface="Arial"/>
              <a:ea typeface="Arial"/>
              <a:cs typeface="Arial"/>
            </a:endParaRPr>
          </a:p>
          <a:p>
            <a:pPr marL="98425" indent="-635" algn="l" rtl="0" eaLnBrk="0">
              <a:lnSpc>
                <a:spcPct val="111000"/>
              </a:lnSpc>
              <a:spcBef>
                <a:spcPts val="278"/>
              </a:spcBef>
              <a:tabLst/>
            </a:pPr>
            <a:r>
              <a:rPr sz="900" kern="0" spc="80" dirty="0">
                <a:solidFill>
                  <a:srgbClr val="000000">
                    <a:alpha val="100000"/>
                  </a:srgbClr>
                </a:solidFill>
                <a:latin typeface="Microsoft YaHei"/>
                <a:ea typeface="Microsoft YaHei"/>
                <a:cs typeface="Microsoft YaHei"/>
              </a:rPr>
              <a:t>成立于2000年，总部位于深圳，  </a:t>
            </a:r>
            <a:r>
              <a:rPr sz="900" kern="0" spc="80" dirty="0">
                <a:solidFill>
                  <a:srgbClr val="000000">
                    <a:alpha val="100000"/>
                  </a:srgbClr>
                </a:solidFill>
                <a:latin typeface="KaiTi"/>
                <a:ea typeface="KaiTi"/>
                <a:cs typeface="KaiTi"/>
              </a:rPr>
              <a:t>是我国第一批按市场化运作设立的本土创投机构，</a:t>
            </a:r>
            <a:r>
              <a:rPr sz="900" kern="0" spc="80" dirty="0">
                <a:solidFill>
                  <a:srgbClr val="000000">
                    <a:alpha val="100000"/>
                  </a:srgbClr>
                </a:solidFill>
                <a:latin typeface="Microsoft YaHei"/>
                <a:ea typeface="Microsoft YaHei"/>
                <a:cs typeface="Microsoft YaHei"/>
              </a:rPr>
              <a:t>管理基金总规模近6</a:t>
            </a:r>
            <a:r>
              <a:rPr sz="900" kern="0" spc="70" dirty="0">
                <a:solidFill>
                  <a:srgbClr val="000000">
                    <a:alpha val="100000"/>
                  </a:srgbClr>
                </a:solidFill>
                <a:latin typeface="Microsoft YaHei"/>
                <a:ea typeface="Microsoft YaHei"/>
                <a:cs typeface="Microsoft YaHei"/>
              </a:rPr>
              <a:t>60</a:t>
            </a:r>
            <a:r>
              <a:rPr sz="900" kern="0" spc="90" dirty="0">
                <a:solidFill>
                  <a:srgbClr val="000000">
                    <a:alpha val="100000"/>
                  </a:srgbClr>
                </a:solidFill>
                <a:latin typeface="Microsoft YaHei"/>
                <a:ea typeface="Microsoft YaHei"/>
                <a:cs typeface="Microsoft YaHei"/>
              </a:rPr>
              <a:t>亿元，重点关注生产制造、企业服务、</a:t>
            </a:r>
            <a:r>
              <a:rPr sz="900" kern="0" spc="80" dirty="0">
                <a:solidFill>
                  <a:srgbClr val="000000">
                    <a:alpha val="100000"/>
                  </a:srgbClr>
                </a:solidFill>
                <a:latin typeface="Microsoft YaHei"/>
                <a:ea typeface="Microsoft YaHei"/>
                <a:cs typeface="Microsoft YaHei"/>
              </a:rPr>
              <a:t>医疗健康领域。</a:t>
            </a:r>
            <a:endParaRPr sz="900" dirty="0">
              <a:latin typeface="Microsoft YaHei"/>
              <a:ea typeface="Microsoft YaHei"/>
              <a:cs typeface="Microsoft YaHei"/>
            </a:endParaRPr>
          </a:p>
          <a:p>
            <a:pPr algn="l" rtl="0" eaLnBrk="0">
              <a:lnSpc>
                <a:spcPct val="112000"/>
              </a:lnSpc>
              <a:tabLst/>
            </a:pPr>
            <a:endParaRPr sz="1000" dirty="0">
              <a:latin typeface="Arial"/>
              <a:ea typeface="Arial"/>
              <a:cs typeface="Arial"/>
            </a:endParaRPr>
          </a:p>
          <a:p>
            <a:pPr algn="l" rtl="0" eaLnBrk="0">
              <a:lnSpc>
                <a:spcPct val="113000"/>
              </a:lnSpc>
              <a:tabLst/>
            </a:pPr>
            <a:endParaRPr sz="1000" dirty="0">
              <a:latin typeface="Arial"/>
              <a:ea typeface="Arial"/>
              <a:cs typeface="Arial"/>
            </a:endParaRPr>
          </a:p>
          <a:p>
            <a:pPr marL="19050" indent="-6350" algn="l" rtl="0" eaLnBrk="0">
              <a:lnSpc>
                <a:spcPct val="109000"/>
              </a:lnSpc>
              <a:spcBef>
                <a:spcPts val="275"/>
              </a:spcBef>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2014</a:t>
            </a:r>
            <a:r>
              <a:rPr sz="900" kern="0" spc="90" dirty="0">
                <a:solidFill>
                  <a:srgbClr val="000000">
                    <a:alpha val="100000"/>
                  </a:srgbClr>
                </a:solidFill>
                <a:latin typeface="Microsoft YaHei"/>
                <a:ea typeface="Microsoft YaHei"/>
                <a:cs typeface="Microsoft YaHei"/>
              </a:rPr>
              <a:t>年，由著名企业家俞敏洪先生和资深</a:t>
            </a:r>
            <a:r>
              <a:rPr sz="900" kern="0" spc="80" dirty="0">
                <a:solidFill>
                  <a:srgbClr val="000000">
                    <a:alpha val="100000"/>
                  </a:srgbClr>
                </a:solidFill>
                <a:latin typeface="Microsoft YaHei"/>
                <a:ea typeface="Microsoft YaHei"/>
                <a:cs typeface="Microsoft YaHei"/>
              </a:rPr>
              <a:t>投资银行家盛希泰先生共同发起成立， 管理规模</a:t>
            </a:r>
            <a:r>
              <a:rPr sz="900" kern="0" spc="80" dirty="0">
                <a:solidFill>
                  <a:srgbClr val="000000">
                    <a:alpha val="100000"/>
                  </a:srgbClr>
                </a:solidFill>
                <a:latin typeface="Arial"/>
                <a:ea typeface="Arial"/>
                <a:cs typeface="Arial"/>
              </a:rPr>
              <a:t>300</a:t>
            </a:r>
            <a:r>
              <a:rPr sz="900" kern="0" spc="80" dirty="0">
                <a:solidFill>
                  <a:srgbClr val="000000">
                    <a:alpha val="100000"/>
                  </a:srgbClr>
                </a:solidFill>
                <a:latin typeface="Microsoft YaHei"/>
                <a:ea typeface="Microsoft YaHei"/>
                <a:cs typeface="Microsoft YaHei"/>
              </a:rPr>
              <a:t>亿人民</a:t>
            </a:r>
            <a:r>
              <a:rPr sz="900" kern="0" spc="100" dirty="0">
                <a:solidFill>
                  <a:srgbClr val="000000">
                    <a:alpha val="100000"/>
                  </a:srgbClr>
                </a:solidFill>
                <a:latin typeface="Microsoft YaHei"/>
                <a:ea typeface="Microsoft YaHei"/>
                <a:cs typeface="Microsoft YaHei"/>
              </a:rPr>
              <a:t>币。投资方向聚焦于人工智能大数据、金融科技、消费升级、文</a:t>
            </a:r>
            <a:r>
              <a:rPr sz="900" kern="0" spc="90" dirty="0">
                <a:solidFill>
                  <a:srgbClr val="000000">
                    <a:alpha val="100000"/>
                  </a:srgbClr>
                </a:solidFill>
                <a:latin typeface="Microsoft YaHei"/>
                <a:ea typeface="Microsoft YaHei"/>
                <a:cs typeface="Microsoft YaHei"/>
              </a:rPr>
              <a:t>体娱乐等领域</a:t>
            </a:r>
            <a:endParaRPr sz="900" dirty="0">
              <a:latin typeface="Microsoft YaHei"/>
              <a:ea typeface="Microsoft YaHei"/>
              <a:cs typeface="Microsoft YaHei"/>
            </a:endParaRPr>
          </a:p>
          <a:p>
            <a:pPr algn="l" rtl="0" eaLnBrk="0">
              <a:lnSpc>
                <a:spcPct val="126000"/>
              </a:lnSpc>
              <a:tabLst/>
            </a:pPr>
            <a:endParaRPr sz="1000" dirty="0">
              <a:latin typeface="Arial"/>
              <a:ea typeface="Arial"/>
              <a:cs typeface="Arial"/>
            </a:endParaRPr>
          </a:p>
          <a:p>
            <a:pPr marL="12700" indent="-635" algn="l" rtl="0" eaLnBrk="0">
              <a:lnSpc>
                <a:spcPct val="110000"/>
              </a:lnSpc>
              <a:spcBef>
                <a:spcPts val="280"/>
              </a:spcBef>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2001</a:t>
            </a:r>
            <a:r>
              <a:rPr sz="900" kern="0" spc="90" dirty="0">
                <a:solidFill>
                  <a:srgbClr val="000000">
                    <a:alpha val="100000"/>
                  </a:srgbClr>
                </a:solidFill>
                <a:latin typeface="Microsoft YaHei"/>
                <a:ea typeface="Microsoft YaHei"/>
                <a:cs typeface="Microsoft YaHei"/>
              </a:rPr>
              <a:t>年，资产管理规模</a:t>
            </a:r>
            <a:r>
              <a:rPr sz="900" kern="0" spc="90" dirty="0">
                <a:solidFill>
                  <a:srgbClr val="000000">
                    <a:alpha val="100000"/>
                  </a:srgbClr>
                </a:solidFill>
                <a:latin typeface="Arial"/>
                <a:ea typeface="Arial"/>
                <a:cs typeface="Arial"/>
              </a:rPr>
              <a:t>900</a:t>
            </a:r>
            <a:r>
              <a:rPr sz="900" kern="0" spc="90" dirty="0">
                <a:solidFill>
                  <a:srgbClr val="000000">
                    <a:alpha val="100000"/>
                  </a:srgbClr>
                </a:solidFill>
                <a:latin typeface="Microsoft YaHei"/>
                <a:ea typeface="Microsoft YaHei"/>
                <a:cs typeface="Microsoft YaHei"/>
              </a:rPr>
              <a:t>亿。</a:t>
            </a:r>
            <a:r>
              <a:rPr sz="900" kern="0" spc="-5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Arial"/>
                <a:ea typeface="Arial"/>
                <a:cs typeface="Arial"/>
              </a:rPr>
              <a:t>2024</a:t>
            </a:r>
            <a:r>
              <a:rPr sz="900" kern="0" spc="90" dirty="0">
                <a:solidFill>
                  <a:srgbClr val="000000">
                    <a:alpha val="100000"/>
                  </a:srgbClr>
                </a:solidFill>
                <a:latin typeface="Microsoft YaHei"/>
                <a:ea typeface="Microsoft YaHei"/>
                <a:cs typeface="Microsoft YaHei"/>
              </a:rPr>
              <a:t>年</a:t>
            </a:r>
            <a:r>
              <a:rPr sz="900" kern="0" spc="80" dirty="0">
                <a:solidFill>
                  <a:srgbClr val="000000">
                    <a:alpha val="100000"/>
                  </a:srgbClr>
                </a:solidFill>
                <a:latin typeface="Microsoft YaHei"/>
                <a:ea typeface="Microsoft YaHei"/>
                <a:cs typeface="Microsoft YaHei"/>
              </a:rPr>
              <a:t>基石资本在武汉市洪山区基石国家中小二期基金中担任管理机</a:t>
            </a:r>
            <a:r>
              <a:rPr sz="900" kern="0" spc="100" dirty="0">
                <a:solidFill>
                  <a:srgbClr val="000000">
                    <a:alpha val="100000"/>
                  </a:srgbClr>
                </a:solidFill>
                <a:latin typeface="Microsoft YaHei"/>
                <a:ea typeface="Microsoft YaHei"/>
                <a:cs typeface="Microsoft YaHei"/>
              </a:rPr>
              <a:t>构，该基金由国家中小企业发</a:t>
            </a:r>
            <a:r>
              <a:rPr sz="900" kern="0" spc="90" dirty="0">
                <a:solidFill>
                  <a:srgbClr val="000000">
                    <a:alpha val="100000"/>
                  </a:srgbClr>
                </a:solidFill>
                <a:latin typeface="Microsoft YaHei"/>
                <a:ea typeface="Microsoft YaHei"/>
                <a:cs typeface="Microsoft YaHei"/>
              </a:rPr>
              <a:t>展基金、湖北省投资引导基金、武汉产业发展基金等机构共同投资， 总规模达</a:t>
            </a:r>
            <a:r>
              <a:rPr sz="900" kern="0" spc="100" dirty="0">
                <a:solidFill>
                  <a:srgbClr val="000000">
                    <a:alpha val="100000"/>
                  </a:srgbClr>
                </a:solidFill>
                <a:latin typeface="Arial"/>
                <a:ea typeface="Arial"/>
                <a:cs typeface="Arial"/>
              </a:rPr>
              <a:t>15</a:t>
            </a:r>
            <a:r>
              <a:rPr sz="900" kern="0" spc="100" dirty="0">
                <a:solidFill>
                  <a:srgbClr val="000000">
                    <a:alpha val="100000"/>
                  </a:srgbClr>
                </a:solidFill>
                <a:latin typeface="Microsoft YaHei"/>
                <a:ea typeface="Microsoft YaHei"/>
                <a:cs typeface="Microsoft YaHei"/>
              </a:rPr>
              <a:t>亿，重点支持新一代信息技术、集成电路、高技术制造、生</a:t>
            </a:r>
            <a:r>
              <a:rPr sz="900" kern="0" spc="90" dirty="0">
                <a:solidFill>
                  <a:srgbClr val="000000">
                    <a:alpha val="100000"/>
                  </a:srgbClr>
                </a:solidFill>
                <a:latin typeface="Microsoft YaHei"/>
                <a:ea typeface="Microsoft YaHei"/>
                <a:cs typeface="Microsoft YaHei"/>
              </a:rPr>
              <a:t>物医药、人工智能、新能源新材料等多个领域</a:t>
            </a:r>
            <a:r>
              <a:rPr sz="900" kern="0" spc="90" dirty="0">
                <a:solidFill>
                  <a:srgbClr val="000000">
                    <a:alpha val="100000"/>
                  </a:srgbClr>
                </a:solidFill>
                <a:latin typeface="Microsoft YaHei"/>
                <a:ea typeface="Microsoft YaHei"/>
                <a:cs typeface="Microsoft YaHei"/>
              </a:rPr>
              <a:t>的种子期、初创期企业。目前在管理</a:t>
            </a:r>
            <a:r>
              <a:rPr sz="900" kern="0" spc="90" dirty="0">
                <a:solidFill>
                  <a:srgbClr val="000000">
                    <a:alpha val="100000"/>
                  </a:srgbClr>
                </a:solidFill>
                <a:latin typeface="Arial"/>
                <a:ea typeface="Arial"/>
                <a:cs typeface="Arial"/>
              </a:rPr>
              <a:t>100</a:t>
            </a:r>
            <a:r>
              <a:rPr sz="900" kern="0" spc="90" dirty="0">
                <a:solidFill>
                  <a:srgbClr val="000000">
                    <a:alpha val="100000"/>
                  </a:srgbClr>
                </a:solidFill>
                <a:latin typeface="Microsoft YaHei"/>
                <a:ea typeface="Microsoft YaHei"/>
                <a:cs typeface="Microsoft YaHei"/>
              </a:rPr>
              <a:t>亿北京市先进制造基金</a:t>
            </a:r>
            <a:endParaRPr sz="900" dirty="0">
              <a:latin typeface="Microsoft YaHei"/>
              <a:ea typeface="Microsoft YaHei"/>
              <a:cs typeface="Microsoft YaHei"/>
            </a:endParaRPr>
          </a:p>
          <a:p>
            <a:pPr algn="l" rtl="0" eaLnBrk="0">
              <a:lnSpc>
                <a:spcPct val="101000"/>
              </a:lnSpc>
              <a:tabLst/>
            </a:pPr>
            <a:endParaRPr sz="400" dirty="0">
              <a:latin typeface="Arial"/>
              <a:ea typeface="Arial"/>
              <a:cs typeface="Arial"/>
            </a:endParaRPr>
          </a:p>
          <a:p>
            <a:pPr marL="13334" algn="l" rtl="0" eaLnBrk="0">
              <a:lnSpc>
                <a:spcPct val="107000"/>
              </a:lnSpc>
              <a:spcBef>
                <a:spcPts val="3"/>
              </a:spcBef>
              <a:tabLst/>
            </a:pPr>
            <a:r>
              <a:rPr sz="900" kern="0" spc="90" dirty="0">
                <a:solidFill>
                  <a:srgbClr val="000000">
                    <a:alpha val="100000"/>
                  </a:srgbClr>
                </a:solidFill>
                <a:latin typeface="Microsoft YaHei"/>
                <a:ea typeface="Microsoft YaHei"/>
                <a:cs typeface="Microsoft YaHei"/>
              </a:rPr>
              <a:t>华业天成由前全球头部科技企业高管、资深投资人创立于</a:t>
            </a:r>
            <a:r>
              <a:rPr sz="900" kern="0" spc="90" dirty="0">
                <a:solidFill>
                  <a:srgbClr val="000000">
                    <a:alpha val="100000"/>
                  </a:srgbClr>
                </a:solidFill>
                <a:latin typeface="Arial"/>
                <a:ea typeface="Arial"/>
                <a:cs typeface="Arial"/>
              </a:rPr>
              <a:t>2015</a:t>
            </a:r>
            <a:r>
              <a:rPr sz="900" kern="0" spc="90" dirty="0">
                <a:solidFill>
                  <a:srgbClr val="000000">
                    <a:alpha val="100000"/>
                  </a:srgbClr>
                </a:solidFill>
                <a:latin typeface="Microsoft YaHei"/>
                <a:ea typeface="Microsoft YaHei"/>
                <a:cs typeface="Microsoft YaHei"/>
              </a:rPr>
              <a:t>年，</a:t>
            </a:r>
            <a:r>
              <a:rPr sz="900" kern="0" spc="-5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管理规模</a:t>
            </a:r>
            <a:r>
              <a:rPr sz="900" kern="0" spc="90" dirty="0">
                <a:solidFill>
                  <a:srgbClr val="000000">
                    <a:alpha val="100000"/>
                  </a:srgbClr>
                </a:solidFill>
                <a:latin typeface="Arial"/>
                <a:ea typeface="Arial"/>
                <a:cs typeface="Arial"/>
              </a:rPr>
              <a:t>70</a:t>
            </a:r>
            <a:r>
              <a:rPr sz="900" kern="0" spc="90" dirty="0">
                <a:solidFill>
                  <a:srgbClr val="000000">
                    <a:alpha val="100000"/>
                  </a:srgbClr>
                </a:solidFill>
                <a:latin typeface="Microsoft YaHei"/>
                <a:ea typeface="Microsoft YaHei"/>
                <a:cs typeface="Microsoft YaHei"/>
              </a:rPr>
              <a:t>亿人</a:t>
            </a:r>
            <a:r>
              <a:rPr sz="900" kern="0" spc="80" dirty="0">
                <a:solidFill>
                  <a:srgbClr val="000000">
                    <a:alpha val="100000"/>
                  </a:srgbClr>
                </a:solidFill>
                <a:latin typeface="Microsoft YaHei"/>
                <a:ea typeface="Microsoft YaHei"/>
                <a:cs typeface="Microsoft YaHei"/>
              </a:rPr>
              <a:t>民币，聚焦投资智能科技</a:t>
            </a:r>
            <a:r>
              <a:rPr sz="900" kern="0" spc="90" dirty="0">
                <a:solidFill>
                  <a:srgbClr val="000000">
                    <a:alpha val="100000"/>
                  </a:srgbClr>
                </a:solidFill>
                <a:latin typeface="Microsoft YaHei"/>
                <a:ea typeface="Microsoft YaHei"/>
                <a:cs typeface="Microsoft YaHei"/>
              </a:rPr>
              <a:t>及其驱动的行业变革，致力于通过价值投资和赋能。重点关注半导体、 </a:t>
            </a:r>
            <a:r>
              <a:rPr sz="1500" kern="0" spc="0" baseline="3472" dirty="0">
                <a:solidFill>
                  <a:srgbClr val="000000">
                    <a:alpha val="100000"/>
                  </a:srgbClr>
                </a:solidFill>
                <a:latin typeface="Arial"/>
                <a:ea typeface="Arial"/>
                <a:cs typeface="Arial"/>
              </a:rPr>
              <a:t>AI</a:t>
            </a:r>
            <a:r>
              <a:rPr sz="900" kern="0" spc="220" dirty="0">
                <a:solidFill>
                  <a:srgbClr val="000000">
                    <a:alpha val="100000"/>
                  </a:srgbClr>
                </a:solidFill>
                <a:latin typeface="Arial"/>
                <a:ea typeface="Arial"/>
                <a:cs typeface="Arial"/>
              </a:rPr>
              <a:t> </a:t>
            </a:r>
            <a:r>
              <a:rPr sz="900" kern="0" spc="0" dirty="0">
                <a:solidFill>
                  <a:srgbClr val="000000">
                    <a:alpha val="100000"/>
                  </a:srgbClr>
                </a:solidFill>
                <a:latin typeface="Arial"/>
                <a:ea typeface="Arial"/>
                <a:cs typeface="Arial"/>
              </a:rPr>
              <a:t>infra</a:t>
            </a:r>
            <a:r>
              <a:rPr sz="900" kern="0" spc="90" dirty="0">
                <a:solidFill>
                  <a:srgbClr val="000000">
                    <a:alpha val="100000"/>
                  </a:srgbClr>
                </a:solidFill>
                <a:latin typeface="Microsoft YaHei"/>
                <a:ea typeface="Microsoft YaHei"/>
                <a:cs typeface="Microsoft YaHei"/>
              </a:rPr>
              <a:t>、产业智能、智能终端等领域</a:t>
            </a:r>
            <a:r>
              <a:rPr sz="900" kern="0" spc="90" dirty="0">
                <a:solidFill>
                  <a:srgbClr val="000000">
                    <a:alpha val="100000"/>
                  </a:srgbClr>
                </a:solidFill>
                <a:latin typeface="Microsoft YaHei"/>
                <a:ea typeface="Microsoft YaHei"/>
                <a:cs typeface="Microsoft YaHei"/>
              </a:rPr>
              <a:t>的投资机会</a:t>
            </a:r>
            <a:endParaRPr sz="900" dirty="0">
              <a:latin typeface="Microsoft YaHei"/>
              <a:ea typeface="Microsoft YaHei"/>
              <a:cs typeface="Microsoft YaHei"/>
            </a:endParaRPr>
          </a:p>
        </p:txBody>
      </p:sp>
      <p:sp>
        <p:nvSpPr>
          <p:cNvPr id="824" name="textbox 824"/>
          <p:cNvSpPr/>
          <p:nvPr/>
        </p:nvSpPr>
        <p:spPr>
          <a:xfrm>
            <a:off x="566833" y="401828"/>
            <a:ext cx="11177905" cy="1021714"/>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40" dirty="0">
                <a:solidFill>
                  <a:srgbClr val="BF756D">
                    <a:alpha val="100000"/>
                  </a:srgbClr>
                </a:solidFill>
                <a:latin typeface="Microsoft YaHei"/>
                <a:ea typeface="Microsoft YaHei"/>
                <a:cs typeface="Microsoft YaHei"/>
              </a:rPr>
              <a:t> 覆盖潜在机构推介 —— 财务投资                              </a:t>
            </a:r>
            <a:endParaRPr sz="2700" dirty="0">
              <a:latin typeface="Microsoft YaHei"/>
              <a:ea typeface="Microsoft YaHei"/>
              <a:cs typeface="Microsoft YaHei"/>
            </a:endParaRPr>
          </a:p>
          <a:p>
            <a:pPr algn="l" rtl="0" eaLnBrk="0">
              <a:lnSpc>
                <a:spcPct val="115000"/>
              </a:lnSpc>
              <a:tabLst/>
            </a:pPr>
            <a:endParaRPr sz="1000" dirty="0">
              <a:latin typeface="Arial"/>
              <a:ea typeface="Arial"/>
              <a:cs typeface="Arial"/>
            </a:endParaRPr>
          </a:p>
          <a:p>
            <a:pPr algn="l" rtl="0" eaLnBrk="0">
              <a:lnSpc>
                <a:spcPct val="115000"/>
              </a:lnSpc>
              <a:tabLst/>
            </a:pPr>
            <a:endParaRPr sz="1000" dirty="0">
              <a:latin typeface="Arial"/>
              <a:ea typeface="Arial"/>
              <a:cs typeface="Arial"/>
            </a:endParaRPr>
          </a:p>
          <a:p>
            <a:pPr algn="l" rtl="0" eaLnBrk="0">
              <a:lnSpc>
                <a:spcPct val="102000"/>
              </a:lnSpc>
              <a:tabLst/>
            </a:pPr>
            <a:endParaRPr sz="300" dirty="0">
              <a:latin typeface="Arial"/>
              <a:ea typeface="Arial"/>
              <a:cs typeface="Arial"/>
            </a:endParaRPr>
          </a:p>
          <a:p>
            <a:pPr marL="960119" algn="l" rtl="0" eaLnBrk="0">
              <a:lnSpc>
                <a:spcPct val="90000"/>
              </a:lnSpc>
              <a:spcBef>
                <a:spcPts val="3"/>
              </a:spcBef>
              <a:tabLst/>
            </a:pPr>
            <a:r>
              <a:rPr sz="1200" b="1" kern="0" spc="0" dirty="0">
                <a:solidFill>
                  <a:srgbClr val="BF756D">
                    <a:alpha val="100000"/>
                  </a:srgbClr>
                </a:solidFill>
                <a:latin typeface="Microsoft YaHei"/>
                <a:ea typeface="Microsoft YaHei"/>
                <a:cs typeface="Microsoft YaHei"/>
              </a:rPr>
              <a:t>机构名称                                                                     机构介绍                                                                                  </a:t>
            </a:r>
            <a:r>
              <a:rPr sz="1200" b="1" kern="0" spc="-10" dirty="0">
                <a:solidFill>
                  <a:srgbClr val="BF756D">
                    <a:alpha val="100000"/>
                  </a:srgbClr>
                </a:solidFill>
                <a:latin typeface="Microsoft YaHei"/>
                <a:ea typeface="Microsoft YaHei"/>
                <a:cs typeface="Microsoft YaHei"/>
              </a:rPr>
              <a:t>  投资案例</a:t>
            </a:r>
            <a:endParaRPr sz="1200" dirty="0">
              <a:latin typeface="Microsoft YaHei"/>
              <a:ea typeface="Microsoft YaHei"/>
              <a:cs typeface="Microsoft YaHei"/>
            </a:endParaRPr>
          </a:p>
        </p:txBody>
      </p:sp>
      <p:pic>
        <p:nvPicPr>
          <p:cNvPr id="826" name="picture 826"/>
          <p:cNvPicPr>
            <a:picLocks noChangeAspect="1"/>
          </p:cNvPicPr>
          <p:nvPr/>
        </p:nvPicPr>
        <p:blipFill>
          <a:blip r:embed="rId2"/>
          <a:stretch>
            <a:fillRect/>
          </a:stretch>
        </p:blipFill>
        <p:spPr>
          <a:xfrm rot="21600000">
            <a:off x="10003504" y="414528"/>
            <a:ext cx="1616964" cy="365759"/>
          </a:xfrm>
          <a:prstGeom prst="rect">
            <a:avLst/>
          </a:prstGeom>
        </p:spPr>
      </p:pic>
      <p:sp>
        <p:nvSpPr>
          <p:cNvPr id="828" name="rect 828"/>
          <p:cNvSpPr/>
          <p:nvPr/>
        </p:nvSpPr>
        <p:spPr>
          <a:xfrm>
            <a:off x="1085367" y="1577314"/>
            <a:ext cx="10432136" cy="858164"/>
          </a:xfrm>
          <a:prstGeom prst="rect">
            <a:avLst/>
          </a:prstGeom>
          <a:solidFill>
            <a:srgbClr val="F2F2F2">
              <a:alpha val="100000"/>
            </a:srgbClr>
          </a:solidFill>
          <a:ln w="0" cap="flat">
            <a:noFill/>
            <a:prstDash val="solid"/>
            <a:miter lim="0"/>
          </a:ln>
        </p:spPr>
        <p:txBody>
          <a:bodyPr rtlCol="0"/>
          <a:lstStyle/>
          <a:p>
            <a:pPr algn="ctr"/>
            <a:endParaRPr lang="zh-CN" altLang="en-US"/>
          </a:p>
        </p:txBody>
      </p:sp>
      <p:grpSp>
        <p:nvGrpSpPr>
          <p:cNvPr id="62" name="group 62"/>
          <p:cNvGrpSpPr/>
          <p:nvPr/>
        </p:nvGrpSpPr>
        <p:grpSpPr>
          <a:xfrm rot="21600000">
            <a:off x="508711" y="1577314"/>
            <a:ext cx="583006" cy="4681982"/>
            <a:chOff x="0" y="0"/>
            <a:chExt cx="583006" cy="4681982"/>
          </a:xfrm>
        </p:grpSpPr>
        <p:sp>
          <p:nvSpPr>
            <p:cNvPr id="830" name="rect 830"/>
            <p:cNvSpPr/>
            <p:nvPr/>
          </p:nvSpPr>
          <p:spPr>
            <a:xfrm>
              <a:off x="0" y="0"/>
              <a:ext cx="576656" cy="4681982"/>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832" name="textbox 832"/>
            <p:cNvSpPr/>
            <p:nvPr/>
          </p:nvSpPr>
          <p:spPr>
            <a:xfrm>
              <a:off x="86733" y="2200458"/>
              <a:ext cx="403225" cy="3130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b="1" kern="0" spc="80" dirty="0">
                  <a:solidFill>
                    <a:srgbClr val="FFFFFF">
                      <a:alpha val="100000"/>
                    </a:srgbClr>
                  </a:solidFill>
                  <a:latin typeface="Microsoft YaHei"/>
                  <a:ea typeface="Microsoft YaHei"/>
                  <a:cs typeface="Microsoft YaHei"/>
                </a:rPr>
                <a:t>财务投</a:t>
              </a:r>
              <a:endParaRPr sz="900" dirty="0">
                <a:latin typeface="Microsoft YaHei"/>
                <a:ea typeface="Microsoft YaHei"/>
                <a:cs typeface="Microsoft YaHei"/>
              </a:endParaRPr>
            </a:p>
            <a:p>
              <a:pPr marL="139064" algn="l" rtl="0" eaLnBrk="0">
                <a:lnSpc>
                  <a:spcPct val="98000"/>
                </a:lnSpc>
                <a:spcBef>
                  <a:spcPts val="142"/>
                </a:spcBef>
                <a:tabLst/>
              </a:pPr>
              <a:r>
                <a:rPr sz="900" b="1" kern="0" spc="70" dirty="0">
                  <a:solidFill>
                    <a:srgbClr val="FFFFFF">
                      <a:alpha val="100000"/>
                    </a:srgbClr>
                  </a:solidFill>
                  <a:latin typeface="Microsoft YaHei"/>
                  <a:ea typeface="Microsoft YaHei"/>
                  <a:cs typeface="Microsoft YaHei"/>
                </a:rPr>
                <a:t>资</a:t>
              </a:r>
              <a:endParaRPr sz="900" dirty="0">
                <a:latin typeface="Microsoft YaHei"/>
                <a:ea typeface="Microsoft YaHei"/>
                <a:cs typeface="Microsoft YaHei"/>
              </a:endParaRPr>
            </a:p>
          </p:txBody>
        </p:sp>
        <p:sp>
          <p:nvSpPr>
            <p:cNvPr id="834" name="path 834"/>
            <p:cNvSpPr/>
            <p:nvPr/>
          </p:nvSpPr>
          <p:spPr>
            <a:xfrm>
              <a:off x="570306" y="25"/>
              <a:ext cx="12700" cy="3977004"/>
            </a:xfrm>
            <a:custGeom>
              <a:avLst/>
              <a:gdLst/>
              <a:ahLst/>
              <a:cxnLst/>
              <a:rect l="0" t="0" r="0" b="0"/>
              <a:pathLst>
                <a:path w="20" h="6262">
                  <a:moveTo>
                    <a:pt x="10" y="0"/>
                  </a:moveTo>
                  <a:lnTo>
                    <a:pt x="10" y="5372"/>
                  </a:lnTo>
                  <a:moveTo>
                    <a:pt x="10" y="5372"/>
                  </a:moveTo>
                  <a:lnTo>
                    <a:pt x="10" y="6262"/>
                  </a:lnTo>
                </a:path>
              </a:pathLst>
            </a:custGeom>
            <a:noFill/>
            <a:ln w="12700" cap="flat">
              <a:solidFill>
                <a:srgbClr val="000000"/>
              </a:solidFill>
              <a:prstDash val="solid"/>
              <a:round/>
            </a:ln>
          </p:spPr>
          <p:txBody>
            <a:bodyPr rtlCol="0"/>
            <a:lstStyle/>
            <a:p>
              <a:pPr algn="ctr"/>
              <a:endParaRPr lang="zh-CN" altLang="en-US"/>
            </a:p>
          </p:txBody>
        </p:sp>
      </p:grpSp>
      <p:grpSp>
        <p:nvGrpSpPr>
          <p:cNvPr id="64" name="group 64"/>
          <p:cNvGrpSpPr/>
          <p:nvPr/>
        </p:nvGrpSpPr>
        <p:grpSpPr>
          <a:xfrm rot="21600000">
            <a:off x="1079017" y="5554345"/>
            <a:ext cx="10438486" cy="704951"/>
            <a:chOff x="0" y="0"/>
            <a:chExt cx="10438486" cy="704951"/>
          </a:xfrm>
        </p:grpSpPr>
        <p:sp>
          <p:nvSpPr>
            <p:cNvPr id="836" name="rect 836"/>
            <p:cNvSpPr/>
            <p:nvPr/>
          </p:nvSpPr>
          <p:spPr>
            <a:xfrm>
              <a:off x="6350" y="25"/>
              <a:ext cx="10432136" cy="704926"/>
            </a:xfrm>
            <a:prstGeom prst="rect">
              <a:avLst/>
            </a:prstGeom>
            <a:solidFill>
              <a:srgbClr val="F4F4F4">
                <a:alpha val="100000"/>
              </a:srgbClr>
            </a:solidFill>
            <a:ln w="0" cap="flat">
              <a:noFill/>
              <a:prstDash val="solid"/>
              <a:miter lim="0"/>
            </a:ln>
          </p:spPr>
          <p:txBody>
            <a:bodyPr rtlCol="0"/>
            <a:lstStyle/>
            <a:p>
              <a:pPr algn="ctr"/>
              <a:endParaRPr lang="zh-CN" altLang="en-US"/>
            </a:p>
          </p:txBody>
        </p:sp>
        <p:sp>
          <p:nvSpPr>
            <p:cNvPr id="838" name="textbox 838"/>
            <p:cNvSpPr/>
            <p:nvPr/>
          </p:nvSpPr>
          <p:spPr>
            <a:xfrm>
              <a:off x="1490188" y="215626"/>
              <a:ext cx="5952490" cy="324484"/>
            </a:xfrm>
            <a:prstGeom prst="rect">
              <a:avLst/>
            </a:prstGeom>
            <a:noFill/>
            <a:ln w="0" cap="flat">
              <a:noFill/>
              <a:prstDash val="solid"/>
              <a:miter lim="0"/>
            </a:ln>
          </p:spPr>
          <p:txBody>
            <a:bodyPr vert="horz" wrap="square" lIns="0" tIns="0" rIns="0" bIns="0"/>
            <a:lstStyle/>
            <a:p>
              <a:pPr algn="l" rtl="0" eaLnBrk="0">
                <a:lnSpc>
                  <a:spcPct val="81090"/>
                </a:lnSpc>
                <a:tabLst/>
              </a:pPr>
              <a:endParaRPr sz="100" dirty="0">
                <a:latin typeface="Arial"/>
                <a:ea typeface="Arial"/>
                <a:cs typeface="Arial"/>
              </a:endParaRPr>
            </a:p>
            <a:p>
              <a:pPr marL="22225" indent="-10160" algn="l" rtl="0" eaLnBrk="0">
                <a:lnSpc>
                  <a:spcPct val="109000"/>
                </a:lnSpc>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2020</a:t>
              </a:r>
              <a:r>
                <a:rPr sz="900" kern="0" spc="90" dirty="0">
                  <a:solidFill>
                    <a:srgbClr val="000000">
                      <a:alpha val="100000"/>
                    </a:srgbClr>
                  </a:solidFill>
                  <a:latin typeface="Microsoft YaHei"/>
                  <a:ea typeface="Microsoft YaHei"/>
                  <a:cs typeface="Microsoft YaHei"/>
                </a:rPr>
                <a:t>年，目前管理着</a:t>
              </a:r>
              <a:r>
                <a:rPr sz="900" kern="0" spc="90" dirty="0">
                  <a:solidFill>
                    <a:srgbClr val="000000">
                      <a:alpha val="100000"/>
                    </a:srgbClr>
                  </a:solidFill>
                  <a:latin typeface="Arial"/>
                  <a:ea typeface="Arial"/>
                  <a:cs typeface="Arial"/>
                </a:rPr>
                <a:t>32</a:t>
              </a:r>
              <a:r>
                <a:rPr sz="900" kern="0" spc="90" dirty="0">
                  <a:solidFill>
                    <a:srgbClr val="000000">
                      <a:alpha val="100000"/>
                    </a:srgbClr>
                  </a:solidFill>
                  <a:latin typeface="Microsoft YaHei"/>
                  <a:ea typeface="Microsoft YaHei"/>
                  <a:cs typeface="Microsoft YaHei"/>
                </a:rPr>
                <a:t>亿的私募股权基金和</a:t>
              </a:r>
              <a:r>
                <a:rPr sz="900" kern="0" spc="90" dirty="0">
                  <a:solidFill>
                    <a:srgbClr val="000000">
                      <a:alpha val="100000"/>
                    </a:srgbClr>
                  </a:solidFill>
                  <a:latin typeface="Arial"/>
                  <a:ea typeface="Arial"/>
                  <a:cs typeface="Arial"/>
                </a:rPr>
                <a:t>100</a:t>
              </a:r>
              <a:r>
                <a:rPr sz="900" kern="0" spc="90" dirty="0">
                  <a:solidFill>
                    <a:srgbClr val="000000">
                      <a:alpha val="100000"/>
                    </a:srgbClr>
                  </a:solidFill>
                  <a:latin typeface="Microsoft YaHei"/>
                  <a:ea typeface="Microsoft YaHei"/>
                  <a:cs typeface="Microsoft YaHei"/>
                </a:rPr>
                <a:t>亿的产业母基金，重</a:t>
              </a:r>
              <a:r>
                <a:rPr sz="900" kern="0" spc="80" dirty="0">
                  <a:solidFill>
                    <a:srgbClr val="000000">
                      <a:alpha val="100000"/>
                    </a:srgbClr>
                  </a:solidFill>
                  <a:latin typeface="Microsoft YaHei"/>
                  <a:ea typeface="Microsoft YaHei"/>
                  <a:cs typeface="Microsoft YaHei"/>
                </a:rPr>
                <a:t>点投资高端装备制造、新能源、</a:t>
              </a:r>
              <a:r>
                <a:rPr sz="900" kern="0" spc="100" dirty="0">
                  <a:solidFill>
                    <a:srgbClr val="000000">
                      <a:alpha val="100000"/>
                    </a:srgbClr>
                  </a:solidFill>
                  <a:latin typeface="Microsoft YaHei"/>
                  <a:ea typeface="Microsoft YaHei"/>
                  <a:cs typeface="Microsoft YaHei"/>
                </a:rPr>
                <a:t>医疗健康、人工智能等</a:t>
              </a:r>
              <a:r>
                <a:rPr sz="900" kern="0" spc="90" dirty="0">
                  <a:solidFill>
                    <a:srgbClr val="000000">
                      <a:alpha val="100000"/>
                    </a:srgbClr>
                  </a:solidFill>
                  <a:latin typeface="Microsoft YaHei"/>
                  <a:ea typeface="Microsoft YaHei"/>
                  <a:cs typeface="Microsoft YaHei"/>
                </a:rPr>
                <a:t>科技赋能产业的成长性企业</a:t>
              </a:r>
              <a:endParaRPr sz="900" dirty="0">
                <a:latin typeface="Microsoft YaHei"/>
                <a:ea typeface="Microsoft YaHei"/>
                <a:cs typeface="Microsoft YaHei"/>
              </a:endParaRPr>
            </a:p>
          </p:txBody>
        </p:sp>
        <p:sp>
          <p:nvSpPr>
            <p:cNvPr id="840" name="path 840"/>
            <p:cNvSpPr/>
            <p:nvPr/>
          </p:nvSpPr>
          <p:spPr>
            <a:xfrm>
              <a:off x="0" y="0"/>
              <a:ext cx="12700" cy="704951"/>
            </a:xfrm>
            <a:custGeom>
              <a:avLst/>
              <a:gdLst/>
              <a:ahLst/>
              <a:cxnLst/>
              <a:rect l="0" t="0" r="0" b="0"/>
              <a:pathLst>
                <a:path w="20" h="1110">
                  <a:moveTo>
                    <a:pt x="10" y="0"/>
                  </a:moveTo>
                  <a:lnTo>
                    <a:pt x="10" y="1110"/>
                  </a:lnTo>
                </a:path>
              </a:pathLst>
            </a:custGeom>
            <a:noFill/>
            <a:ln w="12700" cap="flat">
              <a:solidFill>
                <a:srgbClr val="000000"/>
              </a:solidFill>
              <a:prstDash val="solid"/>
              <a:round/>
            </a:ln>
          </p:spPr>
          <p:txBody>
            <a:bodyPr rtlCol="0"/>
            <a:lstStyle/>
            <a:p>
              <a:pPr algn="ctr"/>
              <a:endParaRPr lang="zh-CN" altLang="en-US"/>
            </a:p>
          </p:txBody>
        </p:sp>
      </p:grpSp>
      <p:sp>
        <p:nvSpPr>
          <p:cNvPr id="842" name="textbox 842"/>
          <p:cNvSpPr/>
          <p:nvPr/>
        </p:nvSpPr>
        <p:spPr>
          <a:xfrm>
            <a:off x="8655424" y="2673508"/>
            <a:ext cx="2266314" cy="269811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天邦达、卡儿酷、芯材电路</a:t>
            </a:r>
            <a:endParaRPr sz="900" dirty="0">
              <a:latin typeface="Microsoft YaHei"/>
              <a:ea typeface="Microsoft YaHei"/>
              <a:cs typeface="Microsoft YaHei"/>
            </a:endParaRPr>
          </a:p>
          <a:p>
            <a:pPr algn="l" rtl="0" eaLnBrk="0">
              <a:lnSpc>
                <a:spcPct val="138000"/>
              </a:lnSpc>
              <a:tabLst/>
            </a:pPr>
            <a:endParaRPr sz="1000" dirty="0">
              <a:latin typeface="Arial"/>
              <a:ea typeface="Arial"/>
              <a:cs typeface="Arial"/>
            </a:endParaRPr>
          </a:p>
          <a:p>
            <a:pPr algn="l" rtl="0" eaLnBrk="0">
              <a:lnSpc>
                <a:spcPct val="139000"/>
              </a:lnSpc>
              <a:tabLst/>
            </a:pPr>
            <a:endParaRPr sz="1000" dirty="0">
              <a:latin typeface="Arial"/>
              <a:ea typeface="Arial"/>
              <a:cs typeface="Arial"/>
            </a:endParaRPr>
          </a:p>
          <a:p>
            <a:pPr marL="100330" algn="l" rtl="0" eaLnBrk="0">
              <a:lnSpc>
                <a:spcPct val="98000"/>
              </a:lnSpc>
              <a:spcBef>
                <a:spcPts val="274"/>
              </a:spcBef>
              <a:tabLst/>
            </a:pPr>
            <a:r>
              <a:rPr sz="900" kern="0" spc="90" dirty="0">
                <a:solidFill>
                  <a:srgbClr val="000000">
                    <a:alpha val="100000"/>
                  </a:srgbClr>
                </a:solidFill>
                <a:latin typeface="Microsoft YaHei"/>
                <a:ea typeface="Microsoft YaHei"/>
                <a:cs typeface="Microsoft YaHei"/>
              </a:rPr>
              <a:t>千顾科技、易显智能、易鼎丰</a:t>
            </a:r>
            <a:endParaRPr sz="9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marL="12700" algn="l" rtl="0" eaLnBrk="0">
              <a:lnSpc>
                <a:spcPct val="98000"/>
              </a:lnSpc>
              <a:spcBef>
                <a:spcPts val="279"/>
              </a:spcBef>
              <a:tabLst/>
            </a:pPr>
            <a:r>
              <a:rPr sz="900" kern="0" spc="100" dirty="0">
                <a:solidFill>
                  <a:srgbClr val="000000">
                    <a:alpha val="100000"/>
                  </a:srgbClr>
                </a:solidFill>
                <a:latin typeface="Microsoft YaHei"/>
                <a:ea typeface="Microsoft YaHei"/>
                <a:cs typeface="Microsoft YaHei"/>
              </a:rPr>
              <a:t>新声半导体、泰科天润</a:t>
            </a:r>
            <a:r>
              <a:rPr sz="900" kern="0" spc="90" dirty="0">
                <a:solidFill>
                  <a:srgbClr val="000000">
                    <a:alpha val="100000"/>
                  </a:srgbClr>
                </a:solidFill>
                <a:latin typeface="Microsoft YaHei"/>
                <a:ea typeface="Microsoft YaHei"/>
                <a:cs typeface="Microsoft YaHei"/>
              </a:rPr>
              <a:t>、中茵微电子</a:t>
            </a:r>
            <a:endParaRPr sz="9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20954" algn="l" rtl="0" eaLnBrk="0">
              <a:lnSpc>
                <a:spcPct val="98000"/>
              </a:lnSpc>
              <a:spcBef>
                <a:spcPts val="274"/>
              </a:spcBef>
              <a:tabLst/>
            </a:pPr>
            <a:r>
              <a:rPr sz="900" kern="0" spc="110" dirty="0">
                <a:solidFill>
                  <a:srgbClr val="000000">
                    <a:alpha val="100000"/>
                  </a:srgbClr>
                </a:solidFill>
                <a:latin typeface="Microsoft YaHei"/>
                <a:ea typeface="Microsoft YaHei"/>
                <a:cs typeface="Microsoft YaHei"/>
              </a:rPr>
              <a:t>中科际联光电、荣耀</a:t>
            </a:r>
            <a:r>
              <a:rPr sz="900" kern="0" spc="0" dirty="0">
                <a:solidFill>
                  <a:srgbClr val="000000">
                    <a:alpha val="100000"/>
                  </a:srgbClr>
                </a:solidFill>
                <a:latin typeface="Arial"/>
                <a:ea typeface="Arial"/>
                <a:cs typeface="Arial"/>
              </a:rPr>
              <a:t>HONOR</a:t>
            </a:r>
            <a:r>
              <a:rPr sz="900" kern="0" spc="110" dirty="0">
                <a:solidFill>
                  <a:srgbClr val="000000">
                    <a:alpha val="100000"/>
                  </a:srgbClr>
                </a:solidFill>
                <a:latin typeface="Microsoft YaHei"/>
                <a:ea typeface="Microsoft YaHei"/>
                <a:cs typeface="Microsoft YaHei"/>
              </a:rPr>
              <a:t>、芯擎科技</a:t>
            </a:r>
            <a:endParaRPr sz="900" dirty="0">
              <a:latin typeface="Microsoft YaHei"/>
              <a:ea typeface="Microsoft YaHei"/>
              <a:cs typeface="Microsoft YaHei"/>
            </a:endParaRPr>
          </a:p>
          <a:p>
            <a:pPr algn="l" rtl="0" eaLnBrk="0">
              <a:lnSpc>
                <a:spcPct val="138000"/>
              </a:lnSpc>
              <a:tabLst/>
            </a:pPr>
            <a:endParaRPr sz="1000" dirty="0">
              <a:latin typeface="Arial"/>
              <a:ea typeface="Arial"/>
              <a:cs typeface="Arial"/>
            </a:endParaRPr>
          </a:p>
          <a:p>
            <a:pPr algn="l" rtl="0" eaLnBrk="0">
              <a:lnSpc>
                <a:spcPct val="138000"/>
              </a:lnSpc>
              <a:tabLst/>
            </a:pPr>
            <a:endParaRPr sz="1000" dirty="0">
              <a:latin typeface="Arial"/>
              <a:ea typeface="Arial"/>
              <a:cs typeface="Arial"/>
            </a:endParaRPr>
          </a:p>
          <a:p>
            <a:pPr algn="l" rtl="0" eaLnBrk="0">
              <a:lnSpc>
                <a:spcPct val="117000"/>
              </a:lnSpc>
              <a:tabLst/>
            </a:pPr>
            <a:endParaRPr sz="2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英诺赛科、伏达半导体</a:t>
            </a:r>
            <a:endParaRPr sz="900" dirty="0">
              <a:latin typeface="Microsoft YaHei"/>
              <a:ea typeface="Microsoft YaHei"/>
              <a:cs typeface="Microsoft YaHei"/>
            </a:endParaRPr>
          </a:p>
        </p:txBody>
      </p:sp>
      <p:sp>
        <p:nvSpPr>
          <p:cNvPr id="844" name="textbox 844"/>
          <p:cNvSpPr/>
          <p:nvPr/>
        </p:nvSpPr>
        <p:spPr>
          <a:xfrm>
            <a:off x="2569206" y="1856795"/>
            <a:ext cx="6024245" cy="323850"/>
          </a:xfrm>
          <a:prstGeom prst="rect">
            <a:avLst/>
          </a:prstGeom>
          <a:noFill/>
          <a:ln w="0" cap="flat">
            <a:noFill/>
            <a:prstDash val="solid"/>
            <a:miter lim="0"/>
          </a:ln>
        </p:spPr>
        <p:txBody>
          <a:bodyPr vert="horz" wrap="square" lIns="0" tIns="0" rIns="0" bIns="0"/>
          <a:lstStyle/>
          <a:p>
            <a:pPr algn="l" rtl="0" eaLnBrk="0">
              <a:lnSpc>
                <a:spcPct val="78294"/>
              </a:lnSpc>
              <a:tabLst/>
            </a:pPr>
            <a:endParaRPr sz="100" dirty="0">
              <a:latin typeface="Arial"/>
              <a:ea typeface="Arial"/>
              <a:cs typeface="Arial"/>
            </a:endParaRPr>
          </a:p>
          <a:p>
            <a:pPr marL="31750" indent="-19684" algn="l" rtl="0" eaLnBrk="0">
              <a:lnSpc>
                <a:spcPct val="109000"/>
              </a:lnSpc>
              <a:tabLst/>
            </a:pPr>
            <a:r>
              <a:rPr sz="900" kern="0" spc="90" dirty="0">
                <a:solidFill>
                  <a:srgbClr val="000000">
                    <a:alpha val="100000"/>
                  </a:srgbClr>
                </a:solidFill>
                <a:latin typeface="Microsoft YaHei"/>
                <a:ea typeface="Microsoft YaHei"/>
                <a:cs typeface="Microsoft YaHei"/>
              </a:rPr>
              <a:t>成立于</a:t>
            </a:r>
            <a:r>
              <a:rPr sz="900" kern="0" spc="90" dirty="0">
                <a:solidFill>
                  <a:srgbClr val="000000">
                    <a:alpha val="100000"/>
                  </a:srgbClr>
                </a:solidFill>
                <a:latin typeface="Arial"/>
                <a:ea typeface="Arial"/>
                <a:cs typeface="Arial"/>
              </a:rPr>
              <a:t>2012</a:t>
            </a:r>
            <a:r>
              <a:rPr sz="900" kern="0" spc="90" dirty="0">
                <a:solidFill>
                  <a:srgbClr val="000000">
                    <a:alpha val="100000"/>
                  </a:srgbClr>
                </a:solidFill>
                <a:latin typeface="Microsoft YaHei"/>
                <a:ea typeface="Microsoft YaHei"/>
                <a:cs typeface="Microsoft YaHei"/>
              </a:rPr>
              <a:t>年，是鼎晖投资旗下聚焦科技投资的专业平台， 在</a:t>
            </a:r>
            <a:r>
              <a:rPr sz="900" kern="0" spc="90" dirty="0">
                <a:solidFill>
                  <a:srgbClr val="000000">
                    <a:alpha val="100000"/>
                  </a:srgbClr>
                </a:solidFill>
                <a:latin typeface="KaiTi"/>
                <a:ea typeface="KaiTi"/>
                <a:cs typeface="KaiTi"/>
              </a:rPr>
              <a:t>半导体、高端装备、生物医药、碳</a:t>
            </a:r>
            <a:r>
              <a:rPr sz="900" kern="0" spc="80" dirty="0">
                <a:solidFill>
                  <a:srgbClr val="000000">
                    <a:alpha val="100000"/>
                  </a:srgbClr>
                </a:solidFill>
                <a:latin typeface="KaiTi"/>
                <a:ea typeface="KaiTi"/>
                <a:cs typeface="KaiTi"/>
              </a:rPr>
              <a:t>中和、科技</a:t>
            </a:r>
            <a:r>
              <a:rPr sz="900" kern="0" spc="70" dirty="0">
                <a:solidFill>
                  <a:srgbClr val="000000">
                    <a:alpha val="100000"/>
                  </a:srgbClr>
                </a:solidFill>
                <a:latin typeface="KaiTi"/>
                <a:ea typeface="KaiTi"/>
                <a:cs typeface="KaiTi"/>
              </a:rPr>
              <a:t>出海等领域布局，</a:t>
            </a:r>
            <a:r>
              <a:rPr sz="900" kern="0" spc="-160" dirty="0">
                <a:solidFill>
                  <a:srgbClr val="000000">
                    <a:alpha val="100000"/>
                  </a:srgbClr>
                </a:solidFill>
                <a:latin typeface="KaiTi"/>
                <a:ea typeface="KaiTi"/>
                <a:cs typeface="KaiTi"/>
              </a:rPr>
              <a:t> </a:t>
            </a:r>
            <a:r>
              <a:rPr sz="900" kern="0" spc="70" dirty="0">
                <a:solidFill>
                  <a:srgbClr val="000000">
                    <a:alpha val="100000"/>
                  </a:srgbClr>
                </a:solidFill>
                <a:latin typeface="KaiTi"/>
                <a:ea typeface="KaiTi"/>
                <a:cs typeface="KaiTi"/>
              </a:rPr>
              <a:t>累计投资</a:t>
            </a:r>
            <a:r>
              <a:rPr sz="900" kern="0" spc="70" dirty="0">
                <a:solidFill>
                  <a:srgbClr val="000000">
                    <a:alpha val="100000"/>
                  </a:srgbClr>
                </a:solidFill>
                <a:latin typeface="Times New Roman"/>
                <a:ea typeface="Times New Roman"/>
                <a:cs typeface="Times New Roman"/>
              </a:rPr>
              <a:t>100</a:t>
            </a:r>
            <a:r>
              <a:rPr sz="900" kern="0" spc="70" dirty="0">
                <a:solidFill>
                  <a:srgbClr val="000000">
                    <a:alpha val="100000"/>
                  </a:srgbClr>
                </a:solidFill>
                <a:latin typeface="KaiTi"/>
                <a:ea typeface="KaiTi"/>
                <a:cs typeface="KaiTi"/>
              </a:rPr>
              <a:t>多个项目，</a:t>
            </a:r>
            <a:r>
              <a:rPr sz="900" kern="0" spc="-60" dirty="0">
                <a:solidFill>
                  <a:srgbClr val="000000">
                    <a:alpha val="100000"/>
                  </a:srgbClr>
                </a:solidFill>
                <a:latin typeface="KaiTi"/>
                <a:ea typeface="KaiTi"/>
                <a:cs typeface="KaiTi"/>
              </a:rPr>
              <a:t> </a:t>
            </a:r>
            <a:r>
              <a:rPr sz="900" kern="0" spc="60" dirty="0">
                <a:solidFill>
                  <a:srgbClr val="000000">
                    <a:alpha val="100000"/>
                  </a:srgbClr>
                </a:solidFill>
                <a:latin typeface="KaiTi"/>
                <a:ea typeface="KaiTi"/>
                <a:cs typeface="KaiTi"/>
              </a:rPr>
              <a:t>资产管理规模超过</a:t>
            </a:r>
            <a:r>
              <a:rPr sz="900" kern="0" spc="60" dirty="0">
                <a:solidFill>
                  <a:srgbClr val="000000">
                    <a:alpha val="100000"/>
                  </a:srgbClr>
                </a:solidFill>
                <a:latin typeface="Times New Roman"/>
                <a:ea typeface="Times New Roman"/>
                <a:cs typeface="Times New Roman"/>
              </a:rPr>
              <a:t>700</a:t>
            </a:r>
            <a:r>
              <a:rPr sz="900" kern="0" spc="60" dirty="0">
                <a:solidFill>
                  <a:srgbClr val="000000">
                    <a:alpha val="100000"/>
                  </a:srgbClr>
                </a:solidFill>
                <a:latin typeface="KaiTi"/>
                <a:ea typeface="KaiTi"/>
                <a:cs typeface="KaiTi"/>
              </a:rPr>
              <a:t>亿元</a:t>
            </a:r>
            <a:endParaRPr sz="900" dirty="0">
              <a:latin typeface="KaiTi"/>
              <a:ea typeface="KaiTi"/>
              <a:cs typeface="KaiTi"/>
            </a:endParaRPr>
          </a:p>
        </p:txBody>
      </p:sp>
      <p:sp>
        <p:nvSpPr>
          <p:cNvPr id="846" name="textbox 846"/>
          <p:cNvSpPr/>
          <p:nvPr/>
        </p:nvSpPr>
        <p:spPr>
          <a:xfrm>
            <a:off x="1565775" y="2674785"/>
            <a:ext cx="530225" cy="2698114"/>
          </a:xfrm>
          <a:prstGeom prst="rect">
            <a:avLst/>
          </a:prstGeom>
          <a:noFill/>
          <a:ln w="0" cap="flat">
            <a:noFill/>
            <a:prstDash val="solid"/>
            <a:miter lim="0"/>
          </a:ln>
        </p:spPr>
        <p:txBody>
          <a:bodyPr vert="horz" wrap="square" lIns="0" tIns="0" rIns="0" bIns="0"/>
          <a:lstStyle/>
          <a:p>
            <a:pPr algn="l" rtl="0" eaLnBrk="0">
              <a:lnSpc>
                <a:spcPct val="87503"/>
              </a:lnSpc>
              <a:tabLst/>
            </a:pPr>
            <a:endParaRPr sz="100" dirty="0">
              <a:latin typeface="Arial"/>
              <a:ea typeface="Arial"/>
              <a:cs typeface="Arial"/>
            </a:endParaRPr>
          </a:p>
          <a:p>
            <a:pPr marL="20954" algn="l" rtl="0" eaLnBrk="0">
              <a:lnSpc>
                <a:spcPct val="98000"/>
              </a:lnSpc>
              <a:tabLst/>
            </a:pPr>
            <a:r>
              <a:rPr sz="900" kern="0" spc="70" dirty="0">
                <a:solidFill>
                  <a:srgbClr val="000000">
                    <a:alpha val="100000"/>
                  </a:srgbClr>
                </a:solidFill>
                <a:latin typeface="Microsoft YaHei"/>
                <a:ea typeface="Microsoft YaHei"/>
                <a:cs typeface="Microsoft YaHei"/>
              </a:rPr>
              <a:t>同创伟业</a:t>
            </a:r>
            <a:endParaRPr sz="900" dirty="0">
              <a:latin typeface="Microsoft YaHei"/>
              <a:ea typeface="Microsoft YaHei"/>
              <a:cs typeface="Microsoft YaHei"/>
            </a:endParaRPr>
          </a:p>
          <a:p>
            <a:pPr algn="l" rtl="0" eaLnBrk="0">
              <a:lnSpc>
                <a:spcPct val="140000"/>
              </a:lnSpc>
              <a:tabLst/>
            </a:pPr>
            <a:endParaRPr sz="1000" dirty="0">
              <a:latin typeface="Arial"/>
              <a:ea typeface="Arial"/>
              <a:cs typeface="Arial"/>
            </a:endParaRPr>
          </a:p>
          <a:p>
            <a:pPr algn="l" rtl="0" eaLnBrk="0">
              <a:lnSpc>
                <a:spcPct val="141000"/>
              </a:lnSpc>
              <a:tabLst/>
            </a:pPr>
            <a:endParaRPr sz="1000" dirty="0">
              <a:latin typeface="Arial"/>
              <a:ea typeface="Arial"/>
              <a:cs typeface="Arial"/>
            </a:endParaRPr>
          </a:p>
          <a:p>
            <a:pPr marL="12700" algn="l" rtl="0" eaLnBrk="0">
              <a:lnSpc>
                <a:spcPct val="98000"/>
              </a:lnSpc>
              <a:spcBef>
                <a:spcPts val="273"/>
              </a:spcBef>
              <a:tabLst/>
            </a:pPr>
            <a:r>
              <a:rPr sz="900" kern="0" spc="90" dirty="0">
                <a:solidFill>
                  <a:srgbClr val="000000">
                    <a:alpha val="100000"/>
                  </a:srgbClr>
                </a:solidFill>
                <a:latin typeface="Microsoft YaHei"/>
                <a:ea typeface="Microsoft YaHei"/>
                <a:cs typeface="Microsoft YaHei"/>
              </a:rPr>
              <a:t>达晨财智</a:t>
            </a:r>
            <a:endParaRPr sz="900" dirty="0">
              <a:latin typeface="Microsoft YaHei"/>
              <a:ea typeface="Microsoft YaHei"/>
              <a:cs typeface="Microsoft YaHei"/>
            </a:endParaRPr>
          </a:p>
          <a:p>
            <a:pPr algn="l" rtl="0" eaLnBrk="0">
              <a:lnSpc>
                <a:spcPct val="109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algn="l" rtl="0" eaLnBrk="0">
              <a:lnSpc>
                <a:spcPct val="110000"/>
              </a:lnSpc>
              <a:tabLst/>
            </a:pPr>
            <a:endParaRPr sz="1000" dirty="0">
              <a:latin typeface="Arial"/>
              <a:ea typeface="Arial"/>
              <a:cs typeface="Arial"/>
            </a:endParaRPr>
          </a:p>
          <a:p>
            <a:pPr marL="12700" algn="l" rtl="0" eaLnBrk="0">
              <a:lnSpc>
                <a:spcPct val="98000"/>
              </a:lnSpc>
              <a:spcBef>
                <a:spcPts val="279"/>
              </a:spcBef>
              <a:tabLst/>
            </a:pPr>
            <a:r>
              <a:rPr sz="900" kern="0" spc="80" dirty="0">
                <a:solidFill>
                  <a:srgbClr val="000000">
                    <a:alpha val="100000"/>
                  </a:srgbClr>
                </a:solidFill>
                <a:latin typeface="Microsoft YaHei"/>
                <a:ea typeface="Microsoft YaHei"/>
                <a:cs typeface="Microsoft YaHei"/>
              </a:rPr>
              <a:t>洪泰基金</a:t>
            </a:r>
            <a:endParaRPr sz="900" dirty="0">
              <a:latin typeface="Microsoft YaHei"/>
              <a:ea typeface="Microsoft YaHei"/>
              <a:cs typeface="Microsoft YaHei"/>
            </a:endParaRPr>
          </a:p>
          <a:p>
            <a:pPr algn="l" rtl="0" eaLnBrk="0">
              <a:lnSpc>
                <a:spcPct val="111000"/>
              </a:lnSpc>
              <a:tabLst/>
            </a:pPr>
            <a:endParaRPr sz="1000" dirty="0">
              <a:latin typeface="Arial"/>
              <a:ea typeface="Arial"/>
              <a:cs typeface="Arial"/>
            </a:endParaRPr>
          </a:p>
          <a:p>
            <a:pPr algn="l" rtl="0" eaLnBrk="0">
              <a:lnSpc>
                <a:spcPct val="111000"/>
              </a:lnSpc>
              <a:tabLst/>
            </a:pPr>
            <a:endParaRPr sz="1000" dirty="0">
              <a:latin typeface="Arial"/>
              <a:ea typeface="Arial"/>
              <a:cs typeface="Arial"/>
            </a:endParaRPr>
          </a:p>
          <a:p>
            <a:pPr algn="l" rtl="0" eaLnBrk="0">
              <a:lnSpc>
                <a:spcPct val="112000"/>
              </a:lnSpc>
              <a:tabLst/>
            </a:pPr>
            <a:endParaRPr sz="1000" dirty="0">
              <a:latin typeface="Arial"/>
              <a:ea typeface="Arial"/>
              <a:cs typeface="Arial"/>
            </a:endParaRPr>
          </a:p>
          <a:p>
            <a:pPr marL="12700" algn="l" rtl="0" eaLnBrk="0">
              <a:lnSpc>
                <a:spcPct val="98000"/>
              </a:lnSpc>
              <a:spcBef>
                <a:spcPts val="274"/>
              </a:spcBef>
              <a:tabLst/>
            </a:pPr>
            <a:r>
              <a:rPr sz="900" kern="0" spc="90" dirty="0">
                <a:solidFill>
                  <a:srgbClr val="000000">
                    <a:alpha val="100000"/>
                  </a:srgbClr>
                </a:solidFill>
                <a:latin typeface="Microsoft YaHei"/>
                <a:ea typeface="Microsoft YaHei"/>
                <a:cs typeface="Microsoft YaHei"/>
              </a:rPr>
              <a:t>基石资本</a:t>
            </a:r>
            <a:endParaRPr sz="900" dirty="0">
              <a:latin typeface="Microsoft YaHei"/>
              <a:ea typeface="Microsoft YaHei"/>
              <a:cs typeface="Microsoft YaHei"/>
            </a:endParaRPr>
          </a:p>
          <a:p>
            <a:pPr algn="l" rtl="0" eaLnBrk="0">
              <a:lnSpc>
                <a:spcPct val="138000"/>
              </a:lnSpc>
              <a:tabLst/>
            </a:pPr>
            <a:endParaRPr sz="1000" dirty="0">
              <a:latin typeface="Arial"/>
              <a:ea typeface="Arial"/>
              <a:cs typeface="Arial"/>
            </a:endParaRPr>
          </a:p>
          <a:p>
            <a:pPr algn="l" rtl="0" eaLnBrk="0">
              <a:lnSpc>
                <a:spcPct val="138000"/>
              </a:lnSpc>
              <a:tabLst/>
            </a:pPr>
            <a:endParaRPr sz="1000" dirty="0">
              <a:latin typeface="Arial"/>
              <a:ea typeface="Arial"/>
              <a:cs typeface="Arial"/>
            </a:endParaRPr>
          </a:p>
          <a:p>
            <a:pPr algn="l" rtl="0" eaLnBrk="0">
              <a:lnSpc>
                <a:spcPct val="117000"/>
              </a:lnSpc>
              <a:tabLst/>
            </a:pPr>
            <a:endParaRPr sz="200" dirty="0">
              <a:latin typeface="Arial"/>
              <a:ea typeface="Arial"/>
              <a:cs typeface="Arial"/>
            </a:endParaRPr>
          </a:p>
          <a:p>
            <a:pPr marL="13334" algn="l" rtl="0" eaLnBrk="0">
              <a:lnSpc>
                <a:spcPct val="98000"/>
              </a:lnSpc>
              <a:tabLst/>
            </a:pPr>
            <a:r>
              <a:rPr sz="900" kern="0" spc="80" dirty="0">
                <a:solidFill>
                  <a:srgbClr val="000000">
                    <a:alpha val="100000"/>
                  </a:srgbClr>
                </a:solidFill>
                <a:latin typeface="Microsoft YaHei"/>
                <a:ea typeface="Microsoft YaHei"/>
                <a:cs typeface="Microsoft YaHei"/>
              </a:rPr>
              <a:t>华业天成</a:t>
            </a:r>
            <a:endParaRPr sz="900" dirty="0">
              <a:latin typeface="Microsoft YaHei"/>
              <a:ea typeface="Microsoft YaHei"/>
              <a:cs typeface="Microsoft YaHei"/>
            </a:endParaRPr>
          </a:p>
        </p:txBody>
      </p:sp>
      <p:sp>
        <p:nvSpPr>
          <p:cNvPr id="848" name="textbox 848"/>
          <p:cNvSpPr/>
          <p:nvPr/>
        </p:nvSpPr>
        <p:spPr>
          <a:xfrm>
            <a:off x="8654918" y="1945036"/>
            <a:ext cx="1925954"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100" dirty="0">
                <a:solidFill>
                  <a:srgbClr val="000000">
                    <a:alpha val="100000"/>
                  </a:srgbClr>
                </a:solidFill>
                <a:latin typeface="Microsoft YaHei"/>
                <a:ea typeface="Microsoft YaHei"/>
                <a:cs typeface="Microsoft YaHei"/>
              </a:rPr>
              <a:t>智元机器人、星动纪元</a:t>
            </a:r>
            <a:r>
              <a:rPr sz="900" kern="0" spc="90" dirty="0">
                <a:solidFill>
                  <a:srgbClr val="000000">
                    <a:alpha val="100000"/>
                  </a:srgbClr>
                </a:solidFill>
                <a:latin typeface="Microsoft YaHei"/>
                <a:ea typeface="Microsoft YaHei"/>
                <a:cs typeface="Microsoft YaHei"/>
              </a:rPr>
              <a:t>、九识智能</a:t>
            </a:r>
            <a:endParaRPr sz="900" dirty="0">
              <a:latin typeface="Microsoft YaHei"/>
              <a:ea typeface="Microsoft YaHei"/>
              <a:cs typeface="Microsoft YaHei"/>
            </a:endParaRPr>
          </a:p>
        </p:txBody>
      </p:sp>
      <p:sp>
        <p:nvSpPr>
          <p:cNvPr id="850" name="textbox 850"/>
          <p:cNvSpPr/>
          <p:nvPr/>
        </p:nvSpPr>
        <p:spPr>
          <a:xfrm>
            <a:off x="8655297" y="5846171"/>
            <a:ext cx="1545589" cy="160654"/>
          </a:xfrm>
          <a:prstGeom prst="rect">
            <a:avLst/>
          </a:prstGeom>
          <a:noFill/>
          <a:ln w="0" cap="flat">
            <a:noFill/>
            <a:prstDash val="solid"/>
            <a:miter lim="0"/>
          </a:ln>
        </p:spPr>
        <p:txBody>
          <a:bodyPr vert="horz" wrap="square" lIns="0" tIns="0" rIns="0" bIns="0"/>
          <a:lstStyle/>
          <a:p>
            <a:pPr algn="l" rtl="0" eaLnBrk="0">
              <a:lnSpc>
                <a:spcPct val="85376"/>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威斯曼、特思迪、天科合达</a:t>
            </a:r>
            <a:endParaRPr sz="900" dirty="0">
              <a:latin typeface="Microsoft YaHei"/>
              <a:ea typeface="Microsoft YaHei"/>
              <a:cs typeface="Microsoft YaHei"/>
            </a:endParaRPr>
          </a:p>
        </p:txBody>
      </p:sp>
      <p:sp>
        <p:nvSpPr>
          <p:cNvPr id="852" name="textbox 852"/>
          <p:cNvSpPr/>
          <p:nvPr/>
        </p:nvSpPr>
        <p:spPr>
          <a:xfrm>
            <a:off x="1565780" y="5847448"/>
            <a:ext cx="530225" cy="160654"/>
          </a:xfrm>
          <a:prstGeom prst="rect">
            <a:avLst/>
          </a:prstGeom>
          <a:noFill/>
          <a:ln w="0" cap="flat">
            <a:noFill/>
            <a:prstDash val="solid"/>
            <a:miter lim="0"/>
          </a:ln>
        </p:spPr>
        <p:txBody>
          <a:bodyPr vert="horz" wrap="square" lIns="0" tIns="0" rIns="0" bIns="0"/>
          <a:lstStyle/>
          <a:p>
            <a:pPr algn="l" rtl="0" eaLnBrk="0">
              <a:lnSpc>
                <a:spcPct val="87506"/>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优山资本</a:t>
            </a:r>
            <a:endParaRPr sz="900" dirty="0">
              <a:latin typeface="Microsoft YaHei"/>
              <a:ea typeface="Microsoft YaHei"/>
              <a:cs typeface="Microsoft YaHei"/>
            </a:endParaRPr>
          </a:p>
        </p:txBody>
      </p:sp>
      <p:sp>
        <p:nvSpPr>
          <p:cNvPr id="854" name="textbox 854"/>
          <p:cNvSpPr/>
          <p:nvPr/>
        </p:nvSpPr>
        <p:spPr>
          <a:xfrm>
            <a:off x="1566155" y="1946560"/>
            <a:ext cx="529590"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80" dirty="0">
                <a:solidFill>
                  <a:srgbClr val="000000">
                    <a:alpha val="100000"/>
                  </a:srgbClr>
                </a:solidFill>
                <a:latin typeface="Microsoft YaHei"/>
                <a:ea typeface="Microsoft YaHei"/>
                <a:cs typeface="Microsoft YaHei"/>
              </a:rPr>
              <a:t>鼎晖百孚</a:t>
            </a:r>
            <a:endParaRPr sz="900" dirty="0">
              <a:latin typeface="Microsoft YaHei"/>
              <a:ea typeface="Microsoft YaHei"/>
              <a:cs typeface="Microsoft YaHe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56" name="table 856"/>
          <p:cNvGraphicFramePr>
            <a:graphicFrameLocks noGrp="1"/>
          </p:cNvGraphicFramePr>
          <p:nvPr/>
        </p:nvGraphicFramePr>
        <p:xfrm>
          <a:off x="1085367" y="1897215"/>
          <a:ext cx="10431779" cy="4249420"/>
        </p:xfrm>
        <a:graphic>
          <a:graphicData uri="http://schemas.openxmlformats.org/drawingml/2006/table">
            <a:tbl>
              <a:tblPr/>
              <a:tblGrid>
                <a:gridCol w="1489075"/>
                <a:gridCol w="6084569"/>
                <a:gridCol w="2858135"/>
              </a:tblGrid>
              <a:tr h="320040">
                <a:tc gridSpan="3">
                  <a:txBody>
                    <a:bodyPr/>
                    <a:lstStyle/>
                    <a:p>
                      <a:pPr algn="l" rtl="0" eaLnBrk="0">
                        <a:lnSpc>
                          <a:spcPct val="123000"/>
                        </a:lnSpc>
                        <a:tabLst/>
                      </a:pPr>
                      <a:endParaRPr sz="1000" dirty="0">
                        <a:latin typeface="Arial"/>
                        <a:ea typeface="Arial"/>
                        <a:cs typeface="Arial"/>
                      </a:endParaRPr>
                    </a:p>
                    <a:p>
                      <a:pPr marL="1581785" algn="l" rtl="0" eaLnBrk="0">
                        <a:lnSpc>
                          <a:spcPct val="92000"/>
                        </a:lnSpc>
                        <a:spcBef>
                          <a:spcPts val="1"/>
                        </a:spcBef>
                        <a:tabLst/>
                      </a:pPr>
                      <a:r>
                        <a:rPr sz="900" kern="0" spc="100" dirty="0">
                          <a:solidFill>
                            <a:srgbClr val="000000">
                              <a:alpha val="100000"/>
                            </a:srgbClr>
                          </a:solidFill>
                          <a:latin typeface="Microsoft YaHei"/>
                          <a:ea typeface="Microsoft YaHei"/>
                          <a:cs typeface="Microsoft YaHei"/>
                        </a:rPr>
                        <a:t>成立于2016年，创始人汤和松和杨柳曾领导和</a:t>
                      </a:r>
                      <a:r>
                        <a:rPr sz="900" kern="0" spc="90" dirty="0">
                          <a:solidFill>
                            <a:srgbClr val="000000">
                              <a:alpha val="100000"/>
                            </a:srgbClr>
                          </a:solidFill>
                          <a:latin typeface="Microsoft YaHei"/>
                          <a:ea typeface="Microsoft YaHei"/>
                          <a:cs typeface="Microsoft YaHei"/>
                        </a:rPr>
                        <a:t>全面负责百度的战略投资并购，操盘过一系列在中国互联网</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hMerge="1">
                  <a:txBody>
                    <a:bodyPr/>
                    <a:lstStyle/>
                    <a:p>
                      <a:endParaRPr/>
                    </a:p>
                  </a:txBody>
                  <a:tcPr marL="0" marR="0" marT="0" marB="0" vert="horz">
                    <a:lnL>
                      <a:noFill/>
                    </a:lnL>
                    <a:lnR>
                      <a:noFill/>
                    </a:lnR>
                    <a:lnT>
                      <a:noFill/>
                    </a:lnT>
                    <a:lnB>
                      <a:noFill/>
                    </a:lnB>
                    <a:solidFill>
                      <a:srgbClr val="F2F2F2"/>
                    </a:solidFill>
                  </a:tcPr>
                </a:tc>
                <a:tc hMerge="1">
                  <a:txBody>
                    <a:bodyPr/>
                    <a:lstStyle/>
                    <a:p>
                      <a:endParaRPr/>
                    </a:p>
                  </a:txBody>
                  <a:tcPr marL="0" marR="0" marT="0" marB="0" vert="horz">
                    <a:lnL>
                      <a:noFill/>
                    </a:lnL>
                    <a:lnR>
                      <a:noFill/>
                    </a:lnR>
                    <a:lnT>
                      <a:noFill/>
                    </a:lnT>
                    <a:lnB>
                      <a:noFill/>
                    </a:lnB>
                    <a:solidFill>
                      <a:srgbClr val="F2F2F2"/>
                    </a:solidFill>
                  </a:tcPr>
                </a:tc>
              </a:tr>
              <a:tr h="463550">
                <a:tc>
                  <a:txBody>
                    <a:bodyPr/>
                    <a:lstStyle/>
                    <a:p>
                      <a:pPr algn="l" rtl="0" eaLnBrk="0">
                        <a:lnSpc>
                          <a:spcPct val="163000"/>
                        </a:lnSpc>
                        <a:tabLst/>
                      </a:pPr>
                      <a:endParaRPr sz="100" dirty="0">
                        <a:latin typeface="Arial"/>
                        <a:ea typeface="Arial"/>
                        <a:cs typeface="Arial"/>
                      </a:endParaRPr>
                    </a:p>
                    <a:p>
                      <a:pPr marL="492759" algn="l" rtl="0" eaLnBrk="0">
                        <a:lnSpc>
                          <a:spcPct val="98000"/>
                        </a:lnSpc>
                        <a:tabLst/>
                      </a:pPr>
                      <a:r>
                        <a:rPr sz="900" kern="0" spc="90" dirty="0">
                          <a:solidFill>
                            <a:srgbClr val="000000">
                              <a:alpha val="100000"/>
                            </a:srgbClr>
                          </a:solidFill>
                          <a:latin typeface="Microsoft YaHei"/>
                          <a:ea typeface="Microsoft YaHei"/>
                          <a:cs typeface="Microsoft YaHei"/>
                        </a:rPr>
                        <a:t>襄禾资本</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45550"/>
                        </a:lnSpc>
                        <a:tabLst/>
                      </a:pPr>
                      <a:endParaRPr sz="100" dirty="0">
                        <a:latin typeface="Arial"/>
                        <a:ea typeface="Arial"/>
                        <a:cs typeface="Arial"/>
                      </a:endParaRPr>
                    </a:p>
                    <a:p>
                      <a:pPr marL="113664" indent="-20320" algn="l" rtl="0" eaLnBrk="0">
                        <a:lnSpc>
                          <a:spcPct val="110000"/>
                        </a:lnSpc>
                        <a:tabLst/>
                      </a:pPr>
                      <a:r>
                        <a:rPr sz="900" kern="0" spc="80" dirty="0">
                          <a:solidFill>
                            <a:srgbClr val="000000">
                              <a:alpha val="100000"/>
                            </a:srgbClr>
                          </a:solidFill>
                          <a:latin typeface="Microsoft YaHei"/>
                          <a:ea typeface="Microsoft YaHei"/>
                          <a:cs typeface="Microsoft YaHei"/>
                        </a:rPr>
                        <a:t>行业有重大影响力的投资并购项目，  包括</a:t>
                      </a:r>
                      <a:r>
                        <a:rPr sz="900" kern="0" spc="70" dirty="0">
                          <a:solidFill>
                            <a:srgbClr val="000000">
                              <a:alpha val="100000"/>
                            </a:srgbClr>
                          </a:solidFill>
                          <a:latin typeface="Microsoft YaHei"/>
                          <a:ea typeface="Microsoft YaHei"/>
                          <a:cs typeface="Microsoft YaHei"/>
                        </a:rPr>
                        <a:t>爱奇艺、去哪儿、</a:t>
                      </a:r>
                      <a:r>
                        <a:rPr sz="900" kern="0" spc="-6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PPS</a:t>
                      </a:r>
                      <a:r>
                        <a:rPr sz="900" kern="0" spc="70" dirty="0">
                          <a:solidFill>
                            <a:srgbClr val="000000">
                              <a:alpha val="100000"/>
                            </a:srgbClr>
                          </a:solidFill>
                          <a:latin typeface="Microsoft YaHei"/>
                          <a:ea typeface="Microsoft YaHei"/>
                          <a:cs typeface="Microsoft YaHei"/>
                        </a:rPr>
                        <a:t>、</a:t>
                      </a:r>
                      <a:r>
                        <a:rPr sz="900" kern="0" spc="-12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Microsoft YaHei"/>
                          <a:ea typeface="Microsoft YaHei"/>
                          <a:cs typeface="Microsoft YaHei"/>
                        </a:rPr>
                        <a:t>91无线、快手、贝壳等，</a:t>
                      </a:r>
                      <a:r>
                        <a:rPr sz="900" kern="0" spc="-100" dirty="0">
                          <a:solidFill>
                            <a:srgbClr val="000000">
                              <a:alpha val="100000"/>
                            </a:srgbClr>
                          </a:solidFill>
                          <a:latin typeface="Microsoft YaHei"/>
                          <a:ea typeface="Microsoft YaHei"/>
                          <a:cs typeface="Microsoft YaHei"/>
                        </a:rPr>
                        <a:t> </a:t>
                      </a:r>
                      <a:r>
                        <a:rPr sz="900" kern="0" spc="70" dirty="0">
                          <a:solidFill>
                            <a:srgbClr val="000000">
                              <a:alpha val="100000"/>
                            </a:srgbClr>
                          </a:solidFill>
                          <a:latin typeface="KaiTi"/>
                          <a:ea typeface="KaiTi"/>
                          <a:cs typeface="KaiTi"/>
                        </a:rPr>
                        <a:t>重点关注互联</a:t>
                      </a:r>
                      <a:r>
                        <a:rPr sz="900" kern="0" spc="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网</a:t>
                      </a:r>
                      <a:r>
                        <a:rPr sz="900" kern="0" spc="90" dirty="0">
                          <a:solidFill>
                            <a:srgbClr val="000000">
                              <a:alpha val="100000"/>
                            </a:srgbClr>
                          </a:solidFill>
                          <a:latin typeface="Times New Roman"/>
                          <a:ea typeface="Times New Roman"/>
                          <a:cs typeface="Times New Roman"/>
                        </a:rPr>
                        <a:t>+</a:t>
                      </a:r>
                      <a:r>
                        <a:rPr sz="900" kern="0" spc="90" dirty="0">
                          <a:solidFill>
                            <a:srgbClr val="000000">
                              <a:alpha val="100000"/>
                            </a:srgbClr>
                          </a:solidFill>
                          <a:latin typeface="KaiTi"/>
                          <a:ea typeface="KaiTi"/>
                          <a:cs typeface="KaiTi"/>
                        </a:rPr>
                        <a:t>、企业服务、人工智能</a:t>
                      </a:r>
                      <a:r>
                        <a:rPr sz="900" kern="0" spc="80" dirty="0">
                          <a:solidFill>
                            <a:srgbClr val="000000">
                              <a:alpha val="100000"/>
                            </a:srgbClr>
                          </a:solidFill>
                          <a:latin typeface="KaiTi"/>
                          <a:ea typeface="KaiTi"/>
                          <a:cs typeface="KaiTi"/>
                        </a:rPr>
                        <a:t>和大数据、消费及文娱等领域。</a:t>
                      </a:r>
                      <a:endParaRPr sz="900" dirty="0">
                        <a:latin typeface="KaiTi"/>
                        <a:ea typeface="KaiTi"/>
                        <a:cs typeface="KaiTi"/>
                      </a:endParaRPr>
                    </a:p>
                  </a:txBody>
                  <a:tcPr marL="0" marR="0" marT="0" marB="0" vert="horz">
                    <a:lnL>
                      <a:noFill/>
                    </a:lnL>
                    <a:lnR>
                      <a:noFill/>
                    </a:lnR>
                    <a:lnT>
                      <a:noFill/>
                    </a:lnT>
                    <a:lnB>
                      <a:noFill/>
                    </a:lnB>
                    <a:solidFill>
                      <a:srgbClr val="F2F2F2"/>
                    </a:solidFill>
                  </a:tcPr>
                </a:tc>
                <a:tc>
                  <a:txBody>
                    <a:bodyPr/>
                    <a:lstStyle/>
                    <a:p>
                      <a:pPr algn="l" rtl="0" eaLnBrk="0">
                        <a:lnSpc>
                          <a:spcPct val="133000"/>
                        </a:lnSpc>
                        <a:tabLst/>
                      </a:pPr>
                      <a:endParaRPr sz="100" dirty="0">
                        <a:latin typeface="Arial"/>
                        <a:ea typeface="Arial"/>
                        <a:cs typeface="Arial"/>
                      </a:endParaRPr>
                    </a:p>
                    <a:p>
                      <a:pPr marL="93980" algn="l" rtl="0" eaLnBrk="0">
                        <a:lnSpc>
                          <a:spcPct val="98000"/>
                        </a:lnSpc>
                        <a:spcBef>
                          <a:spcPts val="1"/>
                        </a:spcBef>
                        <a:tabLst/>
                      </a:pPr>
                      <a:r>
                        <a:rPr sz="900" kern="0" spc="90" dirty="0">
                          <a:solidFill>
                            <a:srgbClr val="000000">
                              <a:alpha val="100000"/>
                            </a:srgbClr>
                          </a:solidFill>
                          <a:latin typeface="Microsoft YaHei"/>
                          <a:ea typeface="Microsoft YaHei"/>
                          <a:cs typeface="Microsoft YaHei"/>
                        </a:rPr>
                        <a:t>垠石精工、洛轲智能、三头六臂</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548640">
                <a:tc>
                  <a:txBody>
                    <a:bodyPr/>
                    <a:lstStyle/>
                    <a:p>
                      <a:pPr algn="l" rtl="0" eaLnBrk="0">
                        <a:lnSpc>
                          <a:spcPct val="149000"/>
                        </a:lnSpc>
                        <a:tabLst/>
                      </a:pPr>
                      <a:endParaRPr sz="1000" dirty="0">
                        <a:latin typeface="Arial"/>
                        <a:ea typeface="Arial"/>
                        <a:cs typeface="Arial"/>
                      </a:endParaRPr>
                    </a:p>
                    <a:p>
                      <a:pPr marL="494030" algn="l" rtl="0" eaLnBrk="0">
                        <a:lnSpc>
                          <a:spcPct val="98000"/>
                        </a:lnSpc>
                        <a:spcBef>
                          <a:spcPts val="7"/>
                        </a:spcBef>
                        <a:tabLst/>
                      </a:pPr>
                      <a:r>
                        <a:rPr sz="900" kern="0" spc="80" dirty="0">
                          <a:solidFill>
                            <a:srgbClr val="000000">
                              <a:alpha val="100000"/>
                            </a:srgbClr>
                          </a:solidFill>
                          <a:latin typeface="Microsoft YaHei"/>
                          <a:ea typeface="Microsoft YaHei"/>
                          <a:cs typeface="Microsoft YaHei"/>
                        </a:rPr>
                        <a:t>普华资本</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15000"/>
                        </a:lnSpc>
                        <a:tabLst/>
                      </a:pPr>
                      <a:endParaRPr sz="400" dirty="0">
                        <a:latin typeface="Arial"/>
                        <a:ea typeface="Arial"/>
                        <a:cs typeface="Arial"/>
                      </a:endParaRPr>
                    </a:p>
                    <a:p>
                      <a:pPr marL="93344" indent="635" algn="l" rtl="0" eaLnBrk="0">
                        <a:lnSpc>
                          <a:spcPct val="109000"/>
                        </a:lnSpc>
                        <a:spcBef>
                          <a:spcPts val="2"/>
                        </a:spcBef>
                        <a:tabLst/>
                      </a:pPr>
                      <a:r>
                        <a:rPr sz="900" kern="0" spc="100" dirty="0">
                          <a:solidFill>
                            <a:srgbClr val="000000">
                              <a:alpha val="100000"/>
                            </a:srgbClr>
                          </a:solidFill>
                          <a:latin typeface="Microsoft YaHei"/>
                          <a:ea typeface="Microsoft YaHei"/>
                          <a:cs typeface="Microsoft YaHei"/>
                        </a:rPr>
                        <a:t>普华资本创立于200</a:t>
                      </a:r>
                      <a:r>
                        <a:rPr sz="900" kern="0" spc="90" dirty="0">
                          <a:solidFill>
                            <a:srgbClr val="000000">
                              <a:alpha val="100000"/>
                            </a:srgbClr>
                          </a:solidFill>
                          <a:latin typeface="Microsoft YaHei"/>
                          <a:ea typeface="Microsoft YaHei"/>
                          <a:cs typeface="Microsoft YaHei"/>
                        </a:rPr>
                        <a:t>4年，专注从事风险投资。普华资本管理资产规模逾200亿，持续聚焦于新科技、新能</a:t>
                      </a:r>
                      <a:r>
                        <a:rPr sz="900" kern="0" spc="-10" dirty="0">
                          <a:solidFill>
                            <a:srgbClr val="000000">
                              <a:alpha val="100000"/>
                            </a:srgbClr>
                          </a:solidFill>
                          <a:latin typeface="Microsoft YaHei"/>
                          <a:ea typeface="Microsoft YaHei"/>
                          <a:cs typeface="Microsoft YaHei"/>
                        </a:rPr>
                        <a:t> </a:t>
                      </a:r>
                      <a:r>
                        <a:rPr sz="900" kern="0" spc="100" dirty="0">
                          <a:solidFill>
                            <a:srgbClr val="000000">
                              <a:alpha val="100000"/>
                            </a:srgbClr>
                          </a:solidFill>
                          <a:latin typeface="Microsoft YaHei"/>
                          <a:ea typeface="Microsoft YaHei"/>
                          <a:cs typeface="Microsoft YaHei"/>
                        </a:rPr>
                        <a:t>源、新材料、新医疗、新消费领域</a:t>
                      </a:r>
                      <a:r>
                        <a:rPr sz="900" kern="0" spc="90" dirty="0">
                          <a:solidFill>
                            <a:srgbClr val="000000">
                              <a:alpha val="100000"/>
                            </a:srgbClr>
                          </a:solidFill>
                          <a:latin typeface="Microsoft YaHei"/>
                          <a:ea typeface="Microsoft YaHei"/>
                          <a:cs typeface="Microsoft YaHei"/>
                        </a:rPr>
                        <a:t>。经过多年的不懈坚持，普华资本已投资了近500家优秀的创业企业，</a:t>
                      </a:r>
                      <a:endParaRPr sz="900" dirty="0">
                        <a:latin typeface="Microsoft YaHei"/>
                        <a:ea typeface="Microsoft YaHei"/>
                        <a:cs typeface="Microsoft YaHei"/>
                      </a:endParaRPr>
                    </a:p>
                    <a:p>
                      <a:pPr marL="93980" algn="l" rtl="0" eaLnBrk="0">
                        <a:lnSpc>
                          <a:spcPct val="98000"/>
                        </a:lnSpc>
                        <a:spcBef>
                          <a:spcPts val="51"/>
                        </a:spcBef>
                        <a:tabLst/>
                      </a:pPr>
                      <a:r>
                        <a:rPr sz="900" kern="0" spc="80" dirty="0">
                          <a:solidFill>
                            <a:srgbClr val="000000">
                              <a:alpha val="100000"/>
                            </a:srgbClr>
                          </a:solidFill>
                          <a:latin typeface="Microsoft YaHei"/>
                          <a:ea typeface="Microsoft YaHei"/>
                          <a:cs typeface="Microsoft YaHei"/>
                        </a:rPr>
                        <a:t>并在100余家企业成长的过程中也同时实现了资本</a:t>
                      </a:r>
                      <a:r>
                        <a:rPr sz="900" kern="0" spc="70" dirty="0">
                          <a:solidFill>
                            <a:srgbClr val="000000">
                              <a:alpha val="100000"/>
                            </a:srgbClr>
                          </a:solidFill>
                          <a:latin typeface="Microsoft YaHei"/>
                          <a:ea typeface="Microsoft YaHei"/>
                          <a:cs typeface="Microsoft YaHei"/>
                        </a:rPr>
                        <a:t>的阶段性成果。</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46000"/>
                        </a:lnSpc>
                        <a:tabLst/>
                      </a:pPr>
                      <a:endParaRPr sz="1000" dirty="0">
                        <a:latin typeface="Arial"/>
                        <a:ea typeface="Arial"/>
                        <a:cs typeface="Arial"/>
                      </a:endParaRPr>
                    </a:p>
                    <a:p>
                      <a:pPr marL="93980" algn="l" rtl="0" eaLnBrk="0">
                        <a:lnSpc>
                          <a:spcPct val="98000"/>
                        </a:lnSpc>
                        <a:spcBef>
                          <a:spcPts val="7"/>
                        </a:spcBef>
                        <a:tabLst/>
                      </a:pPr>
                      <a:r>
                        <a:rPr sz="900" kern="0" spc="90" dirty="0">
                          <a:solidFill>
                            <a:srgbClr val="000000">
                              <a:alpha val="100000"/>
                            </a:srgbClr>
                          </a:solidFill>
                          <a:latin typeface="Microsoft YaHei"/>
                          <a:ea typeface="Microsoft YaHei"/>
                          <a:cs typeface="Microsoft YaHei"/>
                        </a:rPr>
                        <a:t>怿星科技、道陟科技、比博斯特</a:t>
                      </a:r>
                      <a:endParaRPr sz="900" dirty="0">
                        <a:latin typeface="Microsoft YaHei"/>
                        <a:ea typeface="Microsoft YaHei"/>
                        <a:cs typeface="Microsoft YaHei"/>
                      </a:endParaRPr>
                    </a:p>
                  </a:txBody>
                  <a:tcPr marL="0" marR="0" marT="0" marB="0" vert="horz">
                    <a:lnL>
                      <a:noFill/>
                    </a:lnL>
                    <a:lnR>
                      <a:noFill/>
                    </a:lnR>
                    <a:lnT>
                      <a:noFill/>
                    </a:lnT>
                    <a:lnB>
                      <a:noFill/>
                    </a:lnB>
                  </a:tcPr>
                </a:tc>
              </a:tr>
              <a:tr h="516255">
                <a:tc>
                  <a:txBody>
                    <a:bodyPr/>
                    <a:lstStyle/>
                    <a:p>
                      <a:pPr algn="l" rtl="0" eaLnBrk="0">
                        <a:lnSpc>
                          <a:spcPct val="138000"/>
                        </a:lnSpc>
                        <a:tabLst/>
                      </a:pPr>
                      <a:endParaRPr sz="1000" dirty="0">
                        <a:latin typeface="Arial"/>
                        <a:ea typeface="Arial"/>
                        <a:cs typeface="Arial"/>
                      </a:endParaRPr>
                    </a:p>
                    <a:p>
                      <a:pPr algn="l" rtl="0" eaLnBrk="0">
                        <a:lnSpc>
                          <a:spcPct val="9791"/>
                        </a:lnSpc>
                        <a:tabLst/>
                      </a:pPr>
                      <a:endParaRPr sz="100" dirty="0">
                        <a:latin typeface="Arial"/>
                        <a:ea typeface="Arial"/>
                        <a:cs typeface="Arial"/>
                      </a:endParaRPr>
                    </a:p>
                    <a:p>
                      <a:pPr marL="493394" algn="l" rtl="0" eaLnBrk="0">
                        <a:lnSpc>
                          <a:spcPct val="98000"/>
                        </a:lnSpc>
                        <a:tabLst/>
                      </a:pPr>
                      <a:r>
                        <a:rPr sz="900" kern="0" spc="80" dirty="0">
                          <a:solidFill>
                            <a:srgbClr val="000000">
                              <a:alpha val="100000"/>
                            </a:srgbClr>
                          </a:solidFill>
                          <a:latin typeface="Microsoft YaHei"/>
                          <a:ea typeface="Microsoft YaHei"/>
                          <a:cs typeface="Microsoft YaHei"/>
                        </a:rPr>
                        <a:t>敦鸿资产</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c>
                  <a:txBody>
                    <a:bodyPr/>
                    <a:lstStyle/>
                    <a:p>
                      <a:pPr algn="l" rtl="0" eaLnBrk="0">
                        <a:lnSpc>
                          <a:spcPct val="110000"/>
                        </a:lnSpc>
                        <a:tabLst/>
                      </a:pPr>
                      <a:endParaRPr sz="700" dirty="0">
                        <a:latin typeface="Arial"/>
                        <a:ea typeface="Arial"/>
                        <a:cs typeface="Arial"/>
                      </a:endParaRPr>
                    </a:p>
                    <a:p>
                      <a:pPr marL="99694" indent="-6985" algn="l" rtl="0" eaLnBrk="0">
                        <a:lnSpc>
                          <a:spcPct val="107000"/>
                        </a:lnSpc>
                        <a:spcBef>
                          <a:spcPts val="5"/>
                        </a:spcBef>
                        <a:tabLst/>
                      </a:pPr>
                      <a:r>
                        <a:rPr sz="900" kern="0" spc="90" dirty="0">
                          <a:solidFill>
                            <a:srgbClr val="000000">
                              <a:alpha val="100000"/>
                            </a:srgbClr>
                          </a:solidFill>
                          <a:latin typeface="Microsoft YaHei"/>
                          <a:ea typeface="Microsoft YaHei"/>
                          <a:cs typeface="Microsoft YaHei"/>
                        </a:rPr>
                        <a:t>成立于2015年，目前自主管理规模超过50亿元，关联基金规</a:t>
                      </a:r>
                      <a:r>
                        <a:rPr sz="900" kern="0" spc="80" dirty="0">
                          <a:solidFill>
                            <a:srgbClr val="000000">
                              <a:alpha val="100000"/>
                            </a:srgbClr>
                          </a:solidFill>
                          <a:latin typeface="Microsoft YaHei"/>
                          <a:ea typeface="Microsoft YaHei"/>
                          <a:cs typeface="Microsoft YaHei"/>
                        </a:rPr>
                        <a:t>模近100亿元。 </a:t>
                      </a:r>
                      <a:r>
                        <a:rPr sz="900" kern="0" spc="80" dirty="0">
                          <a:solidFill>
                            <a:srgbClr val="000000">
                              <a:alpha val="100000"/>
                            </a:srgbClr>
                          </a:solidFill>
                          <a:latin typeface="KaiTi"/>
                          <a:ea typeface="KaiTi"/>
                          <a:cs typeface="KaiTi"/>
                        </a:rPr>
                        <a:t>专注文化科技领域，关注文化</a:t>
                      </a:r>
                      <a:r>
                        <a:rPr sz="900" kern="0" spc="100" dirty="0">
                          <a:solidFill>
                            <a:srgbClr val="000000">
                              <a:alpha val="100000"/>
                            </a:srgbClr>
                          </a:solidFill>
                          <a:latin typeface="KaiTi"/>
                          <a:ea typeface="KaiTi"/>
                          <a:cs typeface="KaiTi"/>
                        </a:rPr>
                        <a:t>互联网、人工智能、机器人、低空经济、</a:t>
                      </a:r>
                      <a:r>
                        <a:rPr sz="900" kern="0" spc="0" dirty="0">
                          <a:solidFill>
                            <a:srgbClr val="000000">
                              <a:alpha val="100000"/>
                            </a:srgbClr>
                          </a:solidFill>
                          <a:latin typeface="Verdana"/>
                          <a:ea typeface="Verdana"/>
                          <a:cs typeface="Verdana"/>
                        </a:rPr>
                        <a:t>AR</a:t>
                      </a:r>
                      <a:r>
                        <a:rPr sz="900" kern="0" spc="90" dirty="0">
                          <a:solidFill>
                            <a:srgbClr val="000000">
                              <a:alpha val="100000"/>
                            </a:srgbClr>
                          </a:solidFill>
                          <a:latin typeface="KaiTi"/>
                          <a:ea typeface="KaiTi"/>
                          <a:cs typeface="KaiTi"/>
                        </a:rPr>
                        <a:t>终端等前沿科技。</a:t>
                      </a:r>
                      <a:endParaRPr sz="900" dirty="0">
                        <a:latin typeface="KaiTi"/>
                        <a:ea typeface="KaiTi"/>
                        <a:cs typeface="KaiTi"/>
                      </a:endParaRPr>
                    </a:p>
                  </a:txBody>
                  <a:tcPr marL="0" marR="0" marT="0" marB="0" vert="horz">
                    <a:lnL>
                      <a:noFill/>
                    </a:lnL>
                    <a:lnR>
                      <a:noFill/>
                    </a:lnR>
                    <a:lnT>
                      <a:noFill/>
                    </a:lnT>
                    <a:lnB>
                      <a:noFill/>
                    </a:lnB>
                    <a:solidFill>
                      <a:srgbClr val="F2F2F2"/>
                    </a:solidFill>
                  </a:tcPr>
                </a:tc>
                <a:tc>
                  <a:txBody>
                    <a:bodyPr/>
                    <a:lstStyle/>
                    <a:p>
                      <a:pPr algn="l" rtl="0" eaLnBrk="0">
                        <a:lnSpc>
                          <a:spcPct val="136000"/>
                        </a:lnSpc>
                        <a:tabLst/>
                      </a:pPr>
                      <a:endParaRPr sz="1000" dirty="0">
                        <a:latin typeface="Arial"/>
                        <a:ea typeface="Arial"/>
                        <a:cs typeface="Arial"/>
                      </a:endParaRPr>
                    </a:p>
                    <a:p>
                      <a:pPr marL="104775" algn="l" rtl="0" eaLnBrk="0">
                        <a:lnSpc>
                          <a:spcPct val="98000"/>
                        </a:lnSpc>
                        <a:spcBef>
                          <a:spcPts val="2"/>
                        </a:spcBef>
                        <a:tabLst/>
                      </a:pPr>
                      <a:r>
                        <a:rPr sz="900" kern="0" spc="0" dirty="0">
                          <a:solidFill>
                            <a:srgbClr val="000000">
                              <a:alpha val="100000"/>
                            </a:srgbClr>
                          </a:solidFill>
                          <a:latin typeface="Microsoft YaHei"/>
                          <a:ea typeface="Microsoft YaHei"/>
                          <a:cs typeface="Microsoft YaHei"/>
                        </a:rPr>
                        <a:t>Rokid</a:t>
                      </a:r>
                      <a:r>
                        <a:rPr sz="900" kern="0" spc="110" dirty="0">
                          <a:solidFill>
                            <a:srgbClr val="000000">
                              <a:alpha val="100000"/>
                            </a:srgbClr>
                          </a:solidFill>
                          <a:latin typeface="Microsoft YaHei"/>
                          <a:ea typeface="Microsoft YaHei"/>
                          <a:cs typeface="Microsoft YaHei"/>
                        </a:rPr>
                        <a:t>、宇树科技、极米</a:t>
                      </a:r>
                      <a:endParaRPr sz="900" dirty="0">
                        <a:latin typeface="Microsoft YaHei"/>
                        <a:ea typeface="Microsoft YaHei"/>
                        <a:cs typeface="Microsoft YaHei"/>
                      </a:endParaRPr>
                    </a:p>
                  </a:txBody>
                  <a:tcPr marL="0" marR="0" marT="0" marB="0" vert="horz">
                    <a:lnL>
                      <a:noFill/>
                    </a:lnL>
                    <a:lnR>
                      <a:noFill/>
                    </a:lnR>
                    <a:lnT>
                      <a:noFill/>
                    </a:lnT>
                    <a:lnB>
                      <a:noFill/>
                    </a:lnB>
                    <a:solidFill>
                      <a:srgbClr val="F2F2F2"/>
                    </a:solidFill>
                  </a:tcPr>
                </a:tc>
              </a:tr>
              <a:tr h="548640">
                <a:tc>
                  <a:txBody>
                    <a:bodyPr/>
                    <a:lstStyle/>
                    <a:p>
                      <a:pPr algn="l" rtl="0" eaLnBrk="0">
                        <a:lnSpc>
                          <a:spcPct val="149000"/>
                        </a:lnSpc>
                        <a:tabLst/>
                      </a:pPr>
                      <a:endParaRPr sz="1000" dirty="0">
                        <a:latin typeface="Arial"/>
                        <a:ea typeface="Arial"/>
                        <a:cs typeface="Arial"/>
                      </a:endParaRPr>
                    </a:p>
                    <a:p>
                      <a:pPr algn="l" rtl="0" eaLnBrk="0">
                        <a:lnSpc>
                          <a:spcPct val="8462"/>
                        </a:lnSpc>
                        <a:tabLst/>
                      </a:pPr>
                      <a:endParaRPr sz="100" dirty="0">
                        <a:latin typeface="Arial"/>
                        <a:ea typeface="Arial"/>
                        <a:cs typeface="Arial"/>
                      </a:endParaRPr>
                    </a:p>
                    <a:p>
                      <a:pPr marL="435609" algn="l" rtl="0" eaLnBrk="0">
                        <a:lnSpc>
                          <a:spcPct val="98000"/>
                        </a:lnSpc>
                        <a:tabLst/>
                      </a:pPr>
                      <a:r>
                        <a:rPr sz="900" kern="0" spc="80" dirty="0">
                          <a:solidFill>
                            <a:srgbClr val="000000">
                              <a:alpha val="100000"/>
                            </a:srgbClr>
                          </a:solidFill>
                          <a:latin typeface="Microsoft YaHei"/>
                          <a:ea typeface="Microsoft YaHei"/>
                          <a:cs typeface="Microsoft YaHei"/>
                        </a:rPr>
                        <a:t>朗玛峰创投</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06000"/>
                        </a:lnSpc>
                        <a:tabLst/>
                      </a:pPr>
                      <a:endParaRPr sz="400" dirty="0">
                        <a:latin typeface="Arial"/>
                        <a:ea typeface="Arial"/>
                        <a:cs typeface="Arial"/>
                      </a:endParaRPr>
                    </a:p>
                    <a:p>
                      <a:pPr marL="92710" algn="l" rtl="0" eaLnBrk="0">
                        <a:lnSpc>
                          <a:spcPct val="110000"/>
                        </a:lnSpc>
                        <a:spcBef>
                          <a:spcPts val="3"/>
                        </a:spcBef>
                        <a:tabLst/>
                      </a:pPr>
                      <a:r>
                        <a:rPr sz="900" kern="0" spc="100" dirty="0">
                          <a:solidFill>
                            <a:srgbClr val="000000">
                              <a:alpha val="100000"/>
                            </a:srgbClr>
                          </a:solidFill>
                          <a:latin typeface="Microsoft YaHei"/>
                          <a:ea typeface="Microsoft YaHei"/>
                          <a:cs typeface="Microsoft YaHei"/>
                        </a:rPr>
                        <a:t>成立于2010年，北京市第一</a:t>
                      </a:r>
                      <a:r>
                        <a:rPr sz="900" kern="0" spc="90" dirty="0">
                          <a:solidFill>
                            <a:srgbClr val="000000">
                              <a:alpha val="100000"/>
                            </a:srgbClr>
                          </a:solidFill>
                          <a:latin typeface="Microsoft YaHei"/>
                          <a:ea typeface="Microsoft YaHei"/>
                          <a:cs typeface="Microsoft YaHei"/>
                        </a:rPr>
                        <a:t>家合伙制创业投资企业，管理资产规模超50亿元，专注投资于医疗健康、集</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成电路、软件服务和智能制造等高新</a:t>
                      </a:r>
                      <a:r>
                        <a:rPr sz="900" kern="0" spc="80" dirty="0">
                          <a:solidFill>
                            <a:srgbClr val="000000">
                              <a:alpha val="100000"/>
                            </a:srgbClr>
                          </a:solidFill>
                          <a:latin typeface="Microsoft YaHei"/>
                          <a:ea typeface="Microsoft YaHei"/>
                          <a:cs typeface="Microsoft YaHei"/>
                        </a:rPr>
                        <a:t>技术产业。 2025年6月11日，朗玛一号(北京)半导体产业创业投资基</a:t>
                      </a:r>
                      <a:r>
                        <a:rPr sz="900" kern="0" spc="-1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金完成备案，开始对外投资，该基金投资规模约4.6亿元</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46000"/>
                        </a:lnSpc>
                        <a:tabLst/>
                      </a:pPr>
                      <a:endParaRPr sz="1000" dirty="0">
                        <a:latin typeface="Arial"/>
                        <a:ea typeface="Arial"/>
                        <a:cs typeface="Arial"/>
                      </a:endParaRPr>
                    </a:p>
                    <a:p>
                      <a:pPr algn="l" rtl="0" eaLnBrk="0">
                        <a:lnSpc>
                          <a:spcPct val="8459"/>
                        </a:lnSpc>
                        <a:tabLst/>
                      </a:pPr>
                      <a:endParaRPr sz="100" dirty="0">
                        <a:latin typeface="Arial"/>
                        <a:ea typeface="Arial"/>
                        <a:cs typeface="Arial"/>
                      </a:endParaRPr>
                    </a:p>
                    <a:p>
                      <a:pPr marL="93980" algn="l" rtl="0" eaLnBrk="0">
                        <a:lnSpc>
                          <a:spcPct val="98000"/>
                        </a:lnSpc>
                        <a:tabLst/>
                      </a:pPr>
                      <a:r>
                        <a:rPr sz="900" kern="0" spc="90" dirty="0">
                          <a:solidFill>
                            <a:srgbClr val="000000">
                              <a:alpha val="100000"/>
                            </a:srgbClr>
                          </a:solidFill>
                          <a:latin typeface="Microsoft YaHei"/>
                          <a:ea typeface="Microsoft YaHei"/>
                          <a:cs typeface="Microsoft YaHei"/>
                        </a:rPr>
                        <a:t>慷智集成、领充新能源、亮道智能</a:t>
                      </a:r>
                      <a:endParaRPr sz="900" dirty="0">
                        <a:latin typeface="Microsoft YaHei"/>
                        <a:ea typeface="Microsoft YaHei"/>
                        <a:cs typeface="Microsoft YaHei"/>
                      </a:endParaRPr>
                    </a:p>
                  </a:txBody>
                  <a:tcPr marL="0" marR="0" marT="0" marB="0" vert="horz">
                    <a:lnL>
                      <a:noFill/>
                    </a:lnL>
                    <a:lnR>
                      <a:noFill/>
                    </a:lnR>
                    <a:lnT>
                      <a:noFill/>
                    </a:lnT>
                    <a:lnB>
                      <a:noFill/>
                    </a:lnB>
                  </a:tcPr>
                </a:tc>
              </a:tr>
              <a:tr h="643890">
                <a:tc>
                  <a:txBody>
                    <a:bodyPr/>
                    <a:lstStyle/>
                    <a:p>
                      <a:pPr algn="l" rtl="0" eaLnBrk="0">
                        <a:lnSpc>
                          <a:spcPct val="181000"/>
                        </a:lnSpc>
                        <a:tabLst/>
                      </a:pPr>
                      <a:endParaRPr sz="1000" dirty="0">
                        <a:latin typeface="Arial"/>
                        <a:ea typeface="Arial"/>
                        <a:cs typeface="Arial"/>
                      </a:endParaRPr>
                    </a:p>
                    <a:p>
                      <a:pPr marL="492759" algn="l" rtl="0" eaLnBrk="0">
                        <a:lnSpc>
                          <a:spcPct val="98000"/>
                        </a:lnSpc>
                        <a:spcBef>
                          <a:spcPts val="2"/>
                        </a:spcBef>
                        <a:tabLst/>
                      </a:pPr>
                      <a:r>
                        <a:rPr sz="900" kern="0" spc="90" dirty="0">
                          <a:solidFill>
                            <a:srgbClr val="000000">
                              <a:alpha val="100000"/>
                            </a:srgbClr>
                          </a:solidFill>
                          <a:latin typeface="Microsoft YaHei"/>
                          <a:ea typeface="Microsoft YaHei"/>
                          <a:cs typeface="Microsoft YaHei"/>
                        </a:rPr>
                        <a:t>微光创投</a:t>
                      </a:r>
                      <a:endParaRPr sz="900" dirty="0">
                        <a:latin typeface="Microsoft YaHei"/>
                        <a:ea typeface="Microsoft YaHei"/>
                        <a:cs typeface="Microsoft YaHei"/>
                      </a:endParaRPr>
                    </a:p>
                  </a:txBody>
                  <a:tcPr marL="0" marR="0" marT="0" marB="0" vert="horz">
                    <a:lnL>
                      <a:noFill/>
                    </a:lnL>
                    <a:lnR>
                      <a:noFill/>
                    </a:lnR>
                    <a:lnT>
                      <a:noFill/>
                    </a:lnT>
                    <a:lnB>
                      <a:noFill/>
                    </a:lnB>
                    <a:solidFill>
                      <a:srgbClr val="E9E9E9"/>
                    </a:solidFill>
                  </a:tcPr>
                </a:tc>
                <a:tc>
                  <a:txBody>
                    <a:bodyPr/>
                    <a:lstStyle/>
                    <a:p>
                      <a:pPr algn="l" rtl="0" eaLnBrk="0">
                        <a:lnSpc>
                          <a:spcPct val="119000"/>
                        </a:lnSpc>
                        <a:tabLst/>
                      </a:pPr>
                      <a:endParaRPr sz="1000" dirty="0">
                        <a:latin typeface="Arial"/>
                        <a:ea typeface="Arial"/>
                        <a:cs typeface="Arial"/>
                      </a:endParaRPr>
                    </a:p>
                    <a:p>
                      <a:pPr marL="97155" algn="l" rtl="0" eaLnBrk="0">
                        <a:lnSpc>
                          <a:spcPct val="107000"/>
                        </a:lnSpc>
                        <a:spcBef>
                          <a:spcPts val="5"/>
                        </a:spcBef>
                        <a:tabLst/>
                      </a:pPr>
                      <a:r>
                        <a:rPr sz="900" kern="0" spc="90" dirty="0">
                          <a:solidFill>
                            <a:srgbClr val="000000">
                              <a:alpha val="100000"/>
                            </a:srgbClr>
                          </a:solidFill>
                          <a:latin typeface="KaiTi"/>
                          <a:ea typeface="KaiTi"/>
                          <a:cs typeface="KaiTi"/>
                        </a:rPr>
                        <a:t>成立于</a:t>
                      </a:r>
                      <a:r>
                        <a:rPr sz="900" kern="0" spc="90" dirty="0">
                          <a:solidFill>
                            <a:srgbClr val="000000">
                              <a:alpha val="100000"/>
                            </a:srgbClr>
                          </a:solidFill>
                          <a:latin typeface="Times New Roman"/>
                          <a:ea typeface="Times New Roman"/>
                          <a:cs typeface="Times New Roman"/>
                        </a:rPr>
                        <a:t>2015</a:t>
                      </a:r>
                      <a:r>
                        <a:rPr sz="900" kern="0" spc="90" dirty="0">
                          <a:solidFill>
                            <a:srgbClr val="000000">
                              <a:alpha val="100000"/>
                            </a:srgbClr>
                          </a:solidFill>
                          <a:latin typeface="KaiTi"/>
                          <a:ea typeface="KaiTi"/>
                          <a:cs typeface="KaiTi"/>
                        </a:rPr>
                        <a:t>年，创始合伙人为腾讯集团执行副总裁吴宵光。高管团队来自腾讯、富途、京东等知名公司。</a:t>
                      </a:r>
                      <a:r>
                        <a:rPr sz="900" kern="0" spc="0" dirty="0">
                          <a:solidFill>
                            <a:srgbClr val="000000">
                              <a:alpha val="100000"/>
                            </a:srgbClr>
                          </a:solidFill>
                          <a:latin typeface="KaiTi"/>
                          <a:ea typeface="KaiTi"/>
                          <a:cs typeface="KaiTi"/>
                        </a:rPr>
                        <a:t>  </a:t>
                      </a:r>
                      <a:r>
                        <a:rPr sz="900" kern="0" spc="90" dirty="0">
                          <a:solidFill>
                            <a:srgbClr val="000000">
                              <a:alpha val="100000"/>
                            </a:srgbClr>
                          </a:solidFill>
                          <a:latin typeface="KaiTi"/>
                          <a:ea typeface="KaiTi"/>
                          <a:cs typeface="KaiTi"/>
                        </a:rPr>
                        <a:t>投资领域：具身智能、企业服务等</a:t>
                      </a:r>
                      <a:endParaRPr sz="900" dirty="0">
                        <a:latin typeface="KaiTi"/>
                        <a:ea typeface="KaiTi"/>
                        <a:cs typeface="KaiTi"/>
                      </a:endParaRPr>
                    </a:p>
                  </a:txBody>
                  <a:tcPr marL="0" marR="0" marT="0" marB="0" vert="horz">
                    <a:lnL>
                      <a:noFill/>
                    </a:lnL>
                    <a:lnR>
                      <a:noFill/>
                    </a:lnR>
                    <a:lnT>
                      <a:noFill/>
                    </a:lnT>
                    <a:lnB>
                      <a:noFill/>
                    </a:lnB>
                    <a:solidFill>
                      <a:srgbClr val="E9E9E9"/>
                    </a:solidFill>
                  </a:tcPr>
                </a:tc>
                <a:tc>
                  <a:txBody>
                    <a:bodyPr/>
                    <a:lstStyle/>
                    <a:p>
                      <a:pPr algn="l" rtl="0" eaLnBrk="0">
                        <a:lnSpc>
                          <a:spcPct val="178000"/>
                        </a:lnSpc>
                        <a:tabLst/>
                      </a:pPr>
                      <a:endParaRPr sz="1000" dirty="0">
                        <a:latin typeface="Arial"/>
                        <a:ea typeface="Arial"/>
                        <a:cs typeface="Arial"/>
                      </a:endParaRPr>
                    </a:p>
                    <a:p>
                      <a:pPr marL="94614" algn="l" rtl="0" eaLnBrk="0">
                        <a:lnSpc>
                          <a:spcPct val="98000"/>
                        </a:lnSpc>
                        <a:spcBef>
                          <a:spcPts val="2"/>
                        </a:spcBef>
                        <a:tabLst/>
                      </a:pPr>
                      <a:r>
                        <a:rPr sz="900" kern="0" spc="90" dirty="0">
                          <a:solidFill>
                            <a:srgbClr val="000000">
                              <a:alpha val="100000"/>
                            </a:srgbClr>
                          </a:solidFill>
                          <a:latin typeface="Microsoft YaHei"/>
                          <a:ea typeface="Microsoft YaHei"/>
                          <a:cs typeface="Microsoft YaHei"/>
                        </a:rPr>
                        <a:t>艾尔达、车叮咚</a:t>
                      </a:r>
                      <a:endParaRPr sz="900" dirty="0">
                        <a:latin typeface="Microsoft YaHei"/>
                        <a:ea typeface="Microsoft YaHei"/>
                        <a:cs typeface="Microsoft YaHei"/>
                      </a:endParaRPr>
                    </a:p>
                  </a:txBody>
                  <a:tcPr marL="0" marR="0" marT="0" marB="0" vert="horz">
                    <a:lnL>
                      <a:noFill/>
                    </a:lnL>
                    <a:lnR>
                      <a:noFill/>
                    </a:lnR>
                    <a:lnT>
                      <a:noFill/>
                    </a:lnT>
                    <a:lnB>
                      <a:noFill/>
                    </a:lnB>
                    <a:solidFill>
                      <a:srgbClr val="E9E9E9"/>
                    </a:solidFill>
                  </a:tcPr>
                </a:tc>
              </a:tr>
              <a:tr h="708025">
                <a:tc>
                  <a:txBody>
                    <a:bodyPr/>
                    <a:lstStyle/>
                    <a:p>
                      <a:pPr algn="l" rtl="0" eaLnBrk="0">
                        <a:lnSpc>
                          <a:spcPct val="199000"/>
                        </a:lnSpc>
                        <a:tabLst/>
                      </a:pPr>
                      <a:endParaRPr sz="1000" dirty="0">
                        <a:latin typeface="Arial"/>
                        <a:ea typeface="Arial"/>
                        <a:cs typeface="Arial"/>
                      </a:endParaRPr>
                    </a:p>
                    <a:p>
                      <a:pPr marL="492125" algn="l" rtl="0" eaLnBrk="0">
                        <a:lnSpc>
                          <a:spcPct val="98000"/>
                        </a:lnSpc>
                        <a:spcBef>
                          <a:spcPts val="4"/>
                        </a:spcBef>
                        <a:tabLst/>
                      </a:pPr>
                      <a:r>
                        <a:rPr sz="900" kern="0" spc="90" dirty="0">
                          <a:solidFill>
                            <a:srgbClr val="000000">
                              <a:alpha val="100000"/>
                            </a:srgbClr>
                          </a:solidFill>
                          <a:latin typeface="Microsoft YaHei"/>
                          <a:ea typeface="Microsoft YaHei"/>
                          <a:cs typeface="Microsoft YaHei"/>
                        </a:rPr>
                        <a:t>光跃投资</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46000"/>
                        </a:lnSpc>
                        <a:tabLst/>
                      </a:pPr>
                      <a:endParaRPr sz="1000" dirty="0">
                        <a:latin typeface="Arial"/>
                        <a:ea typeface="Arial"/>
                        <a:cs typeface="Arial"/>
                      </a:endParaRPr>
                    </a:p>
                    <a:p>
                      <a:pPr marL="92710" algn="l" rtl="0" eaLnBrk="0">
                        <a:lnSpc>
                          <a:spcPct val="109000"/>
                        </a:lnSpc>
                        <a:spcBef>
                          <a:spcPts val="2"/>
                        </a:spcBef>
                        <a:tabLst/>
                      </a:pPr>
                      <a:r>
                        <a:rPr sz="900" kern="0" spc="90" dirty="0">
                          <a:solidFill>
                            <a:srgbClr val="000000">
                              <a:alpha val="100000"/>
                            </a:srgbClr>
                          </a:solidFill>
                          <a:latin typeface="Microsoft YaHei"/>
                          <a:ea typeface="Microsoft YaHei"/>
                          <a:cs typeface="Microsoft YaHei"/>
                        </a:rPr>
                        <a:t>成立于2018年，管理规模10-20亿元，深耕于汽车行业，主要投资于新能源、新材料、智能网联、智能制</a:t>
                      </a:r>
                      <a:r>
                        <a:rPr sz="900" kern="0" spc="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造、</a:t>
                      </a:r>
                      <a:r>
                        <a:rPr sz="900" kern="0" spc="-30" dirty="0">
                          <a:solidFill>
                            <a:srgbClr val="000000">
                              <a:alpha val="100000"/>
                            </a:srgbClr>
                          </a:solidFill>
                          <a:latin typeface="Microsoft YaHei"/>
                          <a:ea typeface="Microsoft YaHei"/>
                          <a:cs typeface="Microsoft YaHei"/>
                        </a:rPr>
                        <a:t> </a:t>
                      </a:r>
                      <a:r>
                        <a:rPr sz="900" kern="0" spc="0" dirty="0">
                          <a:solidFill>
                            <a:srgbClr val="000000">
                              <a:alpha val="100000"/>
                            </a:srgbClr>
                          </a:solidFill>
                          <a:latin typeface="Microsoft YaHei"/>
                          <a:ea typeface="Microsoft YaHei"/>
                          <a:cs typeface="Microsoft YaHei"/>
                        </a:rPr>
                        <a:t>VR</a:t>
                      </a:r>
                      <a:r>
                        <a:rPr sz="900" kern="0" spc="90" dirty="0">
                          <a:solidFill>
                            <a:srgbClr val="000000">
                              <a:alpha val="100000"/>
                            </a:srgbClr>
                          </a:solidFill>
                          <a:latin typeface="Microsoft YaHei"/>
                          <a:ea typeface="Microsoft YaHei"/>
                          <a:cs typeface="Microsoft YaHei"/>
                        </a:rPr>
                        <a:t>/</a:t>
                      </a:r>
                      <a:r>
                        <a:rPr sz="900" kern="0" spc="0" dirty="0">
                          <a:solidFill>
                            <a:srgbClr val="000000">
                              <a:alpha val="100000"/>
                            </a:srgbClr>
                          </a:solidFill>
                          <a:latin typeface="Microsoft YaHei"/>
                          <a:ea typeface="Microsoft YaHei"/>
                          <a:cs typeface="Microsoft YaHei"/>
                        </a:rPr>
                        <a:t>AR</a:t>
                      </a:r>
                      <a:r>
                        <a:rPr sz="900" kern="0" spc="90" dirty="0">
                          <a:solidFill>
                            <a:srgbClr val="000000">
                              <a:alpha val="100000"/>
                            </a:srgbClr>
                          </a:solidFill>
                          <a:latin typeface="Microsoft YaHei"/>
                          <a:ea typeface="Microsoft YaHei"/>
                          <a:cs typeface="Microsoft YaHei"/>
                        </a:rPr>
                        <a:t>、产业互联网等软硬件领域</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95000"/>
                        </a:lnSpc>
                        <a:tabLst/>
                      </a:pPr>
                      <a:endParaRPr sz="1000" dirty="0">
                        <a:latin typeface="Arial"/>
                        <a:ea typeface="Arial"/>
                        <a:cs typeface="Arial"/>
                      </a:endParaRPr>
                    </a:p>
                    <a:p>
                      <a:pPr algn="l" rtl="0" eaLnBrk="0">
                        <a:lnSpc>
                          <a:spcPct val="9137"/>
                        </a:lnSpc>
                        <a:tabLst/>
                      </a:pPr>
                      <a:endParaRPr sz="100" dirty="0">
                        <a:latin typeface="Arial"/>
                        <a:ea typeface="Arial"/>
                        <a:cs typeface="Arial"/>
                      </a:endParaRPr>
                    </a:p>
                    <a:p>
                      <a:pPr marL="104775" algn="l" rtl="0" eaLnBrk="0">
                        <a:lnSpc>
                          <a:spcPct val="99000"/>
                        </a:lnSpc>
                        <a:tabLst/>
                      </a:pPr>
                      <a:r>
                        <a:rPr sz="900" kern="0" spc="0" dirty="0">
                          <a:solidFill>
                            <a:srgbClr val="000000">
                              <a:alpha val="100000"/>
                            </a:srgbClr>
                          </a:solidFill>
                          <a:latin typeface="Microsoft YaHei"/>
                          <a:ea typeface="Microsoft YaHei"/>
                          <a:cs typeface="Microsoft YaHei"/>
                        </a:rPr>
                        <a:t>Deepway</a:t>
                      </a:r>
                      <a:r>
                        <a:rPr sz="900" kern="0" spc="120" dirty="0">
                          <a:solidFill>
                            <a:srgbClr val="000000">
                              <a:alpha val="100000"/>
                            </a:srgbClr>
                          </a:solidFill>
                          <a:latin typeface="Microsoft YaHei"/>
                          <a:ea typeface="Microsoft YaHei"/>
                          <a:cs typeface="Microsoft YaHei"/>
                        </a:rPr>
                        <a:t>、瑞晟汽车、开思时代</a:t>
                      </a:r>
                      <a:endParaRPr sz="900" dirty="0">
                        <a:latin typeface="Microsoft YaHei"/>
                        <a:ea typeface="Microsoft YaHei"/>
                        <a:cs typeface="Microsoft YaHei"/>
                      </a:endParaRPr>
                    </a:p>
                  </a:txBody>
                  <a:tcPr marL="0" marR="0" marT="0" marB="0" vert="horz">
                    <a:lnL>
                      <a:noFill/>
                    </a:lnL>
                    <a:lnR>
                      <a:noFill/>
                    </a:lnR>
                    <a:lnT>
                      <a:noFill/>
                    </a:lnT>
                    <a:lnB>
                      <a:noFill/>
                    </a:lnB>
                  </a:tcPr>
                </a:tc>
              </a:tr>
              <a:tr h="500379">
                <a:tc>
                  <a:txBody>
                    <a:bodyPr/>
                    <a:lstStyle/>
                    <a:p>
                      <a:pPr algn="l" rtl="0" eaLnBrk="0">
                        <a:lnSpc>
                          <a:spcPct val="193000"/>
                        </a:lnSpc>
                        <a:tabLst/>
                      </a:pPr>
                      <a:endParaRPr sz="1000" dirty="0">
                        <a:latin typeface="Arial"/>
                        <a:ea typeface="Arial"/>
                        <a:cs typeface="Arial"/>
                      </a:endParaRPr>
                    </a:p>
                    <a:p>
                      <a:pPr marL="492125" algn="l" rtl="0" eaLnBrk="0">
                        <a:lnSpc>
                          <a:spcPct val="98000"/>
                        </a:lnSpc>
                        <a:spcBef>
                          <a:spcPts val="6"/>
                        </a:spcBef>
                        <a:tabLst/>
                      </a:pPr>
                      <a:r>
                        <a:rPr sz="900" kern="0" spc="90" dirty="0">
                          <a:solidFill>
                            <a:srgbClr val="000000">
                              <a:alpha val="100000"/>
                            </a:srgbClr>
                          </a:solidFill>
                          <a:latin typeface="Microsoft YaHei"/>
                          <a:ea typeface="Microsoft YaHei"/>
                          <a:cs typeface="Microsoft YaHei"/>
                        </a:rPr>
                        <a:t>东方富海</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40000"/>
                        </a:lnSpc>
                        <a:tabLst/>
                      </a:pPr>
                      <a:endParaRPr sz="1000" dirty="0">
                        <a:latin typeface="Arial"/>
                        <a:ea typeface="Arial"/>
                        <a:cs typeface="Arial"/>
                      </a:endParaRPr>
                    </a:p>
                    <a:p>
                      <a:pPr marL="92710" algn="l" rtl="0" eaLnBrk="0">
                        <a:lnSpc>
                          <a:spcPct val="102000"/>
                        </a:lnSpc>
                        <a:spcBef>
                          <a:spcPts val="7"/>
                        </a:spcBef>
                        <a:tabLst/>
                      </a:pPr>
                      <a:r>
                        <a:rPr sz="900" kern="0" spc="90" dirty="0">
                          <a:solidFill>
                            <a:srgbClr val="000000">
                              <a:alpha val="100000"/>
                            </a:srgbClr>
                          </a:solidFill>
                          <a:latin typeface="Microsoft YaHei"/>
                          <a:ea typeface="Microsoft YaHei"/>
                          <a:cs typeface="Microsoft YaHei"/>
                        </a:rPr>
                        <a:t>成立于2006年，</a:t>
                      </a:r>
                      <a:r>
                        <a:rPr sz="900" kern="0" spc="-6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是我国第一批按</a:t>
                      </a:r>
                      <a:r>
                        <a:rPr sz="900" kern="0" spc="80" dirty="0">
                          <a:solidFill>
                            <a:srgbClr val="000000">
                              <a:alpha val="100000"/>
                            </a:srgbClr>
                          </a:solidFill>
                          <a:latin typeface="Microsoft YaHei"/>
                          <a:ea typeface="Microsoft YaHei"/>
                          <a:cs typeface="Microsoft YaHei"/>
                        </a:rPr>
                        <a:t>市场化运作设立的本土创投机构。累计管理基金规模接近350亿元人民币，</a:t>
                      </a:r>
                      <a:r>
                        <a:rPr sz="900" kern="0" spc="100" dirty="0">
                          <a:solidFill>
                            <a:srgbClr val="000000">
                              <a:alpha val="100000"/>
                            </a:srgbClr>
                          </a:solidFill>
                          <a:latin typeface="Microsoft YaHei"/>
                          <a:ea typeface="Microsoft YaHei"/>
                          <a:cs typeface="Microsoft YaHei"/>
                        </a:rPr>
                        <a:t>侧重于A轮和B轮，投资</a:t>
                      </a:r>
                      <a:r>
                        <a:rPr sz="900" kern="0" spc="90" dirty="0">
                          <a:solidFill>
                            <a:srgbClr val="000000">
                              <a:alpha val="100000"/>
                            </a:srgbClr>
                          </a:solidFill>
                          <a:latin typeface="Microsoft YaHei"/>
                          <a:ea typeface="Microsoft YaHei"/>
                          <a:cs typeface="Microsoft YaHei"/>
                        </a:rPr>
                        <a:t>领域包括信息技术、节能环保、健康医疗、新材料、文化消费。</a:t>
                      </a:r>
                      <a:endParaRPr sz="900" dirty="0">
                        <a:latin typeface="Microsoft YaHei"/>
                        <a:ea typeface="Microsoft YaHei"/>
                        <a:cs typeface="Microsoft YaHei"/>
                      </a:endParaRPr>
                    </a:p>
                  </a:txBody>
                  <a:tcPr marL="0" marR="0" marT="0" marB="0" vert="horz">
                    <a:lnL>
                      <a:noFill/>
                    </a:lnL>
                    <a:lnR>
                      <a:noFill/>
                    </a:lnR>
                    <a:lnT>
                      <a:noFill/>
                    </a:lnT>
                    <a:lnB>
                      <a:noFill/>
                    </a:lnB>
                  </a:tcPr>
                </a:tc>
                <a:tc>
                  <a:txBody>
                    <a:bodyPr/>
                    <a:lstStyle/>
                    <a:p>
                      <a:pPr algn="l" rtl="0" eaLnBrk="0">
                        <a:lnSpc>
                          <a:spcPct val="190000"/>
                        </a:lnSpc>
                        <a:tabLst/>
                      </a:pPr>
                      <a:endParaRPr sz="1000" dirty="0">
                        <a:latin typeface="Arial"/>
                        <a:ea typeface="Arial"/>
                        <a:cs typeface="Arial"/>
                      </a:endParaRPr>
                    </a:p>
                    <a:p>
                      <a:pPr marL="92710" algn="l" rtl="0" eaLnBrk="0">
                        <a:lnSpc>
                          <a:spcPct val="98000"/>
                        </a:lnSpc>
                        <a:spcBef>
                          <a:spcPts val="6"/>
                        </a:spcBef>
                        <a:tabLst/>
                      </a:pPr>
                      <a:r>
                        <a:rPr sz="900" kern="0" spc="90" dirty="0">
                          <a:solidFill>
                            <a:srgbClr val="000000">
                              <a:alpha val="100000"/>
                            </a:srgbClr>
                          </a:solidFill>
                          <a:latin typeface="Microsoft YaHei"/>
                          <a:ea typeface="Microsoft YaHei"/>
                          <a:cs typeface="Microsoft YaHei"/>
                        </a:rPr>
                        <a:t>知否瑞达、茂拓锐、博泰车联网</a:t>
                      </a:r>
                      <a:endParaRPr sz="900" dirty="0">
                        <a:latin typeface="Microsoft YaHei"/>
                        <a:ea typeface="Microsoft YaHei"/>
                        <a:cs typeface="Microsoft YaHei"/>
                      </a:endParaRPr>
                    </a:p>
                  </a:txBody>
                  <a:tcPr marL="0" marR="0" marT="0" marB="0" vert="horz">
                    <a:lnL>
                      <a:noFill/>
                    </a:lnL>
                    <a:lnR>
                      <a:noFill/>
                    </a:lnR>
                    <a:lnT>
                      <a:noFill/>
                    </a:lnT>
                    <a:lnB>
                      <a:noFill/>
                    </a:lnB>
                  </a:tcPr>
                </a:tc>
              </a:tr>
            </a:tbl>
          </a:graphicData>
        </a:graphic>
      </p:graphicFrame>
      <p:sp>
        <p:nvSpPr>
          <p:cNvPr id="858" name="textbox 858"/>
          <p:cNvSpPr/>
          <p:nvPr/>
        </p:nvSpPr>
        <p:spPr>
          <a:xfrm>
            <a:off x="566833" y="401828"/>
            <a:ext cx="11177905" cy="831850"/>
          </a:xfrm>
          <a:prstGeom prst="rect">
            <a:avLst/>
          </a:prstGeom>
          <a:noFill/>
          <a:ln w="0" cap="flat">
            <a:noFill/>
            <a:prstDash val="solid"/>
            <a:miter lim="0"/>
          </a:ln>
        </p:spPr>
        <p:txBody>
          <a:bodyPr vert="horz" wrap="square" lIns="0" tIns="0" rIns="0" bIns="0"/>
          <a:lstStyle/>
          <a:p>
            <a:pPr algn="l" rtl="0" eaLnBrk="0">
              <a:lnSpc>
                <a:spcPct val="104000"/>
              </a:lnSpc>
              <a:tabLst/>
            </a:pPr>
            <a:endParaRPr sz="400" dirty="0">
              <a:latin typeface="Arial"/>
              <a:ea typeface="Arial"/>
              <a:cs typeface="Arial"/>
            </a:endParaRPr>
          </a:p>
          <a:p>
            <a:pPr marL="12700" algn="l" rtl="0" eaLnBrk="0">
              <a:lnSpc>
                <a:spcPct val="93000"/>
              </a:lnSpc>
              <a:spcBef>
                <a:spcPts val="4"/>
              </a:spcBef>
              <a:tabLst/>
            </a:pPr>
            <a:r>
              <a:rPr sz="2700" b="1" kern="0" spc="0" dirty="0">
                <a:solidFill>
                  <a:srgbClr val="BF756D">
                    <a:alpha val="100000"/>
                  </a:srgbClr>
                </a:solidFill>
                <a:latin typeface="Microsoft YaHei"/>
                <a:ea typeface="Microsoft YaHei"/>
                <a:cs typeface="Microsoft YaHei"/>
              </a:rPr>
              <a:t>Maple</a:t>
            </a:r>
            <a:r>
              <a:rPr sz="2700" b="1" kern="0" spc="40" dirty="0">
                <a:solidFill>
                  <a:srgbClr val="BF756D">
                    <a:alpha val="100000"/>
                  </a:srgbClr>
                </a:solidFill>
                <a:latin typeface="Microsoft YaHei"/>
                <a:ea typeface="Microsoft YaHei"/>
                <a:cs typeface="Microsoft YaHei"/>
              </a:rPr>
              <a:t> 覆盖潜在机构推介 —— 财务投资                              </a:t>
            </a:r>
            <a:endParaRPr sz="2700" dirty="0">
              <a:latin typeface="Microsoft YaHei"/>
              <a:ea typeface="Microsoft YaHei"/>
              <a:cs typeface="Microsoft YaHei"/>
            </a:endParaRPr>
          </a:p>
          <a:p>
            <a:pPr algn="l" rtl="0" eaLnBrk="0">
              <a:lnSpc>
                <a:spcPct val="132000"/>
              </a:lnSpc>
              <a:tabLst/>
            </a:pPr>
            <a:endParaRPr sz="1000" dirty="0">
              <a:latin typeface="Arial"/>
              <a:ea typeface="Arial"/>
              <a:cs typeface="Arial"/>
            </a:endParaRPr>
          </a:p>
          <a:p>
            <a:pPr algn="l" rtl="0" eaLnBrk="0">
              <a:lnSpc>
                <a:spcPct val="116000"/>
              </a:lnSpc>
              <a:tabLst/>
            </a:pPr>
            <a:endParaRPr sz="200" dirty="0">
              <a:latin typeface="Arial"/>
              <a:ea typeface="Arial"/>
              <a:cs typeface="Arial"/>
            </a:endParaRPr>
          </a:p>
          <a:p>
            <a:pPr marL="1011555" algn="l" rtl="0" eaLnBrk="0">
              <a:lnSpc>
                <a:spcPct val="99000"/>
              </a:lnSpc>
              <a:spcBef>
                <a:spcPts val="1"/>
              </a:spcBef>
              <a:tabLst/>
            </a:pPr>
            <a:r>
              <a:rPr sz="900" b="1" kern="0" spc="90" dirty="0">
                <a:solidFill>
                  <a:srgbClr val="BF756D">
                    <a:alpha val="100000"/>
                  </a:srgbClr>
                </a:solidFill>
                <a:latin typeface="Microsoft YaHei"/>
                <a:ea typeface="Microsoft YaHei"/>
                <a:cs typeface="Microsoft YaHei"/>
              </a:rPr>
              <a:t>机构名称</a:t>
            </a:r>
            <a:r>
              <a:rPr sz="900" b="1" kern="0" spc="10" dirty="0">
                <a:solidFill>
                  <a:srgbClr val="BF756D">
                    <a:alpha val="100000"/>
                  </a:srgbClr>
                </a:solidFill>
                <a:latin typeface="Microsoft YaHei"/>
                <a:ea typeface="Microsoft YaHei"/>
                <a:cs typeface="Microsoft YaHei"/>
              </a:rPr>
              <a:t>                      </a:t>
            </a:r>
            <a:r>
              <a:rPr sz="900" b="1" kern="0" spc="0" dirty="0">
                <a:solidFill>
                  <a:srgbClr val="BF756D">
                    <a:alpha val="100000"/>
                  </a:srgbClr>
                </a:solidFill>
                <a:latin typeface="Microsoft YaHei"/>
                <a:ea typeface="Microsoft YaHei"/>
                <a:cs typeface="Microsoft YaHei"/>
              </a:rPr>
              <a:t>                                                                         </a:t>
            </a:r>
            <a:r>
              <a:rPr sz="900" b="1" kern="0" spc="90" dirty="0">
                <a:solidFill>
                  <a:srgbClr val="BF756D">
                    <a:alpha val="100000"/>
                  </a:srgbClr>
                </a:solidFill>
                <a:latin typeface="Microsoft YaHei"/>
                <a:ea typeface="Microsoft YaHei"/>
                <a:cs typeface="Microsoft YaHei"/>
              </a:rPr>
              <a:t>机构介绍</a:t>
            </a:r>
            <a:r>
              <a:rPr sz="900" b="1" kern="0" spc="10" dirty="0">
                <a:solidFill>
                  <a:srgbClr val="BF756D">
                    <a:alpha val="100000"/>
                  </a:srgbClr>
                </a:solidFill>
                <a:latin typeface="Microsoft YaHei"/>
                <a:ea typeface="Microsoft YaHei"/>
                <a:cs typeface="Microsoft YaHei"/>
              </a:rPr>
              <a:t>                  </a:t>
            </a:r>
            <a:r>
              <a:rPr sz="900" b="1" kern="0" spc="0" dirty="0">
                <a:solidFill>
                  <a:srgbClr val="BF756D">
                    <a:alpha val="100000"/>
                  </a:srgbClr>
                </a:solidFill>
                <a:latin typeface="Microsoft YaHei"/>
                <a:ea typeface="Microsoft YaHei"/>
                <a:cs typeface="Microsoft YaHei"/>
              </a:rPr>
              <a:t>                                                                                                 </a:t>
            </a:r>
            <a:r>
              <a:rPr sz="900" b="1" kern="0" spc="90" dirty="0">
                <a:solidFill>
                  <a:srgbClr val="BF756D">
                    <a:alpha val="100000"/>
                  </a:srgbClr>
                </a:solidFill>
                <a:latin typeface="Microsoft YaHei"/>
                <a:ea typeface="Microsoft YaHei"/>
                <a:cs typeface="Microsoft YaHei"/>
              </a:rPr>
              <a:t>投资案例</a:t>
            </a:r>
            <a:endParaRPr sz="900" dirty="0">
              <a:latin typeface="Microsoft YaHei"/>
              <a:ea typeface="Microsoft YaHei"/>
              <a:cs typeface="Microsoft YaHei"/>
            </a:endParaRPr>
          </a:p>
        </p:txBody>
      </p:sp>
      <p:pic>
        <p:nvPicPr>
          <p:cNvPr id="860" name="picture 860"/>
          <p:cNvPicPr>
            <a:picLocks noChangeAspect="1"/>
          </p:cNvPicPr>
          <p:nvPr/>
        </p:nvPicPr>
        <p:blipFill>
          <a:blip r:embed="rId2"/>
          <a:stretch>
            <a:fillRect/>
          </a:stretch>
        </p:blipFill>
        <p:spPr>
          <a:xfrm rot="21600000">
            <a:off x="10003504" y="414528"/>
            <a:ext cx="1616964" cy="365759"/>
          </a:xfrm>
          <a:prstGeom prst="rect">
            <a:avLst/>
          </a:prstGeom>
        </p:spPr>
      </p:pic>
      <p:grpSp>
        <p:nvGrpSpPr>
          <p:cNvPr id="66" name="group 66"/>
          <p:cNvGrpSpPr/>
          <p:nvPr/>
        </p:nvGrpSpPr>
        <p:grpSpPr>
          <a:xfrm rot="21600000">
            <a:off x="508711" y="1380870"/>
            <a:ext cx="583006" cy="4955921"/>
            <a:chOff x="0" y="0"/>
            <a:chExt cx="583006" cy="4955921"/>
          </a:xfrm>
        </p:grpSpPr>
        <p:sp>
          <p:nvSpPr>
            <p:cNvPr id="862" name="rect 862"/>
            <p:cNvSpPr/>
            <p:nvPr/>
          </p:nvSpPr>
          <p:spPr>
            <a:xfrm>
              <a:off x="0" y="0"/>
              <a:ext cx="576656" cy="4955921"/>
            </a:xfrm>
            <a:prstGeom prst="rect">
              <a:avLst/>
            </a:prstGeom>
            <a:solidFill>
              <a:srgbClr val="BF756D">
                <a:alpha val="100000"/>
              </a:srgbClr>
            </a:solidFill>
            <a:ln w="0" cap="flat">
              <a:noFill/>
              <a:prstDash val="solid"/>
              <a:miter lim="0"/>
            </a:ln>
          </p:spPr>
          <p:txBody>
            <a:bodyPr rtlCol="0"/>
            <a:lstStyle/>
            <a:p>
              <a:pPr algn="ctr"/>
              <a:endParaRPr lang="zh-CN" altLang="en-US"/>
            </a:p>
          </p:txBody>
        </p:sp>
        <p:sp>
          <p:nvSpPr>
            <p:cNvPr id="864" name="textbox 864"/>
            <p:cNvSpPr/>
            <p:nvPr/>
          </p:nvSpPr>
          <p:spPr>
            <a:xfrm>
              <a:off x="86606" y="2337466"/>
              <a:ext cx="403225" cy="282575"/>
            </a:xfrm>
            <a:prstGeom prst="rect">
              <a:avLst/>
            </a:prstGeom>
            <a:noFill/>
            <a:ln w="0" cap="flat">
              <a:noFill/>
              <a:prstDash val="solid"/>
              <a:miter lim="0"/>
            </a:ln>
          </p:spPr>
          <p:txBody>
            <a:bodyPr vert="horz" wrap="square" lIns="0" tIns="521" rIns="0" bIns="0"/>
            <a:lstStyle/>
            <a:p>
              <a:pPr marL="113029" indent="-100964" algn="l" rtl="0" eaLnBrk="0">
                <a:lnSpc>
                  <a:spcPct val="98000"/>
                </a:lnSpc>
                <a:spcBef>
                  <a:spcPts val="4"/>
                </a:spcBef>
                <a:tabLst/>
              </a:pPr>
              <a:r>
                <a:rPr sz="900" b="1" kern="0" spc="80" dirty="0">
                  <a:solidFill>
                    <a:srgbClr val="FFFFFF">
                      <a:alpha val="100000"/>
                    </a:srgbClr>
                  </a:solidFill>
                  <a:latin typeface="Microsoft YaHei"/>
                  <a:ea typeface="Microsoft YaHei"/>
                  <a:cs typeface="Microsoft YaHei"/>
                </a:rPr>
                <a:t>人民币</a:t>
              </a:r>
              <a:r>
                <a:rPr sz="900" b="1" kern="0" spc="50" dirty="0">
                  <a:solidFill>
                    <a:srgbClr val="FFFFFF">
                      <a:alpha val="100000"/>
                    </a:srgbClr>
                  </a:solidFill>
                  <a:latin typeface="Microsoft YaHei"/>
                  <a:ea typeface="Microsoft YaHei"/>
                  <a:cs typeface="Microsoft YaHei"/>
                </a:rPr>
                <a:t>VC</a:t>
              </a:r>
              <a:endParaRPr sz="900" dirty="0">
                <a:latin typeface="Microsoft YaHei"/>
                <a:ea typeface="Microsoft YaHei"/>
                <a:cs typeface="Microsoft YaHei"/>
              </a:endParaRPr>
            </a:p>
          </p:txBody>
        </p:sp>
        <p:sp>
          <p:nvSpPr>
            <p:cNvPr id="866" name="path 866"/>
            <p:cNvSpPr/>
            <p:nvPr/>
          </p:nvSpPr>
          <p:spPr>
            <a:xfrm>
              <a:off x="570306" y="0"/>
              <a:ext cx="12700" cy="4955921"/>
            </a:xfrm>
            <a:custGeom>
              <a:avLst/>
              <a:gdLst/>
              <a:ahLst/>
              <a:cxnLst/>
              <a:rect l="0" t="0" r="0" b="0"/>
              <a:pathLst>
                <a:path w="20" h="7804">
                  <a:moveTo>
                    <a:pt x="10" y="0"/>
                  </a:moveTo>
                  <a:lnTo>
                    <a:pt x="10" y="7804"/>
                  </a:lnTo>
                </a:path>
              </a:pathLst>
            </a:custGeom>
            <a:noFill/>
            <a:ln w="12700" cap="flat">
              <a:solidFill>
                <a:srgbClr val="000000"/>
              </a:solidFill>
              <a:prstDash val="solid"/>
              <a:round/>
            </a:ln>
          </p:spPr>
          <p:txBody>
            <a:bodyPr rtlCol="0"/>
            <a:lstStyle/>
            <a:p>
              <a:pPr algn="ctr"/>
              <a:endParaRPr lang="zh-CN" altLang="en-US"/>
            </a:p>
          </p:txBody>
        </p:sp>
      </p:grpSp>
      <p:sp>
        <p:nvSpPr>
          <p:cNvPr id="868" name="textbox 868"/>
          <p:cNvSpPr/>
          <p:nvPr/>
        </p:nvSpPr>
        <p:spPr>
          <a:xfrm>
            <a:off x="2654550" y="1498250"/>
            <a:ext cx="5979159" cy="324484"/>
          </a:xfrm>
          <a:prstGeom prst="rect">
            <a:avLst/>
          </a:prstGeom>
          <a:noFill/>
          <a:ln w="0" cap="flat">
            <a:noFill/>
            <a:prstDash val="solid"/>
            <a:miter lim="0"/>
          </a:ln>
        </p:spPr>
        <p:txBody>
          <a:bodyPr vert="horz" wrap="square" lIns="0" tIns="0" rIns="0" bIns="0"/>
          <a:lstStyle/>
          <a:p>
            <a:pPr algn="l" rtl="0" eaLnBrk="0">
              <a:lnSpc>
                <a:spcPct val="82554"/>
              </a:lnSpc>
              <a:tabLst/>
            </a:pPr>
            <a:endParaRPr sz="100" dirty="0">
              <a:latin typeface="Arial"/>
              <a:ea typeface="Arial"/>
              <a:cs typeface="Arial"/>
            </a:endParaRPr>
          </a:p>
          <a:p>
            <a:pPr marL="12700" indent="-635" algn="l" rtl="0" eaLnBrk="0">
              <a:lnSpc>
                <a:spcPct val="109000"/>
              </a:lnSpc>
              <a:tabLst/>
            </a:pPr>
            <a:r>
              <a:rPr sz="900" kern="0" spc="90" dirty="0">
                <a:solidFill>
                  <a:srgbClr val="000000">
                    <a:alpha val="100000"/>
                  </a:srgbClr>
                </a:solidFill>
                <a:latin typeface="Microsoft YaHei"/>
                <a:ea typeface="Microsoft YaHei"/>
                <a:cs typeface="Microsoft YaHei"/>
              </a:rPr>
              <a:t>成立于2015年，</a:t>
            </a:r>
            <a:r>
              <a:rPr sz="900" kern="0" spc="-60" dirty="0">
                <a:solidFill>
                  <a:srgbClr val="000000">
                    <a:alpha val="100000"/>
                  </a:srgbClr>
                </a:solidFill>
                <a:latin typeface="Microsoft YaHei"/>
                <a:ea typeface="Microsoft YaHei"/>
                <a:cs typeface="Microsoft YaHei"/>
              </a:rPr>
              <a:t> </a:t>
            </a:r>
            <a:r>
              <a:rPr sz="900" kern="0" spc="90" dirty="0">
                <a:solidFill>
                  <a:srgbClr val="000000">
                    <a:alpha val="100000"/>
                  </a:srgbClr>
                </a:solidFill>
                <a:latin typeface="Microsoft YaHei"/>
                <a:ea typeface="Microsoft YaHei"/>
                <a:cs typeface="Microsoft YaHei"/>
              </a:rPr>
              <a:t>是施安平博士带领深创投集团团队创立，累计基金</a:t>
            </a:r>
            <a:r>
              <a:rPr sz="900" kern="0" spc="80" dirty="0">
                <a:solidFill>
                  <a:srgbClr val="000000">
                    <a:alpha val="100000"/>
                  </a:srgbClr>
                </a:solidFill>
                <a:latin typeface="Microsoft YaHei"/>
                <a:ea typeface="Microsoft YaHei"/>
                <a:cs typeface="Microsoft YaHei"/>
              </a:rPr>
              <a:t>管理规模160亿。重点关注</a:t>
            </a:r>
            <a:r>
              <a:rPr sz="900" kern="0" spc="0" dirty="0">
                <a:solidFill>
                  <a:srgbClr val="000000">
                    <a:alpha val="100000"/>
                  </a:srgbClr>
                </a:solidFill>
                <a:latin typeface="Microsoft YaHei"/>
                <a:ea typeface="Microsoft YaHei"/>
                <a:cs typeface="Microsoft YaHei"/>
              </a:rPr>
              <a:t>AI</a:t>
            </a:r>
            <a:r>
              <a:rPr sz="900" kern="0" spc="80" dirty="0">
                <a:solidFill>
                  <a:srgbClr val="000000">
                    <a:alpha val="100000"/>
                  </a:srgbClr>
                </a:solidFill>
                <a:latin typeface="Microsoft YaHei"/>
                <a:ea typeface="Microsoft YaHei"/>
                <a:cs typeface="Microsoft YaHei"/>
              </a:rPr>
              <a:t>、新能源、</a:t>
            </a:r>
            <a:r>
              <a:rPr sz="900" kern="0" spc="80" dirty="0">
                <a:solidFill>
                  <a:srgbClr val="000000">
                    <a:alpha val="100000"/>
                  </a:srgbClr>
                </a:solidFill>
                <a:latin typeface="Microsoft YaHei"/>
                <a:ea typeface="Microsoft YaHei"/>
                <a:cs typeface="Microsoft YaHei"/>
              </a:rPr>
              <a:t>新材料、生物医药、消费和机器人</a:t>
            </a:r>
            <a:r>
              <a:rPr sz="900" kern="0" spc="70" dirty="0">
                <a:solidFill>
                  <a:srgbClr val="000000">
                    <a:alpha val="100000"/>
                  </a:srgbClr>
                </a:solidFill>
                <a:latin typeface="Microsoft YaHei"/>
                <a:ea typeface="Microsoft YaHei"/>
                <a:cs typeface="Microsoft YaHei"/>
              </a:rPr>
              <a:t>。</a:t>
            </a:r>
            <a:endParaRPr sz="900" dirty="0">
              <a:latin typeface="Microsoft YaHei"/>
              <a:ea typeface="Microsoft YaHei"/>
              <a:cs typeface="Microsoft YaHei"/>
            </a:endParaRPr>
          </a:p>
        </p:txBody>
      </p:sp>
      <p:sp>
        <p:nvSpPr>
          <p:cNvPr id="870" name="textbox 870"/>
          <p:cNvSpPr/>
          <p:nvPr/>
        </p:nvSpPr>
        <p:spPr>
          <a:xfrm>
            <a:off x="8742664" y="1574450"/>
            <a:ext cx="1793239"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90" dirty="0">
                <a:solidFill>
                  <a:srgbClr val="000000">
                    <a:alpha val="100000"/>
                  </a:srgbClr>
                </a:solidFill>
                <a:latin typeface="Microsoft YaHei"/>
                <a:ea typeface="Microsoft YaHei"/>
                <a:cs typeface="Microsoft YaHei"/>
              </a:rPr>
              <a:t>面壁智能、戴盟机器人、智平方</a:t>
            </a:r>
            <a:endParaRPr sz="900" dirty="0">
              <a:latin typeface="Microsoft YaHei"/>
              <a:ea typeface="Microsoft YaHei"/>
              <a:cs typeface="Microsoft YaHei"/>
            </a:endParaRPr>
          </a:p>
        </p:txBody>
      </p:sp>
      <p:sp>
        <p:nvSpPr>
          <p:cNvPr id="872" name="textbox 872"/>
          <p:cNvSpPr/>
          <p:nvPr/>
        </p:nvSpPr>
        <p:spPr>
          <a:xfrm>
            <a:off x="1573238" y="1579022"/>
            <a:ext cx="522605" cy="160654"/>
          </a:xfrm>
          <a:prstGeom prst="rect">
            <a:avLst/>
          </a:prstGeom>
          <a:noFill/>
          <a:ln w="0" cap="flat">
            <a:noFill/>
            <a:prstDash val="solid"/>
            <a:miter lim="0"/>
          </a:ln>
        </p:spPr>
        <p:txBody>
          <a:bodyPr vert="horz" wrap="square" lIns="0" tIns="0" rIns="0" bIns="0"/>
          <a:lstStyle/>
          <a:p>
            <a:pPr algn="l" rtl="0" eaLnBrk="0">
              <a:lnSpc>
                <a:spcPct val="85374"/>
              </a:lnSpc>
              <a:tabLst/>
            </a:pPr>
            <a:endParaRPr sz="100" dirty="0">
              <a:latin typeface="Arial"/>
              <a:ea typeface="Arial"/>
              <a:cs typeface="Arial"/>
            </a:endParaRPr>
          </a:p>
          <a:p>
            <a:pPr marL="12700" algn="l" rtl="0" eaLnBrk="0">
              <a:lnSpc>
                <a:spcPct val="98000"/>
              </a:lnSpc>
              <a:tabLst/>
            </a:pPr>
            <a:r>
              <a:rPr sz="900" kern="0" spc="70" dirty="0">
                <a:solidFill>
                  <a:srgbClr val="000000">
                    <a:alpha val="100000"/>
                  </a:srgbClr>
                </a:solidFill>
                <a:latin typeface="Microsoft YaHei"/>
                <a:ea typeface="Microsoft YaHei"/>
                <a:cs typeface="Microsoft YaHei"/>
              </a:rPr>
              <a:t>国中资本</a:t>
            </a:r>
            <a:endParaRPr sz="900" dirty="0">
              <a:latin typeface="Microsoft YaHei"/>
              <a:ea typeface="Microsoft YaHei"/>
              <a:cs typeface="Microsoft YaHe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vt="http://schemas.openxmlformats.org/officeDocument/2006/docPropsVTypes" xmlns:ap="http://schemas.openxmlformats.org/officeDocument/2006/extended-properties">
  <ap:Application>Microsoft® PowerPoint® LTSC</ap:Application>
</ap: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Jiayi Liu</dc:creator>
  <dcterms:created xsi:type="dcterms:W3CDTF">2026-03-27T23:59:39Z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2026-05-07T20:40:28</vt:filetime>
  </property>
</Properties>
</file>